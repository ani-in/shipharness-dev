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83" r:id="rId4"/>
  </p:sldMasterIdLst>
  <p:notesMasterIdLst>
    <p:notesMasterId r:id="rId5"/>
  </p:notesMasterIdLst>
  <p:sldIdLst>
    <p:sldId id="320" r:id="rId87"/>
    <p:sldId id="321" r:id="rId88"/>
    <p:sldId id="322" r:id="rId89"/>
    <p:sldId id="323" r:id="rId90"/>
    <p:sldId id="324" r:id="rId91"/>
    <p:sldId id="325" r:id="rId92"/>
    <p:sldId id="326" r:id="rId93"/>
    <p:sldId id="327" r:id="rId94"/>
    <p:sldId id="328" r:id="rId95"/>
    <p:sldId id="329" r:id="rId96"/>
    <p:sldId id="330" r:id="rId97"/>
    <p:sldId id="331" r:id="rId98"/>
    <p:sldId id="332" r:id="rId99"/>
    <p:sldId id="333" r:id="rId100"/>
    <p:sldId id="334" r:id="rId101"/>
    <p:sldId id="335" r:id="rId102"/>
    <p:sldId id="336" r:id="rId103"/>
    <p:sldId id="337" r:id="rId104"/>
    <p:sldId id="338" r:id="rId105"/>
    <p:sldId id="339" r:id="rId106"/>
    <p:sldId id="340" r:id="rId107"/>
    <p:sldId id="341" r:id="rId108"/>
    <p:sldId id="342" r:id="rId109"/>
    <p:sldId id="343" r:id="rId110"/>
    <p:sldId id="344" r:id="rId111"/>
    <p:sldId id="345" r:id="rId112"/>
    <p:sldId id="346" r:id="rId113"/>
    <p:sldId id="347" r:id="rId114"/>
    <p:sldId id="348" r:id="rId115"/>
    <p:sldId id="349" r:id="rId116"/>
    <p:sldId id="350" r:id="rId117"/>
    <p:sldId id="351" r:id="rId118"/>
    <p:sldId id="352" r:id="rId119"/>
    <p:sldId id="353" r:id="rId120"/>
    <p:sldId id="354" r:id="rId121"/>
    <p:sldId id="355" r:id="rId122"/>
    <p:sldId id="356" r:id="rId123"/>
    <p:sldId id="357" r:id="rId124"/>
    <p:sldId id="358" r:id="rId125"/>
    <p:sldId id="359" r:id="rId126"/>
    <p:sldId id="360" r:id="rId127"/>
    <p:sldId id="361" r:id="rId128"/>
    <p:sldId id="362" r:id="rId129"/>
    <p:sldId id="363" r:id="rId130"/>
    <p:sldId id="364" r:id="rId131"/>
    <p:sldId id="365" r:id="rId132"/>
    <p:sldId id="366" r:id="rId133"/>
    <p:sldId id="367" r:id="rId134"/>
    <p:sldId id="368" r:id="rId135"/>
    <p:sldId id="369" r:id="rId136"/>
    <p:sldId id="370" r:id="rId137"/>
    <p:sldId id="371" r:id="rId138"/>
    <p:sldId id="372" r:id="rId139"/>
    <p:sldId id="373" r:id="rId140"/>
    <p:sldId id="374" r:id="rId141"/>
    <p:sldId id="375" r:id="rId142"/>
    <p:sldId id="376" r:id="rId143"/>
    <p:sldId id="377" r:id="rId144"/>
    <p:sldId id="378" r:id="rId145"/>
    <p:sldId id="379" r:id="rId146"/>
    <p:sldId id="380" r:id="rId147"/>
    <p:sldId id="381" r:id="rId148"/>
    <p:sldId id="382" r:id="rId149"/>
    <p:sldId id="383" r:id="rId150"/>
    <p:sldId id="384" r:id="rId151"/>
    <p:sldId id="385" r:id="rId152"/>
    <p:sldId id="386" r:id="rId153"/>
    <p:sldId id="387" r:id="rId154"/>
    <p:sldId id="388" r:id="rId155"/>
    <p:sldId id="389" r:id="rId156"/>
    <p:sldId id="390" r:id="rId157"/>
    <p:sldId id="391" r:id="rId158"/>
    <p:sldId id="392" r:id="rId159"/>
    <p:sldId id="393" r:id="rId160"/>
    <p:sldId id="394" r:id="rId161"/>
    <p:sldId id="395" r:id="rId162"/>
    <p:sldId id="396" r:id="rId163"/>
    <p:sldId id="397" r:id="rId164"/>
    <p:sldId id="398" r:id="rId165"/>
    <p:sldId id="399" r:id="rId166"/>
  </p:sldIdLst>
  <p:sldSz cy="6858000" cx="12192000"/>
  <p:notesSz cx="6858000" cy="9144000"/>
  <p:embeddedFontLst>
    <p:embeddedFont>
      <p:font typeface="Roboto"/>
      <p:regular r:id="rId70"/>
      <p:bold r:id="rId71"/>
      <p:italic r:id="rId72"/>
      <p:boldItalic r:id="rId73"/>
    </p:embeddedFont>
    <p:embeddedFont>
      <p:font typeface="Fira Sans Extra Condensed Medium"/>
      <p:regular r:id="rId74"/>
      <p:bold r:id="rId75"/>
      <p:italic r:id="rId76"/>
      <p:boldItalic r:id="rId77"/>
    </p:embeddedFont>
    <p:embeddedFont>
      <p:font typeface="Lexend Medium"/>
      <p:regular r:id="rId78"/>
      <p:bold r:id="rId79"/>
    </p:embeddedFont>
    <p:embeddedFont>
      <p:font typeface="Fira Sans"/>
      <p:regular r:id="rId80"/>
      <p:bold r:id="rId81"/>
      <p:italic r:id="rId82"/>
      <p:boldItalic r:id="rId83"/>
    </p:embeddedFont>
    <p:embeddedFont>
      <p:font typeface="Lexend"/>
      <p:regular r:id="rId84"/>
      <p:bold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6" roundtripDataSignature="AMtx7mjI8k4qDsjcg+6IMPpY8hdIqIG4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70" Type="http://schemas.openxmlformats.org/officeDocument/2006/relationships/font" Target="fonts/Roboto-regular.fntdata"/><Relationship Id="rId71" Type="http://schemas.openxmlformats.org/officeDocument/2006/relationships/font" Target="fonts/Roboto-bold.fntdata"/><Relationship Id="rId72" Type="http://schemas.openxmlformats.org/officeDocument/2006/relationships/font" Target="fonts/Roboto-italic.fntdata"/><Relationship Id="rId73" Type="http://schemas.openxmlformats.org/officeDocument/2006/relationships/font" Target="fonts/Roboto-boldItalic.fntdata"/><Relationship Id="rId74" Type="http://schemas.openxmlformats.org/officeDocument/2006/relationships/font" Target="fonts/FiraSansExtraCondensedMedium-regular.fntdata"/><Relationship Id="rId75" Type="http://schemas.openxmlformats.org/officeDocument/2006/relationships/font" Target="fonts/FiraSansExtraCondensedMedium-bold.fntdata"/><Relationship Id="rId76" Type="http://schemas.openxmlformats.org/officeDocument/2006/relationships/font" Target="fonts/FiraSansExtraCondensedMedium-italic.fntdata"/><Relationship Id="rId77" Type="http://schemas.openxmlformats.org/officeDocument/2006/relationships/font" Target="fonts/FiraSansExtraCondensedMedium-boldItalic.fntdata"/><Relationship Id="rId78" Type="http://schemas.openxmlformats.org/officeDocument/2006/relationships/font" Target="fonts/LexendMedium-regular.fntdata"/><Relationship Id="rId79" Type="http://schemas.openxmlformats.org/officeDocument/2006/relationships/font" Target="fonts/LexendMedium-bold.fntdata"/><Relationship Id="rId80" Type="http://schemas.openxmlformats.org/officeDocument/2006/relationships/font" Target="fonts/FiraSans-regular.fntdata"/><Relationship Id="rId81" Type="http://schemas.openxmlformats.org/officeDocument/2006/relationships/font" Target="fonts/FiraSans-bold.fntdata"/><Relationship Id="rId82" Type="http://schemas.openxmlformats.org/officeDocument/2006/relationships/font" Target="fonts/FiraSans-italic.fntdata"/><Relationship Id="rId83" Type="http://schemas.openxmlformats.org/officeDocument/2006/relationships/font" Target="fonts/FiraSans-boldItalic.fntdata"/><Relationship Id="rId84" Type="http://schemas.openxmlformats.org/officeDocument/2006/relationships/font" Target="fonts/Lexend-regular.fntdata"/><Relationship Id="rId85" Type="http://schemas.openxmlformats.org/officeDocument/2006/relationships/font" Target="fonts/Lexend-bold.fntdata"/><Relationship Id="rId86" Type="http://customschemas.google.com/relationships/presentationmetadata" Target="metadata"/><Relationship Id="rId87" Type="http://schemas.openxmlformats.org/officeDocument/2006/relationships/slide" Target="slides/slide65.xml"/><Relationship Id="rId88" Type="http://schemas.openxmlformats.org/officeDocument/2006/relationships/slide" Target="slides/slide66.xml"/><Relationship Id="rId89" Type="http://schemas.openxmlformats.org/officeDocument/2006/relationships/slide" Target="slides/slide67.xml"/><Relationship Id="rId90" Type="http://schemas.openxmlformats.org/officeDocument/2006/relationships/slide" Target="slides/slide68.xml"/><Relationship Id="rId91" Type="http://schemas.openxmlformats.org/officeDocument/2006/relationships/slide" Target="slides/slide69.xml"/><Relationship Id="rId92" Type="http://schemas.openxmlformats.org/officeDocument/2006/relationships/slide" Target="slides/slide70.xml"/><Relationship Id="rId93" Type="http://schemas.openxmlformats.org/officeDocument/2006/relationships/slide" Target="slides/slide71.xml"/><Relationship Id="rId94" Type="http://schemas.openxmlformats.org/officeDocument/2006/relationships/slide" Target="slides/slide72.xml"/><Relationship Id="rId95" Type="http://schemas.openxmlformats.org/officeDocument/2006/relationships/slide" Target="slides/slide73.xml"/><Relationship Id="rId96" Type="http://schemas.openxmlformats.org/officeDocument/2006/relationships/slide" Target="slides/slide74.xml"/><Relationship Id="rId97" Type="http://schemas.openxmlformats.org/officeDocument/2006/relationships/slide" Target="slides/slide75.xml"/><Relationship Id="rId98" Type="http://schemas.openxmlformats.org/officeDocument/2006/relationships/slide" Target="slides/slide76.xml"/><Relationship Id="rId99" Type="http://schemas.openxmlformats.org/officeDocument/2006/relationships/slide" Target="slides/slide77.xml"/><Relationship Id="rId100" Type="http://schemas.openxmlformats.org/officeDocument/2006/relationships/slide" Target="slides/slide78.xml"/><Relationship Id="rId101" Type="http://schemas.openxmlformats.org/officeDocument/2006/relationships/slide" Target="slides/slide79.xml"/><Relationship Id="rId102" Type="http://schemas.openxmlformats.org/officeDocument/2006/relationships/slide" Target="slides/slide80.xml"/><Relationship Id="rId103" Type="http://schemas.openxmlformats.org/officeDocument/2006/relationships/slide" Target="slides/slide81.xml"/><Relationship Id="rId104" Type="http://schemas.openxmlformats.org/officeDocument/2006/relationships/slide" Target="slides/slide82.xml"/><Relationship Id="rId105" Type="http://schemas.openxmlformats.org/officeDocument/2006/relationships/slide" Target="slides/slide83.xml"/><Relationship Id="rId106" Type="http://schemas.openxmlformats.org/officeDocument/2006/relationships/slide" Target="slides/slide84.xml"/><Relationship Id="rId107" Type="http://schemas.openxmlformats.org/officeDocument/2006/relationships/slide" Target="slides/slide85.xml"/><Relationship Id="rId108" Type="http://schemas.openxmlformats.org/officeDocument/2006/relationships/slide" Target="slides/slide86.xml"/><Relationship Id="rId109" Type="http://schemas.openxmlformats.org/officeDocument/2006/relationships/slide" Target="slides/slide87.xml"/><Relationship Id="rId110" Type="http://schemas.openxmlformats.org/officeDocument/2006/relationships/slide" Target="slides/slide88.xml"/><Relationship Id="rId111" Type="http://schemas.openxmlformats.org/officeDocument/2006/relationships/slide" Target="slides/slide89.xml"/><Relationship Id="rId112" Type="http://schemas.openxmlformats.org/officeDocument/2006/relationships/slide" Target="slides/slide90.xml"/><Relationship Id="rId113" Type="http://schemas.openxmlformats.org/officeDocument/2006/relationships/slide" Target="slides/slide91.xml"/><Relationship Id="rId114" Type="http://schemas.openxmlformats.org/officeDocument/2006/relationships/slide" Target="slides/slide92.xml"/><Relationship Id="rId115" Type="http://schemas.openxmlformats.org/officeDocument/2006/relationships/slide" Target="slides/slide93.xml"/><Relationship Id="rId116" Type="http://schemas.openxmlformats.org/officeDocument/2006/relationships/slide" Target="slides/slide94.xml"/><Relationship Id="rId117" Type="http://schemas.openxmlformats.org/officeDocument/2006/relationships/slide" Target="slides/slide95.xml"/><Relationship Id="rId118" Type="http://schemas.openxmlformats.org/officeDocument/2006/relationships/slide" Target="slides/slide96.xml"/><Relationship Id="rId119" Type="http://schemas.openxmlformats.org/officeDocument/2006/relationships/slide" Target="slides/slide97.xml"/><Relationship Id="rId120" Type="http://schemas.openxmlformats.org/officeDocument/2006/relationships/slide" Target="slides/slide98.xml"/><Relationship Id="rId121" Type="http://schemas.openxmlformats.org/officeDocument/2006/relationships/slide" Target="slides/slide99.xml"/><Relationship Id="rId122" Type="http://schemas.openxmlformats.org/officeDocument/2006/relationships/slide" Target="slides/slide100.xml"/><Relationship Id="rId123" Type="http://schemas.openxmlformats.org/officeDocument/2006/relationships/slide" Target="slides/slide101.xml"/><Relationship Id="rId124" Type="http://schemas.openxmlformats.org/officeDocument/2006/relationships/slide" Target="slides/slide102.xml"/><Relationship Id="rId125" Type="http://schemas.openxmlformats.org/officeDocument/2006/relationships/slide" Target="slides/slide103.xml"/><Relationship Id="rId126" Type="http://schemas.openxmlformats.org/officeDocument/2006/relationships/slide" Target="slides/slide104.xml"/><Relationship Id="rId127" Type="http://schemas.openxmlformats.org/officeDocument/2006/relationships/slide" Target="slides/slide105.xml"/><Relationship Id="rId128" Type="http://schemas.openxmlformats.org/officeDocument/2006/relationships/slide" Target="slides/slide106.xml"/><Relationship Id="rId129" Type="http://schemas.openxmlformats.org/officeDocument/2006/relationships/slide" Target="slides/slide107.xml"/><Relationship Id="rId130" Type="http://schemas.openxmlformats.org/officeDocument/2006/relationships/slide" Target="slides/slide108.xml"/><Relationship Id="rId131" Type="http://schemas.openxmlformats.org/officeDocument/2006/relationships/slide" Target="slides/slide109.xml"/><Relationship Id="rId132" Type="http://schemas.openxmlformats.org/officeDocument/2006/relationships/slide" Target="slides/slide110.xml"/><Relationship Id="rId133" Type="http://schemas.openxmlformats.org/officeDocument/2006/relationships/slide" Target="slides/slide111.xml"/><Relationship Id="rId134" Type="http://schemas.openxmlformats.org/officeDocument/2006/relationships/slide" Target="slides/slide112.xml"/><Relationship Id="rId135" Type="http://schemas.openxmlformats.org/officeDocument/2006/relationships/slide" Target="slides/slide113.xml"/><Relationship Id="rId136" Type="http://schemas.openxmlformats.org/officeDocument/2006/relationships/slide" Target="slides/slide114.xml"/><Relationship Id="rId137" Type="http://schemas.openxmlformats.org/officeDocument/2006/relationships/slide" Target="slides/slide115.xml"/><Relationship Id="rId138" Type="http://schemas.openxmlformats.org/officeDocument/2006/relationships/slide" Target="slides/slide116.xml"/><Relationship Id="rId139" Type="http://schemas.openxmlformats.org/officeDocument/2006/relationships/slide" Target="slides/slide117.xml"/><Relationship Id="rId140" Type="http://schemas.openxmlformats.org/officeDocument/2006/relationships/slide" Target="slides/slide118.xml"/><Relationship Id="rId141" Type="http://schemas.openxmlformats.org/officeDocument/2006/relationships/slide" Target="slides/slide119.xml"/><Relationship Id="rId142" Type="http://schemas.openxmlformats.org/officeDocument/2006/relationships/slide" Target="slides/slide120.xml"/><Relationship Id="rId143" Type="http://schemas.openxmlformats.org/officeDocument/2006/relationships/slide" Target="slides/slide121.xml"/><Relationship Id="rId144" Type="http://schemas.openxmlformats.org/officeDocument/2006/relationships/slide" Target="slides/slide122.xml"/><Relationship Id="rId145" Type="http://schemas.openxmlformats.org/officeDocument/2006/relationships/slide" Target="slides/slide123.xml"/><Relationship Id="rId146" Type="http://schemas.openxmlformats.org/officeDocument/2006/relationships/slide" Target="slides/slide124.xml"/><Relationship Id="rId147" Type="http://schemas.openxmlformats.org/officeDocument/2006/relationships/slide" Target="slides/slide125.xml"/><Relationship Id="rId148" Type="http://schemas.openxmlformats.org/officeDocument/2006/relationships/slide" Target="slides/slide126.xml"/><Relationship Id="rId149" Type="http://schemas.openxmlformats.org/officeDocument/2006/relationships/slide" Target="slides/slide127.xml"/><Relationship Id="rId150" Type="http://schemas.openxmlformats.org/officeDocument/2006/relationships/slide" Target="slides/slide128.xml"/><Relationship Id="rId151" Type="http://schemas.openxmlformats.org/officeDocument/2006/relationships/slide" Target="slides/slide129.xml"/><Relationship Id="rId152" Type="http://schemas.openxmlformats.org/officeDocument/2006/relationships/slide" Target="slides/slide130.xml"/><Relationship Id="rId153" Type="http://schemas.openxmlformats.org/officeDocument/2006/relationships/slide" Target="slides/slide131.xml"/><Relationship Id="rId154" Type="http://schemas.openxmlformats.org/officeDocument/2006/relationships/slide" Target="slides/slide132.xml"/><Relationship Id="rId155" Type="http://schemas.openxmlformats.org/officeDocument/2006/relationships/slide" Target="slides/slide133.xml"/><Relationship Id="rId156" Type="http://schemas.openxmlformats.org/officeDocument/2006/relationships/slide" Target="slides/slide134.xml"/><Relationship Id="rId157" Type="http://schemas.openxmlformats.org/officeDocument/2006/relationships/slide" Target="slides/slide135.xml"/><Relationship Id="rId158" Type="http://schemas.openxmlformats.org/officeDocument/2006/relationships/slide" Target="slides/slide136.xml"/><Relationship Id="rId159" Type="http://schemas.openxmlformats.org/officeDocument/2006/relationships/slide" Target="slides/slide137.xml"/><Relationship Id="rId160" Type="http://schemas.openxmlformats.org/officeDocument/2006/relationships/slide" Target="slides/slide138.xml"/><Relationship Id="rId161" Type="http://schemas.openxmlformats.org/officeDocument/2006/relationships/slide" Target="slides/slide139.xml"/><Relationship Id="rId162" Type="http://schemas.openxmlformats.org/officeDocument/2006/relationships/slide" Target="slides/slide140.xml"/><Relationship Id="rId163" Type="http://schemas.openxmlformats.org/officeDocument/2006/relationships/slide" Target="slides/slide141.xml"/><Relationship Id="rId164" Type="http://schemas.openxmlformats.org/officeDocument/2006/relationships/slide" Target="slides/slide142.xml"/><Relationship Id="rId165" Type="http://schemas.openxmlformats.org/officeDocument/2006/relationships/slide" Target="slides/slide143.xml"/><Relationship Id="rId166" Type="http://schemas.openxmlformats.org/officeDocument/2006/relationships/slide" Target="slides/slide1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(0:00-0:00:15)</a:t>
            </a:r>
          </a:p>
          <a:p>
            <a:pPr marL="228600" indent="-182880" algn="l">
              <a:lnSpc>
                <a:spcPct val="100000"/>
              </a:lnSpc>
              <a:spcBef>
                <a:spcPts val="0"/>
              </a:spcBef>
              <a:spcAft>
                <a:spcPts val="0"/>
              </a:spcAft>
              <a:buClr>
                <a:srgbClr val="324158"/>
              </a:buClr>
              <a:buSzPct val="100000"/>
              <a:buFont typeface="Arial"/>
              <a:buChar char="•"/>
            </a:pPr>
            <a:r>
              <a:t>Welcome. Today we build four layers around a coding agent and watch each one at work, live, on a real feature of a small app.</a:t>
            </a:r>
          </a:p>
          <a:p>
            <a:pPr marL="228600" indent="-182880" algn="l">
              <a:lnSpc>
                <a:spcPct val="100000"/>
              </a:lnSpc>
              <a:spcBef>
                <a:spcPts val="0"/>
              </a:spcBef>
              <a:spcAft>
                <a:spcPts val="0"/>
              </a:spcAft>
              <a:buClr>
                <a:srgbClr val="324158"/>
              </a:buClr>
              <a:buSzPct val="100000"/>
              <a:buFont typeface="Arial"/>
              <a:buChar char="•"/>
            </a:pPr>
            <a:r>
              <a:t>Plain version: a harness is the files and code around the agent that decide what it sees and what it may do. It is not a better prompt.</a:t>
            </a:r>
          </a:p>
          <a:p>
            <a:pPr marL="228600" indent="-182880" algn="l">
              <a:lnSpc>
                <a:spcPct val="100000"/>
              </a:lnSpc>
              <a:spcBef>
                <a:spcPts val="0"/>
              </a:spcBef>
              <a:spcAft>
                <a:spcPts val="0"/>
              </a:spcAft>
              <a:buClr>
                <a:srgbClr val="324158"/>
              </a:buClr>
              <a:buSzPct val="100000"/>
              <a:buFont typeface="Arial"/>
              <a:buChar char="•"/>
            </a:pPr>
            <a:r>
              <a:t>What is different about this class: every layer was measured before class. Same agent, same model, same ticket, with and without the layer, scored by the same program.</a:t>
            </a:r>
          </a:p>
          <a:p>
            <a:pPr marL="228600" indent="-182880" algn="l">
              <a:lnSpc>
                <a:spcPct val="100000"/>
              </a:lnSpc>
              <a:spcBef>
                <a:spcPts val="0"/>
              </a:spcBef>
              <a:spcAft>
                <a:spcPts val="0"/>
              </a:spcAft>
              <a:buClr>
                <a:srgbClr val="324158"/>
              </a:buClr>
              <a:buSzPct val="100000"/>
              <a:buFont typeface="Arial"/>
              <a:buChar char="•"/>
            </a:pPr>
            <a:r>
              <a:t>We also show where the layer did not help. In three of the four sections the measure showed no measurable difference on this model. Section 3: Scope and sandbox showed one gap, on Feature 4: Version checks on issue edits, partly by construction.</a:t>
            </a:r>
          </a:p>
          <a:p>
            <a:pPr marL="228600" indent="-182880" algn="l">
              <a:lnSpc>
                <a:spcPct val="100000"/>
              </a:lnSpc>
              <a:spcBef>
                <a:spcPts val="0"/>
              </a:spcBef>
              <a:spcAft>
                <a:spcPts val="0"/>
              </a:spcAft>
              <a:buClr>
                <a:srgbClr val="324158"/>
              </a:buClr>
              <a:buSzPct val="100000"/>
              <a:buFont typeface="Arial"/>
              <a:buChar char="•"/>
            </a:pPr>
            <a:r>
              <a:t>Point at the subtitle: "build each layer, then measure it" is the whole course.</a:t>
            </a:r>
          </a:p>
          <a:p>
            <a:pPr marL="228600" indent="-182880" algn="l">
              <a:lnSpc>
                <a:spcPct val="100000"/>
              </a:lnSpc>
              <a:spcBef>
                <a:spcPts val="0"/>
              </a:spcBef>
              <a:spcAft>
                <a:spcPts val="0"/>
              </a:spcAft>
              <a:buClr>
                <a:srgbClr val="324158"/>
              </a:buClr>
              <a:buSzPct val="100000"/>
              <a:buFont typeface="Arial"/>
              <a:buChar char="•"/>
            </a:pPr>
            <a:r>
              <a:t>Ask: "Who has already given a real ticket to a coding agent?" Expected: many hands. Ask one person what went wrong; you will hear one of today's four failures.</a:t>
            </a:r>
          </a:p>
          <a:p>
            <a:pPr marL="228600" indent="-182880" algn="l">
              <a:lnSpc>
                <a:spcPct val="100000"/>
              </a:lnSpc>
              <a:spcBef>
                <a:spcPts val="0"/>
              </a:spcBef>
              <a:spcAft>
                <a:spcPts val="0"/>
              </a:spcAft>
              <a:buClr>
                <a:srgbClr val="324158"/>
              </a:buClr>
              <a:buSzPct val="100000"/>
              <a:buFont typeface="Arial"/>
              <a:buChar char="•"/>
            </a:pPr>
            <a:r>
              <a:t>Misconception: "a harness is a long system prompt". Correction: today's harness includes files on disk, session state, a scope guard, and a gate on "done".</a:t>
            </a:r>
          </a:p>
          <a:p>
            <a:pPr marL="228600" indent="-182880" algn="l">
              <a:lnSpc>
                <a:spcPct val="100000"/>
              </a:lnSpc>
              <a:spcBef>
                <a:spcPts val="0"/>
              </a:spcBef>
              <a:spcAft>
                <a:spcPts val="0"/>
              </a:spcAft>
              <a:buClr>
                <a:srgbClr val="324158"/>
              </a:buClr>
              <a:buSzPct val="100000"/>
              <a:buFont typeface="Arial"/>
              <a:buChar char="•"/>
            </a:pPr>
            <a:r>
              <a:t>Likely question: "Which model did you measure?" Answer: gpt-6-luna as the agent and gpt-5.6-luna as the blinded reviewer, the same settings for both arms; the results hold for that model only.</a:t>
            </a:r>
          </a:p>
          <a:p>
            <a:pPr marL="228600" indent="-182880" algn="l">
              <a:lnSpc>
                <a:spcPct val="100000"/>
              </a:lnSpc>
              <a:spcBef>
                <a:spcPts val="0"/>
              </a:spcBef>
              <a:spcAft>
                <a:spcPts val="0"/>
              </a:spcAft>
              <a:buClr>
                <a:srgbClr val="324158"/>
              </a:buClr>
              <a:buSzPct val="100000"/>
              <a:buFont typeface="Arial"/>
              <a:buChar char="•"/>
            </a:pPr>
            <a:r>
              <a:t>Time: 15 seconds. Next: who is teaching today.</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(0:00:15-0:00:30)</a:t>
            </a:r>
          </a:p>
          <a:p>
            <a:pPr marL="228600" indent="-182880" algn="l">
              <a:lnSpc>
                <a:spcPct val="100000"/>
              </a:lnSpc>
              <a:spcBef>
                <a:spcPts val="0"/>
              </a:spcBef>
              <a:spcAft>
                <a:spcPts val="0"/>
              </a:spcAft>
              <a:buClr>
                <a:srgbClr val="324158"/>
              </a:buClr>
              <a:buSzPct val="100000"/>
              <a:buFont typeface="Arial"/>
              <a:buChar char="•"/>
            </a:pPr>
            <a:r>
              <a:t>Say your name and role aloud; the slide deliberately carries no name.</a:t>
            </a:r>
          </a:p>
          <a:p>
            <a:pPr marL="228600" indent="-182880" algn="l">
              <a:lnSpc>
                <a:spcPct val="100000"/>
              </a:lnSpc>
              <a:spcBef>
                <a:spcPts val="0"/>
              </a:spcBef>
              <a:spcAft>
                <a:spcPts val="0"/>
              </a:spcAft>
              <a:buClr>
                <a:srgbClr val="324158"/>
              </a:buClr>
              <a:buSzPct val="100000"/>
              <a:buFont typeface="Arial"/>
              <a:buChar char="•"/>
            </a:pPr>
            <a:r>
              <a:t>Bullet 1, one sentence: your years in software and the coding agents you use (Claude Code, Codex, Cursor, Copilot).</a:t>
            </a:r>
          </a:p>
          <a:p>
            <a:pPr marL="228600" indent="-182880" algn="l">
              <a:lnSpc>
                <a:spcPct val="100000"/>
              </a:lnSpc>
              <a:spcBef>
                <a:spcPts val="0"/>
              </a:spcBef>
              <a:spcAft>
                <a:spcPts val="0"/>
              </a:spcAft>
              <a:buClr>
                <a:srgbClr val="324158"/>
              </a:buClr>
              <a:buSzPct val="100000"/>
              <a:buFont typeface="Arial"/>
              <a:buChar char="•"/>
            </a:pPr>
            <a:r>
              <a:t>Bullet 2, 15 seconds: one agent diff that passed review and still broke a rule your team cared about. If you have none, tell Monday's story from the real-world slide and say it is the course's illustrative scenario.</a:t>
            </a:r>
          </a:p>
          <a:p>
            <a:pPr marL="228600" indent="-182880" algn="l">
              <a:lnSpc>
                <a:spcPct val="100000"/>
              </a:lnSpc>
              <a:spcBef>
                <a:spcPts val="0"/>
              </a:spcBef>
              <a:spcAft>
                <a:spcPts val="0"/>
              </a:spcAft>
              <a:buClr>
                <a:srgbClr val="324158"/>
              </a:buClr>
              <a:buSzPct val="100000"/>
              <a:buFont typeface="Arial"/>
              <a:buChar char="•"/>
            </a:pPr>
            <a:r>
              <a:t>Map your failure to a layer out loud: rule not in context (Section 1: Instructions), lost session (Section 2: State and sessions), edit outside the ticket (Section 3: Scope and sandbox), false "done" (Section 4: Verification).</a:t>
            </a:r>
          </a:p>
          <a:p>
            <a:pPr marL="228600" indent="-182880" algn="l">
              <a:lnSpc>
                <a:spcPct val="100000"/>
              </a:lnSpc>
              <a:spcBef>
                <a:spcPts val="0"/>
              </a:spcBef>
              <a:spcAft>
                <a:spcPts val="0"/>
              </a:spcAft>
              <a:buClr>
                <a:srgbClr val="324158"/>
              </a:buClr>
              <a:buSzPct val="100000"/>
              <a:buFont typeface="Arial"/>
              <a:buChar char="•"/>
            </a:pPr>
            <a:r>
              <a:t>Bullet 3: name the layer you would add first, and promise to revisit it after the results.</a:t>
            </a:r>
          </a:p>
          <a:p>
            <a:pPr marL="228600" indent="-182880" algn="l">
              <a:lnSpc>
                <a:spcPct val="100000"/>
              </a:lnSpc>
              <a:spcBef>
                <a:spcPts val="0"/>
              </a:spcBef>
              <a:spcAft>
                <a:spcPts val="0"/>
              </a:spcAft>
              <a:buClr>
                <a:srgbClr val="324158"/>
              </a:buClr>
              <a:buSzPct val="100000"/>
              <a:buFont typeface="Arial"/>
              <a:buChar char="•"/>
            </a:pPr>
            <a:r>
              <a:t>Bullet 4: say the channel for questions after class (course chat, review session); no contact details on the slide.</a:t>
            </a:r>
          </a:p>
          <a:p>
            <a:pPr marL="228600" indent="-182880" algn="l">
              <a:lnSpc>
                <a:spcPct val="100000"/>
              </a:lnSpc>
              <a:spcBef>
                <a:spcPts val="0"/>
              </a:spcBef>
              <a:spcAft>
                <a:spcPts val="0"/>
              </a:spcAft>
              <a:buClr>
                <a:srgbClr val="324158"/>
              </a:buClr>
              <a:buSzPct val="100000"/>
              <a:buFont typeface="Arial"/>
              <a:buChar char="•"/>
            </a:pPr>
            <a:r>
              <a:t>Ask: "Which coding agents are you using at work?" Expected: Claude Code, Codex, Cursor, Copilot. Say: everything today applies to all of them.</a:t>
            </a:r>
          </a:p>
          <a:p>
            <a:pPr marL="228600" indent="-182880" algn="l">
              <a:lnSpc>
                <a:spcPct val="100000"/>
              </a:lnSpc>
              <a:spcBef>
                <a:spcPts val="0"/>
              </a:spcBef>
              <a:spcAft>
                <a:spcPts val="0"/>
              </a:spcAft>
              <a:buClr>
                <a:srgbClr val="324158"/>
              </a:buClr>
              <a:buSzPct val="100000"/>
              <a:buFont typeface="Arial"/>
              <a:buChar char="•"/>
            </a:pPr>
            <a:r>
              <a:t>Likely question: "Do I need the repository running to follow along?" Answer: no; the demos run on the instructor's machine, the repository lets you repeat them later.</a:t>
            </a:r>
          </a:p>
          <a:p>
            <a:pPr marL="228600" indent="-182880" algn="l">
              <a:lnSpc>
                <a:spcPct val="100000"/>
              </a:lnSpc>
              <a:spcBef>
                <a:spcPts val="0"/>
              </a:spcBef>
              <a:spcAft>
                <a:spcPts val="0"/>
              </a:spcAft>
              <a:buClr>
                <a:srgbClr val="324158"/>
              </a:buClr>
              <a:buSzPct val="100000"/>
              <a:buFont typeface="Arial"/>
              <a:buChar char="•"/>
            </a:pPr>
            <a:r>
              <a:t>Misconception: "this is a product pitch for a harness". Correction: three of today's four sections show no measurable difference, and the slides say so.</a:t>
            </a:r>
          </a:p>
          <a:p>
            <a:pPr marL="228600" indent="-182880" algn="l">
              <a:lnSpc>
                <a:spcPct val="100000"/>
              </a:lnSpc>
              <a:spcBef>
                <a:spcPts val="0"/>
              </a:spcBef>
              <a:spcAft>
                <a:spcPts val="0"/>
              </a:spcAft>
              <a:buClr>
                <a:srgbClr val="324158"/>
              </a:buClr>
              <a:buSzPct val="100000"/>
              <a:buFont typeface="Arial"/>
              <a:buChar char="•"/>
            </a:pPr>
            <a:r>
              <a:t>Time: 15 seconds. Next: the chat round.</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(0:00:30-0:00:45)</a:t>
            </a:r>
          </a:p>
          <a:p>
            <a:pPr marL="228600" indent="-182880" algn="l">
              <a:lnSpc>
                <a:spcPct val="100000"/>
              </a:lnSpc>
              <a:spcBef>
                <a:spcPts val="0"/>
              </a:spcBef>
              <a:spcAft>
                <a:spcPts val="0"/>
              </a:spcAft>
              <a:buClr>
                <a:srgbClr val="324158"/>
              </a:buClr>
              <a:buSzPct val="100000"/>
              <a:buFont typeface="Arial"/>
              <a:buChar char="•"/>
            </a:pPr>
            <a:r>
              <a:t>Say: "Before we begin, tell us four things in the chat: your name, your role, where you are, and the coding agent you use."</a:t>
            </a:r>
          </a:p>
          <a:p>
            <a:pPr marL="228600" indent="-182880" algn="l">
              <a:lnSpc>
                <a:spcPct val="100000"/>
              </a:lnSpc>
              <a:spcBef>
                <a:spcPts val="0"/>
              </a:spcBef>
              <a:spcAft>
                <a:spcPts val="0"/>
              </a:spcAft>
              <a:buClr>
                <a:srgbClr val="324158"/>
              </a:buClr>
              <a:buSzPct val="100000"/>
              <a:buFont typeface="Arial"/>
              <a:buChar char="•"/>
            </a:pPr>
            <a:r>
              <a:t>Why the fourth chip changed: today's material applies to any agent that reads an AGENTS.md or a skills folder, so the room's tools help you pick examples.</a:t>
            </a:r>
          </a:p>
          <a:p>
            <a:pPr marL="228600" indent="-182880" algn="l">
              <a:lnSpc>
                <a:spcPct val="100000"/>
              </a:lnSpc>
              <a:spcBef>
                <a:spcPts val="0"/>
              </a:spcBef>
              <a:spcAft>
                <a:spcPts val="0"/>
              </a:spcAft>
              <a:buClr>
                <a:srgbClr val="324158"/>
              </a:buClr>
              <a:buSzPct val="100000"/>
              <a:buFont typeface="Arial"/>
              <a:buChar char="•"/>
            </a:pPr>
            <a:r>
              <a:t>Read three or four answers aloud, for example "Backend engineer, Berlin, Claude Code". Claude Code, Codex, and Cursor all read a skills folder; Section 1: Instructions comes back to that.</a:t>
            </a:r>
          </a:p>
          <a:p>
            <a:pPr marL="228600" indent="-182880" algn="l">
              <a:lnSpc>
                <a:spcPct val="100000"/>
              </a:lnSpc>
              <a:spcBef>
                <a:spcPts val="0"/>
              </a:spcBef>
              <a:spcAft>
                <a:spcPts val="0"/>
              </a:spcAft>
              <a:buClr>
                <a:srgbClr val="324158"/>
              </a:buClr>
              <a:buSzPct val="100000"/>
              <a:buFont typeface="Arial"/>
              <a:buChar char="•"/>
            </a:pPr>
            <a:r>
              <a:t>Ask: "Anyone running an agent without a human reviewing the diff?" Expected: few. Say: today shows why review alone is not enough either.</a:t>
            </a:r>
          </a:p>
          <a:p>
            <a:pPr marL="228600" indent="-182880" algn="l">
              <a:lnSpc>
                <a:spcPct val="100000"/>
              </a:lnSpc>
              <a:spcBef>
                <a:spcPts val="0"/>
              </a:spcBef>
              <a:spcAft>
                <a:spcPts val="0"/>
              </a:spcAft>
              <a:buClr>
                <a:srgbClr val="324158"/>
              </a:buClr>
              <a:buSzPct val="100000"/>
              <a:buFont typeface="Arial"/>
              <a:buChar char="•"/>
            </a:pPr>
            <a:r>
              <a:t>Likely question: "Will the slides be shared?" Answer: yes, with the repository; the slide source lives under slides/.</a:t>
            </a:r>
          </a:p>
          <a:p>
            <a:pPr marL="228600" indent="-182880" algn="l">
              <a:lnSpc>
                <a:spcPct val="100000"/>
              </a:lnSpc>
              <a:spcBef>
                <a:spcPts val="0"/>
              </a:spcBef>
              <a:spcAft>
                <a:spcPts val="0"/>
              </a:spcAft>
              <a:buClr>
                <a:srgbClr val="324158"/>
              </a:buClr>
              <a:buSzPct val="100000"/>
              <a:buFont typeface="Arial"/>
              <a:buChar char="•"/>
            </a:pPr>
            <a:r>
              <a:t>Time: 15 seconds; keep reading answers aloud during the next slides. Next: how the class runs.</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(0:00:45-0:01)</a:t>
            </a:r>
          </a:p>
          <a:p>
            <a:pPr marL="228600" indent="-182880" algn="l">
              <a:lnSpc>
                <a:spcPct val="100000"/>
              </a:lnSpc>
              <a:spcBef>
                <a:spcPts val="0"/>
              </a:spcBef>
              <a:spcAft>
                <a:spcPts val="0"/>
              </a:spcAft>
              <a:buClr>
                <a:srgbClr val="324158"/>
              </a:buClr>
              <a:buSzPct val="100000"/>
              <a:buFont typeface="Arial"/>
              <a:buChar char="•"/>
            </a:pPr>
            <a:r>
              <a:t>Each section runs the same way: launch the live run at the section start, teach the ideas while it works, open the finished run on the console, then read what we measured.</a:t>
            </a:r>
          </a:p>
          <a:p>
            <a:pPr marL="228600" indent="-182880" algn="l">
              <a:lnSpc>
                <a:spcPct val="100000"/>
              </a:lnSpc>
              <a:spcBef>
                <a:spcPts val="0"/>
              </a:spcBef>
              <a:spcAft>
                <a:spcPts val="0"/>
              </a:spcAft>
              <a:buClr>
                <a:srgbClr val="324158"/>
              </a:buClr>
              <a:buSzPct val="100000"/>
              <a:buFont typeface="Arial"/>
              <a:buChar char="•"/>
            </a:pPr>
            <a:r>
              <a:t>Concrete: Section 1: Instructions launches make show-1 at about class minute 0:11 and we open it around 0:40.</a:t>
            </a:r>
          </a:p>
          <a:p>
            <a:pPr marL="228600" indent="-182880" algn="l">
              <a:lnSpc>
                <a:spcPct val="100000"/>
              </a:lnSpc>
              <a:spcBef>
                <a:spcPts val="0"/>
              </a:spcBef>
              <a:spcAft>
                <a:spcPts val="0"/>
              </a:spcAft>
              <a:buClr>
                <a:srgbClr val="324158"/>
              </a:buClr>
              <a:buSzPct val="100000"/>
              <a:buFont typeface="Arial"/>
              <a:buChar char="•"/>
            </a:pPr>
            <a:r>
              <a:t>Breaks: 10 minutes after Section 1, 5 minutes after Section 3: Scope and sandbox. Section 4: Verification runs 45 minutes so the final A/B gets 20 minutes at the end.</a:t>
            </a:r>
          </a:p>
          <a:p>
            <a:pPr marL="228600" indent="-182880" algn="l">
              <a:lnSpc>
                <a:spcPct val="100000"/>
              </a:lnSpc>
              <a:spcBef>
                <a:spcPts val="0"/>
              </a:spcBef>
              <a:spcAft>
                <a:spcPts val="0"/>
              </a:spcAft>
              <a:buClr>
                <a:srgbClr val="324158"/>
              </a:buClr>
              <a:buSzPct val="100000"/>
              <a:buFont typeface="Arial"/>
              <a:buChar char="•"/>
            </a:pPr>
            <a:r>
              <a:t>One Zoom poll in the whole class, at the start of Section 4: Verification: you pick the feature for the final A/B.</a:t>
            </a:r>
          </a:p>
          <a:p>
            <a:pPr marL="228600" indent="-182880" algn="l">
              <a:lnSpc>
                <a:spcPct val="100000"/>
              </a:lnSpc>
              <a:spcBef>
                <a:spcPts val="0"/>
              </a:spcBef>
              <a:spcAft>
                <a:spcPts val="0"/>
              </a:spcAft>
              <a:buClr>
                <a:srgbClr val="324158"/>
              </a:buClr>
              <a:buSzPct val="100000"/>
              <a:buFont typeface="Arial"/>
              <a:buChar char="•"/>
            </a:pPr>
            <a:r>
              <a:t>Assignments: one per section, each with a reference solution and a walkthrough in its assignment/solution/ folder.</a:t>
            </a:r>
          </a:p>
          <a:p>
            <a:pPr marL="228600" indent="-182880" algn="l">
              <a:lnSpc>
                <a:spcPct val="100000"/>
              </a:lnSpc>
              <a:spcBef>
                <a:spcPts val="0"/>
              </a:spcBef>
              <a:spcAft>
                <a:spcPts val="0"/>
              </a:spcAft>
              <a:buClr>
                <a:srgbClr val="324158"/>
              </a:buClr>
              <a:buSzPct val="100000"/>
              <a:buFont typeface="Arial"/>
              <a:buChar char="•"/>
            </a:pPr>
            <a:r>
              <a:t>Review session: two hours, about 25 minutes per assignment, then 20 minutes of open questions.</a:t>
            </a:r>
          </a:p>
          <a:p>
            <a:pPr marL="228600" indent="-182880" algn="l">
              <a:lnSpc>
                <a:spcPct val="100000"/>
              </a:lnSpc>
              <a:spcBef>
                <a:spcPts val="0"/>
              </a:spcBef>
              <a:spcAft>
                <a:spcPts val="0"/>
              </a:spcAft>
              <a:buClr>
                <a:srgbClr val="324158"/>
              </a:buClr>
              <a:buSzPct val="100000"/>
              <a:buFont typeface="Arial"/>
              <a:buChar char="•"/>
            </a:pPr>
            <a:r>
              <a:t>Ask: "If a run in class fails, is that a broken demo?" Expected: no, a result. We show it either way.</a:t>
            </a:r>
          </a:p>
          <a:p>
            <a:pPr marL="228600" indent="-182880" algn="l">
              <a:lnSpc>
                <a:spcPct val="100000"/>
              </a:lnSpc>
              <a:spcBef>
                <a:spcPts val="0"/>
              </a:spcBef>
              <a:spcAft>
                <a:spcPts val="0"/>
              </a:spcAft>
              <a:buClr>
                <a:srgbClr val="324158"/>
              </a:buClr>
              <a:buSzPct val="100000"/>
              <a:buFont typeface="Arial"/>
              <a:buChar char="•"/>
            </a:pPr>
            <a:r>
              <a:t>Misconception: "live demos are rehearsed recordings". Correction: every launch makes real model calls under a $2.50 session cap; a replay is used only after a failure outside the experiment, and every replay screen shows a red RECORDING badge.</a:t>
            </a:r>
          </a:p>
          <a:p>
            <a:pPr marL="228600" indent="-182880" algn="l">
              <a:lnSpc>
                <a:spcPct val="100000"/>
              </a:lnSpc>
              <a:spcBef>
                <a:spcPts val="0"/>
              </a:spcBef>
              <a:spcAft>
                <a:spcPts val="0"/>
              </a:spcAft>
              <a:buClr>
                <a:srgbClr val="324158"/>
              </a:buClr>
              <a:buSzPct val="100000"/>
              <a:buFont typeface="Arial"/>
              <a:buChar char="•"/>
            </a:pPr>
            <a:r>
              <a:t>Time: 15 seconds. Next: getting the most from the program.</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0.5 min (0:01-0:01:30)</a:t>
            </a:r>
          </a:p>
          <a:p>
            <a:pPr marL="228600" indent="-182880" algn="l">
              <a:lnSpc>
                <a:spcPct val="100000"/>
              </a:lnSpc>
              <a:spcBef>
                <a:spcPts val="0"/>
              </a:spcBef>
              <a:spcAft>
                <a:spcPts val="0"/>
              </a:spcAft>
              <a:buClr>
                <a:srgbClr val="324158"/>
              </a:buClr>
              <a:buSzPct val="100000"/>
              <a:buFont typeface="Arial"/>
              <a:buChar char="•"/>
            </a:pPr>
            <a:r>
              <a:t>Interact: questions in the chat are welcome all class; TAs collect them and each section's Q&amp;A slide takes the top ones.</a:t>
            </a:r>
          </a:p>
          <a:p>
            <a:pPr marL="228600" indent="-182880" algn="l">
              <a:lnSpc>
                <a:spcPct val="100000"/>
              </a:lnSpc>
              <a:spcBef>
                <a:spcPts val="0"/>
              </a:spcBef>
              <a:spcAft>
                <a:spcPts val="0"/>
              </a:spcAft>
              <a:buClr>
                <a:srgbClr val="324158"/>
              </a:buClr>
              <a:buSzPct val="100000"/>
              <a:buFont typeface="Arial"/>
              <a:buChar char="•"/>
            </a:pPr>
            <a:r>
              <a:t>Clarify at once: if a term is new, ask; the glossary slide at the end of the opening defines every term we use.</a:t>
            </a:r>
          </a:p>
          <a:p>
            <a:pPr marL="228600" indent="-182880" algn="l">
              <a:lnSpc>
                <a:spcPct val="100000"/>
              </a:lnSpc>
              <a:spcBef>
                <a:spcPts val="0"/>
              </a:spcBef>
              <a:spcAft>
                <a:spcPts val="0"/>
              </a:spcAft>
              <a:buClr>
                <a:srgbClr val="324158"/>
              </a:buClr>
              <a:buSzPct val="100000"/>
              <a:buFont typeface="Arial"/>
              <a:buChar char="•"/>
            </a:pPr>
            <a:r>
              <a:t>Solve the four assignments: each has an offline self-check (make check-assignment-N) and feedback at the review session.</a:t>
            </a:r>
          </a:p>
          <a:p>
            <a:pPr marL="228600" indent="-182880" algn="l">
              <a:lnSpc>
                <a:spcPct val="100000"/>
              </a:lnSpc>
              <a:spcBef>
                <a:spcPts val="0"/>
              </a:spcBef>
              <a:spcAft>
                <a:spcPts val="0"/>
              </a:spcAft>
              <a:buClr>
                <a:srgbClr val="324158"/>
              </a:buClr>
              <a:buSzPct val="100000"/>
              <a:buFont typeface="Arial"/>
              <a:buChar char="•"/>
            </a:pPr>
            <a:r>
              <a:t>Uplevel: the recording of this class and the learning resources land there.</a:t>
            </a:r>
          </a:p>
          <a:p>
            <a:pPr marL="228600" indent="-182880" algn="l">
              <a:lnSpc>
                <a:spcPct val="100000"/>
              </a:lnSpc>
              <a:spcBef>
                <a:spcPts val="0"/>
              </a:spcBef>
              <a:spcAft>
                <a:spcPts val="0"/>
              </a:spcAft>
              <a:buClr>
                <a:srgbClr val="324158"/>
              </a:buClr>
              <a:buSzPct val="100000"/>
              <a:buFont typeface="Arial"/>
              <a:buChar char="•"/>
            </a:pPr>
            <a:r>
              <a:t>Wednesday technical coaching: bring setup problems with the exact terminal message; it is faster to fix.</a:t>
            </a:r>
          </a:p>
          <a:p>
            <a:pPr marL="228600" indent="-182880" algn="l">
              <a:lnSpc>
                <a:spcPct val="100000"/>
              </a:lnSpc>
              <a:spcBef>
                <a:spcPts val="0"/>
              </a:spcBef>
              <a:spcAft>
                <a:spcPts val="0"/>
              </a:spcAft>
              <a:buClr>
                <a:srgbClr val="324158"/>
              </a:buClr>
              <a:buSzPct val="100000"/>
              <a:buFont typeface="Arial"/>
              <a:buChar char="•"/>
            </a:pPr>
            <a:r>
              <a:t>Discord: share results from your own repository, as counts per arm.</a:t>
            </a:r>
          </a:p>
          <a:p>
            <a:pPr marL="228600" indent="-182880" algn="l">
              <a:lnSpc>
                <a:spcPct val="100000"/>
              </a:lnSpc>
              <a:spcBef>
                <a:spcPts val="0"/>
              </a:spcBef>
              <a:spcAft>
                <a:spcPts val="0"/>
              </a:spcAft>
              <a:buClr>
                <a:srgbClr val="324158"/>
              </a:buClr>
              <a:buSzPct val="100000"/>
              <a:buFont typeface="Arial"/>
              <a:buChar char="•"/>
            </a:pPr>
            <a:r>
              <a:t>Support tickets: anything technical, any time. Never paste your .env or a key into a ticket or the chat.</a:t>
            </a:r>
          </a:p>
          <a:p>
            <a:pPr marL="228600" indent="-182880" algn="l">
              <a:lnSpc>
                <a:spcPct val="100000"/>
              </a:lnSpc>
              <a:spcBef>
                <a:spcPts val="0"/>
              </a:spcBef>
              <a:spcAft>
                <a:spcPts val="0"/>
              </a:spcAft>
              <a:buClr>
                <a:srgbClr val="324158"/>
              </a:buClr>
              <a:buSzPct val="100000"/>
              <a:buFont typeface="Arial"/>
              <a:buChar char="•"/>
            </a:pPr>
            <a:r>
              <a:t>Each section folder also has concepts.md, a demo page, session-notes.md, and post-class readings.</a:t>
            </a:r>
          </a:p>
          <a:p>
            <a:pPr marL="228600" indent="-182880" algn="l">
              <a:lnSpc>
                <a:spcPct val="100000"/>
              </a:lnSpc>
              <a:spcBef>
                <a:spcPts val="0"/>
              </a:spcBef>
              <a:spcAft>
                <a:spcPts val="0"/>
              </a:spcAft>
              <a:buClr>
                <a:srgbClr val="324158"/>
              </a:buClr>
              <a:buSzPct val="100000"/>
              <a:buFont typeface="Arial"/>
              <a:buChar char="•"/>
            </a:pPr>
            <a:r>
              <a:t>Time: 30 seconds. Next: success hacks.</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(0:01:30-0:01:45)</a:t>
            </a:r>
          </a:p>
          <a:p>
            <a:pPr marL="228600" indent="-182880" algn="l">
              <a:lnSpc>
                <a:spcPct val="100000"/>
              </a:lnSpc>
              <a:spcBef>
                <a:spcPts val="0"/>
              </a:spcBef>
              <a:spcAft>
                <a:spcPts val="0"/>
              </a:spcAft>
              <a:buClr>
                <a:srgbClr val="324158"/>
              </a:buClr>
              <a:buSzPct val="100000"/>
              <a:buFont typeface="Arial"/>
              <a:buChar char="•"/>
            </a:pPr>
            <a:r>
              <a:t>Be prepared: setup/pre-class.md is the checklist: make doctor, make warm, make console.</a:t>
            </a:r>
          </a:p>
          <a:p>
            <a:pPr marL="228600" indent="-182880" algn="l">
              <a:lnSpc>
                <a:spcPct val="100000"/>
              </a:lnSpc>
              <a:spcBef>
                <a:spcPts val="0"/>
              </a:spcBef>
              <a:spcAft>
                <a:spcPts val="0"/>
              </a:spcAft>
              <a:buClr>
                <a:srgbClr val="324158"/>
              </a:buClr>
              <a:buSzPct val="100000"/>
              <a:buFont typeface="Arial"/>
              <a:buChar char="•"/>
            </a:pPr>
            <a:r>
              <a:t>Participate: before each result, say your guess in the chat, then compare it with the measurement.</a:t>
            </a:r>
          </a:p>
          <a:p>
            <a:pPr marL="228600" indent="-182880" algn="l">
              <a:lnSpc>
                <a:spcPct val="100000"/>
              </a:lnSpc>
              <a:spcBef>
                <a:spcPts val="0"/>
              </a:spcBef>
              <a:spcAft>
                <a:spcPts val="0"/>
              </a:spcAft>
              <a:buClr>
                <a:srgbClr val="324158"/>
              </a:buClr>
              <a:buSzPct val="100000"/>
              <a:buFont typeface="Arial"/>
              <a:buChar char="•"/>
            </a:pPr>
            <a:r>
              <a:t>Attempt all the assignments: each starter fails its self-check on purpose, and each FAIL line names what to build.</a:t>
            </a:r>
          </a:p>
          <a:p>
            <a:pPr marL="228600" indent="-182880" algn="l">
              <a:lnSpc>
                <a:spcPct val="100000"/>
              </a:lnSpc>
              <a:spcBef>
                <a:spcPts val="0"/>
              </a:spcBef>
              <a:spcAft>
                <a:spcPts val="0"/>
              </a:spcAft>
              <a:buClr>
                <a:srgbClr val="324158"/>
              </a:buClr>
              <a:buSzPct val="100000"/>
              <a:buFont typeface="Arial"/>
              <a:buChar char="•"/>
            </a:pPr>
            <a:r>
              <a:t>Advocate for yourself: if a demo moves too fast, ask; the captured runs in each demo/expected/ folder let you replay it later.</a:t>
            </a:r>
          </a:p>
          <a:p>
            <a:pPr marL="228600" indent="-182880" algn="l">
              <a:lnSpc>
                <a:spcPct val="100000"/>
              </a:lnSpc>
              <a:spcBef>
                <a:spcPts val="0"/>
              </a:spcBef>
              <a:spcAft>
                <a:spcPts val="0"/>
              </a:spcAft>
              <a:buClr>
                <a:srgbClr val="324158"/>
              </a:buClr>
              <a:buSzPct val="100000"/>
              <a:buFont typeface="Arial"/>
              <a:buChar char="•"/>
            </a:pPr>
            <a:r>
              <a:t>Time: 15 seconds. Next: the API keys.</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(0:01:45-0:02)</a:t>
            </a:r>
          </a:p>
          <a:p>
            <a:pPr marL="228600" indent="-182880" algn="l">
              <a:lnSpc>
                <a:spcPct val="100000"/>
              </a:lnSpc>
              <a:spcBef>
                <a:spcPts val="0"/>
              </a:spcBef>
              <a:spcAft>
                <a:spcPts val="0"/>
              </a:spcAft>
              <a:buClr>
                <a:srgbClr val="324158"/>
              </a:buClr>
              <a:buSzPct val="100000"/>
              <a:buFont typeface="Arial"/>
              <a:buChar char="•"/>
            </a:pPr>
            <a:r>
              <a:t>Two keys run every live command: OPENAI_API_KEY for the agent and reviewer models, LANGSMITH_API_KEY for traces of every model call.</a:t>
            </a:r>
          </a:p>
          <a:p>
            <a:pPr marL="228600" indent="-182880" algn="l">
              <a:lnSpc>
                <a:spcPct val="100000"/>
              </a:lnSpc>
              <a:spcBef>
                <a:spcPts val="0"/>
              </a:spcBef>
              <a:spcAft>
                <a:spcPts val="0"/>
              </a:spcAft>
              <a:buClr>
                <a:srgbClr val="324158"/>
              </a:buClr>
              <a:buSzPct val="100000"/>
              <a:buFont typeface="Arial"/>
              <a:buChar char="•"/>
            </a:pPr>
            <a:r>
              <a:t>OpenAI: use the key from the program's email if you received one; otherwise create your own (Build tier) at platform.openai.com, per .env.example.</a:t>
            </a:r>
          </a:p>
          <a:p>
            <a:pPr marL="228600" indent="-182880" algn="l">
              <a:lnSpc>
                <a:spcPct val="100000"/>
              </a:lnSpc>
              <a:spcBef>
                <a:spcPts val="0"/>
              </a:spcBef>
              <a:spcAft>
                <a:spcPts val="0"/>
              </a:spcAft>
              <a:buClr>
                <a:srgbClr val="324158"/>
              </a:buClr>
              <a:buSzPct val="100000"/>
              <a:buFont typeface="Arial"/>
              <a:buChar char="•"/>
            </a:pPr>
            <a:r>
              <a:t>LangSmith: a free Developer account at smith.langchain.com, no card on file. EU accounts set LANGSMITH_ENDPOINT to the EU address in .env.example.</a:t>
            </a:r>
          </a:p>
          <a:p>
            <a:pPr marL="228600" indent="-182880" algn="l">
              <a:lnSpc>
                <a:spcPct val="100000"/>
              </a:lnSpc>
              <a:spcBef>
                <a:spcPts val="0"/>
              </a:spcBef>
              <a:spcAft>
                <a:spcPts val="0"/>
              </a:spcAft>
              <a:buClr>
                <a:srgbClr val="324158"/>
              </a:buClr>
              <a:buSzPct val="100000"/>
              <a:buFont typeface="Arial"/>
              <a:buChar char="•"/>
            </a:pPr>
            <a:r>
              <a:t>Both keys go in .env at the repository root; make setup creates it from .env.example, and it is git-ignored.</a:t>
            </a:r>
          </a:p>
          <a:p>
            <a:pPr marL="228600" indent="-182880" algn="l">
              <a:lnSpc>
                <a:spcPct val="100000"/>
              </a:lnSpc>
              <a:spcBef>
                <a:spcPts val="0"/>
              </a:spcBef>
              <a:spcAft>
                <a:spcPts val="0"/>
              </a:spcAft>
              <a:buClr>
                <a:srgbClr val="324158"/>
              </a:buClr>
              <a:buSzPct val="100000"/>
              <a:buFont typeface="Arial"/>
              <a:buChar char="•"/>
            </a:pPr>
            <a:r>
              <a:t>make doctor confirms the OpenAI key can use the course models (gpt-6-luna and gpt-5.6-luna) and that the LangSmith key is accepted; it never prints any part of a key, and the last line must read result: + ready.</a:t>
            </a:r>
          </a:p>
          <a:p>
            <a:pPr marL="228600" indent="-182880" algn="l">
              <a:lnSpc>
                <a:spcPct val="100000"/>
              </a:lnSpc>
              <a:spcBef>
                <a:spcPts val="0"/>
              </a:spcBef>
              <a:spcAft>
                <a:spcPts val="0"/>
              </a:spcAft>
              <a:buClr>
                <a:srgbClr val="324158"/>
              </a:buClr>
              <a:buSzPct val="100000"/>
              <a:buFont typeface="Arial"/>
              <a:buChar char="•"/>
            </a:pPr>
            <a:r>
              <a:t>Never paste a key into the chat, a support ticket, or a screenshot.</a:t>
            </a:r>
          </a:p>
          <a:p>
            <a:pPr marL="228600" indent="-182880" algn="l">
              <a:lnSpc>
                <a:spcPct val="100000"/>
              </a:lnSpc>
              <a:spcBef>
                <a:spcPts val="0"/>
              </a:spcBef>
              <a:spcAft>
                <a:spcPts val="0"/>
              </a:spcAft>
              <a:buClr>
                <a:srgbClr val="324158"/>
              </a:buClr>
              <a:buSzPct val="100000"/>
              <a:buFont typeface="Arial"/>
              <a:buChar char="•"/>
            </a:pPr>
            <a:r>
              <a:t>Time: 15 seconds. Next: the repository.</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0.5 min (0:02-0:02:30)</a:t>
            </a:r>
          </a:p>
          <a:p>
            <a:pPr marL="228600" indent="-182880" algn="l">
              <a:lnSpc>
                <a:spcPct val="100000"/>
              </a:lnSpc>
              <a:spcBef>
                <a:spcPts val="0"/>
              </a:spcBef>
              <a:spcAft>
                <a:spcPts val="0"/>
              </a:spcAft>
              <a:buClr>
                <a:srgbClr val="324158"/>
              </a:buClr>
              <a:buSzPct val="100000"/>
              <a:buFont typeface="Arial"/>
              <a:buChar char="•"/>
            </a:pPr>
            <a:r>
              <a:t>This is the public repository the class runs from: every slide, demo, and number is in it.</a:t>
            </a:r>
          </a:p>
          <a:p>
            <a:pPr marL="228600" indent="-182880" algn="l">
              <a:lnSpc>
                <a:spcPct val="100000"/>
              </a:lnSpc>
              <a:spcBef>
                <a:spcPts val="0"/>
              </a:spcBef>
              <a:spcAft>
                <a:spcPts val="0"/>
              </a:spcAft>
              <a:buClr>
                <a:srgbClr val="324158"/>
              </a:buClr>
              <a:buSzPct val="100000"/>
              <a:buFont typeface="Arial"/>
              <a:buChar char="•"/>
            </a:pPr>
            <a:r>
              <a:t>Section folders: section-1-instructions, section-2-state-lifecycle, section-3-scope-sandbox, section-4-verification. Each has concepts.md, a demo with captured runs in demo/expected/, session-notes.md, and an assignment/ folder with a starter and a full solution.</a:t>
            </a:r>
          </a:p>
          <a:p>
            <a:pPr marL="228600" indent="-182880" algn="l">
              <a:lnSpc>
                <a:spcPct val="100000"/>
              </a:lnSpc>
              <a:spcBef>
                <a:spcPts val="0"/>
              </a:spcBef>
              <a:spcAft>
                <a:spcPts val="0"/>
              </a:spcAft>
              <a:buClr>
                <a:srgbClr val="324158"/>
              </a:buClr>
              <a:buSzPct val="100000"/>
              <a:buFont typeface="Arial"/>
              <a:buChar char="•"/>
            </a:pPr>
            <a:r>
              <a:t>final-project/: the whole harness on a feature neither arm has seen, then your own repository.</a:t>
            </a:r>
          </a:p>
          <a:p>
            <a:pPr marL="228600" indent="-182880" algn="l">
              <a:lnSpc>
                <a:spcPct val="100000"/>
              </a:lnSpc>
              <a:spcBef>
                <a:spcPts val="0"/>
              </a:spcBef>
              <a:spcAft>
                <a:spcPts val="0"/>
              </a:spcAft>
              <a:buClr>
                <a:srgbClr val="324158"/>
              </a:buClr>
              <a:buSzPct val="100000"/>
              <a:buFont typeface="Arial"/>
              <a:buChar char="•"/>
            </a:pPr>
            <a:r>
              <a:t>use-in-your-repo/: the starter kit (uv run shipharness init --target ../your-repo) and four Agent Skills.</a:t>
            </a:r>
          </a:p>
          <a:p>
            <a:pPr marL="228600" indent="-182880" algn="l">
              <a:lnSpc>
                <a:spcPct val="100000"/>
              </a:lnSpc>
              <a:spcBef>
                <a:spcPts val="0"/>
              </a:spcBef>
              <a:spcAft>
                <a:spcPts val="0"/>
              </a:spcAft>
              <a:buClr>
                <a:srgbClr val="324158"/>
              </a:buClr>
              <a:buSzPct val="100000"/>
              <a:buFont typeface="Arial"/>
              <a:buChar char="•"/>
            </a:pPr>
            <a:r>
              <a:t>slides/ holds this deck's source; docs/ holds the reference, troubleshooting, and the evidence pages behind every count.</a:t>
            </a:r>
          </a:p>
          <a:p>
            <a:pPr marL="228600" indent="-182880" algn="l">
              <a:lnSpc>
                <a:spcPct val="100000"/>
              </a:lnSpc>
              <a:spcBef>
                <a:spcPts val="0"/>
              </a:spcBef>
              <a:spcAft>
                <a:spcPts val="0"/>
              </a:spcAft>
              <a:buClr>
                <a:srgbClr val="324158"/>
              </a:buClr>
              <a:buSzPct val="100000"/>
              <a:buFont typeface="Arial"/>
              <a:buChar char="•"/>
            </a:pPr>
            <a:r>
              <a:t>Getting started: setup/README.md picks your system page (Windows with WSL2, macOS, Linux). make setup installs the packages, builds the two sandbox images, and copies .env.example to .env.</a:t>
            </a:r>
          </a:p>
          <a:p>
            <a:pPr marL="228600" indent="-182880" algn="l">
              <a:lnSpc>
                <a:spcPct val="100000"/>
              </a:lnSpc>
              <a:spcBef>
                <a:spcPts val="0"/>
              </a:spcBef>
              <a:spcAft>
                <a:spcPts val="0"/>
              </a:spcAft>
              <a:buClr>
                <a:srgbClr val="324158"/>
              </a:buClr>
              <a:buSzPct val="100000"/>
              <a:buFont typeface="Arial"/>
              <a:buChar char="•"/>
            </a:pPr>
            <a:r>
              <a:t>Then fill in OPENAI_API_KEY and LANGSMITH_API_KEY, set SHIPHARNESS_CLASS_DATE, and run make doctor until it ends with result: + ready.</a:t>
            </a:r>
          </a:p>
          <a:p>
            <a:pPr marL="228600" indent="-182880" algn="l">
              <a:lnSpc>
                <a:spcPct val="100000"/>
              </a:lnSpc>
              <a:spcBef>
                <a:spcPts val="0"/>
              </a:spcBef>
              <a:spcAft>
                <a:spcPts val="0"/>
              </a:spcAft>
              <a:buClr>
                <a:srgbClr val="324158"/>
              </a:buClr>
              <a:buSzPct val="100000"/>
              <a:buFont typeface="Arial"/>
              <a:buChar char="•"/>
            </a:pPr>
            <a:r>
              <a:t>Analogy: a lab notebook: the code, the runs, and the write-up live together, so you can check every claim.</a:t>
            </a:r>
          </a:p>
          <a:p>
            <a:pPr marL="228600" indent="-182880" algn="l">
              <a:lnSpc>
                <a:spcPct val="100000"/>
              </a:lnSpc>
              <a:spcBef>
                <a:spcPts val="0"/>
              </a:spcBef>
              <a:spcAft>
                <a:spcPts val="0"/>
              </a:spcAft>
              <a:buClr>
                <a:srgbClr val="324158"/>
              </a:buClr>
              <a:buSzPct val="100000"/>
              <a:buFont typeface="Arial"/>
              <a:buChar char="•"/>
            </a:pPr>
            <a:r>
              <a:t>Likely question: "Do I need Docker to follow along today?" Answer: no; the demos run on the instructor's machine. Docker is needed for your own live runs.</a:t>
            </a:r>
          </a:p>
          <a:p>
            <a:pPr marL="228600" indent="-182880" algn="l">
              <a:lnSpc>
                <a:spcPct val="100000"/>
              </a:lnSpc>
              <a:spcBef>
                <a:spcPts val="0"/>
              </a:spcBef>
              <a:spcAft>
                <a:spcPts val="0"/>
              </a:spcAft>
              <a:buClr>
                <a:srgbClr val="324158"/>
              </a:buClr>
              <a:buSzPct val="100000"/>
              <a:buFont typeface="Arial"/>
              <a:buChar char="•"/>
            </a:pPr>
            <a:r>
              <a:t>Misconception: "the repository is only slides". Correction: it holds the full harness, the referee, the console, and TeamTrack itself.</a:t>
            </a:r>
          </a:p>
          <a:p>
            <a:pPr marL="228600" indent="-182880" algn="l">
              <a:lnSpc>
                <a:spcPct val="100000"/>
              </a:lnSpc>
              <a:spcBef>
                <a:spcPts val="0"/>
              </a:spcBef>
              <a:spcAft>
                <a:spcPts val="0"/>
              </a:spcAft>
              <a:buClr>
                <a:srgbClr val="324158"/>
              </a:buClr>
              <a:buSzPct val="100000"/>
              <a:buFont typeface="Arial"/>
              <a:buChar char="•"/>
            </a:pPr>
            <a:r>
              <a:t>Time: 30 seconds. Next: a one-picture recap of the agent loop.</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(0:02:30-0:02:45)</a:t>
            </a:r>
          </a:p>
          <a:p>
            <a:pPr marL="228600" indent="-182880" algn="l">
              <a:lnSpc>
                <a:spcPct val="100000"/>
              </a:lnSpc>
              <a:spcBef>
                <a:spcPts val="0"/>
              </a:spcBef>
              <a:spcAft>
                <a:spcPts val="0"/>
              </a:spcAft>
              <a:buClr>
                <a:srgbClr val="324158"/>
              </a:buClr>
              <a:buSzPct val="100000"/>
              <a:buFont typeface="Arial"/>
              <a:buChar char="•"/>
            </a:pPr>
            <a:r>
              <a:t>Plain explanation: the agent sends the conversation to the model and gets back text or a tool call; it runs the tool, appends the result to the history, and asks again.</a:t>
            </a:r>
          </a:p>
          <a:p>
            <a:pPr marL="228600" indent="-182880" algn="l">
              <a:lnSpc>
                <a:spcPct val="100000"/>
              </a:lnSpc>
              <a:spcBef>
                <a:spcPts val="0"/>
              </a:spcBef>
              <a:spcAft>
                <a:spcPts val="0"/>
              </a:spcAft>
              <a:buClr>
                <a:srgbClr val="324158"/>
              </a:buClr>
              <a:buSzPct val="100000"/>
              <a:buFont typeface="Arial"/>
              <a:buChar char="•"/>
            </a:pPr>
            <a:r>
              <a:t>Concrete: in this session's runs the model is gpt-6-luna and the prompt is a TeamTrack ticket such as "Add org-wide issue search: GET /issues".</a:t>
            </a:r>
          </a:p>
          <a:p>
            <a:pPr marL="228600" indent="-182880" algn="l">
              <a:lnSpc>
                <a:spcPct val="100000"/>
              </a:lnSpc>
              <a:spcBef>
                <a:spcPts val="0"/>
              </a:spcBef>
              <a:spcAft>
                <a:spcPts val="0"/>
              </a:spcAft>
              <a:buClr>
                <a:srgbClr val="324158"/>
              </a:buClr>
              <a:buSzPct val="100000"/>
              <a:buFont typeface="Arial"/>
              <a:buChar char="•"/>
            </a:pPr>
            <a:r>
              <a:t>Concrete: in Section 1: Instructions' captured run, the early tool calls read ARCHITECTURE.md and the add-endpoint skill, then patched the issues service and route.</a:t>
            </a:r>
          </a:p>
          <a:p>
            <a:pPr marL="228600" indent="-182880" algn="l">
              <a:lnSpc>
                <a:spcPct val="100000"/>
              </a:lnSpc>
              <a:spcBef>
                <a:spcPts val="0"/>
              </a:spcBef>
              <a:spcAft>
                <a:spcPts val="0"/>
              </a:spcAft>
              <a:buClr>
                <a:srgbClr val="324158"/>
              </a:buClr>
              <a:buSzPct val="100000"/>
              <a:buFont typeface="Arial"/>
              <a:buChar char="•"/>
            </a:pPr>
            <a:r>
              <a:t>Analogy: a junior engineer who sees only what is on their desk, and can open one file-cabinet drawer at a time, if they think to.</a:t>
            </a:r>
          </a:p>
          <a:p>
            <a:pPr marL="228600" indent="-182880" algn="l">
              <a:lnSpc>
                <a:spcPct val="100000"/>
              </a:lnSpc>
              <a:spcBef>
                <a:spcPts val="0"/>
              </a:spcBef>
              <a:spcAft>
                <a:spcPts val="0"/>
              </a:spcAft>
              <a:buClr>
                <a:srgbClr val="324158"/>
              </a:buClr>
              <a:buSzPct val="100000"/>
              <a:buFont typeface="Arial"/>
              <a:buChar char="•"/>
            </a:pPr>
            <a:r>
              <a:t>Point at the tools box: every harness layer today touches this box or the arrows around it.</a:t>
            </a:r>
          </a:p>
          <a:p>
            <a:pPr marL="228600" indent="-182880" algn="l">
              <a:lnSpc>
                <a:spcPct val="100000"/>
              </a:lnSpc>
              <a:spcBef>
                <a:spcPts val="0"/>
              </a:spcBef>
              <a:spcAft>
                <a:spcPts val="0"/>
              </a:spcAft>
              <a:buClr>
                <a:srgbClr val="324158"/>
              </a:buClr>
              <a:buSzPct val="100000"/>
              <a:buFont typeface="Arial"/>
              <a:buChar char="•"/>
            </a:pPr>
            <a:r>
              <a:t>Ask: "Where does the agent learn the team's rules in this picture?" Expected: nowhere yet; only the ticket is in context. That is Section 1's problem.</a:t>
            </a:r>
          </a:p>
          <a:p>
            <a:pPr marL="228600" indent="-182880" algn="l">
              <a:lnSpc>
                <a:spcPct val="100000"/>
              </a:lnSpc>
              <a:spcBef>
                <a:spcPts val="0"/>
              </a:spcBef>
              <a:spcAft>
                <a:spcPts val="0"/>
              </a:spcAft>
              <a:buClr>
                <a:srgbClr val="324158"/>
              </a:buClr>
              <a:buSzPct val="100000"/>
              <a:buFont typeface="Arial"/>
              <a:buChar char="•"/>
            </a:pPr>
            <a:r>
              <a:t>Likely question: "Is the model stateful between turns?" Answer: no; the loop re-sends the history every turn, which is why context size matters.</a:t>
            </a:r>
          </a:p>
          <a:p>
            <a:pPr marL="228600" indent="-182880" algn="l">
              <a:lnSpc>
                <a:spcPct val="100000"/>
              </a:lnSpc>
              <a:spcBef>
                <a:spcPts val="0"/>
              </a:spcBef>
              <a:spcAft>
                <a:spcPts val="0"/>
              </a:spcAft>
              <a:buClr>
                <a:srgbClr val="324158"/>
              </a:buClr>
              <a:buSzPct val="100000"/>
              <a:buFont typeface="Arial"/>
              <a:buChar char="•"/>
            </a:pPr>
            <a:r>
              <a:t>Likely question: "Do tools run on my machine?" Answer: in this course every tool command runs in a container with no network (Section 3: Scope and sandbox).</a:t>
            </a:r>
          </a:p>
          <a:p>
            <a:pPr marL="228600" indent="-182880" algn="l">
              <a:lnSpc>
                <a:spcPct val="100000"/>
              </a:lnSpc>
              <a:spcBef>
                <a:spcPts val="0"/>
              </a:spcBef>
              <a:spcAft>
                <a:spcPts val="0"/>
              </a:spcAft>
              <a:buClr>
                <a:srgbClr val="324158"/>
              </a:buClr>
              <a:buSzPct val="100000"/>
              <a:buFont typeface="Arial"/>
              <a:buChar char="•"/>
            </a:pPr>
            <a:r>
              <a:t>Misconception: "the agent reads the whole repository at the start". Correction: it reads only what it chooses to open, one tool call at a time; more tools are not free either, each call costs a turn and context.</a:t>
            </a:r>
          </a:p>
          <a:p>
            <a:pPr marL="228600" indent="-182880" algn="l">
              <a:lnSpc>
                <a:spcPct val="100000"/>
              </a:lnSpc>
              <a:spcBef>
                <a:spcPts val="0"/>
              </a:spcBef>
              <a:spcAft>
                <a:spcPts val="0"/>
              </a:spcAft>
              <a:buClr>
                <a:srgbClr val="324158"/>
              </a:buClr>
              <a:buSzPct val="100000"/>
              <a:buFont typeface="Arial"/>
              <a:buChar char="•"/>
            </a:pPr>
            <a:r>
              <a:t>Time: 15 seconds. Next build: when the loop stops.</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(0:02:45-0:03)</a:t>
            </a:r>
          </a:p>
          <a:p>
            <a:pPr marL="228600" indent="-182880" algn="l">
              <a:lnSpc>
                <a:spcPct val="100000"/>
              </a:lnSpc>
              <a:spcBef>
                <a:spcPts val="0"/>
              </a:spcBef>
              <a:spcAft>
                <a:spcPts val="0"/>
              </a:spcAft>
              <a:buClr>
                <a:srgbClr val="324158"/>
              </a:buClr>
              <a:buSzPct val="100000"/>
              <a:buFont typeface="Arial"/>
              <a:buChar char="•"/>
            </a:pPr>
            <a:r>
              <a:t>Plain explanation: three ways out of the loop: no more tool calls, a done claim, or a limit on turns, cost, or time.</a:t>
            </a:r>
          </a:p>
          <a:p>
            <a:pPr marL="228600" indent="-182880" algn="l">
              <a:lnSpc>
                <a:spcPct val="100000"/>
              </a:lnSpc>
              <a:spcBef>
                <a:spcPts val="0"/>
              </a:spcBef>
              <a:spcAft>
                <a:spcPts val="0"/>
              </a:spcAft>
              <a:buClr>
                <a:srgbClr val="324158"/>
              </a:buClr>
              <a:buSzPct val="100000"/>
              <a:buFont typeface="Arial"/>
              <a:buChar char="•"/>
            </a:pPr>
            <a:r>
              <a:t>Concrete: Section 1: Instructions' run captured on 2026-10-17 ended after 35 turns, 3 min 53 s after launch.</a:t>
            </a:r>
          </a:p>
          <a:p>
            <a:pPr marL="228600" indent="-182880" algn="l">
              <a:lnSpc>
                <a:spcPct val="100000"/>
              </a:lnSpc>
              <a:spcBef>
                <a:spcPts val="0"/>
              </a:spcBef>
              <a:spcAft>
                <a:spcPts val="0"/>
              </a:spcAft>
              <a:buClr>
                <a:srgbClr val="324158"/>
              </a:buClr>
              <a:buSzPct val="100000"/>
              <a:buFont typeface="Arial"/>
              <a:buChar char="•"/>
            </a:pPr>
            <a:r>
              <a:t>Analogy: the junior engineer says "done" and walks away; nobody has reviewed the work.</a:t>
            </a:r>
          </a:p>
          <a:p>
            <a:pPr marL="228600" indent="-182880" algn="l">
              <a:lnSpc>
                <a:spcPct val="100000"/>
              </a:lnSpc>
              <a:spcBef>
                <a:spcPts val="0"/>
              </a:spcBef>
              <a:spcAft>
                <a:spcPts val="0"/>
              </a:spcAft>
              <a:buClr>
                <a:srgbClr val="324158"/>
              </a:buClr>
              <a:buSzPct val="100000"/>
              <a:buFont typeface="Arial"/>
              <a:buChar char="•"/>
            </a:pPr>
            <a:r>
              <a:t>Point at the result box: today "done" is a claim, and a separate program, the referee, checks what actually shipped.</a:t>
            </a:r>
          </a:p>
          <a:p>
            <a:pPr marL="228600" indent="-182880" algn="l">
              <a:lnSpc>
                <a:spcPct val="100000"/>
              </a:lnSpc>
              <a:spcBef>
                <a:spcPts val="0"/>
              </a:spcBef>
              <a:spcAft>
                <a:spcPts val="0"/>
              </a:spcAft>
              <a:buClr>
                <a:srgbClr val="324158"/>
              </a:buClr>
              <a:buSzPct val="100000"/>
              <a:buFont typeface="Arial"/>
              <a:buChar char="•"/>
            </a:pPr>
            <a:r>
              <a:t>Ask: "Who decides the work is finished in this picture?" Expected: the model itself. That is Section 4: Verification's problem.</a:t>
            </a:r>
          </a:p>
          <a:p>
            <a:pPr marL="228600" indent="-182880" algn="l">
              <a:lnSpc>
                <a:spcPct val="100000"/>
              </a:lnSpc>
              <a:spcBef>
                <a:spcPts val="0"/>
              </a:spcBef>
              <a:spcAft>
                <a:spcPts val="0"/>
              </a:spcAft>
              <a:buClr>
                <a:srgbClr val="324158"/>
              </a:buClr>
              <a:buSzPct val="100000"/>
              <a:buFont typeface="Arial"/>
              <a:buChar char="•"/>
            </a:pPr>
            <a:r>
              <a:t>Likely question: "What stops a run that never ends?" Answer: the agent time limit (420 s per arm in the class profile) and a cost cap per arm.</a:t>
            </a:r>
          </a:p>
          <a:p>
            <a:pPr marL="228600" indent="-182880" algn="l">
              <a:lnSpc>
                <a:spcPct val="100000"/>
              </a:lnSpc>
              <a:spcBef>
                <a:spcPts val="0"/>
              </a:spcBef>
              <a:spcAft>
                <a:spcPts val="0"/>
              </a:spcAft>
              <a:buClr>
                <a:srgbClr val="324158"/>
              </a:buClr>
              <a:buSzPct val="100000"/>
              <a:buFont typeface="Arial"/>
              <a:buChar char="•"/>
            </a:pPr>
            <a:r>
              <a:t>Misconception: "the loop is the harness". Correction: the loop is the engine; the harness is everything around it, which we build today.</a:t>
            </a:r>
          </a:p>
          <a:p>
            <a:pPr marL="228600" indent="-182880" algn="l">
              <a:lnSpc>
                <a:spcPct val="100000"/>
              </a:lnSpc>
              <a:spcBef>
                <a:spcPts val="0"/>
              </a:spcBef>
              <a:spcAft>
                <a:spcPts val="0"/>
              </a:spcAft>
              <a:buClr>
                <a:srgbClr val="324158"/>
              </a:buClr>
              <a:buSzPct val="100000"/>
              <a:buFont typeface="Arial"/>
              <a:buChar char="•"/>
            </a:pPr>
            <a:r>
              <a:t>Transition sentence: "Four layers around this loop, one per section."</a:t>
            </a:r>
          </a:p>
          <a:p>
            <a:pPr marL="228600" indent="-182880" algn="l">
              <a:lnSpc>
                <a:spcPct val="100000"/>
              </a:lnSpc>
              <a:spcBef>
                <a:spcPts val="0"/>
              </a:spcBef>
              <a:spcAft>
                <a:spcPts val="0"/>
              </a:spcAft>
              <a:buClr>
                <a:srgbClr val="324158"/>
              </a:buClr>
              <a:buSzPct val="100000"/>
              <a:buFont typeface="Arial"/>
              <a:buChar char="•"/>
            </a:pPr>
            <a:r>
              <a:t>Time: 15 seconds. Next: today's agenda.</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(0:03-0:03:15)</a:t>
            </a:r>
          </a:p>
          <a:p>
            <a:pPr marL="228600" indent="-182880" algn="l">
              <a:lnSpc>
                <a:spcPct val="100000"/>
              </a:lnSpc>
              <a:spcBef>
                <a:spcPts val="0"/>
              </a:spcBef>
              <a:spcAft>
                <a:spcPts val="0"/>
              </a:spcAft>
              <a:buClr>
                <a:srgbClr val="324158"/>
              </a:buClr>
              <a:buSzPct val="100000"/>
              <a:buFont typeface="Arial"/>
              <a:buChar char="•"/>
            </a:pPr>
            <a:r>
              <a:t>Four sections, one layer each: 50 minutes each for Section 1: Instructions, Section 2: State and sessions, and Section 3: Scope and sandbox, 45 for Section 4: Verification; breaks after Section 1 (10 min) and Section 3 (5 min); 20 minutes of final results.</a:t>
            </a:r>
          </a:p>
          <a:p>
            <a:pPr marL="228600" indent="-182880" algn="l">
              <a:lnSpc>
                <a:spcPct val="100000"/>
              </a:lnSpc>
              <a:spcBef>
                <a:spcPts val="0"/>
              </a:spcBef>
              <a:spcAft>
                <a:spcPts val="0"/>
              </a:spcAft>
              <a:buClr>
                <a:srgbClr val="324158"/>
              </a:buClr>
              <a:buSzPct val="100000"/>
              <a:buFont typeface="Arial"/>
              <a:buChar char="•"/>
            </a:pPr>
            <a:r>
              <a:t>Each layer answers one question: what the agent knows, what it remembers, what it may change, what proves it is done.</a:t>
            </a:r>
          </a:p>
          <a:p>
            <a:pPr marL="228600" indent="-182880" algn="l">
              <a:lnSpc>
                <a:spcPct val="100000"/>
              </a:lnSpc>
              <a:spcBef>
                <a:spcPts val="0"/>
              </a:spcBef>
              <a:spcAft>
                <a:spcPts val="0"/>
              </a:spcAft>
              <a:buClr>
                <a:srgbClr val="324158"/>
              </a:buClr>
              <a:buSzPct val="100000"/>
              <a:buFont typeface="Arial"/>
              <a:buChar char="•"/>
            </a:pPr>
            <a:r>
              <a:t>The tickets, as seven TeamTrack features: Feature 1: Org-wide issue search (Section 1), Feature 2: Comments on issues (Section 2), Feature 3: Safe retries for issue creation and Feature 4: Version checks on issue edits (Section 3), Feature 4 again (Section 4), and for the final Feature 5: Bulk close, Feature 6: Watchers, or Feature 7: Labels, picked by the room.</a:t>
            </a:r>
          </a:p>
          <a:p>
            <a:pPr marL="228600" indent="-182880" algn="l">
              <a:lnSpc>
                <a:spcPct val="100000"/>
              </a:lnSpc>
              <a:spcBef>
                <a:spcPts val="0"/>
              </a:spcBef>
              <a:spcAft>
                <a:spcPts val="0"/>
              </a:spcAft>
              <a:buClr>
                <a:srgbClr val="324158"/>
              </a:buClr>
              <a:buSzPct val="100000"/>
              <a:buFont typeface="Arial"/>
              <a:buChar char="•"/>
            </a:pPr>
            <a:r>
              <a:t>Each ticket is one example in the dataset teamtrack-features-v1 (platform/datasets/), written like a work ticket, with hidden tests behind it. Most come in a "trap" variant: an unfiltered legacy handler nearby (Features 1, 2, 5, 6) or a tempting shared middleware (Features 3, 4, 7).</a:t>
            </a:r>
          </a:p>
          <a:p>
            <a:pPr marL="228600" indent="-182880" algn="l">
              <a:lnSpc>
                <a:spcPct val="100000"/>
              </a:lnSpc>
              <a:spcBef>
                <a:spcPts val="0"/>
              </a:spcBef>
              <a:spcAft>
                <a:spcPts val="0"/>
              </a:spcAft>
              <a:buClr>
                <a:srgbClr val="324158"/>
              </a:buClr>
              <a:buSzPct val="100000"/>
              <a:buFont typeface="Arial"/>
              <a:buChar char="•"/>
            </a:pPr>
            <a:r>
              <a:t>Commands use readable names: make demo-3 FEATURE=version-checks, make final FEATURES=watchers,bulk-close. The console still prints short codes; the glossary slide explains them once.</a:t>
            </a:r>
          </a:p>
          <a:p>
            <a:pPr marL="228600" indent="-182880" algn="l">
              <a:lnSpc>
                <a:spcPct val="100000"/>
              </a:lnSpc>
              <a:spcBef>
                <a:spcPts val="0"/>
              </a:spcBef>
              <a:spcAft>
                <a:spcPts val="0"/>
              </a:spcAft>
              <a:buClr>
                <a:srgbClr val="324158"/>
              </a:buClr>
              <a:buSzPct val="100000"/>
              <a:buFont typeface="Arial"/>
              <a:buChar char="•"/>
            </a:pPr>
            <a:r>
              <a:t>Analogy: onboarding a new engineer: docs (knows), a handover note (remembers), access rights (may change), code review and CI (proves done).</a:t>
            </a:r>
          </a:p>
          <a:p>
            <a:pPr marL="228600" indent="-182880" algn="l">
              <a:lnSpc>
                <a:spcPct val="100000"/>
              </a:lnSpc>
              <a:spcBef>
                <a:spcPts val="0"/>
              </a:spcBef>
              <a:spcAft>
                <a:spcPts val="0"/>
              </a:spcAft>
              <a:buClr>
                <a:srgbClr val="324158"/>
              </a:buClr>
              <a:buSzPct val="100000"/>
              <a:buFont typeface="Arial"/>
              <a:buChar char="•"/>
            </a:pPr>
            <a:r>
              <a:t>Point at box 3: the one section where the measure showed a gap before class, so it runs a live A/B.</a:t>
            </a:r>
          </a:p>
          <a:p>
            <a:pPr marL="228600" indent="-182880" algn="l">
              <a:lnSpc>
                <a:spcPct val="100000"/>
              </a:lnSpc>
              <a:spcBef>
                <a:spcPts val="0"/>
              </a:spcBef>
              <a:spcAft>
                <a:spcPts val="0"/>
              </a:spcAft>
              <a:buClr>
                <a:srgbClr val="324158"/>
              </a:buClr>
              <a:buSzPct val="100000"/>
              <a:buFont typeface="Arial"/>
              <a:buChar char="•"/>
            </a:pPr>
            <a:r>
              <a:t>Ask: "Which of the four would you build first?" Expected: most say instructions. Note it; we revisit after the results.</a:t>
            </a:r>
          </a:p>
          <a:p>
            <a:pPr marL="228600" indent="-182880" algn="l">
              <a:lnSpc>
                <a:spcPct val="100000"/>
              </a:lnSpc>
              <a:spcBef>
                <a:spcPts val="0"/>
              </a:spcBef>
              <a:spcAft>
                <a:spcPts val="0"/>
              </a:spcAft>
              <a:buClr>
                <a:srgbClr val="324158"/>
              </a:buClr>
              <a:buSzPct val="100000"/>
              <a:buFont typeface="Arial"/>
              <a:buChar char="•"/>
            </a:pPr>
            <a:r>
              <a:t>Misconception: "the order is arbitrary". Correction: it follows one session: what the agent sees at the start, what survives a stop, what it may touch while working, what happens when it claims done.</a:t>
            </a:r>
          </a:p>
          <a:p>
            <a:pPr marL="228600" indent="-182880" algn="l">
              <a:lnSpc>
                <a:spcPct val="100000"/>
              </a:lnSpc>
              <a:spcBef>
                <a:spcPts val="0"/>
              </a:spcBef>
              <a:spcAft>
                <a:spcPts val="0"/>
              </a:spcAft>
              <a:buClr>
                <a:srgbClr val="324158"/>
              </a:buClr>
              <a:buSzPct val="100000"/>
              <a:buFont typeface="Arial"/>
              <a:buChar char="•"/>
            </a:pPr>
            <a:r>
              <a:t>Time: 15 seconds. Next: what we are building.</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0.5 min (0:03:15-0:03:45)</a:t>
            </a:r>
          </a:p>
          <a:p>
            <a:pPr marL="228600" indent="-182880" algn="l">
              <a:lnSpc>
                <a:spcPct val="100000"/>
              </a:lnSpc>
              <a:spcBef>
                <a:spcPts val="0"/>
              </a:spcBef>
              <a:spcAft>
                <a:spcPts val="0"/>
              </a:spcAft>
              <a:buClr>
                <a:srgbClr val="324158"/>
              </a:buClr>
              <a:buSzPct val="100000"/>
              <a:buFont typeface="Arial"/>
              <a:buChar char="•"/>
            </a:pPr>
            <a:r>
              <a:t>Plain explanation: we do not change the model. We change its environment: what is in its context, what survives a session stop, which files it may touch, and what counts as done.</a:t>
            </a:r>
          </a:p>
          <a:p>
            <a:pPr marL="228600" indent="-182880" algn="l">
              <a:lnSpc>
                <a:spcPct val="100000"/>
              </a:lnSpc>
              <a:spcBef>
                <a:spcPts val="0"/>
              </a:spcBef>
              <a:spcAft>
                <a:spcPts val="0"/>
              </a:spcAft>
              <a:buClr>
                <a:srgbClr val="324158"/>
              </a:buClr>
              <a:buSzPct val="100000"/>
              <a:buFont typeface="Arial"/>
              <a:buChar char="•"/>
            </a:pPr>
            <a:r>
              <a:t>Source 1: Harness engineering (https://openai.com/index/harness-engineering/) describes the job as to "design environments, specify intent, and build feedback loops". That is where the course's word "harness" comes from.</a:t>
            </a:r>
          </a:p>
          <a:p>
            <a:pPr marL="228600" indent="-182880" algn="l">
              <a:lnSpc>
                <a:spcPct val="100000"/>
              </a:lnSpc>
              <a:spcBef>
                <a:spcPts val="0"/>
              </a:spcBef>
              <a:spcAft>
                <a:spcPts val="0"/>
              </a:spcAft>
              <a:buClr>
                <a:srgbClr val="324158"/>
              </a:buClr>
              <a:buSzPct val="100000"/>
              <a:buFont typeface="Arial"/>
              <a:buChar char="•"/>
            </a:pPr>
            <a:r>
              <a:t>Concrete: TeamTrack is a FastAPI issue tracker where each customer is an org; the agent adds real features to it.</a:t>
            </a:r>
          </a:p>
          <a:p>
            <a:pPr marL="228600" indent="-182880" algn="l">
              <a:lnSpc>
                <a:spcPct val="100000"/>
              </a:lnSpc>
              <a:spcBef>
                <a:spcPts val="0"/>
              </a:spcBef>
              <a:spcAft>
                <a:spcPts val="0"/>
              </a:spcAft>
              <a:buClr>
                <a:srgbClr val="324158"/>
              </a:buClr>
              <a:buSzPct val="100000"/>
              <a:buFont typeface="Arial"/>
              <a:buChar char="•"/>
            </a:pPr>
            <a:r>
              <a:t>Analogy: you would not hand a new hire production access, no docs, and no CI, then judge them on their own report. The harness is the docs, the access rules, and the CI.</a:t>
            </a:r>
          </a:p>
          <a:p>
            <a:pPr marL="228600" indent="-182880" algn="l">
              <a:lnSpc>
                <a:spcPct val="100000"/>
              </a:lnSpc>
              <a:spcBef>
                <a:spcPts val="0"/>
              </a:spcBef>
              <a:spcAft>
                <a:spcPts val="0"/>
              </a:spcAft>
              <a:buClr>
                <a:srgbClr val="324158"/>
              </a:buClr>
              <a:buSzPct val="100000"/>
              <a:buFont typeface="Arial"/>
              <a:buChar char="•"/>
            </a:pPr>
            <a:r>
              <a:t>Point at the referee outside the harness: it is not part of what the agent gets, and it scores what shipped the same way for both arms.</a:t>
            </a:r>
          </a:p>
          <a:p>
            <a:pPr marL="228600" indent="-182880" algn="l">
              <a:lnSpc>
                <a:spcPct val="100000"/>
              </a:lnSpc>
              <a:spcBef>
                <a:spcPts val="0"/>
              </a:spcBef>
              <a:spcAft>
                <a:spcPts val="0"/>
              </a:spcAft>
              <a:buClr>
                <a:srgbClr val="324158"/>
              </a:buClr>
              <a:buSzPct val="100000"/>
              <a:buFont typeface="Arial"/>
              <a:buChar char="•"/>
            </a:pPr>
            <a:r>
              <a:t>Ask: "Why keep the referee outside the harness?" Expected: so the harness cannot grade itself.</a:t>
            </a:r>
          </a:p>
          <a:p>
            <a:pPr marL="228600" indent="-182880" algn="l">
              <a:lnSpc>
                <a:spcPct val="100000"/>
              </a:lnSpc>
              <a:spcBef>
                <a:spcPts val="0"/>
              </a:spcBef>
              <a:spcAft>
                <a:spcPts val="0"/>
              </a:spcAft>
              <a:buClr>
                <a:srgbClr val="324158"/>
              </a:buClr>
              <a:buSzPct val="100000"/>
              <a:buFont typeface="Arial"/>
              <a:buChar char="•"/>
            </a:pPr>
            <a:r>
              <a:t>Likely question: "Is shipharness tied to one agent product?" Answer: no; it runs its own loop on the OpenAI API, and the starter kit copies the same files into your repository for Claude Code, Codex, or Cursor.</a:t>
            </a:r>
          </a:p>
          <a:p>
            <a:pPr marL="228600" indent="-182880" algn="l">
              <a:lnSpc>
                <a:spcPct val="100000"/>
              </a:lnSpc>
              <a:spcBef>
                <a:spcPts val="0"/>
              </a:spcBef>
              <a:spcAft>
                <a:spcPts val="0"/>
              </a:spcAft>
              <a:buClr>
                <a:srgbClr val="324158"/>
              </a:buClr>
              <a:buSzPct val="100000"/>
              <a:buFont typeface="Arial"/>
              <a:buChar char="•"/>
            </a:pPr>
            <a:r>
              <a:t>Misconception: "the harness makes the agent smarter". Correction: it changes what the agent sees and may do; whether that changes the outcome is what we measure.</a:t>
            </a:r>
          </a:p>
          <a:p>
            <a:pPr marL="228600" indent="-182880" algn="l">
              <a:lnSpc>
                <a:spcPct val="100000"/>
              </a:lnSpc>
              <a:spcBef>
                <a:spcPts val="0"/>
              </a:spcBef>
              <a:spcAft>
                <a:spcPts val="0"/>
              </a:spcAft>
              <a:buClr>
                <a:srgbClr val="324158"/>
              </a:buClr>
              <a:buSzPct val="100000"/>
              <a:buFont typeface="Arial"/>
              <a:buChar char="•"/>
            </a:pPr>
            <a:r>
              <a:t>Time: 30 seconds. Next: what goes wrong without it.</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 min (0:03:45-0:04:45)</a:t>
            </a:r>
          </a:p>
          <a:p>
            <a:pPr marL="228600" indent="-182880" algn="l">
              <a:lnSpc>
                <a:spcPct val="100000"/>
              </a:lnSpc>
              <a:spcBef>
                <a:spcPts val="0"/>
              </a:spcBef>
              <a:spcAft>
                <a:spcPts val="0"/>
              </a:spcAft>
              <a:buClr>
                <a:srgbClr val="324158"/>
              </a:buClr>
              <a:buSzPct val="100000"/>
              <a:buFont typeface="Arial"/>
              <a:buChar char="•"/>
            </a:pPr>
            <a:r>
              <a:t>This is the root README's story, one ticket a day. It is an illustrative scenario, not an incident from our runs; say so.</a:t>
            </a:r>
          </a:p>
          <a:p>
            <a:pPr marL="228600" indent="-182880" algn="l">
              <a:lnSpc>
                <a:spcPct val="100000"/>
              </a:lnSpc>
              <a:spcBef>
                <a:spcPts val="0"/>
              </a:spcBef>
              <a:spcAft>
                <a:spcPts val="0"/>
              </a:spcAft>
              <a:buClr>
                <a:srgbClr val="324158"/>
              </a:buClr>
              <a:buSzPct val="100000"/>
              <a:buFont typeface="Arial"/>
              <a:buChar char="•"/>
            </a:pPr>
            <a:r>
              <a:t>Monday is a tenant leak: a data exposure, an incident, a disclosure, and a hunt for every copy of the pattern.</a:t>
            </a:r>
          </a:p>
          <a:p>
            <a:pPr marL="228600" indent="-182880" algn="l">
              <a:lnSpc>
                <a:spcPct val="100000"/>
              </a:lnSpc>
              <a:spcBef>
                <a:spcPts val="0"/>
              </a:spcBef>
              <a:spcAft>
                <a:spcPts val="0"/>
              </a:spcAft>
              <a:buClr>
                <a:srgbClr val="324158"/>
              </a:buClr>
              <a:buSzPct val="100000"/>
              <a:buFont typeface="Arial"/>
              <a:buChar char="•"/>
            </a:pPr>
            <a:r>
              <a:t>Tuesday is a lost session: two Alembic heads (two "newest" migrations, so alembic upgrade head cannot pick one); the deploy is blocked until someone merges them by hand.</a:t>
            </a:r>
          </a:p>
          <a:p>
            <a:pPr marL="228600" indent="-182880" algn="l">
              <a:lnSpc>
                <a:spcPct val="100000"/>
              </a:lnSpc>
              <a:spcBef>
                <a:spcPts val="0"/>
              </a:spcBef>
              <a:spcAft>
                <a:spcPts val="0"/>
              </a:spcAft>
              <a:buClr>
                <a:srgbClr val="324158"/>
              </a:buClr>
              <a:buSzPct val="100000"/>
              <a:buFont typeface="Arial"/>
              <a:buChar char="•"/>
            </a:pPr>
            <a:r>
              <a:t>Wednesday is scope creep: the ticket was one endpoint, the diff touched middleware every request runs through.</a:t>
            </a:r>
          </a:p>
          <a:p>
            <a:pPr marL="228600" indent="-182880" algn="l">
              <a:lnSpc>
                <a:spcPct val="100000"/>
              </a:lnSpc>
              <a:spcBef>
                <a:spcPts val="0"/>
              </a:spcBef>
              <a:spcAft>
                <a:spcPts val="0"/>
              </a:spcAft>
              <a:buClr>
                <a:srgbClr val="324158"/>
              </a:buClr>
              <a:buSzPct val="100000"/>
              <a:buFont typeface="Arial"/>
              <a:buChar char="•"/>
            </a:pPr>
            <a:r>
              <a:t>Thursday is a false "done": the review rests on trust in the agent's own report.</a:t>
            </a:r>
          </a:p>
          <a:p>
            <a:pPr marL="228600" indent="-182880" algn="l">
              <a:lnSpc>
                <a:spcPct val="100000"/>
              </a:lnSpc>
              <a:spcBef>
                <a:spcPts val="0"/>
              </a:spcBef>
              <a:spcAft>
                <a:spcPts val="0"/>
              </a:spcAft>
              <a:buClr>
                <a:srgbClr val="324158"/>
              </a:buClr>
              <a:buSzPct val="100000"/>
              <a:buFont typeface="Arial"/>
              <a:buChar char="•"/>
            </a:pPr>
            <a:r>
              <a:t>Each failure maps to one section: Monday to Section 1: Instructions, Tuesday to Section 2: State and sessions, Wednesday to Section 3: Scope and sandbox, Thursday to Section 4: Verification.</a:t>
            </a:r>
          </a:p>
          <a:p>
            <a:pPr marL="228600" indent="-182880" algn="l">
              <a:lnSpc>
                <a:spcPct val="100000"/>
              </a:lnSpc>
              <a:spcBef>
                <a:spcPts val="0"/>
              </a:spcBef>
              <a:spcAft>
                <a:spcPts val="0"/>
              </a:spcAft>
              <a:buClr>
                <a:srgbClr val="324158"/>
              </a:buClr>
              <a:buSzPct val="100000"/>
              <a:buFont typeface="Arial"/>
              <a:buChar char="•"/>
            </a:pPr>
            <a:r>
              <a:t>Point at "tests pass" on Monday: the tests created one org, so a missing org filter was invisible to them.</a:t>
            </a:r>
          </a:p>
          <a:p>
            <a:pPr marL="228600" indent="-182880" algn="l">
              <a:lnSpc>
                <a:spcPct val="100000"/>
              </a:lnSpc>
              <a:spcBef>
                <a:spcPts val="0"/>
              </a:spcBef>
              <a:spcAft>
                <a:spcPts val="0"/>
              </a:spcAft>
              <a:buClr>
                <a:srgbClr val="324158"/>
              </a:buClr>
              <a:buSzPct val="100000"/>
              <a:buFont typeface="Arial"/>
              <a:buChar char="•"/>
            </a:pPr>
            <a:r>
              <a:t>Ask: "Which of the four have you seen in your team?" Expected: Wednesday and Thursday most often. Take one story, 20 seconds.</a:t>
            </a:r>
          </a:p>
          <a:p>
            <a:pPr marL="228600" indent="-182880" algn="l">
              <a:lnSpc>
                <a:spcPct val="100000"/>
              </a:lnSpc>
              <a:spcBef>
                <a:spcPts val="0"/>
              </a:spcBef>
              <a:spcAft>
                <a:spcPts val="0"/>
              </a:spcAft>
              <a:buClr>
                <a:srgbClr val="324158"/>
              </a:buClr>
              <a:buSzPct val="100000"/>
              <a:buFont typeface="Arial"/>
              <a:buChar char="•"/>
            </a:pPr>
            <a:r>
              <a:t>Likely question: "Are these from real incidents?" Answer: the week is illustrative, the mechanisms are not: TeamTrack has an unfiltered legacy handler, and in Section 3 every bare arm on Feature 4: Version checks on issue edits really edited a shared module.</a:t>
            </a:r>
          </a:p>
          <a:p>
            <a:pPr marL="228600" indent="-182880" algn="l">
              <a:lnSpc>
                <a:spcPct val="100000"/>
              </a:lnSpc>
              <a:spcBef>
                <a:spcPts val="0"/>
              </a:spcBef>
              <a:spcAft>
                <a:spcPts val="0"/>
              </a:spcAft>
              <a:buClr>
                <a:srgbClr val="324158"/>
              </a:buClr>
              <a:buSzPct val="100000"/>
              <a:buFont typeface="Arial"/>
              <a:buChar char="•"/>
            </a:pPr>
            <a:r>
              <a:t>Misconception: "better tests would catch all four". Correction: Monday's tests created one org; Thursday's suite stayed green because the new header is optional. Tests check what their author thought of.</a:t>
            </a:r>
          </a:p>
          <a:p>
            <a:pPr marL="228600" indent="-182880" algn="l">
              <a:lnSpc>
                <a:spcPct val="100000"/>
              </a:lnSpc>
              <a:spcBef>
                <a:spcPts val="0"/>
              </a:spcBef>
              <a:spcAft>
                <a:spcPts val="0"/>
              </a:spcAft>
              <a:buClr>
                <a:srgbClr val="324158"/>
              </a:buClr>
              <a:buSzPct val="100000"/>
              <a:buFont typeface="Arial"/>
              <a:buChar char="•"/>
            </a:pPr>
            <a:r>
              <a:t>Time: 1 minute. Next: why a capable agent still does this.</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0.75 min (0:04:45-0:05:30)</a:t>
            </a:r>
          </a:p>
          <a:p>
            <a:pPr marL="228600" indent="-182880" algn="l">
              <a:lnSpc>
                <a:spcPct val="100000"/>
              </a:lnSpc>
              <a:spcBef>
                <a:spcPts val="0"/>
              </a:spcBef>
              <a:spcAft>
                <a:spcPts val="0"/>
              </a:spcAft>
              <a:buClr>
                <a:srgbClr val="324158"/>
              </a:buClr>
              <a:buSzPct val="100000"/>
              <a:buFont typeface="Arial"/>
              <a:buChar char="•"/>
            </a:pPr>
            <a:r>
              <a:t>Four causes, one per card: a rule it never reads does not exist for it; each session starts with no memory; it copies whatever pattern sits nearby; it grades its own work too kindly.</a:t>
            </a:r>
          </a:p>
          <a:p>
            <a:pPr marL="228600" indent="-182880" algn="l">
              <a:lnSpc>
                <a:spcPct val="100000"/>
              </a:lnSpc>
              <a:spcBef>
                <a:spcPts val="0"/>
              </a:spcBef>
              <a:spcAft>
                <a:spcPts val="0"/>
              </a:spcAft>
              <a:buClr>
                <a:srgbClr val="324158"/>
              </a:buClr>
              <a:buSzPct val="100000"/>
              <a:buFont typeface="Arial"/>
              <a:buChar char="•"/>
            </a:pPr>
            <a:r>
              <a:t>Card 3 in full: "Codex replicates patterns that already exist in the repository—even uneven or suboptimal ones."</a:t>
            </a:r>
          </a:p>
          <a:p>
            <a:pPr marL="228600" indent="-182880" algn="l">
              <a:lnSpc>
                <a:spcPct val="100000"/>
              </a:lnSpc>
              <a:spcBef>
                <a:spcPts val="0"/>
              </a:spcBef>
              <a:spcAft>
                <a:spcPts val="0"/>
              </a:spcAft>
              <a:buClr>
                <a:srgbClr val="324158"/>
              </a:buClr>
              <a:buSzPct val="100000"/>
              <a:buFont typeface="Arial"/>
              <a:buChar char="•"/>
            </a:pPr>
            <a:r>
              <a:t>Source 4: Building a C compiler with a team of parallel Claudes (https://www.anthropic.com/engineering/building-c-compiler) adds the container advice we use in Section 3: Scope and sandbox: "(Run this in a container, not your actual machine)".</a:t>
            </a:r>
          </a:p>
          <a:p>
            <a:pPr marL="228600" indent="-182880" algn="l">
              <a:lnSpc>
                <a:spcPct val="100000"/>
              </a:lnSpc>
              <a:spcBef>
                <a:spcPts val="0"/>
              </a:spcBef>
              <a:spcAft>
                <a:spcPts val="0"/>
              </a:spcAft>
              <a:buClr>
                <a:srgbClr val="324158"/>
              </a:buClr>
              <a:buSzPct val="100000"/>
              <a:buFont typeface="Arial"/>
              <a:buChar char="•"/>
            </a:pPr>
            <a:r>
              <a:t>Concrete: TeamTrack has a legacy GET /v1/issues handler with no org filter, next to where the Feature 1: Org-wide issue search query must go. That is card 3 in one file.</a:t>
            </a:r>
          </a:p>
          <a:p>
            <a:pPr marL="228600" indent="-182880" algn="l">
              <a:lnSpc>
                <a:spcPct val="100000"/>
              </a:lnSpc>
              <a:spcBef>
                <a:spcPts val="0"/>
              </a:spcBef>
              <a:spcAft>
                <a:spcPts val="0"/>
              </a:spcAft>
              <a:buClr>
                <a:srgbClr val="324158"/>
              </a:buClr>
              <a:buSzPct val="100000"/>
              <a:buFont typeface="Arial"/>
              <a:buChar char="•"/>
            </a:pPr>
            <a:r>
              <a:t>Analogy: a drive-by open-source contributor: CONTRIBUTING.md exists, they skim the nearest file instead, copy its style, and mark their own PR "tested".</a:t>
            </a:r>
          </a:p>
          <a:p>
            <a:pPr marL="228600" indent="-182880" algn="l">
              <a:lnSpc>
                <a:spcPct val="100000"/>
              </a:lnSpc>
              <a:spcBef>
                <a:spcPts val="0"/>
              </a:spcBef>
              <a:spcAft>
                <a:spcPts val="0"/>
              </a:spcAft>
              <a:buClr>
                <a:srgbClr val="324158"/>
              </a:buClr>
              <a:buSzPct val="100000"/>
              <a:buFont typeface="Arial"/>
              <a:buChar char="•"/>
            </a:pPr>
            <a:r>
              <a:t>Point at the lead's word "still": nothing is withheld. The bare arm gets every rule in platform/teamtrack/docs/HANDBOOK.md.</a:t>
            </a:r>
          </a:p>
          <a:p>
            <a:pPr marL="228600" indent="-182880" algn="l">
              <a:lnSpc>
                <a:spcPct val="100000"/>
              </a:lnSpc>
              <a:spcBef>
                <a:spcPts val="0"/>
              </a:spcBef>
              <a:spcAft>
                <a:spcPts val="0"/>
              </a:spcAft>
              <a:buClr>
                <a:srgbClr val="324158"/>
              </a:buClr>
              <a:buSzPct val="100000"/>
              <a:buFont typeface="Arial"/>
              <a:buChar char="•"/>
            </a:pPr>
            <a:r>
              <a:t>Ask: "If the rule is in the repository, why is that not enough?" Expected: on disk is not in context; the agent must choose to open it.</a:t>
            </a:r>
          </a:p>
          <a:p>
            <a:pPr marL="228600" indent="-182880" algn="l">
              <a:lnSpc>
                <a:spcPct val="100000"/>
              </a:lnSpc>
              <a:spcBef>
                <a:spcPts val="0"/>
              </a:spcBef>
              <a:spcAft>
                <a:spcPts val="0"/>
              </a:spcAft>
              <a:buClr>
                <a:srgbClr val="324158"/>
              </a:buClr>
              <a:buSzPct val="100000"/>
              <a:buFont typeface="Arial"/>
              <a:buChar char="•"/>
            </a:pPr>
            <a:r>
              <a:t>Misconception: "a stronger model fixes all four". Correction: a stronger model may need fewer layers, which is why we measure each layer on the model we use.</a:t>
            </a:r>
          </a:p>
          <a:p>
            <a:pPr marL="228600" indent="-182880" algn="l">
              <a:lnSpc>
                <a:spcPct val="100000"/>
              </a:lnSpc>
              <a:spcBef>
                <a:spcPts val="0"/>
              </a:spcBef>
              <a:spcAft>
                <a:spcPts val="0"/>
              </a:spcAft>
              <a:buClr>
                <a:srgbClr val="324158"/>
              </a:buClr>
              <a:buSzPct val="100000"/>
              <a:buFont typeface="Arial"/>
              <a:buChar char="•"/>
            </a:pPr>
            <a:r>
              <a:t>Likely question: "Why quote vendor engineering blogs?" Answer: these teams ran long agent loops on real code and wrote down the failures; Section 4: Verification adds three papers from Meta and Weco AI. Each quote was checked against its source, and the References slides list every one.</a:t>
            </a:r>
          </a:p>
          <a:p>
            <a:pPr marL="228600" indent="-182880" algn="l">
              <a:lnSpc>
                <a:spcPct val="100000"/>
              </a:lnSpc>
              <a:spcBef>
                <a:spcPts val="0"/>
              </a:spcBef>
              <a:spcAft>
                <a:spcPts val="0"/>
              </a:spcAft>
              <a:buClr>
                <a:srgbClr val="324158"/>
              </a:buClr>
              <a:buSzPct val="100000"/>
              <a:buFont typeface="Arial"/>
              <a:buChar char="•"/>
            </a:pPr>
            <a:r>
              <a:t>Time: 45 seconds. Next: why this matters to a team.</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(0:05:30-0:05:45)</a:t>
            </a:r>
          </a:p>
          <a:p>
            <a:pPr marL="228600" indent="-182880" algn="l">
              <a:lnSpc>
                <a:spcPct val="100000"/>
              </a:lnSpc>
              <a:spcBef>
                <a:spcPts val="0"/>
              </a:spcBef>
              <a:spcAft>
                <a:spcPts val="0"/>
              </a:spcAft>
              <a:buClr>
                <a:srgbClr val="324158"/>
              </a:buClr>
              <a:buSzPct val="100000"/>
              <a:buFont typeface="Arial"/>
              <a:buChar char="•"/>
            </a:pPr>
            <a:r>
              <a:t>Plain explanation: each failure costs more than the agent saved on the ticket. One missing org filter turns a small ticket into a disclosure plus an audit of every copy of the pattern.</a:t>
            </a:r>
          </a:p>
          <a:p>
            <a:pPr marL="228600" indent="-182880" algn="l">
              <a:lnSpc>
                <a:spcPct val="100000"/>
              </a:lnSpc>
              <a:spcBef>
                <a:spcPts val="0"/>
              </a:spcBef>
              <a:spcAft>
                <a:spcPts val="0"/>
              </a:spcAft>
              <a:buClr>
                <a:srgbClr val="324158"/>
              </a:buClr>
              <a:buSzPct val="100000"/>
              <a:buFont typeface="Arial"/>
              <a:buChar char="•"/>
            </a:pPr>
            <a:r>
              <a:t>The harness numbers are from the runs before class: harness arms ran longer, median 302 s against 190 s, and cost more, median $0.0123 against $0.0103 per arm (exploratory, chosen after the results, so descriptive only).</a:t>
            </a:r>
          </a:p>
          <a:p>
            <a:pPr marL="228600" indent="-182880" algn="l">
              <a:lnSpc>
                <a:spcPct val="100000"/>
              </a:lnSpc>
              <a:spcBef>
                <a:spcPts val="0"/>
              </a:spcBef>
              <a:spcAft>
                <a:spcPts val="0"/>
              </a:spcAft>
              <a:buClr>
                <a:srgbClr val="324158"/>
              </a:buClr>
              <a:buSzPct val="100000"/>
              <a:buFont typeface="Arial"/>
              <a:buChar char="•"/>
            </a:pPr>
            <a:r>
              <a:t>Post hoc again: harness arms hit the agent time limit in 9 of 34 runs, bare arms in 4 of 34.</a:t>
            </a:r>
          </a:p>
          <a:p>
            <a:pPr marL="228600" indent="-182880" algn="l">
              <a:lnSpc>
                <a:spcPct val="100000"/>
              </a:lnSpc>
              <a:spcBef>
                <a:spcPts val="0"/>
              </a:spcBef>
              <a:spcAft>
                <a:spcPts val="0"/>
              </a:spcAft>
              <a:buClr>
                <a:srgbClr val="324158"/>
              </a:buClr>
              <a:buSzPct val="100000"/>
              <a:buFont typeface="Arial"/>
              <a:buChar char="•"/>
            </a:pPr>
            <a:r>
              <a:t>So the trade is real: every layer must buy something you can see, or it is overhead.</a:t>
            </a:r>
          </a:p>
          <a:p>
            <a:pPr marL="228600" indent="-182880" algn="l">
              <a:lnSpc>
                <a:spcPct val="100000"/>
              </a:lnSpc>
              <a:spcBef>
                <a:spcPts val="0"/>
              </a:spcBef>
              <a:spcAft>
                <a:spcPts val="0"/>
              </a:spcAft>
              <a:buClr>
                <a:srgbClr val="324158"/>
              </a:buClr>
              <a:buSzPct val="100000"/>
              <a:buFont typeface="Arial"/>
              <a:buChar char="•"/>
            </a:pPr>
            <a:r>
              <a:t>Source 3: Harness design for long-running application development (https://www.anthropic.com/engineering/harness-design-long-running-apps): "every component in a harness encodes an assumption about what the model can't do on its own, and those assumptions are worth stress testing".</a:t>
            </a:r>
          </a:p>
          <a:p>
            <a:pPr marL="228600" indent="-182880" algn="l">
              <a:lnSpc>
                <a:spcPct val="100000"/>
              </a:lnSpc>
              <a:spcBef>
                <a:spcPts val="0"/>
              </a:spcBef>
              <a:spcAft>
                <a:spcPts val="0"/>
              </a:spcAft>
              <a:buClr>
                <a:srgbClr val="324158"/>
              </a:buClr>
              <a:buSzPct val="100000"/>
              <a:buFont typeface="Arial"/>
              <a:buChar char="•"/>
            </a:pPr>
            <a:r>
              <a:t>Analogy: CI minutes. A slow pipeline is fine if it catches regressions; a slow pipeline that never fails is waste.</a:t>
            </a:r>
          </a:p>
          <a:p>
            <a:pPr marL="228600" indent="-182880" algn="l">
              <a:lnSpc>
                <a:spcPct val="100000"/>
              </a:lnSpc>
              <a:spcBef>
                <a:spcPts val="0"/>
              </a:spcBef>
              <a:spcAft>
                <a:spcPts val="0"/>
              </a:spcAft>
              <a:buClr>
                <a:srgbClr val="324158"/>
              </a:buClr>
              <a:buSzPct val="100000"/>
              <a:buFont typeface="Arial"/>
              <a:buChar char="•"/>
            </a:pPr>
            <a:r>
              <a:t>Ask: "How would you know a layer is not paying off?" Expected: run the same ticket with and without it and compare a measure chosen in advance.</a:t>
            </a:r>
          </a:p>
          <a:p>
            <a:pPr marL="228600" indent="-182880" algn="l">
              <a:lnSpc>
                <a:spcPct val="100000"/>
              </a:lnSpc>
              <a:spcBef>
                <a:spcPts val="0"/>
              </a:spcBef>
              <a:spcAft>
                <a:spcPts val="0"/>
              </a:spcAft>
              <a:buClr>
                <a:srgbClr val="324158"/>
              </a:buClr>
              <a:buSzPct val="100000"/>
              <a:buFont typeface="Arial"/>
              <a:buChar char="•"/>
            </a:pPr>
            <a:r>
              <a:t>Likely question: "Per run or per class?" Answer: per arm run; the whole class plan needs at most $2.36 at the caps, under a $2.50 session cap.</a:t>
            </a:r>
          </a:p>
          <a:p>
            <a:pPr marL="228600" indent="-182880" algn="l">
              <a:lnSpc>
                <a:spcPct val="100000"/>
              </a:lnSpc>
              <a:spcBef>
                <a:spcPts val="0"/>
              </a:spcBef>
              <a:spcAft>
                <a:spcPts val="0"/>
              </a:spcAft>
              <a:buClr>
                <a:srgbClr val="324158"/>
              </a:buClr>
              <a:buSzPct val="100000"/>
              <a:buFont typeface="Arial"/>
              <a:buChar char="•"/>
            </a:pPr>
            <a:r>
              <a:t>Misconception: "a harness is free once written". Correction: it costs turns and wall time on every run.</a:t>
            </a:r>
          </a:p>
          <a:p>
            <a:pPr marL="228600" indent="-182880" algn="l">
              <a:lnSpc>
                <a:spcPct val="100000"/>
              </a:lnSpc>
              <a:spcBef>
                <a:spcPts val="0"/>
              </a:spcBef>
              <a:spcAft>
                <a:spcPts val="0"/>
              </a:spcAft>
              <a:buClr>
                <a:srgbClr val="324158"/>
              </a:buClr>
              <a:buSzPct val="100000"/>
              <a:buFont typeface="Arial"/>
              <a:buChar char="•"/>
            </a:pPr>
            <a:r>
              <a:t>Time: 15 seconds. Next: the four gaps in one picture.</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(0:05:45-0:06)</a:t>
            </a:r>
          </a:p>
          <a:p>
            <a:pPr marL="228600" indent="-182880" algn="l">
              <a:lnSpc>
                <a:spcPct val="100000"/>
              </a:lnSpc>
              <a:spcBef>
                <a:spcPts val="0"/>
              </a:spcBef>
              <a:spcAft>
                <a:spcPts val="0"/>
              </a:spcAft>
              <a:buClr>
                <a:srgbClr val="324158"/>
              </a:buClr>
              <a:buSzPct val="100000"/>
              <a:buFont typeface="Arial"/>
              <a:buChar char="•"/>
            </a:pPr>
            <a:r>
              <a:t>Read the diagram row by row, left to right: story, cause, layer.</a:t>
            </a:r>
          </a:p>
          <a:p>
            <a:pPr marL="228600" indent="-182880" algn="l">
              <a:lnSpc>
                <a:spcPct val="100000"/>
              </a:lnSpc>
              <a:spcBef>
                <a:spcPts val="0"/>
              </a:spcBef>
              <a:spcAft>
                <a:spcPts val="0"/>
              </a:spcAft>
              <a:buClr>
                <a:srgbClr val="324158"/>
              </a:buClr>
              <a:buSzPct val="100000"/>
              <a:buFont typeface="Arial"/>
              <a:buChar char="•"/>
            </a:pPr>
            <a:r>
              <a:t>Row 1: tenant leak, rule not in context, Section 1: Instructions: a short map in context, details on disk.</a:t>
            </a:r>
          </a:p>
          <a:p>
            <a:pPr marL="228600" indent="-182880" algn="l">
              <a:lnSpc>
                <a:spcPct val="100000"/>
              </a:lnSpc>
              <a:spcBef>
                <a:spcPts val="0"/>
              </a:spcBef>
              <a:spcAft>
                <a:spcPts val="0"/>
              </a:spcAft>
              <a:buClr>
                <a:srgbClr val="324158"/>
              </a:buClr>
              <a:buSzPct val="100000"/>
              <a:buFont typeface="Arial"/>
              <a:buChar char="•"/>
            </a:pPr>
            <a:r>
              <a:t>Row 2: lost migration, no memory across sessions, Section 2: State and sessions: a progress file, a plan, and a handoff.</a:t>
            </a:r>
          </a:p>
          <a:p>
            <a:pPr marL="228600" indent="-182880" algn="l">
              <a:lnSpc>
                <a:spcPct val="100000"/>
              </a:lnSpc>
              <a:spcBef>
                <a:spcPts val="0"/>
              </a:spcBef>
              <a:spcAft>
                <a:spcPts val="0"/>
              </a:spcAft>
              <a:buClr>
                <a:srgbClr val="324158"/>
              </a:buClr>
              <a:buSzPct val="100000"/>
              <a:buFont typeface="Arial"/>
              <a:buChar char="•"/>
            </a:pPr>
            <a:r>
              <a:t>Row 3: middleware edit, copied patterns and hard-to-undo actions, Section 3: Scope and sandbox: allowed paths per phase, a container with no network.</a:t>
            </a:r>
          </a:p>
          <a:p>
            <a:pPr marL="228600" indent="-182880" algn="l">
              <a:lnSpc>
                <a:spcPct val="100000"/>
              </a:lnSpc>
              <a:spcBef>
                <a:spcPts val="0"/>
              </a:spcBef>
              <a:spcAft>
                <a:spcPts val="0"/>
              </a:spcAft>
              <a:buClr>
                <a:srgbClr val="324158"/>
              </a:buClr>
              <a:buSzPct val="100000"/>
              <a:buFont typeface="Arial"/>
              <a:buChar char="•"/>
            </a:pPr>
            <a:r>
              <a:t>Row 4: false "done", self-grading, Section 4: Verification: test filters and a gate; the harness, not the agent, marks a feature as passing.</a:t>
            </a:r>
          </a:p>
          <a:p>
            <a:pPr marL="228600" indent="-182880" algn="l">
              <a:lnSpc>
                <a:spcPct val="100000"/>
              </a:lnSpc>
              <a:spcBef>
                <a:spcPts val="0"/>
              </a:spcBef>
              <a:spcAft>
                <a:spcPts val="0"/>
              </a:spcAft>
              <a:buClr>
                <a:srgbClr val="324158"/>
              </a:buClr>
              <a:buSzPct val="100000"/>
              <a:buFont typeface="Arial"/>
              <a:buChar char="•"/>
            </a:pPr>
            <a:r>
              <a:t>Analogy: onboarding docs, shift handover, least privilege, CI gates: practices your team already trusts for humans.</a:t>
            </a:r>
          </a:p>
          <a:p>
            <a:pPr marL="228600" indent="-182880" algn="l">
              <a:lnSpc>
                <a:spcPct val="100000"/>
              </a:lnSpc>
              <a:spcBef>
                <a:spcPts val="0"/>
              </a:spcBef>
              <a:spcAft>
                <a:spcPts val="0"/>
              </a:spcAft>
              <a:buClr>
                <a:srgbClr val="324158"/>
              </a:buClr>
              <a:buSzPct val="100000"/>
              <a:buFont typeface="Arial"/>
              <a:buChar char="•"/>
            </a:pPr>
            <a:r>
              <a:t>Ask: "Which row do you expect to show the biggest difference?" Expected: guesses vary. Answer at the end: only row 3, on one ticket.</a:t>
            </a:r>
          </a:p>
          <a:p>
            <a:pPr marL="228600" indent="-182880" algn="l">
              <a:lnSpc>
                <a:spcPct val="100000"/>
              </a:lnSpc>
              <a:spcBef>
                <a:spcPts val="0"/>
              </a:spcBef>
              <a:spcAft>
                <a:spcPts val="0"/>
              </a:spcAft>
              <a:buClr>
                <a:srgbClr val="324158"/>
              </a:buClr>
              <a:buSzPct val="100000"/>
              <a:buFont typeface="Arial"/>
              <a:buChar char="•"/>
            </a:pPr>
            <a:r>
              <a:t>Likely question: "Where is the sandbox?" Answer: row 3, but it is the same container for both arms, so no measurement can credit it; only the scope guard differs.</a:t>
            </a:r>
          </a:p>
          <a:p>
            <a:pPr marL="228600" indent="-182880" algn="l">
              <a:lnSpc>
                <a:spcPct val="100000"/>
              </a:lnSpc>
              <a:spcBef>
                <a:spcPts val="0"/>
              </a:spcBef>
              <a:spcAft>
                <a:spcPts val="0"/>
              </a:spcAft>
              <a:buClr>
                <a:srgbClr val="324158"/>
              </a:buClr>
              <a:buSzPct val="100000"/>
              <a:buFont typeface="Arial"/>
              <a:buChar char="•"/>
            </a:pPr>
            <a:r>
              <a:t>Misconception: "one layer fixes several gaps". Correction: each layer here targets one cause; Section 3 also shows a guard can win by construction, which is not the same as being correct.</a:t>
            </a:r>
          </a:p>
          <a:p>
            <a:pPr marL="228600" indent="-182880" algn="l">
              <a:lnSpc>
                <a:spcPct val="100000"/>
              </a:lnSpc>
              <a:spcBef>
                <a:spcPts val="0"/>
              </a:spcBef>
              <a:spcAft>
                <a:spcPts val="0"/>
              </a:spcAft>
              <a:buClr>
                <a:srgbClr val="324158"/>
              </a:buClr>
              <a:buSzPct val="100000"/>
              <a:buFont typeface="Arial"/>
              <a:buChar char="•"/>
            </a:pPr>
            <a:r>
              <a:t>Time: 15 seconds. Next: the app.</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0.75 min (0:06-0:06:45)</a:t>
            </a:r>
          </a:p>
          <a:p>
            <a:pPr marL="228600" indent="-182880" algn="l">
              <a:lnSpc>
                <a:spcPct val="100000"/>
              </a:lnSpc>
              <a:spcBef>
                <a:spcPts val="0"/>
              </a:spcBef>
              <a:spcAft>
                <a:spcPts val="0"/>
              </a:spcAft>
              <a:buClr>
                <a:srgbClr val="324158"/>
              </a:buClr>
              <a:buSzPct val="100000"/>
              <a:buFont typeface="Arial"/>
              <a:buChar char="•"/>
            </a:pPr>
            <a:r>
              <a:t>Seven tables, from platform/teamtrack/app/db/models.py; its docstring is the key-idea line.</a:t>
            </a:r>
          </a:p>
          <a:p>
            <a:pPr marL="228600" indent="-182880" algn="l">
              <a:lnSpc>
                <a:spcPct val="100000"/>
              </a:lnSpc>
              <a:spcBef>
                <a:spcPts val="0"/>
              </a:spcBef>
              <a:spcAft>
                <a:spcPts val="0"/>
              </a:spcAft>
              <a:buClr>
                <a:srgbClr val="324158"/>
              </a:buClr>
              <a:buSzPct val="100000"/>
              <a:buFont typeface="Arial"/>
              <a:buChar char="•"/>
            </a:pPr>
            <a:r>
              <a:t>Issues carry org_id, project_id, status (open, in_progress, done), priority, an assignee, a version column (used by Feature 4: Version checks on issue edits), and deleted_at for soft deletes. Users are admin, member, or viewer; every write adds one audit_log row.</a:t>
            </a:r>
          </a:p>
          <a:p>
            <a:pPr marL="228600" indent="-182880" algn="l">
              <a:lnSpc>
                <a:spcPct val="100000"/>
              </a:lnSpc>
              <a:spcBef>
                <a:spcPts val="0"/>
              </a:spcBef>
              <a:spcAft>
                <a:spcPts val="0"/>
              </a:spcAft>
              <a:buClr>
                <a:srgbClr val="324158"/>
              </a:buClr>
              <a:buSzPct val="100000"/>
              <a:buFont typeface="Arial"/>
              <a:buChar char="•"/>
            </a:pPr>
            <a:r>
              <a:t>The seed creates Acme and Globex with an admin, a member, and a viewer each, for example admin@acme.test.</a:t>
            </a:r>
          </a:p>
          <a:p>
            <a:pPr marL="228600" indent="-182880" algn="l">
              <a:lnSpc>
                <a:spcPct val="100000"/>
              </a:lnSpc>
              <a:spcBef>
                <a:spcPts val="0"/>
              </a:spcBef>
              <a:spcAft>
                <a:spcPts val="0"/>
              </a:spcAft>
              <a:buClr>
                <a:srgbClr val="324158"/>
              </a:buClr>
              <a:buSzPct val="100000"/>
              <a:buFont typeface="Arial"/>
              <a:buChar char="•"/>
            </a:pPr>
            <a:r>
              <a:t>Stack, TeamTrack: FastAPI, SQLAlchemy, Alembic migrations, SQLite by default, and a small board under /board in Jinja2 and HTMX (a small JavaScript library that swaps parts of a server-rendered page); tests in pytest; import-linter checks the layering.</a:t>
            </a:r>
          </a:p>
          <a:p>
            <a:pPr marL="228600" indent="-182880" algn="l">
              <a:lnSpc>
                <a:spcPct val="100000"/>
              </a:lnSpc>
              <a:spcBef>
                <a:spcPts val="0"/>
              </a:spcBef>
              <a:spcAft>
                <a:spcPts val="0"/>
              </a:spcAft>
              <a:buClr>
                <a:srgbClr val="324158"/>
              </a:buClr>
              <a:buSzPct val="100000"/>
              <a:buFont typeface="Arial"/>
              <a:buChar char="•"/>
            </a:pPr>
            <a:r>
              <a:t>Stack, shipharness: the course's command-line tool in Python 3.12 with uv. It runs an agent with or without the harness, runs A/Bs, judges them, and serves the console on port 8765. Every tool command and the referee run in Docker containers with no network.</a:t>
            </a:r>
          </a:p>
          <a:p>
            <a:pPr marL="228600" indent="-182880" algn="l">
              <a:lnSpc>
                <a:spcPct val="100000"/>
              </a:lnSpc>
              <a:spcBef>
                <a:spcPts val="0"/>
              </a:spcBef>
              <a:spcAft>
                <a:spcPts val="0"/>
              </a:spcAft>
              <a:buClr>
                <a:srgbClr val="324158"/>
              </a:buClr>
              <a:buSzPct val="100000"/>
              <a:buFont typeface="Arial"/>
              <a:buChar char="•"/>
            </a:pPr>
            <a:r>
              <a:t>LangSmith keeps a trace of every model call; ordinary traces are kept 14 days (Source 5: LangSmith billing (https://docs.langchain.com/langsmith/billing)), so copy links you need.</a:t>
            </a:r>
          </a:p>
          <a:p>
            <a:pPr marL="228600" indent="-182880" algn="l">
              <a:lnSpc>
                <a:spcPct val="100000"/>
              </a:lnSpc>
              <a:spcBef>
                <a:spcPts val="0"/>
              </a:spcBef>
              <a:spcAft>
                <a:spcPts val="0"/>
              </a:spcAft>
              <a:buClr>
                <a:srgbClr val="324158"/>
              </a:buClr>
              <a:buSzPct val="100000"/>
              <a:buFont typeface="Arial"/>
              <a:buChar char="•"/>
            </a:pPr>
            <a:r>
              <a:t>Analogy: row-level security done in application code. Every query must say WHERE org_id = caller's org; one missing clause is a leak.</a:t>
            </a:r>
          </a:p>
          <a:p>
            <a:pPr marL="228600" indent="-182880" algn="l">
              <a:lnSpc>
                <a:spcPct val="100000"/>
              </a:lnSpc>
              <a:spcBef>
                <a:spcPts val="0"/>
              </a:spcBef>
              <a:spcAft>
                <a:spcPts val="0"/>
              </a:spcAft>
              <a:buClr>
                <a:srgbClr val="324158"/>
              </a:buClr>
              <a:buSzPct val="100000"/>
              <a:buFont typeface="Arial"/>
              <a:buChar char="•"/>
            </a:pPr>
            <a:r>
              <a:t>Ask: "Why is a missing org filter invisible to most unit tests?" Expected: the tests create one org, so every row belongs to the caller anyway.</a:t>
            </a:r>
          </a:p>
          <a:p>
            <a:pPr marL="228600" indent="-182880" algn="l">
              <a:lnSpc>
                <a:spcPct val="100000"/>
              </a:lnSpc>
              <a:spcBef>
                <a:spcPts val="0"/>
              </a:spcBef>
              <a:spcAft>
                <a:spcPts val="0"/>
              </a:spcAft>
              <a:buClr>
                <a:srgbClr val="324158"/>
              </a:buClr>
              <a:buSzPct val="100000"/>
              <a:buFont typeface="Arial"/>
              <a:buChar char="•"/>
            </a:pPr>
            <a:r>
              <a:t>Likely question: "Is there real auth?" Answer: a demo token from POST /auth/login, for local use only.</a:t>
            </a:r>
          </a:p>
          <a:p>
            <a:pPr marL="228600" indent="-182880" algn="l">
              <a:lnSpc>
                <a:spcPct val="100000"/>
              </a:lnSpc>
              <a:spcBef>
                <a:spcPts val="0"/>
              </a:spcBef>
              <a:spcAft>
                <a:spcPts val="0"/>
              </a:spcAft>
              <a:buClr>
                <a:srgbClr val="324158"/>
              </a:buClr>
              <a:buSzPct val="100000"/>
              <a:buFont typeface="Arial"/>
              <a:buChar char="•"/>
            </a:pPr>
            <a:r>
              <a:t>Misconception: "SQLite makes these toy results". Correction: what is measured (files outside the ticket, Alembic heads, org filters, done claims) does not depend on the database engine.</a:t>
            </a:r>
          </a:p>
          <a:p>
            <a:pPr marL="228600" indent="-182880" algn="l">
              <a:lnSpc>
                <a:spcPct val="100000"/>
              </a:lnSpc>
              <a:spcBef>
                <a:spcPts val="0"/>
              </a:spcBef>
              <a:spcAft>
                <a:spcPts val="0"/>
              </a:spcAft>
              <a:buClr>
                <a:srgbClr val="324158"/>
              </a:buClr>
              <a:buSzPct val="100000"/>
              <a:buFont typeface="Arial"/>
              <a:buChar char="•"/>
            </a:pPr>
            <a:r>
              <a:t>Time: 45 seconds. Next: the seven house rules.</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0.75 min (0:06:45-0:07:30)</a:t>
            </a:r>
          </a:p>
          <a:p>
            <a:pPr marL="228600" indent="-182880" algn="l">
              <a:lnSpc>
                <a:spcPct val="100000"/>
              </a:lnSpc>
              <a:spcBef>
                <a:spcPts val="0"/>
              </a:spcBef>
              <a:spcAft>
                <a:spcPts val="0"/>
              </a:spcAft>
              <a:buClr>
                <a:srgbClr val="324158"/>
              </a:buClr>
              <a:buSzPct val="100000"/>
              <a:buFont typeface="Arial"/>
              <a:buChar char="•"/>
            </a:pPr>
            <a:r>
              <a:t>The rules come from platform/teamtrack/docs/HANDBOOK.md. Both arms get the full handbook; the harness arm also gets them as one line each in its map.</a:t>
            </a:r>
          </a:p>
          <a:p>
            <a:pPr marL="228600" indent="-182880" algn="l">
              <a:lnSpc>
                <a:spcPct val="100000"/>
              </a:lnSpc>
              <a:spcBef>
                <a:spcPts val="0"/>
              </a:spcBef>
              <a:spcAft>
                <a:spcPts val="0"/>
              </a:spcAft>
              <a:buClr>
                <a:srgbClr val="324158"/>
              </a:buClr>
              <a:buSzPct val="100000"/>
              <a:buFont typeface="Arial"/>
              <a:buChar char="•"/>
            </a:pPr>
            <a:r>
              <a:t>House rule 1: Tenant isolation: every query on customer data filters by the caller's org_id; another org's resource answers 404 not_found, never 403, because 403 tells the caller it exists. An assignee id in a body must belong to the caller's org too.</a:t>
            </a:r>
          </a:p>
          <a:p>
            <a:pPr marL="228600" indent="-182880" algn="l">
              <a:lnSpc>
                <a:spcPct val="100000"/>
              </a:lnSpc>
              <a:spcBef>
                <a:spcPts val="0"/>
              </a:spcBef>
              <a:spcAft>
                <a:spcPts val="0"/>
              </a:spcAft>
              <a:buClr>
                <a:srgbClr val="324158"/>
              </a:buClr>
              <a:buSzPct val="100000"/>
              <a:buFont typeface="Arial"/>
              <a:buChar char="•"/>
            </a:pPr>
            <a:r>
              <a:t>House rule 2: Roles: every POST, PUT, PATCH, and DELETE from a viewer returns 403 forbidden, using require_writer and require_admin from app/api/deps.py.</a:t>
            </a:r>
          </a:p>
          <a:p>
            <a:pPr marL="228600" indent="-182880" algn="l">
              <a:lnSpc>
                <a:spcPct val="100000"/>
              </a:lnSpc>
              <a:spcBef>
                <a:spcPts val="0"/>
              </a:spcBef>
              <a:spcAft>
                <a:spcPts val="0"/>
              </a:spcAft>
              <a:buClr>
                <a:srgbClr val="324158"/>
              </a:buClr>
              <a:buSzPct val="100000"/>
              <a:buFont typeface="Arial"/>
              <a:buChar char="•"/>
            </a:pPr>
            <a:r>
              <a:t>House rule 3: API conventions: lists return {"items": [...], "next_cursor": ...} with keyset paging by ascending id (each page starts after the last id seen); errors use the {"error": {"code", "message"}} envelope; 201 for creates, 204 for deletes.</a:t>
            </a:r>
          </a:p>
          <a:p>
            <a:pPr marL="228600" indent="-182880" algn="l">
              <a:lnSpc>
                <a:spcPct val="100000"/>
              </a:lnSpc>
              <a:spcBef>
                <a:spcPts val="0"/>
              </a:spcBef>
              <a:spcAft>
                <a:spcPts val="0"/>
              </a:spcAft>
              <a:buClr>
                <a:srgbClr val="324158"/>
              </a:buClr>
              <a:buSzPct val="100000"/>
              <a:buFont typeface="Arial"/>
              <a:buChar char="•"/>
            </a:pPr>
            <a:r>
              <a:t>House rule 4: Safe retries: the same Idempotency-Key header with the same body returns the first response and creates nothing new; POST /projects is the pattern. Issue creation does not support keys yet: that is Feature 3: Safe retries for issue creation.</a:t>
            </a:r>
          </a:p>
          <a:p>
            <a:pPr marL="228600" indent="-182880" algn="l">
              <a:lnSpc>
                <a:spcPct val="100000"/>
              </a:lnSpc>
              <a:spcBef>
                <a:spcPts val="0"/>
              </a:spcBef>
              <a:spcAft>
                <a:spcPts val="0"/>
              </a:spcAft>
              <a:buClr>
                <a:srgbClr val="324158"/>
              </a:buClr>
              <a:buSzPct val="100000"/>
              <a:buFont typeface="Arial"/>
              <a:buChar char="•"/>
            </a:pPr>
            <a:r>
              <a:t>House rule 5: Audit log: one row per write, through services.audit.record. House rule 6: Layering: app/api and app/web never import app/db; import-linter checks it. House rule 7: Migrations: run alembic heads first, keep exactly one head.</a:t>
            </a:r>
          </a:p>
          <a:p>
            <a:pPr marL="228600" indent="-182880" algn="l">
              <a:lnSpc>
                <a:spcPct val="100000"/>
              </a:lnSpc>
              <a:spcBef>
                <a:spcPts val="0"/>
              </a:spcBef>
              <a:spcAft>
                <a:spcPts val="0"/>
              </a:spcAft>
              <a:buClr>
                <a:srgbClr val="324158"/>
              </a:buClr>
              <a:buSzPct val="100000"/>
              <a:buFont typeface="Arial"/>
              <a:buChar char="•"/>
            </a:pPr>
            <a:r>
              <a:t>Every rule ends with "The check:" in the handbook, for example an Acme user with Globex ids must get 404 on every endpoint.</a:t>
            </a:r>
          </a:p>
          <a:p>
            <a:pPr marL="228600" indent="-182880" algn="l">
              <a:lnSpc>
                <a:spcPct val="100000"/>
              </a:lnSpc>
              <a:spcBef>
                <a:spcPts val="0"/>
              </a:spcBef>
              <a:spcAft>
                <a:spcPts val="0"/>
              </a:spcAft>
              <a:buClr>
                <a:srgbClr val="324158"/>
              </a:buClr>
              <a:buSzPct val="100000"/>
              <a:buFont typeface="Arial"/>
              <a:buChar char="•"/>
            </a:pPr>
            <a:r>
              <a:t>Analogy: your code-review checklist, each item turned into a test that runs on every endpoint, including new ones.</a:t>
            </a:r>
          </a:p>
          <a:p>
            <a:pPr marL="228600" indent="-182880" algn="l">
              <a:lnSpc>
                <a:spcPct val="100000"/>
              </a:lnSpc>
              <a:spcBef>
                <a:spcPts val="0"/>
              </a:spcBef>
              <a:spcAft>
                <a:spcPts val="0"/>
              </a:spcAft>
              <a:buClr>
                <a:srgbClr val="324158"/>
              </a:buClr>
              <a:buSzPct val="100000"/>
              <a:buFont typeface="Arial"/>
              <a:buChar char="•"/>
            </a:pPr>
            <a:r>
              <a:t>Ask: "Which rule can the code not show you?" Expected: House rule 1's "404, never 403"; nothing in a working handler says 403 leaks existence.</a:t>
            </a:r>
          </a:p>
          <a:p>
            <a:pPr marL="228600" indent="-182880" algn="l">
              <a:lnSpc>
                <a:spcPct val="100000"/>
              </a:lnSpc>
              <a:spcBef>
                <a:spcPts val="0"/>
              </a:spcBef>
              <a:spcAft>
                <a:spcPts val="0"/>
              </a:spcAft>
              <a:buClr>
                <a:srgbClr val="324158"/>
              </a:buClr>
              <a:buSzPct val="100000"/>
              <a:buFont typeface="Arial"/>
              <a:buChar char="•"/>
            </a:pPr>
            <a:r>
              <a:t>Likely question: "Does the harness arm get extra rules?" Answer: no; the harness may reorganise knowledge, never add facts, and a unit test checks every rule is in the handbook both arms read.</a:t>
            </a:r>
          </a:p>
          <a:p>
            <a:pPr marL="228600" indent="-182880" algn="l">
              <a:lnSpc>
                <a:spcPct val="100000"/>
              </a:lnSpc>
              <a:spcBef>
                <a:spcPts val="0"/>
              </a:spcBef>
              <a:spcAft>
                <a:spcPts val="0"/>
              </a:spcAft>
              <a:buClr>
                <a:srgbClr val="324158"/>
              </a:buClr>
              <a:buSzPct val="100000"/>
              <a:buFont typeface="Arial"/>
              <a:buChar char="•"/>
            </a:pPr>
            <a:r>
              <a:t>Misconception: "house rules are style preferences". Correction: House rule 1 is a data-exposure rule and a broken House rule 7 blocks deploys; the referee checks both from outside.</a:t>
            </a:r>
          </a:p>
          <a:p>
            <a:pPr marL="228600" indent="-182880" algn="l">
              <a:lnSpc>
                <a:spcPct val="100000"/>
              </a:lnSpc>
              <a:spcBef>
                <a:spcPts val="0"/>
              </a:spcBef>
              <a:spcAft>
                <a:spcPts val="0"/>
              </a:spcAft>
              <a:buClr>
                <a:srgbClr val="324158"/>
              </a:buClr>
              <a:buSzPct val="100000"/>
              <a:buFont typeface="Arial"/>
              <a:buChar char="•"/>
            </a:pPr>
            <a:r>
              <a:t>Time: 45 seconds. Next: how we measure.</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1.75 min (0:07:30-0:09:15)</a:t>
            </a:r>
          </a:p>
          <a:p>
            <a:pPr marL="228600" indent="-182880" algn="l">
              <a:lnSpc>
                <a:spcPct val="100000"/>
              </a:lnSpc>
              <a:spcBef>
                <a:spcPts val="0"/>
              </a:spcBef>
              <a:spcAft>
                <a:spcPts val="0"/>
              </a:spcAft>
              <a:buClr>
                <a:srgbClr val="324158"/>
              </a:buClr>
              <a:buSzPct val="100000"/>
              <a:buFont typeface="Arial"/>
              <a:buChar char="•"/>
            </a:pPr>
            <a:r>
              <a:t>An A/B is two runs of the same ticket: bare arm (ticket and repository only) and harness arm (the same plus the layers so far). Held equal: agent, model, effort, ticket, repository, tools, sandbox limits, turn limit, cost cap.</a:t>
            </a:r>
          </a:p>
          <a:p>
            <a:pPr marL="228600" indent="-182880" algn="l">
              <a:lnSpc>
                <a:spcPct val="100000"/>
              </a:lnSpc>
              <a:spcBef>
                <a:spcPts val="0"/>
              </a:spcBef>
              <a:spcAft>
                <a:spcPts val="0"/>
              </a:spcAft>
              <a:buClr>
                <a:srgbClr val="324158"/>
              </a:buClr>
              <a:buSzPct val="100000"/>
              <a:buFont typeface="Arial"/>
              <a:buChar char="•"/>
            </a:pPr>
            <a:r>
              <a:t>Fairness rule: the harness may reorganise knowledge, never add facts; the bare arm has the 150-line handbook with every house rule.</a:t>
            </a:r>
          </a:p>
          <a:p>
            <a:pPr marL="228600" indent="-182880" algn="l">
              <a:lnSpc>
                <a:spcPct val="100000"/>
              </a:lnSpc>
              <a:spcBef>
                <a:spcPts val="0"/>
              </a:spcBef>
              <a:spcAft>
                <a:spcPts val="0"/>
              </a:spcAft>
              <a:buClr>
                <a:srgbClr val="324158"/>
              </a:buClr>
              <a:buSzPct val="100000"/>
              <a:buFont typeface="Arial"/>
              <a:buChar char="•"/>
            </a:pPr>
            <a:r>
              <a:t>The referee runs after the agent stops, in a fresh container with no network, on a fresh copy plus the arm's diff: hidden tests, tenant isolation probes (an Acme user asks for Globex ids and expects 404), referee mutants the agent's tests should catch, and a blinded reviewer whose verdict is secondary.</a:t>
            </a:r>
          </a:p>
          <a:p>
            <a:pPr marL="228600" indent="-182880" algn="l">
              <a:lnSpc>
                <a:spcPct val="100000"/>
              </a:lnSpc>
              <a:spcBef>
                <a:spcPts val="0"/>
              </a:spcBef>
              <a:spcAft>
                <a:spcPts val="0"/>
              </a:spcAft>
              <a:buClr>
                <a:srgbClr val="324158"/>
              </a:buClr>
              <a:buSzPct val="100000"/>
              <a:buFont typeface="Arial"/>
              <a:buChar char="•"/>
            </a:pPr>
            <a:r>
              <a:t>Results are counts, "0 of 3", never percentages: with one to seven runs per arm a percentage hides how few runs there are. Where both arms pass equally often we say "no measurable difference".</a:t>
            </a:r>
          </a:p>
          <a:p>
            <a:pPr marL="228600" indent="-182880" algn="l">
              <a:lnSpc>
                <a:spcPct val="100000"/>
              </a:lnSpc>
              <a:spcBef>
                <a:spcPts val="0"/>
              </a:spcBef>
              <a:spcAft>
                <a:spcPts val="0"/>
              </a:spcAft>
              <a:buClr>
                <a:srgbClr val="324158"/>
              </a:buClr>
              <a:buSzPct val="100000"/>
              <a:buFont typeface="Arial"/>
              <a:buChar char="•"/>
            </a:pPr>
            <a:r>
              <a:t>In class, Sections 1, 2, and 4 run the harness arm alone ("harness in action", make show-N) because the A/Bs before class showed no gap; Section 3: Scope and sandbox and the final run both arms live.</a:t>
            </a:r>
          </a:p>
          <a:p>
            <a:pPr marL="228600" indent="-182880" algn="l">
              <a:lnSpc>
                <a:spcPct val="100000"/>
              </a:lnSpc>
              <a:spcBef>
                <a:spcPts val="0"/>
              </a:spcBef>
              <a:spcAft>
                <a:spcPts val="0"/>
              </a:spcAft>
              <a:buClr>
                <a:srgbClr val="324158"/>
              </a:buClr>
              <a:buSzPct val="100000"/>
              <a:buFont typeface="Arial"/>
              <a:buChar char="•"/>
            </a:pPr>
            <a:r>
              <a:t>Live now, terminal B: make doctor. Read the key lines aloud: accepted by OpenAI, accepted by LangSmith, last line result: + ready. It never prints a key. If it says SHIPHARNESS_CLASS_DATE is not set, repeat the date step from the instructor guide; if Docker is down, sudo systemctl start docker.</a:t>
            </a:r>
          </a:p>
          <a:p>
            <a:pPr marL="228600" indent="-182880" algn="l">
              <a:lnSpc>
                <a:spcPct val="100000"/>
              </a:lnSpc>
              <a:spcBef>
                <a:spcPts val="0"/>
              </a:spcBef>
              <a:spcAft>
                <a:spcPts val="0"/>
              </a:spcAft>
              <a:buClr>
                <a:srgbClr val="324158"/>
              </a:buClr>
              <a:buSzPct val="100000"/>
              <a:buFont typeface="Arial"/>
              <a:buChar char="•"/>
            </a:pPr>
            <a:r>
              <a:t>Then the console (running in terminal A since before class, http://127.0.0.1:8765): press 1 Live, 2 Boards, 3 Evidence, 4 A/B Report, 5 Traces, once each. F shows one arm full width. make warm ran before class, so the first launch does not pay for image start-up.</a:t>
            </a:r>
          </a:p>
          <a:p>
            <a:pPr marL="228600" indent="-182880" algn="l">
              <a:lnSpc>
                <a:spcPct val="100000"/>
              </a:lnSpc>
              <a:spcBef>
                <a:spcPts val="0"/>
              </a:spcBef>
              <a:spcAft>
                <a:spcPts val="0"/>
              </a:spcAft>
              <a:buClr>
                <a:srgbClr val="324158"/>
              </a:buClr>
              <a:buSzPct val="100000"/>
              <a:buFont typeface="Arial"/>
              <a:buChar char="•"/>
            </a:pPr>
            <a:r>
              <a:t>Then the assessment printout prepared before class. Say: "This is what the bare arm works with: no map, no progress file, no feature list. The rules themselves are in both arms."</a:t>
            </a:r>
          </a:p>
          <a:p>
            <a:pPr marL="228600" indent="-182880" algn="l">
              <a:lnSpc>
                <a:spcPct val="100000"/>
              </a:lnSpc>
              <a:spcBef>
                <a:spcPts val="0"/>
              </a:spcBef>
              <a:spcAft>
                <a:spcPts val="0"/>
              </a:spcAft>
              <a:buClr>
                <a:srgbClr val="324158"/>
              </a:buClr>
              <a:buSzPct val="100000"/>
              <a:buFont typeface="Arial"/>
              <a:buChar char="•"/>
            </a:pPr>
            <a:r>
              <a:t>Analogy: CI with a hidden test suite the developer cannot see, plus a reviewer who does not know which arm wrote the diff.</a:t>
            </a:r>
          </a:p>
          <a:p>
            <a:pPr marL="228600" indent="-182880" algn="l">
              <a:lnSpc>
                <a:spcPct val="100000"/>
              </a:lnSpc>
              <a:spcBef>
                <a:spcPts val="0"/>
              </a:spcBef>
              <a:spcAft>
                <a:spcPts val="0"/>
              </a:spcAft>
              <a:buClr>
                <a:srgbClr val="324158"/>
              </a:buClr>
              <a:buSzPct val="100000"/>
              <a:buFont typeface="Arial"/>
              <a:buChar char="•"/>
            </a:pPr>
            <a:r>
              <a:t>Ask: "Why choose the primary measure before running?" Expected: so nobody can pick the flattering number afterwards.</a:t>
            </a:r>
          </a:p>
          <a:p>
            <a:pPr marL="228600" indent="-182880" algn="l">
              <a:lnSpc>
                <a:spcPct val="100000"/>
              </a:lnSpc>
              <a:spcBef>
                <a:spcPts val="0"/>
              </a:spcBef>
              <a:spcAft>
                <a:spcPts val="0"/>
              </a:spcAft>
              <a:buClr>
                <a:srgbClr val="324158"/>
              </a:buClr>
              <a:buSzPct val="100000"/>
              <a:buFont typeface="Arial"/>
              <a:buChar char="•"/>
            </a:pPr>
            <a:r>
              <a:t>Likely question: "Does a section's A/B test that one layer?" Answer: it tests the harness so far against bare; isolating one layer needs a leave-one-out run, which the course did not run.</a:t>
            </a:r>
          </a:p>
          <a:p>
            <a:pPr marL="228600" indent="-182880" algn="l">
              <a:lnSpc>
                <a:spcPct val="100000"/>
              </a:lnSpc>
              <a:spcBef>
                <a:spcPts val="0"/>
              </a:spcBef>
              <a:spcAft>
                <a:spcPts val="0"/>
              </a:spcAft>
              <a:buClr>
                <a:srgbClr val="324158"/>
              </a:buClr>
              <a:buSzPct val="100000"/>
              <a:buFont typeface="Arial"/>
              <a:buChar char="•"/>
            </a:pPr>
            <a:r>
              <a:t>Misconception: "one passing run proves the layer works". Correction: one run is one dot; it shows the layer ran, not that it helped.</a:t>
            </a:r>
          </a:p>
          <a:p>
            <a:pPr marL="228600" indent="-182880" algn="l">
              <a:lnSpc>
                <a:spcPct val="100000"/>
              </a:lnSpc>
              <a:spcBef>
                <a:spcPts val="0"/>
              </a:spcBef>
              <a:spcAft>
                <a:spcPts val="0"/>
              </a:spcAft>
              <a:buClr>
                <a:srgbClr val="324158"/>
              </a:buClr>
              <a:buSzPct val="100000"/>
              <a:buFont typeface="Arial"/>
              <a:buChar char="•"/>
            </a:pPr>
            <a:r>
              <a:t>Time: 1 minute 45 seconds. Next: the terms.</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0.75 min (0:09:15-0:10)</a:t>
            </a:r>
          </a:p>
          <a:p>
            <a:pPr marL="228600" indent="-182880" algn="l">
              <a:lnSpc>
                <a:spcPct val="100000"/>
              </a:lnSpc>
              <a:spcBef>
                <a:spcPts val="0"/>
              </a:spcBef>
              <a:spcAft>
                <a:spcPts val="0"/>
              </a:spcAft>
              <a:buClr>
                <a:srgbClr val="324158"/>
              </a:buClr>
              <a:buSzPct val="100000"/>
              <a:buFont typeface="Arial"/>
              <a:buChar char="•"/>
            </a:pPr>
            <a:r>
              <a:t>Arm: the bare arm gets the ticket and repository; the harness arm gets the same plus the layers built so far.</a:t>
            </a:r>
          </a:p>
          <a:p>
            <a:pPr marL="228600" indent="-182880" algn="l">
              <a:lnSpc>
                <a:spcPct val="100000"/>
              </a:lnSpc>
              <a:spcBef>
                <a:spcPts val="0"/>
              </a:spcBef>
              <a:spcAft>
                <a:spcPts val="0"/>
              </a:spcAft>
              <a:buClr>
                <a:srgbClr val="324158"/>
              </a:buClr>
              <a:buSzPct val="100000"/>
              <a:buFont typeface="Arial"/>
              <a:buChar char="•"/>
            </a:pPr>
            <a:r>
              <a:t>Primary measure, Section 1: Instructions' example: "did the change add a new tenant isolation violation?", registered before any run.</a:t>
            </a:r>
          </a:p>
          <a:p>
            <a:pPr marL="228600" indent="-182880" algn="l">
              <a:lnSpc>
                <a:spcPct val="100000"/>
              </a:lnSpc>
              <a:spcBef>
                <a:spcPts val="0"/>
              </a:spcBef>
              <a:spcAft>
                <a:spcPts val="0"/>
              </a:spcAft>
              <a:buClr>
                <a:srgbClr val="324158"/>
              </a:buClr>
              <a:buSzPct val="100000"/>
              <a:buFont typeface="Arial"/>
              <a:buChar char="•"/>
            </a:pPr>
            <a:r>
              <a:t>Hidden tests and mutants are the held-out checks: Feature 4: Version checks on issue edits has 69 hidden tests and 4 referee mutants; a run's own tests must fail on a mutant to catch it.</a:t>
            </a:r>
          </a:p>
          <a:p>
            <a:pPr marL="228600" indent="-182880" algn="l">
              <a:lnSpc>
                <a:spcPct val="100000"/>
              </a:lnSpc>
              <a:spcBef>
                <a:spcPts val="0"/>
              </a:spcBef>
              <a:spcAft>
                <a:spcPts val="0"/>
              </a:spcAft>
              <a:buClr>
                <a:srgbClr val="324158"/>
              </a:buClr>
              <a:buSzPct val="100000"/>
              <a:buFont typeface="Arial"/>
              <a:buChar char="•"/>
            </a:pPr>
            <a:r>
              <a:t>Allowed paths and gate: the build phase writes the feature, the test phase adds tests only; in the harness arm finish(claim="done") runs checks first and a failure returns "Not accepted." (Section 4: Verification).</a:t>
            </a:r>
          </a:p>
          <a:p>
            <a:pPr marL="228600" indent="-182880" algn="l">
              <a:lnSpc>
                <a:spcPct val="100000"/>
              </a:lnSpc>
              <a:spcBef>
                <a:spcPts val="0"/>
              </a:spcBef>
              <a:spcAft>
                <a:spcPts val="0"/>
              </a:spcAft>
              <a:buClr>
                <a:srgbClr val="324158"/>
              </a:buClr>
              <a:buSzPct val="100000"/>
              <a:buFont typeface="Arial"/>
              <a:buChar char="•"/>
            </a:pPr>
            <a:r>
              <a:t>Optimistic concurrency: GET returns an ETag holding the issue's version; a save sends it back in If-Match; if someone saved in between, 412 and no change. Alembic head: each migration names its parent; two with the same parent make two heads.</a:t>
            </a:r>
          </a:p>
          <a:p>
            <a:pPr marL="228600" indent="-182880" algn="l">
              <a:lnSpc>
                <a:spcPct val="100000"/>
              </a:lnSpc>
              <a:spcBef>
                <a:spcPts val="0"/>
              </a:spcBef>
              <a:spcAft>
                <a:spcPts val="0"/>
              </a:spcAft>
              <a:buClr>
                <a:srgbClr val="324158"/>
              </a:buClr>
              <a:buSzPct val="100000"/>
              <a:buFont typeface="Arial"/>
              <a:buChar char="•"/>
            </a:pPr>
            <a:r>
              <a:t>Context reset versus compaction (Section 2: State and sessions); glob and least privilege (Section 3: Scope and sandbox): app/web/ matches every file under app/web.</a:t>
            </a:r>
          </a:p>
          <a:p>
            <a:pPr marL="228600" indent="-182880" algn="l">
              <a:lnSpc>
                <a:spcPct val="100000"/>
              </a:lnSpc>
              <a:spcBef>
                <a:spcPts val="0"/>
              </a:spcBef>
              <a:spcAft>
                <a:spcPts val="0"/>
              </a:spcAft>
              <a:buClr>
                <a:srgbClr val="324158"/>
              </a:buClr>
              <a:buSzPct val="100000"/>
              <a:buFont typeface="Arial"/>
              <a:buChar char="•"/>
            </a:pPr>
            <a:r>
              <a:t>Defined where they come up: exec plan, handoff, keyset paging, frontmatter (the YAML header of a SKILL.md), Linux capabilities, loopback, reward hacking (passing checks without doing the task), compositional failure, pass^k, hill climbing.</a:t>
            </a:r>
          </a:p>
          <a:p>
            <a:pPr marL="228600" indent="-182880" algn="l">
              <a:lnSpc>
                <a:spcPct val="100000"/>
              </a:lnSpc>
              <a:spcBef>
                <a:spcPts val="0"/>
              </a:spcBef>
              <a:spcAft>
                <a:spcPts val="0"/>
              </a:spcAft>
              <a:buClr>
                <a:srgbClr val="324158"/>
              </a:buClr>
              <a:buSzPct val="100000"/>
              <a:buFont typeface="Arial"/>
              <a:buChar char="•"/>
            </a:pPr>
            <a:r>
              <a:t>Console codes, said once here: the console prints F1 to F7 for the seven features, Feature 1: Org-wide issue search to Feature 7: Labels, in the agenda's order (F4 is Feature 4), and R1 to R7 for House rule 1: Tenant isolation to House rule 7: Migrations. Commands take the readable names.</a:t>
            </a:r>
          </a:p>
          <a:p>
            <a:pPr marL="228600" indent="-182880" algn="l">
              <a:lnSpc>
                <a:spcPct val="100000"/>
              </a:lnSpc>
              <a:spcBef>
                <a:spcPts val="0"/>
              </a:spcBef>
              <a:spcAft>
                <a:spcPts val="0"/>
              </a:spcAft>
              <a:buClr>
                <a:srgbClr val="324158"/>
              </a:buClr>
              <a:buSzPct val="100000"/>
              <a:buFont typeface="Arial"/>
              <a:buChar char="•"/>
            </a:pPr>
            <a:r>
              <a:t>Ask: "Hidden test or mutant: what is the difference?" Expected: a hidden test checks the feature; a mutant checks whether the agent's own tests would notice a planted bug.</a:t>
            </a:r>
          </a:p>
          <a:p>
            <a:pPr marL="228600" indent="-182880" algn="l">
              <a:lnSpc>
                <a:spcPct val="100000"/>
              </a:lnSpc>
              <a:spcBef>
                <a:spcPts val="0"/>
              </a:spcBef>
              <a:spcAft>
                <a:spcPts val="0"/>
              </a:spcAft>
              <a:buClr>
                <a:srgbClr val="324158"/>
              </a:buClr>
              <a:buSzPct val="100000"/>
              <a:buFont typeface="Arial"/>
              <a:buChar char="•"/>
            </a:pPr>
            <a:r>
              <a:t>Four more terms, in docs/glossary.md: held out (hidden, used only to score), flaky test (passes and fails on the same code), post hoc (chosen after the results, so descriptive), ablation (remove one layer, measure again).</a:t>
            </a:r>
          </a:p>
          <a:p>
            <a:pPr marL="228600" indent="-182880" algn="l">
              <a:lnSpc>
                <a:spcPct val="100000"/>
              </a:lnSpc>
              <a:spcBef>
                <a:spcPts val="0"/>
              </a:spcBef>
              <a:spcAft>
                <a:spcPts val="0"/>
              </a:spcAft>
              <a:buClr>
                <a:srgbClr val="324158"/>
              </a:buClr>
              <a:buSzPct val="100000"/>
              <a:buFont typeface="Arial"/>
              <a:buChar char="•"/>
            </a:pPr>
            <a:r>
              <a:t>Misconception: "post hoc numbers are wrong". Correction: they are real counts, chosen after the results, so they describe and cannot confirm.</a:t>
            </a:r>
          </a:p>
          <a:p>
            <a:pPr marL="228600" indent="-182880" algn="l">
              <a:lnSpc>
                <a:spcPct val="100000"/>
              </a:lnSpc>
              <a:spcBef>
                <a:spcPts val="0"/>
              </a:spcBef>
              <a:spcAft>
                <a:spcPts val="0"/>
              </a:spcAft>
              <a:buClr>
                <a:srgbClr val="324158"/>
              </a:buClr>
              <a:buSzPct val="100000"/>
              <a:buFont typeface="Arial"/>
              <a:buChar char="•"/>
            </a:pPr>
            <a:r>
              <a:t>Time: 45 seconds, opening ends at 0:10. Next: Section 1, and its launch.</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(0:10-0:12)</a:t>
            </a:r>
          </a:p>
          <a:p>
            <a:pPr marL="228600" indent="-182880" algn="l">
              <a:lnSpc>
                <a:spcPct val="100000"/>
              </a:lnSpc>
              <a:spcBef>
                <a:spcPts val="0"/>
              </a:spcBef>
              <a:spcAft>
                <a:spcPts val="0"/>
              </a:spcAft>
              <a:buClr>
                <a:srgbClr val="324158"/>
              </a:buClr>
              <a:buSzPct val="100000"/>
              <a:buFont typeface="Arial"/>
              <a:buChar char="•"/>
            </a:pPr>
            <a:r>
              <a:t>Section 1: Instructions, class minutes 0:10 to 1:00. The layer: what is in the agent's context and what it can find on disk.</a:t>
            </a:r>
          </a:p>
          <a:p>
            <a:pPr marL="228600" indent="-182880" algn="l">
              <a:lnSpc>
                <a:spcPct val="100000"/>
              </a:lnSpc>
              <a:spcBef>
                <a:spcPts val="0"/>
              </a:spcBef>
              <a:spcAft>
                <a:spcPts val="0"/>
              </a:spcAft>
              <a:buClr>
                <a:srgbClr val="324158"/>
              </a:buClr>
              <a:buSzPct val="100000"/>
              <a:buFont typeface="Arial"/>
              <a:buChar char="•"/>
            </a:pPr>
            <a:r>
              <a:t>The ticket: Feature 1: Org-wide issue search, GET /issues, next to a legacy handler with no tenant filter. The referee's one question: did the change add a new tenant leak (a new House rule 1: Tenant isolation violation)?</a:t>
            </a:r>
          </a:p>
          <a:p>
            <a:pPr marL="228600" indent="-182880" algn="l">
              <a:lnSpc>
                <a:spcPct val="100000"/>
              </a:lnSpc>
              <a:spcBef>
                <a:spcPts val="0"/>
              </a:spcBef>
              <a:spcAft>
                <a:spcPts val="0"/>
              </a:spcAft>
              <a:buClr>
                <a:srgbClr val="324158"/>
              </a:buClr>
              <a:buSzPct val="100000"/>
              <a:buFont typeface="Arial"/>
              <a:buChar char="•"/>
            </a:pPr>
            <a:r>
              <a:t>Launch now, about class minute 0:11, terminal B: make show-1. It runs shipharness ab --section demo-1 --feature F1 --arms harness --purpose class --profile class (F1 is the console's code for Feature 1).</a:t>
            </a:r>
          </a:p>
          <a:p>
            <a:pPr marL="228600" indent="-182880" algn="l">
              <a:lnSpc>
                <a:spcPct val="100000"/>
              </a:lnSpc>
              <a:spcBef>
                <a:spcPts val="0"/>
              </a:spcBef>
              <a:spcAft>
                <a:spcPts val="0"/>
              </a:spcAft>
              <a:buClr>
                <a:srgbClr val="324158"/>
              </a:buClr>
              <a:buSzPct val="100000"/>
              <a:buFont typeface="Arial"/>
              <a:buChar char="•"/>
            </a:pPr>
            <a:r>
              <a:t>Say: "This is harness in action: the harness arm alone, live, not an A/B. The A/Bs before class showed no gap on this ticket, so class shows the layer at work."</a:t>
            </a:r>
          </a:p>
          <a:p>
            <a:pPr marL="228600" indent="-182880" algn="l">
              <a:lnSpc>
                <a:spcPct val="100000"/>
              </a:lnSpc>
              <a:spcBef>
                <a:spcPts val="0"/>
              </a:spcBef>
              <a:spcAft>
                <a:spcPts val="0"/>
              </a:spcAft>
              <a:buClr>
                <a:srgbClr val="324158"/>
              </a:buClr>
              <a:buSzPct val="100000"/>
              <a:buFont typeface="Arial"/>
              <a:buChar char="•"/>
            </a:pPr>
            <a:r>
              <a:t>Browser tab 2 (http://127.0.0.1:8765): reload the run list, open the newest run, press 1. Look for the badge "HARNESS IN ACTION" and "placed 31 instruction files".</a:t>
            </a:r>
          </a:p>
          <a:p>
            <a:pPr marL="228600" indent="-182880" algn="l">
              <a:lnSpc>
                <a:spcPct val="100000"/>
              </a:lnSpc>
              <a:spcBef>
                <a:spcPts val="0"/>
              </a:spcBef>
              <a:spcAft>
                <a:spcPts val="0"/>
              </a:spcAft>
              <a:buClr>
                <a:srgbClr val="324158"/>
              </a:buClr>
              <a:buSzPct val="100000"/>
              <a:buFont typeface="Arial"/>
              <a:buChar char="•"/>
            </a:pPr>
            <a:r>
              <a:t>Expected, measured 2026-10-18 (three runs, class profile): primary verdict 3 to 6 minutes after launch (2:57 to 6:18), full verdict 7 to 11 minutes (7:23 to 10:58), so done by about 0:22. Cost $0.021 to $0.023 against a $0.24 cap. We open it at the DEMO slide, about 0:40.</a:t>
            </a:r>
          </a:p>
          <a:p>
            <a:pPr marL="228600" indent="-182880" algn="l">
              <a:lnSpc>
                <a:spcPct val="100000"/>
              </a:lnSpc>
              <a:spcBef>
                <a:spcPts val="0"/>
              </a:spcBef>
              <a:spcAft>
                <a:spcPts val="0"/>
              </a:spcAft>
              <a:buClr>
                <a:srgbClr val="324158"/>
              </a:buClr>
              <a:buSzPct val="100000"/>
              <a:buFont typeface="Arial"/>
              <a:buChar char="•"/>
            </a:pPr>
            <a:r>
              <a:t>If it fails at once: x OpenAI refused the key means fix OPENAI_API_KEY and rerun make doctor; docker run failed means sudo systemctl start docker, then make warm, then relaunch. ABORTED: timeout or ABORTED: cap later is a result, not a failure.</a:t>
            </a:r>
          </a:p>
          <a:p>
            <a:pPr marL="228600" indent="-182880" algn="l">
              <a:lnSpc>
                <a:spcPct val="100000"/>
              </a:lnSpc>
              <a:spcBef>
                <a:spcPts val="0"/>
              </a:spcBef>
              <a:spcAft>
                <a:spcPts val="0"/>
              </a:spcAft>
              <a:buClr>
                <a:srgbClr val="324158"/>
              </a:buClr>
              <a:buSzPct val="100000"/>
              <a:buFont typeface="Arial"/>
              <a:buChar char="•"/>
            </a:pPr>
            <a:r>
              <a:t>Ask: "How long is the agent instruction file in your main repository?" Expected: 20 to several hundred lines. Remember the longest; it comes back in idea 1.</a:t>
            </a:r>
          </a:p>
          <a:p>
            <a:pPr marL="228600" indent="-182880" algn="l">
              <a:lnSpc>
                <a:spcPct val="100000"/>
              </a:lnSpc>
              <a:spcBef>
                <a:spcPts val="0"/>
              </a:spcBef>
              <a:spcAft>
                <a:spcPts val="0"/>
              </a:spcAft>
              <a:buClr>
                <a:srgbClr val="324158"/>
              </a:buClr>
              <a:buSzPct val="100000"/>
              <a:buFont typeface="Arial"/>
              <a:buChar char="•"/>
            </a:pPr>
            <a:r>
              <a:t>Likely question: "Is this specific to AGENTS.md?" Answer: no; CLAUDE.md, Cursor rules, and Copilot instructions play the same role.</a:t>
            </a:r>
          </a:p>
          <a:p>
            <a:pPr marL="228600" indent="-182880" algn="l">
              <a:lnSpc>
                <a:spcPct val="100000"/>
              </a:lnSpc>
              <a:spcBef>
                <a:spcPts val="0"/>
              </a:spcBef>
              <a:spcAft>
                <a:spcPts val="0"/>
              </a:spcAft>
              <a:buClr>
                <a:srgbClr val="324158"/>
              </a:buClr>
              <a:buSzPct val="100000"/>
              <a:buFont typeface="Arial"/>
              <a:buChar char="•"/>
            </a:pPr>
            <a:r>
              <a:t>Misconception: "Section 1 is prompt engineering". Correction: the ticket text is identical in both arms; the layer changes which files exist and what is sent before the ticket.</a:t>
            </a:r>
          </a:p>
          <a:p>
            <a:pPr marL="228600" indent="-182880" algn="l">
              <a:lnSpc>
                <a:spcPct val="100000"/>
              </a:lnSpc>
              <a:spcBef>
                <a:spcPts val="0"/>
              </a:spcBef>
              <a:spcAft>
                <a:spcPts val="0"/>
              </a:spcAft>
              <a:buClr>
                <a:srgbClr val="324158"/>
              </a:buClr>
              <a:buSzPct val="100000"/>
              <a:buFont typeface="Arial"/>
              <a:buChar char="•"/>
            </a:pPr>
            <a:r>
              <a:t>Time: 2 minutes including the launch. Next: the story behind the ticket.</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(0:12-0:16)</a:t>
            </a:r>
          </a:p>
          <a:p>
            <a:pPr marL="228600" indent="-182880" algn="l">
              <a:lnSpc>
                <a:spcPct val="100000"/>
              </a:lnSpc>
              <a:spcBef>
                <a:spcPts val="0"/>
              </a:spcBef>
              <a:spcAft>
                <a:spcPts val="0"/>
              </a:spcAft>
              <a:buClr>
                <a:srgbClr val="324158"/>
              </a:buClr>
              <a:buSzPct val="100000"/>
              <a:buFont typeface="Arial"/>
              <a:buChar char="•"/>
            </a:pPr>
            <a:r>
              <a:t>Illustrative scenario from the section's concepts page: Priya's team asks a coding agent for GET /issues. House rule 1: Tenant isolation lives in the team handbook, which the ticket does not mention.</a:t>
            </a:r>
          </a:p>
          <a:p>
            <a:pPr marL="228600" indent="-182880" algn="l">
              <a:lnSpc>
                <a:spcPct val="100000"/>
              </a:lnSpc>
              <a:spcBef>
                <a:spcPts val="0"/>
              </a:spcBef>
              <a:spcAft>
                <a:spcPts val="0"/>
              </a:spcAft>
              <a:buClr>
                <a:srgbClr val="324158"/>
              </a:buClr>
              <a:buSzPct val="100000"/>
              <a:buFont typeface="Arial"/>
              <a:buChar char="•"/>
            </a:pPr>
            <a:r>
              <a:t>The agent lists the repository, opens the issues code, and finds list_all_legacy, a query from an old endpoint that lists every issue of every org.</a:t>
            </a:r>
          </a:p>
          <a:p>
            <a:pPr marL="228600" indent="-182880" algn="l">
              <a:lnSpc>
                <a:spcPct val="100000"/>
              </a:lnSpc>
              <a:spcBef>
                <a:spcPts val="0"/>
              </a:spcBef>
              <a:spcAft>
                <a:spcPts val="0"/>
              </a:spcAft>
              <a:buClr>
                <a:srgbClr val="324158"/>
              </a:buClr>
              <a:buSzPct val="100000"/>
              <a:buFont typeface="Arial"/>
              <a:buChar char="•"/>
            </a:pPr>
            <a:r>
              <a:t>The real function, app/repositories/issues.py: its docstring says "LEGACY (used only by /v1/issues). Not tenant-scoped: do not use or copy this function." The query is select(Issue).order_by(Issue.id).offset(offset).limit(limit).</a:t>
            </a:r>
          </a:p>
          <a:p>
            <a:pPr marL="228600" indent="-182880" algn="l">
              <a:lnSpc>
                <a:spcPct val="100000"/>
              </a:lnSpc>
              <a:spcBef>
                <a:spcPts val="0"/>
              </a:spcBef>
              <a:spcAft>
                <a:spcPts val="0"/>
              </a:spcAft>
              <a:buClr>
                <a:srgbClr val="324158"/>
              </a:buClr>
              <a:buSzPct val="100000"/>
              <a:buFont typeface="Arial"/>
              <a:buChar char="•"/>
            </a:pPr>
            <a:r>
              <a:t>The tests create one org, so every row belongs to the caller; they pass. The reviewer sees code shaped like the rest of the file.</a:t>
            </a:r>
          </a:p>
          <a:p>
            <a:pPr marL="228600" indent="-182880" algn="l">
              <a:lnSpc>
                <a:spcPct val="100000"/>
              </a:lnSpc>
              <a:spcBef>
                <a:spcPts val="0"/>
              </a:spcBef>
              <a:spcAft>
                <a:spcPts val="0"/>
              </a:spcAft>
              <a:buClr>
                <a:srgbClr val="324158"/>
              </a:buClr>
              <a:buSzPct val="100000"/>
              <a:buFont typeface="Arial"/>
              <a:buChar char="•"/>
            </a:pPr>
            <a:r>
              <a:t>Cost: a cross-tenant data exposure, an incident, a disclosure, and a hunt for every other copy of the pattern.</a:t>
            </a:r>
          </a:p>
          <a:p>
            <a:pPr marL="228600" indent="-182880" algn="l">
              <a:lnSpc>
                <a:spcPct val="100000"/>
              </a:lnSpc>
              <a:spcBef>
                <a:spcPts val="0"/>
              </a:spcBef>
              <a:spcAft>
                <a:spcPts val="0"/>
              </a:spcAft>
              <a:buClr>
                <a:srgbClr val="324158"/>
              </a:buClr>
              <a:buSzPct val="100000"/>
              <a:buFont typeface="Arial"/>
              <a:buChar char="•"/>
            </a:pPr>
            <a:r>
              <a:t>Nobody broke a rule on purpose: the rule was on disk, not in front of the agent when it wrote the query.</a:t>
            </a:r>
          </a:p>
          <a:p>
            <a:pPr marL="228600" indent="-182880" algn="l">
              <a:lnSpc>
                <a:spcPct val="100000"/>
              </a:lnSpc>
              <a:spcBef>
                <a:spcPts val="0"/>
              </a:spcBef>
              <a:spcAft>
                <a:spcPts val="0"/>
              </a:spcAft>
              <a:buClr>
                <a:srgbClr val="324158"/>
              </a:buClr>
              <a:buSzPct val="100000"/>
              <a:buFont typeface="Arial"/>
              <a:buChar char="•"/>
            </a:pPr>
            <a:r>
              <a:t>Analogy: a new hire copies the oldest working example in the codebase because nobody told them it is deprecated.</a:t>
            </a:r>
          </a:p>
          <a:p>
            <a:pPr marL="228600" indent="-182880" algn="l">
              <a:lnSpc>
                <a:spcPct val="100000"/>
              </a:lnSpc>
              <a:spcBef>
                <a:spcPts val="0"/>
              </a:spcBef>
              <a:spcAft>
                <a:spcPts val="0"/>
              </a:spcAft>
              <a:buClr>
                <a:srgbClr val="324158"/>
              </a:buClr>
              <a:buSzPct val="100000"/>
              <a:buFont typeface="Arial"/>
              <a:buChar char="•"/>
            </a:pPr>
            <a:r>
              <a:t>Point at the code chip: the missing line is where(Issue.org_id == actor.org_id).</a:t>
            </a:r>
          </a:p>
          <a:p>
            <a:pPr marL="228600" indent="-182880" algn="l">
              <a:lnSpc>
                <a:spcPct val="100000"/>
              </a:lnSpc>
              <a:spcBef>
                <a:spcPts val="0"/>
              </a:spcBef>
              <a:spcAft>
                <a:spcPts val="0"/>
              </a:spcAft>
              <a:buClr>
                <a:srgbClr val="324158"/>
              </a:buClr>
              <a:buSzPct val="100000"/>
              <a:buFont typeface="Arial"/>
              <a:buChar char="•"/>
            </a:pPr>
            <a:r>
              <a:t>Ask: "Which review comment would have caught this?" Expected: "where is the org filter?", and only if the reviewer knows the rule.</a:t>
            </a:r>
          </a:p>
          <a:p>
            <a:pPr marL="228600" indent="-182880" algn="l">
              <a:lnSpc>
                <a:spcPct val="100000"/>
              </a:lnSpc>
              <a:spcBef>
                <a:spcPts val="0"/>
              </a:spcBef>
              <a:spcAft>
                <a:spcPts val="0"/>
              </a:spcAft>
              <a:buClr>
                <a:srgbClr val="324158"/>
              </a:buClr>
              <a:buSzPct val="100000"/>
              <a:buFont typeface="Arial"/>
              <a:buChar char="•"/>
            </a:pPr>
            <a:r>
              <a:t>Honesty note: no run before class shipped this leak; say so now and come back to it on the results slide.</a:t>
            </a:r>
          </a:p>
          <a:p>
            <a:pPr marL="228600" indent="-182880" algn="l">
              <a:lnSpc>
                <a:spcPct val="100000"/>
              </a:lnSpc>
              <a:spcBef>
                <a:spcPts val="0"/>
              </a:spcBef>
              <a:spcAft>
                <a:spcPts val="0"/>
              </a:spcAft>
              <a:buClr>
                <a:srgbClr val="324158"/>
              </a:buClr>
              <a:buSzPct val="100000"/>
              <a:buFont typeface="Arial"/>
              <a:buChar char="•"/>
            </a:pPr>
            <a:r>
              <a:t>Misconception: "the agent was careless". Correction: it picked the shortest working example next to the target file; without the rule in context that is reasonable, so the fix is context, not scolding.</a:t>
            </a:r>
          </a:p>
          <a:p>
            <a:pPr marL="228600" indent="-182880" algn="l">
              <a:lnSpc>
                <a:spcPct val="100000"/>
              </a:lnSpc>
              <a:spcBef>
                <a:spcPts val="0"/>
              </a:spcBef>
              <a:spcAft>
                <a:spcPts val="0"/>
              </a:spcAft>
              <a:buClr>
                <a:srgbClr val="324158"/>
              </a:buClr>
              <a:buSzPct val="100000"/>
              <a:buFont typeface="Arial"/>
              <a:buChar char="•"/>
            </a:pPr>
            <a:r>
              <a:t>Time: 4 minutes. Next: the obvious fix, and why it is not one.</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(0:16-0:20)</a:t>
            </a:r>
          </a:p>
          <a:p>
            <a:pPr marL="228600" indent="-182880" algn="l">
              <a:lnSpc>
                <a:spcPct val="100000"/>
              </a:lnSpc>
              <a:spcBef>
                <a:spcPts val="0"/>
              </a:spcBef>
              <a:spcAft>
                <a:spcPts val="0"/>
              </a:spcAft>
              <a:buClr>
                <a:srgbClr val="324158"/>
              </a:buClr>
              <a:buSzPct val="100000"/>
              <a:buFont typeface="Arial"/>
              <a:buChar char="•"/>
            </a:pPr>
            <a:r>
              <a:t>Ask first, pause five seconds: "Can we just paste every rule into the prompt? Shout yes or no." Expected: a split room; most say yes for a small file. Fair for TeamTrack's 150-line handbook; hold that thought for a real team's file.</a:t>
            </a:r>
          </a:p>
          <a:p>
            <a:pPr marL="228600" indent="-182880" algn="l">
              <a:lnSpc>
                <a:spcPct val="100000"/>
              </a:lnSpc>
              <a:spcBef>
                <a:spcPts val="0"/>
              </a:spcBef>
              <a:spcAft>
                <a:spcPts val="0"/>
              </a:spcAft>
              <a:buClr>
                <a:srgbClr val="324158"/>
              </a:buClr>
              <a:buSzPct val="100000"/>
              <a:buFont typeface="Arial"/>
              <a:buChar char="•"/>
            </a:pPr>
            <a:r>
              <a:t>Then the verdict: no, not as the main mechanism. Source 1: Harness engineering (https://openai.com/index/harness-engineering/): "give Codex a map, not a 1,000-page instruction manual."</a:t>
            </a:r>
          </a:p>
          <a:p>
            <a:pPr marL="228600" indent="-182880" algn="l">
              <a:lnSpc>
                <a:spcPct val="100000"/>
              </a:lnSpc>
              <a:spcBef>
                <a:spcPts val="0"/>
              </a:spcBef>
              <a:spcAft>
                <a:spcPts val="0"/>
              </a:spcAft>
              <a:buClr>
                <a:srgbClr val="324158"/>
              </a:buClr>
              <a:buSzPct val="100000"/>
              <a:buFont typeface="Arial"/>
              <a:buChar char="•"/>
            </a:pPr>
            <a:r>
              <a:t>Assignment 1: Instructions starts from a real-shaped example: an 899-line AGENTS.md for a TeamTrack variant with 70 tagged rules (section-1-instructions/assignment/starter/original/AGENTS.md).</a:t>
            </a:r>
          </a:p>
          <a:p>
            <a:pPr marL="228600" indent="-182880" algn="l">
              <a:lnSpc>
                <a:spcPct val="100000"/>
              </a:lnSpc>
              <a:spcBef>
                <a:spcPts val="0"/>
              </a:spcBef>
              <a:spcAft>
                <a:spcPts val="0"/>
              </a:spcAft>
              <a:buClr>
                <a:srgbClr val="324158"/>
              </a:buClr>
              <a:buSzPct val="100000"/>
              <a:buFont typeface="Arial"/>
              <a:buChar char="•"/>
            </a:pPr>
            <a:r>
              <a:t>Reason 1, Source 1 (https://openai.com/index/harness-engineering/): "Context is a scarce resource. A giant instruction file crowds out the task, the code, and the relevant docs." The 899 lines are paid on every task.</a:t>
            </a:r>
          </a:p>
          <a:p>
            <a:pPr marL="228600" indent="-182880" algn="l">
              <a:lnSpc>
                <a:spcPct val="100000"/>
              </a:lnSpc>
              <a:spcBef>
                <a:spcPts val="0"/>
              </a:spcBef>
              <a:spcAft>
                <a:spcPts val="0"/>
              </a:spcAft>
              <a:buClr>
                <a:srgbClr val="324158"/>
              </a:buClr>
              <a:buSzPct val="100000"/>
              <a:buFont typeface="Arial"/>
              <a:buChar char="•"/>
            </a:pPr>
            <a:r>
              <a:t>Reason 2: "Too much guidance becomes non-guidance." In the 899-line file the tenant rule starts at line 204 and the warning about the legacy endpoint at line 586.</a:t>
            </a:r>
          </a:p>
          <a:p>
            <a:pPr marL="228600" indent="-182880" algn="l">
              <a:lnSpc>
                <a:spcPct val="100000"/>
              </a:lnSpc>
              <a:spcBef>
                <a:spcPts val="0"/>
              </a:spcBef>
              <a:spcAft>
                <a:spcPts val="0"/>
              </a:spcAft>
              <a:buClr>
                <a:srgbClr val="324158"/>
              </a:buClr>
              <a:buSzPct val="100000"/>
              <a:buFont typeface="Arial"/>
              <a:buChar char="•"/>
            </a:pPr>
            <a:r>
              <a:t>Reason 3: "It rots instantly. A monolithic manual turns into a graveyard of stale rules." The file still holds four retired rules. And a single blob "doesn't lend itself to mechanical checks (coverage, freshness, ownership, cross-links), so drift is inevitable." Idea 4 comes back to this.</a:t>
            </a:r>
          </a:p>
          <a:p>
            <a:pPr marL="228600" indent="-182880" algn="l">
              <a:lnSpc>
                <a:spcPct val="100000"/>
              </a:lnSpc>
              <a:spcBef>
                <a:spcPts val="0"/>
              </a:spcBef>
              <a:spcAft>
                <a:spcPts val="0"/>
              </a:spcAft>
              <a:buClr>
                <a:srgbClr val="324158"/>
              </a:buClr>
              <a:buSzPct val="100000"/>
              <a:buFont typeface="Arial"/>
              <a:buChar char="•"/>
            </a:pPr>
            <a:r>
              <a:t>Analogy: a 900-line PR description, or one 900-line config file with no schema versus small typed config files with a linter.</a:t>
            </a:r>
          </a:p>
          <a:p>
            <a:pPr marL="228600" indent="-182880" algn="l">
              <a:lnSpc>
                <a:spcPct val="100000"/>
              </a:lnSpc>
              <a:spcBef>
                <a:spcPts val="0"/>
              </a:spcBef>
              <a:spcAft>
                <a:spcPts val="0"/>
              </a:spcAft>
              <a:buClr>
                <a:srgbClr val="324158"/>
              </a:buClr>
              <a:buSzPct val="100000"/>
              <a:buFont typeface="Arial"/>
              <a:buChar char="•"/>
            </a:pPr>
            <a:r>
              <a:t>Likely question: "Does Claude Code not load CLAUDE.md in full anyway?" Answer: yes, it does; that is why the file must stay short and point elsewhere.</a:t>
            </a:r>
          </a:p>
          <a:p>
            <a:pPr marL="228600" indent="-182880" algn="l">
              <a:lnSpc>
                <a:spcPct val="100000"/>
              </a:lnSpc>
              <a:spcBef>
                <a:spcPts val="0"/>
              </a:spcBef>
              <a:spcAft>
                <a:spcPts val="0"/>
              </a:spcAft>
              <a:buClr>
                <a:srgbClr val="324158"/>
              </a:buClr>
              <a:buSzPct val="100000"/>
              <a:buFont typeface="Arial"/>
              <a:buChar char="•"/>
            </a:pPr>
            <a:r>
              <a:t>Likely question: "Is OpenAI's experience general?" Answer: they say their results should "not be assumed to generalize without similar investment"; today we measure the idea on our model.</a:t>
            </a:r>
          </a:p>
          <a:p>
            <a:pPr marL="228600" indent="-182880" algn="l">
              <a:lnSpc>
                <a:spcPct val="100000"/>
              </a:lnSpc>
              <a:spcBef>
                <a:spcPts val="0"/>
              </a:spcBef>
              <a:spcAft>
                <a:spcPts val="0"/>
              </a:spcAft>
              <a:buClr>
                <a:srgbClr val="324158"/>
              </a:buClr>
              <a:buSzPct val="100000"/>
              <a:buFont typeface="Arial"/>
              <a:buChar char="•"/>
            </a:pPr>
            <a:r>
              <a:t>Misconception: "the problem is only token cost" or "just move the tenant rule to the top". Correction: rules compete for attention and the file rots unnoticed; reordering lifts one rule and buries another.</a:t>
            </a:r>
          </a:p>
          <a:p>
            <a:pPr marL="228600" indent="-182880" algn="l">
              <a:lnSpc>
                <a:spcPct val="100000"/>
              </a:lnSpc>
              <a:spcBef>
                <a:spcPts val="0"/>
              </a:spcBef>
              <a:spcAft>
                <a:spcPts val="0"/>
              </a:spcAft>
              <a:buClr>
                <a:srgbClr val="324158"/>
              </a:buClr>
              <a:buSzPct val="100000"/>
              <a:buFont typeface="Arial"/>
              <a:buChar char="•"/>
            </a:pPr>
            <a:r>
              <a:t>Time: 4 minutes. Next: idea 1, the map.</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(0:20-0:24:30)</a:t>
            </a:r>
          </a:p>
          <a:p>
            <a:pPr marL="228600" indent="-182880" algn="l">
              <a:lnSpc>
                <a:spcPct val="100000"/>
              </a:lnSpc>
              <a:spcBef>
                <a:spcPts val="0"/>
              </a:spcBef>
              <a:spcAft>
                <a:spcPts val="0"/>
              </a:spcAft>
              <a:buClr>
                <a:srgbClr val="324158"/>
              </a:buClr>
              <a:buSzPct val="100000"/>
              <a:buFont typeface="Arial"/>
              <a:buChar char="•"/>
            </a:pPr>
            <a:r>
              <a:t>Source 1: Harness engineering (https://openai.com/index/harness-engineering/): "A short AGENTS.md (roughly 100 lines) is injected into context and serves primarily as a map, with pointers to deeper sources of truth elsewhere." And: "we treat it as the table of contents."</a:t>
            </a:r>
          </a:p>
          <a:p>
            <a:pPr marL="228600" indent="-182880" algn="l">
              <a:lnSpc>
                <a:spcPct val="100000"/>
              </a:lnSpc>
              <a:spcBef>
                <a:spcPts val="0"/>
              </a:spcBef>
              <a:spcAft>
                <a:spcPts val="0"/>
              </a:spcAft>
              <a:buClr>
                <a:srgbClr val="324158"/>
              </a:buClr>
              <a:buSzPct val="100000"/>
              <a:buFont typeface="Arial"/>
              <a:buChar char="•"/>
            </a:pPr>
            <a:r>
              <a:t>The details live in docs/, "treated as the system of record". TeamTrack copies that layout: AGENTS.md and ARCHITECTURE.md at the root; SECURITY.md, RELIABILITY.md, QUALITY_SCORE.md, PLANS.md, design-docs/, product-specs/, references/ in docs/.</a:t>
            </a:r>
          </a:p>
          <a:p>
            <a:pPr marL="228600" indent="-182880" algn="l">
              <a:lnSpc>
                <a:spcPct val="100000"/>
              </a:lnSpc>
              <a:spcBef>
                <a:spcPts val="0"/>
              </a:spcBef>
              <a:spcAft>
                <a:spcPts val="0"/>
              </a:spcAft>
              <a:buClr>
                <a:srgbClr val="324158"/>
              </a:buClr>
              <a:buSzPct val="100000"/>
              <a:buFont typeface="Arial"/>
              <a:buChar char="•"/>
            </a:pPr>
            <a:r>
              <a:t>TeamTrack's map, platform/teamtrack/harness/instructions/AGENTS.md: 94 lines, keyed by "When you are about to", one file per row, all seven house rules at a glance.</a:t>
            </a:r>
          </a:p>
          <a:p>
            <a:pPr marL="228600" indent="-182880" algn="l">
              <a:lnSpc>
                <a:spcPct val="100000"/>
              </a:lnSpc>
              <a:spcBef>
                <a:spcPts val="0"/>
              </a:spcBef>
              <a:spcAft>
                <a:spcPts val="0"/>
              </a:spcAft>
              <a:buClr>
                <a:srgbClr val="324158"/>
              </a:buClr>
              <a:buSzPct val="100000"/>
              <a:buFont typeface="Arial"/>
              <a:buChar char="•"/>
            </a:pPr>
            <a:r>
              <a:t>Concrete rows: "add or change an endpoint" → the add-endpoint skill; "decide who may see or change data" → platform/teamtrack/harness/instructions/docs/SECURITY.md (House rule 1: Tenant isolation, House rule 2: Roles). The full tenant rule lives once, in platform/teamtrack/harness/instructions/docs/SECURITY.md.</a:t>
            </a:r>
          </a:p>
          <a:p>
            <a:pPr marL="228600" indent="-182880" algn="l">
              <a:lnSpc>
                <a:spcPct val="100000"/>
              </a:lnSpc>
              <a:spcBef>
                <a:spcPts val="0"/>
              </a:spcBef>
              <a:spcAft>
                <a:spcPts val="0"/>
              </a:spcAft>
              <a:buClr>
                <a:srgbClr val="324158"/>
              </a:buClr>
              <a:buSzPct val="100000"/>
              <a:buFont typeface="Arial"/>
              <a:buChar char="•"/>
            </a:pPr>
            <a:r>
              <a:t>"Do not copy" names GET /v1/issues, repositories.issues.list_all_legacy, and services.legacy, and points to POST /projects as the right pattern.</a:t>
            </a:r>
          </a:p>
          <a:p>
            <a:pPr marL="228600" indent="-182880" algn="l">
              <a:lnSpc>
                <a:spcPct val="100000"/>
              </a:lnSpc>
              <a:spcBef>
                <a:spcPts val="0"/>
              </a:spcBef>
              <a:spcAft>
                <a:spcPts val="0"/>
              </a:spcAft>
              <a:buClr>
                <a:srgbClr val="324158"/>
              </a:buClr>
              <a:buSzPct val="100000"/>
              <a:buFont typeface="Arial"/>
              <a:buChar char="•"/>
            </a:pPr>
            <a:r>
              <a:t>Keyed by action, not topic: the agent knows what it is about to do ("touch a repository"), not which topic it needs.</a:t>
            </a:r>
          </a:p>
          <a:p>
            <a:pPr marL="228600" indent="-182880" algn="l">
              <a:lnSpc>
                <a:spcPct val="100000"/>
              </a:lnSpc>
              <a:spcBef>
                <a:spcPts val="0"/>
              </a:spcBef>
              <a:spcAft>
                <a:spcPts val="0"/>
              </a:spcAft>
              <a:buClr>
                <a:srgbClr val="324158"/>
              </a:buClr>
              <a:buSzPct val="100000"/>
              <a:buFont typeface="Arial"/>
              <a:buChar char="•"/>
            </a:pPr>
            <a:r>
              <a:t>Analogy: onboarding docs with a "start here" page versus a wiki dump, or a runbook index that says which runbook to open for which alert.</a:t>
            </a:r>
          </a:p>
          <a:p>
            <a:pPr marL="228600" indent="-182880" algn="l">
              <a:lnSpc>
                <a:spcPct val="100000"/>
              </a:lnSpc>
              <a:spcBef>
                <a:spcPts val="0"/>
              </a:spcBef>
              <a:spcAft>
                <a:spcPts val="0"/>
              </a:spcAft>
              <a:buClr>
                <a:srgbClr val="324158"/>
              </a:buClr>
              <a:buSzPct val="100000"/>
              <a:buFont typeface="Arial"/>
              <a:buChar char="•"/>
            </a:pPr>
            <a:r>
              <a:t>Point at the right side: one hop from the map to the rule.</a:t>
            </a:r>
          </a:p>
          <a:p>
            <a:pPr marL="228600" indent="-182880" algn="l">
              <a:lnSpc>
                <a:spcPct val="100000"/>
              </a:lnSpc>
              <a:spcBef>
                <a:spcPts val="0"/>
              </a:spcBef>
              <a:spcAft>
                <a:spcPts val="0"/>
              </a:spcAft>
              <a:buClr>
                <a:srgbClr val="324158"/>
              </a:buClr>
              <a:buSzPct val="100000"/>
              <a:buFont typeface="Arial"/>
              <a:buChar char="•"/>
            </a:pPr>
            <a:r>
              <a:t>Ask: "Why key the table by action instead of topic?" Expected: the agent's next action is the lookup key it has.</a:t>
            </a:r>
          </a:p>
          <a:p>
            <a:pPr marL="228600" indent="-182880" algn="l">
              <a:lnSpc>
                <a:spcPct val="100000"/>
              </a:lnSpc>
              <a:spcBef>
                <a:spcPts val="0"/>
              </a:spcBef>
              <a:spcAft>
                <a:spcPts val="0"/>
              </a:spcAft>
              <a:buClr>
                <a:srgbClr val="324158"/>
              </a:buClr>
              <a:buSzPct val="100000"/>
              <a:buFont typeface="Arial"/>
              <a:buChar char="•"/>
            </a:pPr>
            <a:r>
              <a:t>Likely question: "Why 94 lines and not 20?" Answer: one row per common action, the seven house rules, and the "Do not copy" list; shorter is fine if every row still names one file.</a:t>
            </a:r>
          </a:p>
          <a:p>
            <a:pPr marL="228600" indent="-182880" algn="l">
              <a:lnSpc>
                <a:spcPct val="100000"/>
              </a:lnSpc>
              <a:spcBef>
                <a:spcPts val="0"/>
              </a:spcBef>
              <a:spcAft>
                <a:spcPts val="0"/>
              </a:spcAft>
              <a:buClr>
                <a:srgbClr val="324158"/>
              </a:buClr>
              <a:buSzPct val="100000"/>
              <a:buFont typeface="Arial"/>
              <a:buChar char="•"/>
            </a:pPr>
            <a:r>
              <a:t>Misconception: "a short map means fewer rules". Correction: the same rules, organised; a unit test checks every rule is still in the handbook both arms read.</a:t>
            </a:r>
          </a:p>
          <a:p>
            <a:pPr marL="228600" indent="-182880" algn="l">
              <a:lnSpc>
                <a:spcPct val="100000"/>
              </a:lnSpc>
              <a:spcBef>
                <a:spcPts val="0"/>
              </a:spcBef>
              <a:spcAft>
                <a:spcPts val="0"/>
              </a:spcAft>
              <a:buClr>
                <a:srgbClr val="324158"/>
              </a:buClr>
              <a:buSzPct val="100000"/>
              <a:buFont typeface="Arial"/>
              <a:buChar char="•"/>
            </a:pPr>
            <a:r>
              <a:t>Time: 4.5 minutes. Next: how the details load only when needed.</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(0:24:30-0:29)</a:t>
            </a:r>
          </a:p>
          <a:p>
            <a:pPr marL="228600" indent="-182880" algn="l">
              <a:lnSpc>
                <a:spcPct val="100000"/>
              </a:lnSpc>
              <a:spcBef>
                <a:spcPts val="0"/>
              </a:spcBef>
              <a:spcAft>
                <a:spcPts val="0"/>
              </a:spcAft>
              <a:buClr>
                <a:srgbClr val="324158"/>
              </a:buClr>
              <a:buSzPct val="100000"/>
              <a:buFont typeface="Arial"/>
              <a:buChar char="•"/>
            </a:pPr>
            <a:r>
              <a:t>Source 1: Harness engineering (https://openai.com/index/harness-engineering/): "This enables progressive disclosure: agents start with a small, stable entry point and are taught where to look next, rather than being overwhelmed up front."</a:t>
            </a:r>
          </a:p>
          <a:p>
            <a:pPr marL="228600" indent="-182880" algn="l">
              <a:lnSpc>
                <a:spcPct val="100000"/>
              </a:lnSpc>
              <a:spcBef>
                <a:spcPts val="0"/>
              </a:spcBef>
              <a:spcAft>
                <a:spcPts val="0"/>
              </a:spcAft>
              <a:buClr>
                <a:srgbClr val="324158"/>
              </a:buClr>
              <a:buSzPct val="100000"/>
              <a:buFont typeface="Arial"/>
              <a:buChar char="•"/>
            </a:pPr>
            <a:r>
              <a:t>Source 6: Agent Skills Specification (https://agentskills.io/specification): "The name and description fields are loaded at startup for all skills"; instructions "&lt; 5000 tokens recommended"; resources load "only when required".</a:t>
            </a:r>
          </a:p>
          <a:p>
            <a:pPr marL="228600" indent="-182880" algn="l">
              <a:lnSpc>
                <a:spcPct val="100000"/>
              </a:lnSpc>
              <a:spcBef>
                <a:spcPts val="0"/>
              </a:spcBef>
              <a:spcAft>
                <a:spcPts val="0"/>
              </a:spcAft>
              <a:buClr>
                <a:srgbClr val="324158"/>
              </a:buClr>
              <a:buSzPct val="100000"/>
              <a:buFont typeface="Arial"/>
              <a:buChar char="•"/>
            </a:pPr>
            <a:r>
              <a:t>Tier 1: name and description of every skill, at start. Tier 2: the full SKILL.md, when the agent picks it. Tier 3: references, scripts, assets, when a step needs them.</a:t>
            </a:r>
          </a:p>
          <a:p>
            <a:pPr marL="228600" indent="-182880" algn="l">
              <a:lnSpc>
                <a:spcPct val="100000"/>
              </a:lnSpc>
              <a:spcBef>
                <a:spcPts val="0"/>
              </a:spcBef>
              <a:spcAft>
                <a:spcPts val="0"/>
              </a:spcAft>
              <a:buClr>
                <a:srgbClr val="324158"/>
              </a:buClr>
              <a:buSzPct val="100000"/>
              <a:buFont typeface="Arial"/>
              <a:buChar char="•"/>
            </a:pPr>
            <a:r>
              <a:t>Concrete, TeamTrack's add-endpoint: tier 1 is its description ("Add or change a TeamTrack HTTP endpoint so it follows house rules ... Use when a ticket adds a route ..."), tier 2 the 100-line SKILL.md, tier 3 references/tests.md.</a:t>
            </a:r>
          </a:p>
          <a:p>
            <a:pPr marL="228600" indent="-182880" algn="l">
              <a:lnSpc>
                <a:spcPct val="100000"/>
              </a:lnSpc>
              <a:spcBef>
                <a:spcPts val="0"/>
              </a:spcBef>
              <a:spcAft>
                <a:spcPts val="0"/>
              </a:spcAft>
              <a:buClr>
                <a:srgbClr val="324158"/>
              </a:buClr>
              <a:buSzPct val="100000"/>
              <a:buFont typeface="Arial"/>
              <a:buChar char="•"/>
            </a:pPr>
            <a:r>
              <a:t>What the runs showed: in one round every harness arm read the skill body (tier 2), and none read references/tests.md (tier 3). Tier 3 stayed on disk, as designed.</a:t>
            </a:r>
          </a:p>
          <a:p>
            <a:pPr marL="228600" indent="-182880" algn="l">
              <a:lnSpc>
                <a:spcPct val="100000"/>
              </a:lnSpc>
              <a:spcBef>
                <a:spcPts val="0"/>
              </a:spcBef>
              <a:spcAft>
                <a:spcPts val="0"/>
              </a:spcAft>
              <a:buClr>
                <a:srgbClr val="324158"/>
              </a:buClr>
              <a:buSzPct val="100000"/>
              <a:buFont typeface="Arial"/>
              <a:buChar char="•"/>
            </a:pPr>
            <a:r>
              <a:t>The description does the routing: it "should describe both what the skill does and when to use it".</a:t>
            </a:r>
          </a:p>
          <a:p>
            <a:pPr marL="228600" indent="-182880" algn="l">
              <a:lnSpc>
                <a:spcPct val="100000"/>
              </a:lnSpc>
              <a:spcBef>
                <a:spcPts val="0"/>
              </a:spcBef>
              <a:spcAft>
                <a:spcPts val="0"/>
              </a:spcAft>
              <a:buClr>
                <a:srgbClr val="324158"/>
              </a:buClr>
              <a:buSzPct val="100000"/>
              <a:buFont typeface="Arial"/>
              <a:buChar char="•"/>
            </a:pPr>
            <a:r>
              <a:t>Analogy: a man page: the one-line summary in the index, the page when you need it, "SEE ALSO" only for a specific step.</a:t>
            </a:r>
          </a:p>
          <a:p>
            <a:pPr marL="228600" indent="-182880" algn="l">
              <a:lnSpc>
                <a:spcPct val="100000"/>
              </a:lnSpc>
              <a:spcBef>
                <a:spcPts val="0"/>
              </a:spcBef>
              <a:spcAft>
                <a:spcPts val="0"/>
              </a:spcAft>
              <a:buClr>
                <a:srgbClr val="324158"/>
              </a:buClr>
              <a:buSzPct val="100000"/>
              <a:buFont typeface="Arial"/>
              <a:buChar char="•"/>
            </a:pPr>
            <a:r>
              <a:t>Ask: "A skill's description says only 'Endpoint helper.' What breaks?" Expected: tier 1; the agent never opens it, so tiers 2 and 3 never load.</a:t>
            </a:r>
          </a:p>
          <a:p>
            <a:pPr marL="228600" indent="-182880" algn="l">
              <a:lnSpc>
                <a:spcPct val="100000"/>
              </a:lnSpc>
              <a:spcBef>
                <a:spcPts val="0"/>
              </a:spcBef>
              <a:spcAft>
                <a:spcPts val="0"/>
              </a:spcAft>
              <a:buClr>
                <a:srgbClr val="324158"/>
              </a:buClr>
              <a:buSzPct val="100000"/>
              <a:buFont typeface="Arial"/>
              <a:buChar char="•"/>
            </a:pPr>
            <a:r>
              <a:t>Likely question: "Do Claude Code, Codex, and Cursor all do this?" Answer: all three read Agent Skills from a skills folder: Source 7: Extend Claude with skills (https://code.claude.com/docs/en/skills), Source 8: Build skills (https://learn.chatgpt.com/docs/build-skills), Source 9: Agent Skills (Cursor docs) (https://cursor.com/docs/skills); post-class reading 03 lists where each one looks.</a:t>
            </a:r>
          </a:p>
          <a:p>
            <a:pPr marL="228600" indent="-182880" algn="l">
              <a:lnSpc>
                <a:spcPct val="100000"/>
              </a:lnSpc>
              <a:spcBef>
                <a:spcPts val="0"/>
              </a:spcBef>
              <a:spcAft>
                <a:spcPts val="0"/>
              </a:spcAft>
              <a:buClr>
                <a:srgbClr val="324158"/>
              </a:buClr>
              <a:buSzPct val="100000"/>
              <a:buFont typeface="Arial"/>
              <a:buChar char="•"/>
            </a:pPr>
            <a:r>
              <a:t>Misconception: "skills are plugins with code". Correction: a skill is a folder with a Markdown recipe; scripts are optional tier 3 files.</a:t>
            </a:r>
          </a:p>
          <a:p>
            <a:pPr marL="228600" indent="-182880" algn="l">
              <a:lnSpc>
                <a:spcPct val="100000"/>
              </a:lnSpc>
              <a:spcBef>
                <a:spcPts val="0"/>
              </a:spcBef>
              <a:spcAft>
                <a:spcPts val="0"/>
              </a:spcAft>
              <a:buClr>
                <a:srgbClr val="324158"/>
              </a:buClr>
              <a:buSzPct val="100000"/>
              <a:buFont typeface="Arial"/>
              <a:buChar char="•"/>
            </a:pPr>
            <a:r>
              <a:t>Time: 4.5 minutes. Next: how the map reaches the model.</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(0:29-0:33:30)</a:t>
            </a:r>
          </a:p>
          <a:p>
            <a:pPr marL="228600" indent="-182880" algn="l">
              <a:lnSpc>
                <a:spcPct val="100000"/>
              </a:lnSpc>
              <a:spcBef>
                <a:spcPts val="0"/>
              </a:spcBef>
              <a:spcAft>
                <a:spcPts val="0"/>
              </a:spcAft>
              <a:buClr>
                <a:srgbClr val="324158"/>
              </a:buClr>
              <a:buSzPct val="100000"/>
              <a:buFont typeface="Arial"/>
              <a:buChar char="•"/>
            </a:pPr>
            <a:r>
              <a:t>Plain explanation: the prefix is what the harness arm sees before the ticket, in every session. Only the map and the catalogue go in; documents and skill bodies stay on disk. The bare arm gets the same core prompt without the prefix.</a:t>
            </a:r>
          </a:p>
          <a:p>
            <a:pPr marL="228600" indent="-182880" algn="l">
              <a:lnSpc>
                <a:spcPct val="100000"/>
              </a:lnSpc>
              <a:spcBef>
                <a:spcPts val="0"/>
              </a:spcBef>
              <a:spcAft>
                <a:spcPts val="0"/>
              </a:spcAft>
              <a:buClr>
                <a:srgbClr val="324158"/>
              </a:buClr>
              <a:buSzPct val="100000"/>
              <a:buFont typeface="Arial"/>
              <a:buChar char="•"/>
            </a:pPr>
            <a:r>
              <a:t>The map file has 94 lines; the agent gets 92, because two walkthrough comment lines are stripped.</a:t>
            </a:r>
          </a:p>
          <a:p>
            <a:pPr marL="228600" indent="-182880" algn="l">
              <a:lnSpc>
                <a:spcPct val="100000"/>
              </a:lnSpc>
              <a:spcBef>
                <a:spcPts val="0"/>
              </a:spcBef>
              <a:spcAft>
                <a:spcPts val="0"/>
              </a:spcAft>
              <a:buClr>
                <a:srgbClr val="324158"/>
              </a:buClr>
              <a:buSzPct val="100000"/>
              <a:buFont typeface="Arial"/>
              <a:buChar char="•"/>
            </a:pPr>
            <a:r>
              <a:t>The code, platform/src/shipharness/harness/instructions/router.py lines 37-47, the body of build_prefix: three blocks, one usage sentence, the map, the skills catalogue, joined with blank lines.</a:t>
            </a:r>
          </a:p>
          <a:p>
            <a:pPr marL="228600" indent="-182880" algn="l">
              <a:lnSpc>
                <a:spcPct val="100000"/>
              </a:lnSpc>
              <a:spcBef>
                <a:spcPts val="0"/>
              </a:spcBef>
              <a:spcAft>
                <a:spcPts val="0"/>
              </a:spcAft>
              <a:buClr>
                <a:srgbClr val="324158"/>
              </a:buClr>
              <a:buSzPct val="100000"/>
              <a:buFont typeface="Arial"/>
              <a:buChar char="•"/>
            </a:pPr>
            <a:r>
              <a:t>Key line: agents_md = strip_markers((source / MAP_FILE).read_text(encoding="utf-8")).strip(). source is platform/teamtrack/harness/instructions/, never the arm's workspace; strip_markers drops the two comment lines.</a:t>
            </a:r>
          </a:p>
          <a:p>
            <a:pPr marL="228600" indent="-182880" algn="l">
              <a:lnSpc>
                <a:spcPct val="100000"/>
              </a:lnSpc>
              <a:spcBef>
                <a:spcPts val="0"/>
              </a:spcBef>
              <a:spcAft>
                <a:spcPts val="0"/>
              </a:spcAft>
              <a:buClr>
                <a:srgbClr val="324158"/>
              </a:buClr>
              <a:buSzPct val="100000"/>
              <a:buFont typeface="Arial"/>
              <a:buChar char="•"/>
            </a:pPr>
            <a:r>
              <a:t>catalogue_block() reads only each skill's frontmatter and writes one line per skill (name, description, path): tier 1 only.</a:t>
            </a:r>
          </a:p>
          <a:p>
            <a:pPr marL="228600" indent="-182880" algn="l">
              <a:lnSpc>
                <a:spcPct val="100000"/>
              </a:lnSpc>
              <a:spcBef>
                <a:spcPts val="0"/>
              </a:spcBef>
              <a:spcAft>
                <a:spcPts val="0"/>
              </a:spcAft>
              <a:buClr>
                <a:srgbClr val="324158"/>
              </a:buClr>
              <a:buSzPct val="100000"/>
              <a:buFont typeface="Arial"/>
              <a:buChar char="•"/>
            </a:pPr>
            <a:r>
              <a:t>Same layer, not on screen: context_prefix in layer.py (lines 113-116) caches the string so every session gets identical text, the "small, stable entry point" of Source 1: Harness engineering (https://openai.com/index/harness-engineering/); after_tool (lines 126-136) logs each harness file the agent opens and tags skill reads with their tier. It returns a note and never blocks; those notes are the "agent read skill add-endpoint (tier 2)" lines on screen 1.</a:t>
            </a:r>
          </a:p>
          <a:p>
            <a:pPr marL="228600" indent="-182880" algn="l">
              <a:lnSpc>
                <a:spcPct val="100000"/>
              </a:lnSpc>
              <a:spcBef>
                <a:spcPts val="0"/>
              </a:spcBef>
              <a:spcAft>
                <a:spcPts val="0"/>
              </a:spcAft>
              <a:buClr>
                <a:srgbClr val="324158"/>
              </a:buClr>
              <a:buSzPct val="100000"/>
              <a:buFont typeface="Arial"/>
              <a:buChar char="•"/>
            </a:pPr>
            <a:r>
              <a:t>"Context prefix" is the course's term, not a source's.</a:t>
            </a:r>
          </a:p>
          <a:p>
            <a:pPr marL="228600" indent="-182880" algn="l">
              <a:lnSpc>
                <a:spcPct val="100000"/>
              </a:lnSpc>
              <a:spcBef>
                <a:spcPts val="0"/>
              </a:spcBef>
              <a:spcAft>
                <a:spcPts val="0"/>
              </a:spcAft>
              <a:buClr>
                <a:srgbClr val="324158"/>
              </a:buClr>
              <a:buSzPct val="100000"/>
              <a:buFont typeface="Arial"/>
              <a:buChar char="•"/>
            </a:pPr>
            <a:r>
              <a:t>Analogy: least privilege for instructions, or an immutable config object built at startup from a read-only mount: the agent can read its orders but not rewrite them.</a:t>
            </a:r>
          </a:p>
          <a:p>
            <a:pPr marL="228600" indent="-182880" algn="l">
              <a:lnSpc>
                <a:spcPct val="100000"/>
              </a:lnSpc>
              <a:spcBef>
                <a:spcPts val="0"/>
              </a:spcBef>
              <a:spcAft>
                <a:spcPts val="0"/>
              </a:spcAft>
              <a:buClr>
                <a:srgbClr val="324158"/>
              </a:buClr>
              <a:buSzPct val="100000"/>
              <a:buFont typeface="Arial"/>
              <a:buChar char="•"/>
            </a:pPr>
            <a:r>
              <a:t>Ask: "What would go wrong if source pointed at the workspace?" Expected: the agent could rewrite its own instructions mid-run, and session 2 would get the edited map.</a:t>
            </a:r>
          </a:p>
          <a:p>
            <a:pPr marL="228600" indent="-182880" algn="l">
              <a:lnSpc>
                <a:spcPct val="100000"/>
              </a:lnSpc>
              <a:spcBef>
                <a:spcPts val="0"/>
              </a:spcBef>
              <a:spcAft>
                <a:spcPts val="0"/>
              </a:spcAft>
              <a:buClr>
                <a:srgbClr val="324158"/>
              </a:buClr>
              <a:buSzPct val="100000"/>
              <a:buFont typeface="Arial"/>
              <a:buChar char="•"/>
            </a:pPr>
            <a:r>
              <a:t>Likely question: "Do I need this code to use a map?" Answer: no; most coding agents load AGENTS.md and skills themselves. Write code like this only if you run your own loop.</a:t>
            </a:r>
          </a:p>
          <a:p>
            <a:pPr marL="228600" indent="-182880" algn="l">
              <a:lnSpc>
                <a:spcPct val="100000"/>
              </a:lnSpc>
              <a:spcBef>
                <a:spcPts val="0"/>
              </a:spcBef>
              <a:spcAft>
                <a:spcPts val="0"/>
              </a:spcAft>
              <a:buClr>
                <a:srgbClr val="324158"/>
              </a:buClr>
              <a:buSzPct val="100000"/>
              <a:buFont typeface="Arial"/>
              <a:buChar char="•"/>
            </a:pPr>
            <a:r>
              <a:t>Misconception: "the agent sees the docs because they are in the repository". Correction: only the map and the catalogue are sent; screen 3 later shows which docs it opened.</a:t>
            </a:r>
          </a:p>
          <a:p>
            <a:pPr marL="228600" indent="-182880" algn="l">
              <a:lnSpc>
                <a:spcPct val="100000"/>
              </a:lnSpc>
              <a:spcBef>
                <a:spcPts val="0"/>
              </a:spcBef>
              <a:spcAft>
                <a:spcPts val="0"/>
              </a:spcAft>
              <a:buClr>
                <a:srgbClr val="324158"/>
              </a:buClr>
              <a:buSzPct val="100000"/>
              <a:buFont typeface="Arial"/>
              <a:buChar char="•"/>
            </a:pPr>
            <a:r>
              <a:t>Time: 4.5 minutes. Next: keeping the map true.</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(0:33:30-0:38)</a:t>
            </a:r>
          </a:p>
          <a:p>
            <a:pPr marL="228600" indent="-182880" algn="l">
              <a:lnSpc>
                <a:spcPct val="100000"/>
              </a:lnSpc>
              <a:spcBef>
                <a:spcPts val="0"/>
              </a:spcBef>
              <a:spcAft>
                <a:spcPts val="0"/>
              </a:spcAft>
              <a:buClr>
                <a:srgbClr val="324158"/>
              </a:buClr>
              <a:buSzPct val="100000"/>
              <a:buFont typeface="Arial"/>
              <a:buChar char="•"/>
            </a:pPr>
            <a:r>
              <a:t>Source 1: Harness engineering (https://openai.com/index/harness-engineering/): "Dedicated linters and CI jobs validate that the knowledge base is up to date, cross-linked, and structured correctly."</a:t>
            </a:r>
          </a:p>
          <a:p>
            <a:pPr marL="228600" indent="-182880" algn="l">
              <a:lnSpc>
                <a:spcPct val="100000"/>
              </a:lnSpc>
              <a:spcBef>
                <a:spcPts val="0"/>
              </a:spcBef>
              <a:spcAft>
                <a:spcPts val="0"/>
              </a:spcAft>
              <a:buClr>
                <a:srgbClr val="324158"/>
              </a:buClr>
              <a:buSzPct val="100000"/>
              <a:buFont typeface="Arial"/>
              <a:buChar char="•"/>
            </a:pPr>
            <a:r>
              <a:t>And: "we write the error messages to inject remediation instructions into agent context." A lint message that says how to fix the problem teaches the agent too.</a:t>
            </a:r>
          </a:p>
          <a:p>
            <a:pPr marL="228600" indent="-182880" algn="l">
              <a:lnSpc>
                <a:spcPct val="100000"/>
              </a:lnSpc>
              <a:spcBef>
                <a:spcPts val="0"/>
              </a:spcBef>
              <a:spcAft>
                <a:spcPts val="0"/>
              </a:spcAft>
              <a:buClr>
                <a:srgbClr val="324158"/>
              </a:buClr>
              <a:buSzPct val="100000"/>
              <a:buFont typeface="Arial"/>
              <a:buChar char="•"/>
            </a:pPr>
            <a:r>
              <a:t>The four checks: every link in the map resolves; every active rule lives in exactly one doc; retired rules never come back; the skill header (frontmatter) passes the validator.</a:t>
            </a:r>
          </a:p>
          <a:p>
            <a:pPr marL="228600" indent="-182880" algn="l">
              <a:lnSpc>
                <a:spcPct val="100000"/>
              </a:lnSpc>
              <a:spcBef>
                <a:spcPts val="0"/>
              </a:spcBef>
              <a:spcAft>
                <a:spcPts val="0"/>
              </a:spcAft>
              <a:buClr>
                <a:srgbClr val="324158"/>
              </a:buClr>
              <a:buSzPct val="100000"/>
              <a:buFont typeface="Arial"/>
              <a:buChar char="•"/>
            </a:pPr>
            <a:r>
              <a:t>Assignment 1: Instructions asks you to write checker/check_docs.py; the reference checker on the reference tree prints OK: 13 files, 147 links, 66 rules covered.</a:t>
            </a:r>
          </a:p>
          <a:p>
            <a:pPr marL="228600" indent="-182880" algn="l">
              <a:lnSpc>
                <a:spcPct val="100000"/>
              </a:lnSpc>
              <a:spcBef>
                <a:spcPts val="0"/>
              </a:spcBef>
              <a:spcAft>
                <a:spcPts val="0"/>
              </a:spcAft>
              <a:buClr>
                <a:srgbClr val="324158"/>
              </a:buClr>
              <a:buSzPct val="100000"/>
              <a:buFont typeface="Arial"/>
              <a:buChar char="•"/>
            </a:pPr>
            <a:r>
              <a:t>Skill check: uv run shipharness skills validate platform/teamtrack/harness/instructions/.agents/skills checks the frontmatter (name matches the folder, description present, no extra fields).</a:t>
            </a:r>
          </a:p>
          <a:p>
            <a:pPr marL="228600" indent="-182880" algn="l">
              <a:lnSpc>
                <a:spcPct val="100000"/>
              </a:lnSpc>
              <a:spcBef>
                <a:spcPts val="0"/>
              </a:spcBef>
              <a:spcAft>
                <a:spcPts val="0"/>
              </a:spcAft>
              <a:buClr>
                <a:srgbClr val="324158"/>
              </a:buClr>
              <a:buSzPct val="100000"/>
              <a:buFont typeface="Arial"/>
              <a:buChar char="•"/>
            </a:pPr>
            <a:r>
              <a:t>Fairness check: platform/tests/unit/harness_instructions/test_parity.py fails if a rule in the harness docs is missing from the handbook both arms read. "Reorganise, never add."</a:t>
            </a:r>
          </a:p>
          <a:p>
            <a:pPr marL="228600" indent="-182880" algn="l">
              <a:lnSpc>
                <a:spcPct val="100000"/>
              </a:lnSpc>
              <a:spcBef>
                <a:spcPts val="0"/>
              </a:spcBef>
              <a:spcAft>
                <a:spcPts val="0"/>
              </a:spcAft>
              <a:buClr>
                <a:srgbClr val="324158"/>
              </a:buClr>
              <a:buSzPct val="100000"/>
              <a:buFont typeface="Arial"/>
              <a:buChar char="•"/>
            </a:pPr>
            <a:r>
              <a:t>Analogy: CI gates for documentation: a broken link fails the build like a broken import.</a:t>
            </a:r>
          </a:p>
          <a:p>
            <a:pPr marL="228600" indent="-182880" algn="l">
              <a:lnSpc>
                <a:spcPct val="100000"/>
              </a:lnSpc>
              <a:spcBef>
                <a:spcPts val="0"/>
              </a:spcBef>
              <a:spcAft>
                <a:spcPts val="0"/>
              </a:spcAft>
              <a:buClr>
                <a:srgbClr val="324158"/>
              </a:buClr>
              <a:buSzPct val="100000"/>
              <a:buFont typeface="Arial"/>
              <a:buChar char="•"/>
            </a:pPr>
            <a:r>
              <a:t>Ask: "Your map points to platform/teamtrack/harness/instructions/docs/SECURITY.md and someone renames it. What happens without a check?" Expected: the agent follows a dead pointer and falls back to nearby code.</a:t>
            </a:r>
          </a:p>
          <a:p>
            <a:pPr marL="228600" indent="-182880" algn="l">
              <a:lnSpc>
                <a:spcPct val="100000"/>
              </a:lnSpc>
              <a:spcBef>
                <a:spcPts val="0"/>
              </a:spcBef>
              <a:spcAft>
                <a:spcPts val="0"/>
              </a:spcAft>
              <a:buClr>
                <a:srgbClr val="324158"/>
              </a:buClr>
              <a:buSzPct val="100000"/>
              <a:buFont typeface="Arial"/>
              <a:buChar char="•"/>
            </a:pPr>
            <a:r>
              <a:t>Likely question: "Who fixes a failing doc check?" Answer: whoever moved the file, in the same pull request.</a:t>
            </a:r>
          </a:p>
          <a:p>
            <a:pPr marL="228600" indent="-182880" algn="l">
              <a:lnSpc>
                <a:spcPct val="100000"/>
              </a:lnSpc>
              <a:spcBef>
                <a:spcPts val="0"/>
              </a:spcBef>
              <a:spcAft>
                <a:spcPts val="0"/>
              </a:spcAft>
              <a:buClr>
                <a:srgbClr val="324158"/>
              </a:buClr>
              <a:buSzPct val="100000"/>
              <a:buFont typeface="Arial"/>
              <a:buChar char="•"/>
            </a:pPr>
            <a:r>
              <a:t>Misconception: "a link checker is enough". Correction: every link can resolve while a rule silently disappears; the coverage check (each of the 66 active rules in exactly one doc) catches that.</a:t>
            </a:r>
          </a:p>
          <a:p>
            <a:pPr marL="228600" indent="-182880" algn="l">
              <a:lnSpc>
                <a:spcPct val="100000"/>
              </a:lnSpc>
              <a:spcBef>
                <a:spcPts val="0"/>
              </a:spcBef>
              <a:spcAft>
                <a:spcPts val="0"/>
              </a:spcAft>
              <a:buClr>
                <a:srgbClr val="324158"/>
              </a:buClr>
              <a:buSzPct val="100000"/>
              <a:buFont typeface="Arial"/>
              <a:buChar char="•"/>
            </a:pPr>
            <a:r>
              <a:t>Instructor cue: glance at terminal B; make show-1 should have printed its Cost: line by now.</a:t>
            </a:r>
          </a:p>
          <a:p>
            <a:pPr marL="228600" indent="-182880" algn="l">
              <a:lnSpc>
                <a:spcPct val="100000"/>
              </a:lnSpc>
              <a:spcBef>
                <a:spcPts val="0"/>
              </a:spcBef>
              <a:spcAft>
                <a:spcPts val="0"/>
              </a:spcAft>
              <a:buClr>
                <a:srgbClr val="324158"/>
              </a:buClr>
              <a:buSzPct val="100000"/>
              <a:buFont typeface="Arial"/>
              <a:buChar char="•"/>
            </a:pPr>
            <a:r>
              <a:t>Time: 4.5 minutes. Next: the four ideas on one page.</a:t>
            </a:r>
          </a:p>
        </p:txBody>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(0:38-0:40)</a:t>
            </a:r>
          </a:p>
          <a:p>
            <a:pPr marL="228600" indent="-182880" algn="l">
              <a:lnSpc>
                <a:spcPct val="100000"/>
              </a:lnSpc>
              <a:spcBef>
                <a:spcPts val="0"/>
              </a:spcBef>
              <a:spcAft>
                <a:spcPts val="0"/>
              </a:spcAft>
              <a:buClr>
                <a:srgbClr val="324158"/>
              </a:buClr>
              <a:buSzPct val="100000"/>
              <a:buFont typeface="Arial"/>
              <a:buChar char="•"/>
            </a:pPr>
            <a:r>
              <a:t>One sentence for the layer: a short map always in context, pointing to focused documents and skills the agent opens only when the task needs them.</a:t>
            </a:r>
          </a:p>
          <a:p>
            <a:pPr marL="228600" indent="-182880" algn="l">
              <a:lnSpc>
                <a:spcPct val="100000"/>
              </a:lnSpc>
              <a:spcBef>
                <a:spcPts val="0"/>
              </a:spcBef>
              <a:spcAft>
                <a:spcPts val="0"/>
              </a:spcAft>
              <a:buClr>
                <a:srgbClr val="324158"/>
              </a:buClr>
              <a:buSzPct val="100000"/>
              <a:buFont typeface="Arial"/>
              <a:buChar char="•"/>
            </a:pPr>
            <a:r>
              <a:t>Map: keyed by action, one file per row, house rules at a glance, "Do not copy" for legacy code.</a:t>
            </a:r>
          </a:p>
          <a:p>
            <a:pPr marL="228600" indent="-182880" algn="l">
              <a:lnSpc>
                <a:spcPct val="100000"/>
              </a:lnSpc>
              <a:spcBef>
                <a:spcPts val="0"/>
              </a:spcBef>
              <a:spcAft>
                <a:spcPts val="0"/>
              </a:spcAft>
              <a:buClr>
                <a:srgbClr val="324158"/>
              </a:buClr>
              <a:buSzPct val="100000"/>
              <a:buFont typeface="Arial"/>
              <a:buChar char="•"/>
            </a:pPr>
            <a:r>
              <a:t>Disclosure: tier 1 always, tier 2 when picked, tier 3 when a step needs it.</a:t>
            </a:r>
          </a:p>
          <a:p>
            <a:pPr marL="228600" indent="-182880" algn="l">
              <a:lnSpc>
                <a:spcPct val="100000"/>
              </a:lnSpc>
              <a:spcBef>
                <a:spcPts val="0"/>
              </a:spcBef>
              <a:spcAft>
                <a:spcPts val="0"/>
              </a:spcAft>
              <a:buClr>
                <a:srgbClr val="324158"/>
              </a:buClr>
              <a:buSzPct val="100000"/>
              <a:buFont typeface="Arial"/>
              <a:buChar char="•"/>
            </a:pPr>
            <a:r>
              <a:t>Prefix: built once from a copy the agent cannot edit, the same for every session.</a:t>
            </a:r>
          </a:p>
          <a:p>
            <a:pPr marL="228600" indent="-182880" algn="l">
              <a:lnSpc>
                <a:spcPct val="100000"/>
              </a:lnSpc>
              <a:spcBef>
                <a:spcPts val="0"/>
              </a:spcBef>
              <a:spcAft>
                <a:spcPts val="0"/>
              </a:spcAft>
              <a:buClr>
                <a:srgbClr val="324158"/>
              </a:buClr>
              <a:buSzPct val="100000"/>
              <a:buFont typeface="Arial"/>
              <a:buChar char="•"/>
            </a:pPr>
            <a:r>
              <a:t>Checks: a script keeps links, rule coverage, and parity true; a test keeps the A/B fair.</a:t>
            </a:r>
          </a:p>
          <a:p>
            <a:pPr marL="228600" indent="-182880" algn="l">
              <a:lnSpc>
                <a:spcPct val="100000"/>
              </a:lnSpc>
              <a:spcBef>
                <a:spcPts val="0"/>
              </a:spcBef>
              <a:spcAft>
                <a:spcPts val="0"/>
              </a:spcAft>
              <a:buClr>
                <a:srgbClr val="324158"/>
              </a:buClr>
              <a:buSzPct val="100000"/>
              <a:buFont typeface="Arial"/>
              <a:buChar char="•"/>
            </a:pPr>
            <a:r>
              <a:t>"It never blocks": the layer's after_tool hook returns notes, never a refusal. A guarantee needs Section 3: Scope and sandbox or Section 4: Verification.</a:t>
            </a:r>
          </a:p>
          <a:p>
            <a:pPr marL="228600" indent="-182880" algn="l">
              <a:lnSpc>
                <a:spcPct val="100000"/>
              </a:lnSpc>
              <a:spcBef>
                <a:spcPts val="0"/>
              </a:spcBef>
              <a:spcAft>
                <a:spcPts val="0"/>
              </a:spcAft>
              <a:buClr>
                <a:srgbClr val="324158"/>
              </a:buClr>
              <a:buSzPct val="100000"/>
              <a:buFont typeface="Arial"/>
              <a:buChar char="•"/>
            </a:pPr>
            <a:r>
              <a:t>Analogy: a warning-level lint rule: it points at the problem and never fails the build.</a:t>
            </a:r>
          </a:p>
          <a:p>
            <a:pPr marL="228600" indent="-182880" algn="l">
              <a:lnSpc>
                <a:spcPct val="100000"/>
              </a:lnSpc>
              <a:spcBef>
                <a:spcPts val="0"/>
              </a:spcBef>
              <a:spcAft>
                <a:spcPts val="0"/>
              </a:spcAft>
              <a:buClr>
                <a:srgbClr val="324158"/>
              </a:buClr>
              <a:buSzPct val="100000"/>
              <a:buFont typeface="Arial"/>
              <a:buChar char="•"/>
            </a:pPr>
            <a:r>
              <a:t>Ask: "Which row would you add to your repository first?" Expected: the map; follow up with "and which check keeps it true?"</a:t>
            </a:r>
          </a:p>
          <a:p>
            <a:pPr marL="228600" indent="-182880" algn="l">
              <a:lnSpc>
                <a:spcPct val="100000"/>
              </a:lnSpc>
              <a:spcBef>
                <a:spcPts val="0"/>
              </a:spcBef>
              <a:spcAft>
                <a:spcPts val="0"/>
              </a:spcAft>
              <a:buClr>
                <a:srgbClr val="324158"/>
              </a:buClr>
              <a:buSzPct val="100000"/>
              <a:buFont typeface="Arial"/>
              <a:buChar char="•"/>
            </a:pPr>
            <a:r>
              <a:t>Misconception: "if the agent reads the map, it will follow the rules". Correction: reading is not applying; the referee checks shipped code, not the reading list.</a:t>
            </a:r>
          </a:p>
          <a:p>
            <a:pPr marL="228600" indent="-182880" algn="l">
              <a:lnSpc>
                <a:spcPct val="100000"/>
              </a:lnSpc>
              <a:spcBef>
                <a:spcPts val="0"/>
              </a:spcBef>
              <a:spcAft>
                <a:spcPts val="0"/>
              </a:spcAft>
              <a:buClr>
                <a:srgbClr val="324158"/>
              </a:buClr>
              <a:buSzPct val="100000"/>
              <a:buFont typeface="Arial"/>
              <a:buChar char="•"/>
            </a:pPr>
            <a:r>
              <a:t>Time: 2 minutes. Next: the live run.</a:t>
            </a:r>
          </a:p>
        </p:txBody>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 min (0:40-0:50)</a:t>
            </a:r>
          </a:p>
          <a:p>
            <a:pPr marL="228600" indent="-182880" algn="l">
              <a:lnSpc>
                <a:spcPct val="100000"/>
              </a:lnSpc>
              <a:spcBef>
                <a:spcPts val="0"/>
              </a:spcBef>
              <a:spcAft>
                <a:spcPts val="0"/>
              </a:spcAft>
              <a:buClr>
                <a:srgbClr val="324158"/>
              </a:buClr>
              <a:buSzPct val="100000"/>
              <a:buFont typeface="Arial"/>
              <a:buChar char="•"/>
            </a:pPr>
            <a:r>
              <a:t>Files for this demo: section-1-instructions/demo/run.sh (the command), section-1-instructions/demo/walkthrough.md (the code, explained), section-1-instructions/demo/harness/ (the map, docs, and skills the arm gets), section-1-instructions/demo/expected/ (the captured run, the fallback), docs/evidence/s1.md (every number), console http://127.0.0.1:8765.</a:t>
            </a:r>
          </a:p>
          <a:p>
            <a:pPr marL="228600" indent="-182880" algn="l">
              <a:lnSpc>
                <a:spcPct val="100000"/>
              </a:lnSpc>
              <a:spcBef>
                <a:spcPts val="0"/>
              </a:spcBef>
              <a:spcAft>
                <a:spcPts val="0"/>
              </a:spcAft>
              <a:buClr>
                <a:srgbClr val="324158"/>
              </a:buClr>
              <a:buSzPct val="100000"/>
              <a:buFont typeface="Arial"/>
              <a:buChar char="•"/>
            </a:pPr>
            <a:r>
              <a:t>Switch to browser tab 2, the run of make show-1 launched at about 0:11. It should have finished by about 0:22. Walk screens 1, 3, 2, 5, 4.</a:t>
            </a:r>
          </a:p>
          <a:p>
            <a:pPr marL="228600" indent="-182880" algn="l">
              <a:lnSpc>
                <a:spcPct val="100000"/>
              </a:lnSpc>
              <a:spcBef>
                <a:spcPts val="0"/>
              </a:spcBef>
              <a:spcAft>
                <a:spcPts val="0"/>
              </a:spcAft>
              <a:buClr>
                <a:srgbClr val="324158"/>
              </a:buClr>
              <a:buSzPct val="100000"/>
              <a:buFont typeface="Arial"/>
              <a:buChar char="•"/>
            </a:pPr>
            <a:r>
              <a:t>Screen 1 (1), Live. Point at "HARNESS IN ACTION", then the decisions: "placed 31 instruction files (AGENTS.md map, docs, skills)", "agent read ARCHITECTURE.md", "agent read skill add-endpoint (tier 2)". Say: "Map and skill read before any code."</a:t>
            </a:r>
          </a:p>
          <a:p>
            <a:pPr marL="228600" indent="-182880" algn="l">
              <a:lnSpc>
                <a:spcPct val="100000"/>
              </a:lnSpc>
              <a:spcBef>
                <a:spcPts val="0"/>
              </a:spcBef>
              <a:spcAft>
                <a:spcPts val="0"/>
              </a:spcAft>
              <a:buClr>
                <a:srgbClr val="324158"/>
              </a:buClr>
              <a:buSzPct val="100000"/>
              <a:buFont typeface="Arial"/>
              <a:buChar char="•"/>
            </a:pPr>
            <a:r>
              <a:t>Screen 1, lower: patches to the issues service, route, and tests; "No gate." (that layer comes in Section 4: Verification); the test phase; the pill "primary verdict ready" and the results row.</a:t>
            </a:r>
          </a:p>
          <a:p>
            <a:pPr marL="228600" indent="-182880" algn="l">
              <a:lnSpc>
                <a:spcPct val="100000"/>
              </a:lnSpc>
              <a:spcBef>
                <a:spcPts val="0"/>
              </a:spcBef>
              <a:spcAft>
                <a:spcPts val="0"/>
              </a:spcAft>
              <a:buClr>
                <a:srgbClr val="324158"/>
              </a:buClr>
              <a:buSzPct val="100000"/>
              <a:buFont typeface="Arial"/>
              <a:buChar char="•"/>
            </a:pPr>
            <a:r>
              <a:t>Read today's verdict aloud. Pass: "No new tenant leak. One run shows the layer ran, not that it helped." Fail: "A leak shipped with the map in place. That is a result."</a:t>
            </a:r>
          </a:p>
          <a:p>
            <a:pPr marL="228600" indent="-182880" algn="l">
              <a:lnSpc>
                <a:spcPct val="100000"/>
              </a:lnSpc>
              <a:spcBef>
                <a:spcPts val="0"/>
              </a:spcBef>
              <a:spcAft>
                <a:spcPts val="0"/>
              </a:spcAft>
              <a:buClr>
                <a:srgbClr val="324158"/>
              </a:buClr>
              <a:buSzPct val="100000"/>
              <a:buFont typeface="Arial"/>
              <a:buChar char="•"/>
            </a:pPr>
            <a:r>
              <a:t>Run captured on 2026-10-17, for comparison (agent limit then 300 s): minute 1, 31 files placed, map and skill read, patches to service, route, tests; minute 3, the test phase wrote and ran test_org_issue_search.py; 3:53, run ended after 35 turns; 4:11, primary verdict PASS, 0 new violations; 10:00, hidden tests 52 of 52, referee mutants 2 of 4, reviewer accepted; 10:14, cost line $0.019744.</a:t>
            </a:r>
          </a:p>
          <a:p>
            <a:pPr marL="228600" indent="-182880" algn="l">
              <a:lnSpc>
                <a:spcPct val="100000"/>
              </a:lnSpc>
              <a:spcBef>
                <a:spcPts val="0"/>
              </a:spcBef>
              <a:spcAft>
                <a:spcPts val="0"/>
              </a:spcAft>
              <a:buClr>
                <a:srgbClr val="324158"/>
              </a:buClr>
              <a:buSzPct val="100000"/>
              <a:buFont typeface="Arial"/>
              <a:buChar char="•"/>
            </a:pPr>
            <a:r>
              <a:t>Say about mutants 2 of 4: "The agent's own tests caught half of the referee's planted bugs. Section 4: Verification is about that gap." About 3:53 to 4:11: "18 seconds from agent done to the answer this section cares about."</a:t>
            </a:r>
          </a:p>
          <a:p>
            <a:pPr marL="228600" indent="-182880" algn="l">
              <a:lnSpc>
                <a:spcPct val="100000"/>
              </a:lnSpc>
              <a:spcBef>
                <a:spcPts val="0"/>
              </a:spcBef>
              <a:spcAft>
                <a:spcPts val="0"/>
              </a:spcAft>
              <a:buClr>
                <a:srgbClr val="324158"/>
              </a:buClr>
              <a:buSzPct val="100000"/>
              <a:buFont typeface="Arial"/>
              <a:buChar char="•"/>
            </a:pPr>
            <a:r>
              <a:t>Screen 3 (3), Evidence. Point at files read, grouped as skill, harness doc, handbook, code, test; the five changed files; the referee line r1_tenant: 0 new (r1_tenant is the House rule 1: Tenant isolation check). Say: "The old /v1/issues leak is starting code and does not count."</a:t>
            </a:r>
          </a:p>
          <a:p>
            <a:pPr marL="228600" indent="-182880" algn="l">
              <a:lnSpc>
                <a:spcPct val="100000"/>
              </a:lnSpc>
              <a:spcBef>
                <a:spcPts val="0"/>
              </a:spcBef>
              <a:spcAft>
                <a:spcPts val="0"/>
              </a:spcAft>
              <a:buClr>
                <a:srgbClr val="324158"/>
              </a:buClr>
              <a:buSzPct val="100000"/>
              <a:buFont typeface="Arial"/>
              <a:buChar char="•"/>
            </a:pPr>
            <a:r>
              <a:t>Screen 3, also say: in the captured run the agent opened the skill, ARCHITECTURE.md, and the handbook, but not platform/teamtrack/harness/instructions/docs/SECURITY.md. Only read_file calls appear; a cat in a shell does not.</a:t>
            </a:r>
          </a:p>
          <a:p>
            <a:pPr marL="228600" indent="-182880" algn="l">
              <a:lnSpc>
                <a:spcPct val="100000"/>
              </a:lnSpc>
              <a:spcBef>
                <a:spcPts val="0"/>
              </a:spcBef>
              <a:spcAft>
                <a:spcPts val="0"/>
              </a:spcAft>
              <a:buClr>
                <a:srgbClr val="324158"/>
              </a:buClr>
              <a:buSzPct val="100000"/>
              <a:buFont typeface="Arial"/>
              <a:buChar char="•"/>
            </a:pPr>
            <a:r>
              <a:t>Screen 2 (2), Boards: the board as admin@acme.test, badge "only own-org cards, no duplicates". Feature 1: Org-wide issue search changes no board pixels, so there is one frame.</a:t>
            </a:r>
          </a:p>
          <a:p>
            <a:pPr marL="228600" indent="-182880" algn="l">
              <a:lnSpc>
                <a:spcPct val="100000"/>
              </a:lnSpc>
              <a:spcBef>
                <a:spcPts val="0"/>
              </a:spcBef>
              <a:spcAft>
                <a:spcPts val="0"/>
              </a:spcAft>
              <a:buClr>
                <a:srgbClr val="324158"/>
              </a:buClr>
              <a:buSzPct val="100000"/>
              <a:buFont typeface="Arial"/>
              <a:buChar char="•"/>
            </a:pPr>
            <a:r>
              <a:t>Screen 5 (5), Traces: the referee event tail and LangSmith links; open one to show every model call. Screen 4 (4), A/B Report: the dots from before class; today's verdict sits at the top, not as a dot. Say: "One run in class is not a dot in the comparison."</a:t>
            </a:r>
          </a:p>
          <a:p>
            <a:pPr marL="228600" indent="-182880" algn="l">
              <a:lnSpc>
                <a:spcPct val="100000"/>
              </a:lnSpc>
              <a:spcBef>
                <a:spcPts val="0"/>
              </a:spcBef>
              <a:spcAft>
                <a:spcPts val="0"/>
              </a:spcAft>
              <a:buClr>
                <a:srgbClr val="324158"/>
              </a:buClr>
              <a:buSzPct val="100000"/>
              <a:buFont typeface="Arial"/>
              <a:buChar char="•"/>
            </a:pPr>
            <a:r>
              <a:t>Code to mention while on screen 1: the prefix comes from build_prefix in router.py (idea 3); walkthrough.md has every excerpt.</a:t>
            </a:r>
          </a:p>
          <a:p>
            <a:pPr marL="228600" indent="-182880" algn="l">
              <a:lnSpc>
                <a:spcPct val="100000"/>
              </a:lnSpc>
              <a:spcBef>
                <a:spcPts val="0"/>
              </a:spcBef>
              <a:spcAft>
                <a:spcPts val="0"/>
              </a:spcAft>
              <a:buClr>
                <a:srgbClr val="324158"/>
              </a:buClr>
              <a:buSzPct val="100000"/>
              <a:buFont typeface="Arial"/>
              <a:buChar char="•"/>
            </a:pPr>
            <a:r>
              <a:t>If the screen differs from the capture (other files read, turns, times): say so and compare the order of events, not the minutes. ABORTED: timeout or ABORTED: cap: it is still judged; say which limit and read the verdict.</a:t>
            </a:r>
          </a:p>
          <a:p>
            <a:pPr marL="228600" indent="-182880" algn="l">
              <a:lnSpc>
                <a:spcPct val="100000"/>
              </a:lnSpc>
              <a:spcBef>
                <a:spcPts val="0"/>
              </a:spcBef>
              <a:spcAft>
                <a:spcPts val="0"/>
              </a:spcAft>
              <a:buClr>
                <a:srgbClr val="324158"/>
              </a:buClr>
              <a:buSzPct val="100000"/>
              <a:buFont typeface="Arial"/>
              <a:buChar char="•"/>
            </a:pPr>
            <a:r>
              <a:t>If the run is still going: walk screen 1 live, teach the results slide, and come back for the verdict.</a:t>
            </a:r>
          </a:p>
          <a:p>
            <a:pPr marL="228600" indent="-182880" algn="l">
              <a:lnSpc>
                <a:spcPct val="100000"/>
              </a:lnSpc>
              <a:spcBef>
                <a:spcPts val="0"/>
              </a:spcBef>
              <a:spcAft>
                <a:spcPts val="0"/>
              </a:spcAft>
              <a:buClr>
                <a:srgbClr val="324158"/>
              </a:buClr>
              <a:buSzPct val="100000"/>
              <a:buFont typeface="Arial"/>
              <a:buChar char="•"/>
            </a:pPr>
            <a:r>
              <a:t>If it failed for a reason outside the experiment (Docker, network, OpenAI account): say so, then make replay RUN=&lt;id&gt; with the fallback id recorded the day before (red RECORDING badge). If Docker is down, walk section-1-instructions/demo/expected/: screen-1 frames in minute order, then screens 3, 2, 5, 4, and terminal.txt, saying "recorded before class".</a:t>
            </a:r>
          </a:p>
          <a:p>
            <a:pPr marL="228600" indent="-182880" algn="l">
              <a:lnSpc>
                <a:spcPct val="100000"/>
              </a:lnSpc>
              <a:spcBef>
                <a:spcPts val="0"/>
              </a:spcBef>
              <a:spcAft>
                <a:spcPts val="0"/>
              </a:spcAft>
              <a:buClr>
                <a:srgbClr val="324158"/>
              </a:buClr>
              <a:buSzPct val="100000"/>
              <a:buFont typeface="Arial"/>
              <a:buChar char="•"/>
            </a:pPr>
            <a:r>
              <a:t>Time: 10 minutes. Next: what the measurements say.</a:t>
            </a:r>
          </a:p>
        </p:txBody>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6 min (0:50-0:56)</a:t>
            </a:r>
          </a:p>
          <a:p>
            <a:pPr marL="228600" indent="-182880" algn="l">
              <a:lnSpc>
                <a:spcPct val="100000"/>
              </a:lnSpc>
              <a:spcBef>
                <a:spcPts val="0"/>
              </a:spcBef>
              <a:spcAft>
                <a:spcPts val="0"/>
              </a:spcAft>
              <a:buClr>
                <a:srgbClr val="324158"/>
              </a:buClr>
              <a:buSzPct val="100000"/>
              <a:buFont typeface="Arial"/>
              <a:buChar char="•"/>
            </a:pPr>
            <a:r>
              <a:t>Before class: 0 of 7 bare-arm runs shipped a new tenant leak, and 0 of 7 harness-arm runs. Rounds: medium effort (3 per arm), low effort (3), class settings (1). Say plainly: no measurable difference on this task with this model.</a:t>
            </a:r>
          </a:p>
          <a:p>
            <a:pPr marL="228600" indent="-182880" algn="l">
              <a:lnSpc>
                <a:spcPct val="100000"/>
              </a:lnSpc>
              <a:spcBef>
                <a:spcPts val="0"/>
              </a:spcBef>
              <a:spcAft>
                <a:spcPts val="0"/>
              </a:spcAft>
              <a:buClr>
                <a:srgbClr val="324158"/>
              </a:buClr>
              <a:buSzPct val="100000"/>
              <a:buFont typeface="Arial"/>
              <a:buChar char="•"/>
            </a:pPr>
            <a:r>
              <a:t>Every arm in every round passed 52 of 52 hidden tests; an earlier round on the plain ticket gave the same, 0 of 3 per arm.</a:t>
            </a:r>
          </a:p>
          <a:p>
            <a:pPr marL="228600" indent="-182880" algn="l">
              <a:lnSpc>
                <a:spcPct val="100000"/>
              </a:lnSpc>
              <a:spcBef>
                <a:spcPts val="0"/>
              </a:spcBef>
              <a:spcAft>
                <a:spcPts val="0"/>
              </a:spcAft>
              <a:buClr>
                <a:srgbClr val="324158"/>
              </a:buClr>
              <a:buSzPct val="100000"/>
              <a:buFont typeface="Arial"/>
              <a:buChar char="•"/>
            </a:pPr>
            <a:r>
              <a:t>In the class-settings run the bare arm did not open the handbook in its first nine tool calls and still wrote an org-scoped query. Neither arm copied the legacy query, so the map had nothing to fix.</a:t>
            </a:r>
          </a:p>
          <a:p>
            <a:pPr marL="228600" indent="-182880" algn="l">
              <a:lnSpc>
                <a:spcPct val="100000"/>
              </a:lnSpc>
              <a:spcBef>
                <a:spcPts val="0"/>
              </a:spcBef>
              <a:spcAft>
                <a:spcPts val="0"/>
              </a:spcAft>
              <a:buClr>
                <a:srgbClr val="324158"/>
              </a:buClr>
              <a:buSzPct val="100000"/>
              <a:buFont typeface="Arial"/>
              <a:buChar char="•"/>
            </a:pPr>
            <a:r>
              <a:t>Post hoc (descriptive only), 10 runs per arm: harness arms claimed done in 5, bare in 9, no false claim in either; median cost $0.0122 against $0.0103.</a:t>
            </a:r>
          </a:p>
          <a:p>
            <a:pPr marL="228600" indent="-182880" algn="l">
              <a:lnSpc>
                <a:spcPct val="100000"/>
              </a:lnSpc>
              <a:spcBef>
                <a:spcPts val="0"/>
              </a:spcBef>
              <a:spcAft>
                <a:spcPts val="0"/>
              </a:spcAft>
              <a:buClr>
                <a:srgbClr val="324158"/>
              </a:buClr>
              <a:buSzPct val="100000"/>
              <a:buFont typeface="Arial"/>
              <a:buChar char="•"/>
            </a:pPr>
            <a:r>
              <a:t>Earns its place: many or long rules far from the code; a rule the code cannot show ("404, never 403"); several maintainers; a recurring task worth a skill. Not when: the model already does it, the ticket points to the rule, the map is stale, or you need a guarantee (it never blocks).</a:t>
            </a:r>
          </a:p>
          <a:p>
            <a:pPr marL="228600" indent="-182880" algn="l">
              <a:lnSpc>
                <a:spcPct val="100000"/>
              </a:lnSpc>
              <a:spcBef>
                <a:spcPts val="0"/>
              </a:spcBef>
              <a:spcAft>
                <a:spcPts val="0"/>
              </a:spcAft>
              <a:buClr>
                <a:srgbClr val="324158"/>
              </a:buClr>
              <a:buSzPct val="100000"/>
              <a:buFont typeface="Arial"/>
              <a:buChar char="•"/>
            </a:pPr>
            <a:r>
              <a:t>Monday, in your repository: count the lines of AGENTS.md or CLAUDE.md against the "roughly 100" of Source 1: Harness engineering (https://openai.com/index/harness-engineering/); list three rules your agent breaks and where each lives; rewrite the top as a "When you are about to → Read first" table; add "Do not copy" naming the legacy pattern and the file to copy instead.</a:t>
            </a:r>
          </a:p>
          <a:p>
            <a:pPr marL="228600" indent="-182880" algn="l">
              <a:lnSpc>
                <a:spcPct val="100000"/>
              </a:lnSpc>
              <a:spcBef>
                <a:spcPts val="0"/>
              </a:spcBef>
              <a:spcAft>
                <a:spcPts val="0"/>
              </a:spcAft>
              <a:buClr>
                <a:srgbClr val="324158"/>
              </a:buClr>
              <a:buSzPct val="100000"/>
              <a:buFont typeface="Arial"/>
              <a:buChar char="•"/>
            </a:pPr>
            <a:r>
              <a:t>Then keep it true: a CI check for links and rule coverage (Assignment 1: Instructions has you write one), and a log of which docs the agent opens. Spoken extra: one skill for your most common agent task.</a:t>
            </a:r>
          </a:p>
          <a:p>
            <a:pPr marL="228600" indent="-182880" algn="l">
              <a:lnSpc>
                <a:spcPct val="100000"/>
              </a:lnSpc>
              <a:spcBef>
                <a:spcPts val="0"/>
              </a:spcBef>
              <a:spcAft>
                <a:spcPts val="0"/>
              </a:spcAft>
              <a:buClr>
                <a:srgbClr val="324158"/>
              </a:buClr>
              <a:buSzPct val="100000"/>
              <a:buFont typeface="Arial"/>
              <a:buChar char="•"/>
            </a:pPr>
            <a:r>
              <a:t>Starter kit: uv run shipharness init --target ../your-repo copies the map and doc templates with a REPLACE marker on every TeamTrack value; see use-in-your-repo/README.md.</a:t>
            </a:r>
          </a:p>
          <a:p>
            <a:pPr marL="228600" indent="-182880" algn="l">
              <a:lnSpc>
                <a:spcPct val="100000"/>
              </a:lnSpc>
              <a:spcBef>
                <a:spcPts val="0"/>
              </a:spcBef>
              <a:spcAft>
                <a:spcPts val="0"/>
              </a:spcAft>
              <a:buClr>
                <a:srgbClr val="324158"/>
              </a:buClr>
              <a:buSzPct val="100000"/>
              <a:buFont typeface="Arial"/>
              <a:buChar char="•"/>
            </a:pPr>
            <a:r>
              <a:t>Ask (discussion): "The bare arm read the same rules and applied them. What would have to be true for the map to earn its place?" Expected: a model or ticket where bare arms leak, more rules, or maintenance value you can name.</a:t>
            </a:r>
          </a:p>
          <a:p>
            <a:pPr marL="228600" indent="-182880" algn="l">
              <a:lnSpc>
                <a:spcPct val="100000"/>
              </a:lnSpc>
              <a:spcBef>
                <a:spcPts val="0"/>
              </a:spcBef>
              <a:spcAft>
                <a:spcPts val="0"/>
              </a:spcAft>
              <a:buClr>
                <a:srgbClr val="324158"/>
              </a:buClr>
              <a:buSzPct val="100000"/>
              <a:buFont typeface="Arial"/>
              <a:buChar char="•"/>
            </a:pPr>
            <a:r>
              <a:t>Likely question: "Was the trap too weak?" Answer: possibly; in one round no arm opened the legacy files. A stronger trap needs a new registered test, not a reinterpretation.</a:t>
            </a:r>
          </a:p>
          <a:p>
            <a:pPr marL="228600" indent="-182880" algn="l">
              <a:lnSpc>
                <a:spcPct val="100000"/>
              </a:lnSpc>
              <a:spcBef>
                <a:spcPts val="0"/>
              </a:spcBef>
              <a:spcAft>
                <a:spcPts val="0"/>
              </a:spcAft>
              <a:buClr>
                <a:srgbClr val="324158"/>
              </a:buClr>
              <a:buSzPct val="100000"/>
              <a:buFont typeface="Arial"/>
              <a:buChar char="•"/>
            </a:pPr>
            <a:r>
              <a:t>Misconception: "no difference means maps are useless" or "delete the long file once the map exists". Correction: one bet on one model and ticket; and move every rule and check coverage first, a lost rule is a silent regression.</a:t>
            </a:r>
          </a:p>
          <a:p>
            <a:pPr marL="228600" indent="-182880" algn="l">
              <a:lnSpc>
                <a:spcPct val="100000"/>
              </a:lnSpc>
              <a:spcBef>
                <a:spcPts val="0"/>
              </a:spcBef>
              <a:spcAft>
                <a:spcPts val="0"/>
              </a:spcAft>
              <a:buClr>
                <a:srgbClr val="324158"/>
              </a:buClr>
              <a:buSzPct val="100000"/>
              <a:buFont typeface="Arial"/>
              <a:buChar char="•"/>
            </a:pPr>
            <a:r>
              <a:t>Time: 6 minutes. Next: questions.</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(0:56-1:00)</a:t>
            </a:r>
          </a:p>
          <a:p>
            <a:pPr marL="228600" indent="-182880" algn="l">
              <a:lnSpc>
                <a:spcPct val="100000"/>
              </a:lnSpc>
              <a:spcBef>
                <a:spcPts val="0"/>
              </a:spcBef>
              <a:spcAft>
                <a:spcPts val="0"/>
              </a:spcAft>
              <a:buClr>
                <a:srgbClr val="324158"/>
              </a:buClr>
              <a:buSzPct val="100000"/>
              <a:buFont typeface="Arial"/>
              <a:buChar char="•"/>
            </a:pPr>
            <a:r>
              <a:t>Take questions from the chat first; TAs pick the top ones.</a:t>
            </a:r>
          </a:p>
          <a:p>
            <a:pPr marL="228600" indent="-182880" algn="l">
              <a:lnSpc>
                <a:spcPct val="100000"/>
              </a:lnSpc>
              <a:spcBef>
                <a:spcPts val="0"/>
              </a:spcBef>
              <a:spcAft>
                <a:spcPts val="0"/>
              </a:spcAft>
              <a:buClr>
                <a:srgbClr val="324158"/>
              </a:buClr>
              <a:buSzPct val="100000"/>
              <a:buFont typeface="Arial"/>
              <a:buChar char="•"/>
            </a:pPr>
            <a:r>
              <a:t>Likely: "Is the harness arm not just given more information?" Answer: no; it may reorganise knowledge, never add facts, and test_parity.py checks the rules match.</a:t>
            </a:r>
          </a:p>
          <a:p>
            <a:pPr marL="228600" indent="-182880" algn="l">
              <a:lnSpc>
                <a:spcPct val="100000"/>
              </a:lnSpc>
              <a:spcBef>
                <a:spcPts val="0"/>
              </a:spcBef>
              <a:spcAft>
                <a:spcPts val="0"/>
              </a:spcAft>
              <a:buClr>
                <a:srgbClr val="324158"/>
              </a:buClr>
              <a:buSzPct val="100000"/>
              <a:buFont typeface="Arial"/>
              <a:buChar char="•"/>
            </a:pPr>
            <a:r>
              <a:t>Likely: "Why not paste the whole handbook into the prompt?" Answer: "Too much guidance becomes non-guidance"; it crowds out the task and goes stale.</a:t>
            </a:r>
          </a:p>
          <a:p>
            <a:pPr marL="228600" indent="-182880" algn="l">
              <a:lnSpc>
                <a:spcPct val="100000"/>
              </a:lnSpc>
              <a:spcBef>
                <a:spcPts val="0"/>
              </a:spcBef>
              <a:spcAft>
                <a:spcPts val="0"/>
              </a:spcAft>
              <a:buClr>
                <a:srgbClr val="324158"/>
              </a:buClr>
              <a:buSzPct val="100000"/>
              <a:buFont typeface="Arial"/>
              <a:buChar char="•"/>
            </a:pPr>
            <a:r>
              <a:t>Likely: "Does the files-read list on screen 3 prove the harness worked?" Answer: no; it explains a path. The score is what the referee finds in shipped code.</a:t>
            </a:r>
          </a:p>
          <a:p>
            <a:pPr marL="228600" indent="-182880" algn="l">
              <a:lnSpc>
                <a:spcPct val="100000"/>
              </a:lnSpc>
              <a:spcBef>
                <a:spcPts val="0"/>
              </a:spcBef>
              <a:spcAft>
                <a:spcPts val="0"/>
              </a:spcAft>
              <a:buClr>
                <a:srgbClr val="324158"/>
              </a:buClr>
              <a:buSzPct val="100000"/>
              <a:buFont typeface="Arial"/>
              <a:buChar char="•"/>
            </a:pPr>
            <a:r>
              <a:t>Likely: "Would the map help a weaker model?" Answer: unknown; we measured one model. make demo-1 runs both arms on Feature 1: Org-wide issue search if you want to find out.</a:t>
            </a:r>
          </a:p>
          <a:p>
            <a:pPr marL="228600" indent="-182880" algn="l">
              <a:lnSpc>
                <a:spcPct val="100000"/>
              </a:lnSpc>
              <a:spcBef>
                <a:spcPts val="0"/>
              </a:spcBef>
              <a:spcAft>
                <a:spcPts val="0"/>
              </a:spcAft>
              <a:buClr>
                <a:srgbClr val="324158"/>
              </a:buClr>
              <a:buSzPct val="100000"/>
              <a:buFont typeface="Arial"/>
              <a:buChar char="•"/>
            </a:pPr>
            <a:r>
              <a:t>Likely: "What does the agent see of a skill at the start?" Answer: one catalogue line: name, description, and the path to SKILL.md.</a:t>
            </a:r>
          </a:p>
          <a:p>
            <a:pPr marL="228600" indent="-182880" algn="l">
              <a:lnSpc>
                <a:spcPct val="100000"/>
              </a:lnSpc>
              <a:spcBef>
                <a:spcPts val="0"/>
              </a:spcBef>
              <a:spcAft>
                <a:spcPts val="0"/>
              </a:spcAft>
              <a:buClr>
                <a:srgbClr val="324158"/>
              </a:buClr>
              <a:buSzPct val="100000"/>
              <a:buFont typeface="Arial"/>
              <a:buChar char="•"/>
            </a:pPr>
            <a:r>
              <a:t>Misconception if it comes up: "the map failed". Correction: the model did not need it on this ticket; that is a measured finding about the bet.</a:t>
            </a:r>
          </a:p>
          <a:p>
            <a:pPr marL="228600" indent="-182880" algn="l">
              <a:lnSpc>
                <a:spcPct val="100000"/>
              </a:lnSpc>
              <a:spcBef>
                <a:spcPts val="0"/>
              </a:spcBef>
              <a:spcAft>
                <a:spcPts val="0"/>
              </a:spcAft>
              <a:buClr>
                <a:srgbClr val="324158"/>
              </a:buClr>
              <a:buSzPct val="100000"/>
              <a:buFont typeface="Arial"/>
              <a:buChar char="•"/>
            </a:pPr>
            <a:r>
              <a:t>After class: Assignment 1: Instructions (make check-assignment-1 fails on the starter by design), the post-class readings, section-1-instructions/session-notes.md.</a:t>
            </a:r>
          </a:p>
          <a:p>
            <a:pPr marL="228600" indent="-182880" algn="l">
              <a:lnSpc>
                <a:spcPct val="100000"/>
              </a:lnSpc>
              <a:spcBef>
                <a:spcPts val="0"/>
              </a:spcBef>
              <a:spcAft>
                <a:spcPts val="0"/>
              </a:spcAft>
              <a:buClr>
                <a:srgbClr val="324158"/>
              </a:buClr>
              <a:buSzPct val="100000"/>
              <a:buFont typeface="Arial"/>
              <a:buChar char="•"/>
            </a:pPr>
            <a:r>
              <a:t>Time: 4 minutes, section ends at 1:00. Next: a 10-minute break.</a:t>
            </a:r>
          </a:p>
        </p:txBody>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 min (1:00-1:10)</a:t>
            </a:r>
          </a:p>
          <a:p>
            <a:pPr marL="228600" indent="-182880" algn="l">
              <a:lnSpc>
                <a:spcPct val="100000"/>
              </a:lnSpc>
              <a:spcBef>
                <a:spcPts val="0"/>
              </a:spcBef>
              <a:spcAft>
                <a:spcPts val="0"/>
              </a:spcAft>
              <a:buClr>
                <a:srgbClr val="324158"/>
              </a:buClr>
              <a:buSzPct val="100000"/>
              <a:buFont typeface="Arial"/>
              <a:buChar char="•"/>
            </a:pPr>
            <a:r>
              <a:t>Write the return time (1:10) on the slide before you step away.</a:t>
            </a:r>
          </a:p>
          <a:p>
            <a:pPr marL="228600" indent="-182880" algn="l">
              <a:lnSpc>
                <a:spcPct val="100000"/>
              </a:lnSpc>
              <a:spcBef>
                <a:spcPts val="0"/>
              </a:spcBef>
              <a:spcAft>
                <a:spcPts val="0"/>
              </a:spcAft>
              <a:buClr>
                <a:srgbClr val="324158"/>
              </a:buClr>
              <a:buSzPct val="100000"/>
              <a:buFont typeface="Arial"/>
              <a:buChar char="•"/>
            </a:pPr>
            <a:r>
              <a:t>Nothing runs during the break; leave the console (terminal A) open.</a:t>
            </a:r>
          </a:p>
          <a:p>
            <a:pPr marL="228600" indent="-182880" algn="l">
              <a:lnSpc>
                <a:spcPct val="100000"/>
              </a:lnSpc>
              <a:spcBef>
                <a:spcPts val="0"/>
              </a:spcBef>
              <a:spcAft>
                <a:spcPts val="0"/>
              </a:spcAft>
              <a:buClr>
                <a:srgbClr val="324158"/>
              </a:buClr>
              <a:buSzPct val="100000"/>
              <a:buFont typeface="Arial"/>
              <a:buChar char="•"/>
            </a:pPr>
            <a:r>
              <a:t>Check terminal B is free: Section 2: State and sessions launches make show-2 SESSION_BUDGET=12,38 on its first slide, at about 1:11.</a:t>
            </a:r>
          </a:p>
          <a:p>
            <a:pPr marL="228600" indent="-182880" algn="l">
              <a:lnSpc>
                <a:spcPct val="100000"/>
              </a:lnSpc>
              <a:spcBef>
                <a:spcPts val="0"/>
              </a:spcBef>
              <a:spcAft>
                <a:spcPts val="0"/>
              </a:spcAft>
              <a:buClr>
                <a:srgbClr val="324158"/>
              </a:buClr>
              <a:buSzPct val="100000"/>
              <a:buFont typeface="Arial"/>
              <a:buChar char="•"/>
            </a:pPr>
            <a:r>
              <a:t>If a learner's setup failed, point them to setup/README.md and docs/troubleshooting.md.</a:t>
            </a:r>
          </a:p>
          <a:p>
            <a:pPr marL="228600" indent="-182880" algn="l">
              <a:lnSpc>
                <a:spcPct val="100000"/>
              </a:lnSpc>
              <a:spcBef>
                <a:spcPts val="0"/>
              </a:spcBef>
              <a:spcAft>
                <a:spcPts val="0"/>
              </a:spcAft>
              <a:buClr>
                <a:srgbClr val="324158"/>
              </a:buClr>
              <a:buSzPct val="100000"/>
              <a:buFont typeface="Arial"/>
              <a:buChar char="•"/>
            </a:pPr>
            <a:r>
              <a:t>Transition: "Welcome back. The agent now knows the rules. Next: what happens when its session ends halfway through the work."</a:t>
            </a:r>
          </a:p>
        </p:txBody>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(1:10-1:12)</a:t>
            </a:r>
          </a:p>
          <a:p>
            <a:pPr marL="228600" indent="-182880" algn="l">
              <a:lnSpc>
                <a:spcPct val="100000"/>
              </a:lnSpc>
              <a:spcBef>
                <a:spcPts val="0"/>
              </a:spcBef>
              <a:spcAft>
                <a:spcPts val="0"/>
              </a:spcAft>
              <a:buClr>
                <a:srgbClr val="324158"/>
              </a:buClr>
              <a:buSzPct val="100000"/>
              <a:buFont typeface="Arial"/>
              <a:buChar char="•"/>
            </a:pPr>
            <a:r>
              <a:t>Section 2: State and sessions asks what survives when a session stops before the work is done. The ticket: Feature 2: Comments on issues, a comments table, endpoints, and a board panel, too big for one 12-turn session.</a:t>
            </a:r>
          </a:p>
          <a:p>
            <a:pPr marL="228600" indent="-182880" algn="l">
              <a:lnSpc>
                <a:spcPct val="100000"/>
              </a:lnSpc>
              <a:spcBef>
                <a:spcPts val="0"/>
              </a:spcBef>
              <a:spcAft>
                <a:spcPts val="0"/>
              </a:spcAft>
              <a:buClr>
                <a:srgbClr val="324158"/>
              </a:buClr>
              <a:buSzPct val="100000"/>
              <a:buFont typeface="Arial"/>
              <a:buChar char="•"/>
            </a:pPr>
            <a:r>
              <a:t>The primary verdict: did session 2 break or redo session 1's work? A continuity failure is two Alembic heads or a failed fresh upgrade (House rule 7: Migrations), a table created by two migrations, or session 2 removing 30% or more of the lines session 1 added.</a:t>
            </a:r>
          </a:p>
          <a:p>
            <a:pPr marL="228600" indent="-182880" algn="l">
              <a:lnSpc>
                <a:spcPct val="100000"/>
              </a:lnSpc>
              <a:spcBef>
                <a:spcPts val="0"/>
              </a:spcBef>
              <a:spcAft>
                <a:spcPts val="0"/>
              </a:spcAft>
              <a:buClr>
                <a:srgbClr val="324158"/>
              </a:buClr>
              <a:buSzPct val="100000"/>
              <a:buFont typeface="Arial"/>
              <a:buChar char="•"/>
            </a:pPr>
            <a:r>
              <a:t>Launch now, about 1:11, terminal B: make show-2 SESSION_BUDGET=12,38. Session 1 gets 12 turns, session 2 gets 38; without SESSION_BUDGET session 1 runs the ticket's 20 turns.</a:t>
            </a:r>
          </a:p>
          <a:p>
            <a:pPr marL="228600" indent="-182880" algn="l">
              <a:lnSpc>
                <a:spcPct val="100000"/>
              </a:lnSpc>
              <a:spcBef>
                <a:spcPts val="0"/>
              </a:spcBef>
              <a:spcAft>
                <a:spcPts val="0"/>
              </a:spcAft>
              <a:buClr>
                <a:srgbClr val="324158"/>
              </a:buClr>
              <a:buSzPct val="100000"/>
              <a:buFont typeface="Arial"/>
              <a:buChar char="•"/>
            </a:pPr>
            <a:r>
              <a:t>Browser tab 2: reload the run list, open the newest run, press 1. Say: "Harness arm alone, not an A/B; the comparison was done before class."</a:t>
            </a:r>
          </a:p>
          <a:p>
            <a:pPr marL="228600" indent="-182880" algn="l">
              <a:lnSpc>
                <a:spcPct val="100000"/>
              </a:lnSpc>
              <a:spcBef>
                <a:spcPts val="0"/>
              </a:spcBef>
              <a:spcAft>
                <a:spcPts val="0"/>
              </a:spcAft>
              <a:buClr>
                <a:srgbClr val="324158"/>
              </a:buClr>
              <a:buSzPct val="100000"/>
              <a:buFont typeface="Arial"/>
              <a:buChar char="•"/>
            </a:pPr>
            <a:r>
              <a:t>Expected, measured 2026-10-18 (three runs, class profile): session 1 stopped 0:44 to 1:01 after launch, primary verdict 3 to 6 minutes (3:21 to 5:20), full verdict 5 to 7 minutes (5:10 to 6:59), cost $0.036 to $0.038. Done by about 1:18; the DEMO slide is at about 1:40.</a:t>
            </a:r>
          </a:p>
          <a:p>
            <a:pPr marL="228600" indent="-182880" algn="l">
              <a:lnSpc>
                <a:spcPct val="100000"/>
              </a:lnSpc>
              <a:spcBef>
                <a:spcPts val="0"/>
              </a:spcBef>
              <a:spcAft>
                <a:spcPts val="0"/>
              </a:spcAft>
              <a:buClr>
                <a:srgbClr val="324158"/>
              </a:buClr>
              <a:buSzPct val="100000"/>
              <a:buFont typeface="Arial"/>
              <a:buChar char="•"/>
            </a:pPr>
            <a:r>
              <a:t>If x OpenAI refused the key: fix .env, make doctor, relaunch. If x SHIPHARNESS_CLASS_DATE is not set: sed -i "s/^SHIPHARNESS_CLASS_DATE=.*/SHIPHARNESS_CLASS_DATE=$(date +%F)/" .env, relaunch. If the console says address already in use: make console CONSOLE_PORT=8766.</a:t>
            </a:r>
          </a:p>
          <a:p>
            <a:pPr marL="228600" indent="-182880" algn="l">
              <a:lnSpc>
                <a:spcPct val="100000"/>
              </a:lnSpc>
              <a:spcBef>
                <a:spcPts val="0"/>
              </a:spcBef>
              <a:spcAft>
                <a:spcPts val="0"/>
              </a:spcAft>
              <a:buClr>
                <a:srgbClr val="324158"/>
              </a:buClr>
              <a:buSzPct val="100000"/>
              <a:buFont typeface="Arial"/>
              <a:buChar char="•"/>
            </a:pPr>
            <a:r>
              <a:t>Analogy: an on-call handover: the next engineer arrives with no memory of the last shift; the note is all they have.</a:t>
            </a:r>
          </a:p>
          <a:p>
            <a:pPr marL="228600" indent="-182880" algn="l">
              <a:lnSpc>
                <a:spcPct val="100000"/>
              </a:lnSpc>
              <a:spcBef>
                <a:spcPts val="0"/>
              </a:spcBef>
              <a:spcAft>
                <a:spcPts val="0"/>
              </a:spcAft>
              <a:buClr>
                <a:srgbClr val="324158"/>
              </a:buClr>
              <a:buSzPct val="100000"/>
              <a:buFont typeface="Arial"/>
              <a:buChar char="•"/>
            </a:pPr>
            <a:r>
              <a:t>Ask: "How does your agent know what yesterday's session did?" Expected: mostly it doesn't; people paste a summary or hope it reads git.</a:t>
            </a:r>
          </a:p>
          <a:p>
            <a:pPr marL="228600" indent="-182880" algn="l">
              <a:lnSpc>
                <a:spcPct val="100000"/>
              </a:lnSpc>
              <a:spcBef>
                <a:spcPts val="0"/>
              </a:spcBef>
              <a:spcAft>
                <a:spcPts val="0"/>
              </a:spcAft>
              <a:buClr>
                <a:srgbClr val="324158"/>
              </a:buClr>
              <a:buSzPct val="100000"/>
              <a:buFont typeface="Arial"/>
              <a:buChar char="•"/>
            </a:pPr>
            <a:r>
              <a:t>Likely question: "Isn't a longer context window the fix?" Answer: a session still ends somewhere, by a turn limit, a crash, or a timeout; this section is about that moment.</a:t>
            </a:r>
          </a:p>
          <a:p>
            <a:pPr marL="228600" indent="-182880" algn="l">
              <a:lnSpc>
                <a:spcPct val="100000"/>
              </a:lnSpc>
              <a:spcBef>
                <a:spcPts val="0"/>
              </a:spcBef>
              <a:spcAft>
                <a:spcPts val="0"/>
              </a:spcAft>
              <a:buClr>
                <a:srgbClr val="324158"/>
              </a:buClr>
              <a:buSzPct val="100000"/>
              <a:buFont typeface="Arial"/>
              <a:buChar char="•"/>
            </a:pPr>
            <a:r>
              <a:t>Misconception: "state means a database or a memory service". Correction: here state is a few plain files and the git history, checked into the repository.</a:t>
            </a:r>
          </a:p>
          <a:p>
            <a:pPr marL="228600" indent="-182880" algn="l">
              <a:lnSpc>
                <a:spcPct val="100000"/>
              </a:lnSpc>
              <a:spcBef>
                <a:spcPts val="0"/>
              </a:spcBef>
              <a:spcAft>
                <a:spcPts val="0"/>
              </a:spcAft>
              <a:buClr>
                <a:srgbClr val="324158"/>
              </a:buClr>
              <a:buSzPct val="100000"/>
              <a:buFont typeface="Arial"/>
              <a:buChar char="•"/>
            </a:pPr>
            <a:r>
              <a:t>Time: 2 minutes including the launch. Next: the failure we guard against.</a:t>
            </a:r>
          </a:p>
        </p:txBody>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(1:12-1:16)</a:t>
            </a:r>
          </a:p>
          <a:p>
            <a:pPr marL="228600" indent="-182880" algn="l">
              <a:lnSpc>
                <a:spcPct val="100000"/>
              </a:lnSpc>
              <a:spcBef>
                <a:spcPts val="0"/>
              </a:spcBef>
              <a:spcAft>
                <a:spcPts val="0"/>
              </a:spcAft>
              <a:buClr>
                <a:srgbClr val="324158"/>
              </a:buClr>
              <a:buSzPct val="100000"/>
              <a:buFont typeface="Arial"/>
              <a:buChar char="•"/>
            </a:pPr>
            <a:r>
              <a:t>Illustrative scenario from the concepts page: Marco asks a coding agent for comments on TeamTrack issues: a comments table, three endpoints, a board panel. It is built from the failure in Source 2: Effective harnesses for long-running agents (https://www.anthropic.com/engineering/effective-harnesses-for-long-running-agents): a session that ends "with a feature half-implemented and undocumented", leaving the next one "to guess at what had happened".</a:t>
            </a:r>
          </a:p>
          <a:p>
            <a:pPr marL="228600" indent="-182880" algn="l">
              <a:lnSpc>
                <a:spcPct val="100000"/>
              </a:lnSpc>
              <a:spcBef>
                <a:spcPts val="0"/>
              </a:spcBef>
              <a:spcAft>
                <a:spcPts val="0"/>
              </a:spcAft>
              <a:buClr>
                <a:srgbClr val="324158"/>
              </a:buClr>
              <a:buSzPct val="100000"/>
              <a:buFont typeface="Arial"/>
              <a:buChar char="•"/>
            </a:pPr>
            <a:r>
              <a:t>Session 1 leaves a migration, half an endpoint, no note, and a ticket that still says "add comments". Session 2 writes a second migration; a reviewer untangles two versions of one change; the team pays twice.</a:t>
            </a:r>
          </a:p>
          <a:p>
            <a:pPr marL="228600" indent="-182880" algn="l">
              <a:lnSpc>
                <a:spcPct val="100000"/>
              </a:lnSpc>
              <a:spcBef>
                <a:spcPts val="0"/>
              </a:spcBef>
              <a:spcAft>
                <a:spcPts val="0"/>
              </a:spcAft>
              <a:buClr>
                <a:srgbClr val="324158"/>
              </a:buClr>
              <a:buSzPct val="100000"/>
              <a:buFont typeface="Arial"/>
              <a:buChar char="•"/>
            </a:pPr>
            <a:r>
              <a:t>House rule 7: Migrations says exactly one Alembic head and a working fresh upgrade. Two migrations that both name 0001_initial as their parent make two heads; alembic upgrade head refuses to pick one.</a:t>
            </a:r>
          </a:p>
          <a:p>
            <a:pPr marL="228600" indent="-182880" algn="l">
              <a:lnSpc>
                <a:spcPct val="100000"/>
              </a:lnSpc>
              <a:spcBef>
                <a:spcPts val="0"/>
              </a:spcBef>
              <a:spcAft>
                <a:spcPts val="0"/>
              </a:spcAft>
              <a:buClr>
                <a:srgbClr val="324158"/>
              </a:buClr>
              <a:buSzPct val="100000"/>
              <a:buFont typeface="Arial"/>
              <a:buChar char="•"/>
            </a:pPr>
            <a:r>
              <a:t>Analogy: two engineers on different shifts each writing the same schema change because nobody wrote "I already did the migration" on the ticket.</a:t>
            </a:r>
          </a:p>
          <a:p>
            <a:pPr marL="228600" indent="-182880" algn="l">
              <a:lnSpc>
                <a:spcPct val="100000"/>
              </a:lnSpc>
              <a:spcBef>
                <a:spcPts val="0"/>
              </a:spcBef>
              <a:spcAft>
                <a:spcPts val="0"/>
              </a:spcAft>
              <a:buClr>
                <a:srgbClr val="324158"/>
              </a:buClr>
              <a:buSzPct val="100000"/>
              <a:buFont typeface="Arial"/>
              <a:buChar char="•"/>
            </a:pPr>
            <a:r>
              <a:t>Point at card 5: that fork is what the referee's migrations check looks for in every run.</a:t>
            </a:r>
          </a:p>
          <a:p>
            <a:pPr marL="228600" indent="-182880" algn="l">
              <a:lnSpc>
                <a:spcPct val="100000"/>
              </a:lnSpc>
              <a:spcBef>
                <a:spcPts val="0"/>
              </a:spcBef>
              <a:spcAft>
                <a:spcPts val="0"/>
              </a:spcAft>
              <a:buClr>
                <a:srgbClr val="324158"/>
              </a:buClr>
              <a:buSzPct val="100000"/>
              <a:buFont typeface="Arial"/>
              <a:buChar char="•"/>
            </a:pPr>
            <a:r>
              <a:t>Ask: "Session 2 has the whole repository, including the uncommitted migration. Why would it write a second one?" Expected: having the file is not looking at it; without git status or a look at migrations/versions it works from the ticket alone.</a:t>
            </a:r>
          </a:p>
          <a:p>
            <a:pPr marL="228600" indent="-182880" algn="l">
              <a:lnSpc>
                <a:spcPct val="100000"/>
              </a:lnSpc>
              <a:spcBef>
                <a:spcPts val="0"/>
              </a:spcBef>
              <a:spcAft>
                <a:spcPts val="0"/>
              </a:spcAft>
              <a:buClr>
                <a:srgbClr val="324158"/>
              </a:buClr>
              <a:buSzPct val="100000"/>
              <a:buFont typeface="Arial"/>
              <a:buChar char="•"/>
            </a:pPr>
            <a:r>
              <a:t>Likely question: "Would CI catch two heads?" Answer: migration checks do, but only after the duplicate work is done and paid for; the goal is that session 2 never starts it.</a:t>
            </a:r>
          </a:p>
          <a:p>
            <a:pPr marL="228600" indent="-182880" algn="l">
              <a:lnSpc>
                <a:spcPct val="100000"/>
              </a:lnSpc>
              <a:spcBef>
                <a:spcPts val="0"/>
              </a:spcBef>
              <a:spcAft>
                <a:spcPts val="0"/>
              </a:spcAft>
              <a:buClr>
                <a:srgbClr val="324158"/>
              </a:buClr>
              <a:buSzPct val="100000"/>
              <a:buFont typeface="Arial"/>
              <a:buChar char="•"/>
            </a:pPr>
            <a:r>
              <a:t>Likely question: "Did this happen in your runs?" Answer: not on this model; keep that for the results slide.</a:t>
            </a:r>
          </a:p>
          <a:p>
            <a:pPr marL="228600" indent="-182880" algn="l">
              <a:lnSpc>
                <a:spcPct val="100000"/>
              </a:lnSpc>
              <a:spcBef>
                <a:spcPts val="0"/>
              </a:spcBef>
              <a:spcAft>
                <a:spcPts val="0"/>
              </a:spcAft>
              <a:buClr>
                <a:srgbClr val="324158"/>
              </a:buClr>
              <a:buSzPct val="100000"/>
              <a:buFont typeface="Arial"/>
              <a:buChar char="•"/>
            </a:pPr>
            <a:r>
              <a:t>Misconception: "uncommitted work is lost work". Correction: the files are on disk; nothing tells the next session to look.</a:t>
            </a:r>
          </a:p>
          <a:p>
            <a:pPr marL="228600" indent="-182880" algn="l">
              <a:lnSpc>
                <a:spcPct val="100000"/>
              </a:lnSpc>
              <a:spcBef>
                <a:spcPts val="0"/>
              </a:spcBef>
              <a:spcAft>
                <a:spcPts val="0"/>
              </a:spcAft>
              <a:buClr>
                <a:srgbClr val="324158"/>
              </a:buClr>
              <a:buSzPct val="100000"/>
              <a:buFont typeface="Arial"/>
              <a:buChar char="•"/>
            </a:pPr>
            <a:r>
              <a:t>Time: 4 minutes. Next: why a capable model redoes work.</a:t>
            </a:r>
          </a:p>
        </p:txBody>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(1:16-1:20)</a:t>
            </a:r>
          </a:p>
          <a:p>
            <a:pPr marL="228600" indent="-182880" algn="l">
              <a:lnSpc>
                <a:spcPct val="100000"/>
              </a:lnSpc>
              <a:spcBef>
                <a:spcPts val="0"/>
              </a:spcBef>
              <a:spcAft>
                <a:spcPts val="0"/>
              </a:spcAft>
              <a:buClr>
                <a:srgbClr val="324158"/>
              </a:buClr>
              <a:buSzPct val="100000"/>
              <a:buFont typeface="Arial"/>
              <a:buChar char="•"/>
            </a:pPr>
            <a:r>
              <a:t>Ask first: "Can we just carry the old context over, squeezed down?" Expected: many say yes, summarise or compact it.</a:t>
            </a:r>
          </a:p>
          <a:p>
            <a:pPr marL="228600" indent="-182880" algn="l">
              <a:lnSpc>
                <a:spcPct val="100000"/>
              </a:lnSpc>
              <a:spcBef>
                <a:spcPts val="0"/>
              </a:spcBef>
              <a:spcAft>
                <a:spcPts val="0"/>
              </a:spcAft>
              <a:buClr>
                <a:srgbClr val="324158"/>
              </a:buClr>
              <a:buSzPct val="100000"/>
              <a:buFont typeface="Arial"/>
              <a:buChar char="•"/>
            </a:pPr>
            <a:r>
              <a:t>Every session is a fresh model call: Source 2: Effective harnesses for long-running agents (https://www.anthropic.com/engineering/effective-harnesses-for-long-running-agents): "each new session begins with no memory of what came before." In our runs session 1 gets 12 turns, session 2 gets 38; the stop is the same for both arms.</a:t>
            </a:r>
          </a:p>
          <a:p>
            <a:pPr marL="228600" indent="-182880" algn="l">
              <a:lnSpc>
                <a:spcPct val="100000"/>
              </a:lnSpc>
              <a:spcBef>
                <a:spcPts val="0"/>
              </a:spcBef>
              <a:spcAft>
                <a:spcPts val="0"/>
              </a:spcAft>
              <a:buClr>
                <a:srgbClr val="324158"/>
              </a:buClr>
              <a:buSzPct val="100000"/>
              <a:buFont typeface="Arial"/>
              <a:buChar char="•"/>
            </a:pPr>
            <a:r>
              <a:t>The verdict, Source 2 (https://www.anthropic.com/engineering/effective-harnesses-for-long-running-agents): "However, compaction isn't sufficient." A compacted transcript still says "I started the migration" without where the file is or whether it was committed.</a:t>
            </a:r>
          </a:p>
          <a:p>
            <a:pPr marL="228600" indent="-182880" algn="l">
              <a:lnSpc>
                <a:spcPct val="100000"/>
              </a:lnSpc>
              <a:spcBef>
                <a:spcPts val="0"/>
              </a:spcBef>
              <a:spcAft>
                <a:spcPts val="0"/>
              </a:spcAft>
              <a:buClr>
                <a:srgbClr val="324158"/>
              </a:buClr>
              <a:buSzPct val="100000"/>
              <a:buFont typeface="Arial"/>
              <a:buChar char="•"/>
            </a:pPr>
            <a:r>
              <a:t>Source 3: Harness design for long-running application development (https://www.anthropic.com/engineering/harness-design-long-running-apps) says compaction "preserves continuity" but does not give the agent "a clean slate".</a:t>
            </a:r>
          </a:p>
          <a:p>
            <a:pPr marL="228600" indent="-182880" algn="l">
              <a:lnSpc>
                <a:spcPct val="100000"/>
              </a:lnSpc>
              <a:spcBef>
                <a:spcPts val="0"/>
              </a:spcBef>
              <a:spcAft>
                <a:spcPts val="0"/>
              </a:spcAft>
              <a:buClr>
                <a:srgbClr val="324158"/>
              </a:buClr>
              <a:buSzPct val="100000"/>
              <a:buFont typeface="Arial"/>
              <a:buChar char="•"/>
            </a:pPr>
            <a:r>
              <a:t>Reason 2: the repository has the truth, but only if the session reads it first. In one test run before class, the bare arm's session 2 ran git status as its fourth tool call, saw ?? migrations/versions/0002_comments.py, and carried on. Nothing told it to.</a:t>
            </a:r>
          </a:p>
          <a:p>
            <a:pPr marL="228600" indent="-182880" algn="l">
              <a:lnSpc>
                <a:spcPct val="100000"/>
              </a:lnSpc>
              <a:spcBef>
                <a:spcPts val="0"/>
              </a:spcBef>
              <a:spcAft>
                <a:spcPts val="0"/>
              </a:spcAft>
              <a:buClr>
                <a:srgbClr val="324158"/>
              </a:buClr>
              <a:buSzPct val="100000"/>
              <a:buFont typeface="Arial"/>
              <a:buChar char="•"/>
            </a:pPr>
            <a:r>
              <a:t>Analogy: a git stash nobody mentioned: only someone who runs git stash list finds it. Or a meeting summary versus the actual pull request.</a:t>
            </a:r>
          </a:p>
          <a:p>
            <a:pPr marL="228600" indent="-182880" algn="l">
              <a:lnSpc>
                <a:spcPct val="100000"/>
              </a:lnSpc>
              <a:spcBef>
                <a:spcPts val="0"/>
              </a:spcBef>
              <a:spcAft>
                <a:spcPts val="0"/>
              </a:spcAft>
              <a:buClr>
                <a:srgbClr val="324158"/>
              </a:buClr>
              <a:buSzPct val="100000"/>
              <a:buFont typeface="Arial"/>
              <a:buChar char="•"/>
            </a:pPr>
            <a:r>
              <a:t>Ask: "What would you write down for the next session?" Expected: what I did, what is left, what to watch for, how to check the app still works. The four ideas answer it.</a:t>
            </a:r>
          </a:p>
          <a:p>
            <a:pPr marL="228600" indent="-182880" algn="l">
              <a:lnSpc>
                <a:spcPct val="100000"/>
              </a:lnSpc>
              <a:spcBef>
                <a:spcPts val="0"/>
              </a:spcBef>
              <a:spcAft>
                <a:spcPts val="0"/>
              </a:spcAft>
              <a:buClr>
                <a:srgbClr val="324158"/>
              </a:buClr>
              <a:buSzPct val="100000"/>
              <a:buFont typeface="Arial"/>
              <a:buChar char="•"/>
            </a:pPr>
            <a:r>
              <a:t>Likely question: "Is the 12-turn stop realistic?" Answer: it is a session turn budget, so the stop lands at a known point in both arms; real sessions end by limits, timeouts, crashes.</a:t>
            </a:r>
          </a:p>
          <a:p>
            <a:pPr marL="228600" indent="-182880" algn="l">
              <a:lnSpc>
                <a:spcPct val="100000"/>
              </a:lnSpc>
              <a:spcBef>
                <a:spcPts val="0"/>
              </a:spcBef>
              <a:spcAft>
                <a:spcPts val="0"/>
              </a:spcAft>
              <a:buClr>
                <a:srgbClr val="324158"/>
              </a:buClr>
              <a:buSzPct val="100000"/>
              <a:buFont typeface="Arial"/>
              <a:buChar char="•"/>
            </a:pPr>
            <a:r>
              <a:t>Likely question: "Why not just tell the agent to run git status?" Answer: that is part of the answer: the getting-up-to-speed routine, idea 4.</a:t>
            </a:r>
          </a:p>
          <a:p>
            <a:pPr marL="228600" indent="-182880" algn="l">
              <a:lnSpc>
                <a:spcPct val="100000"/>
              </a:lnSpc>
              <a:spcBef>
                <a:spcPts val="0"/>
              </a:spcBef>
              <a:spcAft>
                <a:spcPts val="0"/>
              </a:spcAft>
              <a:buClr>
                <a:srgbClr val="324158"/>
              </a:buClr>
              <a:buSzPct val="100000"/>
              <a:buFont typeface="Arial"/>
              <a:buChar char="•"/>
            </a:pPr>
            <a:r>
              <a:t>Misconception: "a bigger summary is a better summary". Correction: the next session needs facts it can check against the repository, not a longer story.</a:t>
            </a:r>
          </a:p>
          <a:p>
            <a:pPr marL="228600" indent="-182880" algn="l">
              <a:lnSpc>
                <a:spcPct val="100000"/>
              </a:lnSpc>
              <a:spcBef>
                <a:spcPts val="0"/>
              </a:spcBef>
              <a:spcAft>
                <a:spcPts val="0"/>
              </a:spcAft>
              <a:buClr>
                <a:srgbClr val="324158"/>
              </a:buClr>
              <a:buSzPct val="100000"/>
              <a:buFont typeface="Arial"/>
              <a:buChar char="•"/>
            </a:pPr>
            <a:r>
              <a:t>Time: 4 minutes. Next: idea 1, the planned stop.</a:t>
            </a:r>
          </a:p>
        </p:txBody>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(1:20-1:24:30)</a:t>
            </a:r>
          </a:p>
          <a:p>
            <a:pPr marL="228600" indent="-182880" algn="l">
              <a:lnSpc>
                <a:spcPct val="100000"/>
              </a:lnSpc>
              <a:spcBef>
                <a:spcPts val="0"/>
              </a:spcBef>
              <a:spcAft>
                <a:spcPts val="0"/>
              </a:spcAft>
              <a:buClr>
                <a:srgbClr val="324158"/>
              </a:buClr>
              <a:buSzPct val="100000"/>
              <a:buFont typeface="Arial"/>
              <a:buChar char="•"/>
            </a:pPr>
            <a:r>
              <a:t>The source term, Source 3: Harness design for long-running application development (https://www.anthropic.com/engineering/harness-design-long-running-apps): "context resets—clearing the context window entirely and starting a fresh agent, combined with a structured handoff that carries the previous agent's state and the next steps".</a:t>
            </a:r>
          </a:p>
          <a:p>
            <a:pPr marL="228600" indent="-182880" algn="l">
              <a:lnSpc>
                <a:spcPct val="100000"/>
              </a:lnSpc>
              <a:spcBef>
                <a:spcPts val="0"/>
              </a:spcBef>
              <a:spcAft>
                <a:spcPts val="0"/>
              </a:spcAft>
              <a:buClr>
                <a:srgbClr val="324158"/>
              </a:buClr>
              <a:buSzPct val="100000"/>
              <a:buFont typeface="Arial"/>
              <a:buChar char="•"/>
            </a:pPr>
            <a:r>
              <a:t>Two routines wrap each session, both from Source 2: Effective harnesses for long-running agents (https://www.anthropic.com/engineering/effective-harnesses-for-long-running-agents): "Getting up to speed" at the start, and "End the session by writing a git commit and progress update."</a:t>
            </a:r>
          </a:p>
          <a:p>
            <a:pPr marL="228600" indent="-182880" algn="l">
              <a:lnSpc>
                <a:spcPct val="100000"/>
              </a:lnSpc>
              <a:spcBef>
                <a:spcPts val="0"/>
              </a:spcBef>
              <a:spcAft>
                <a:spcPts val="0"/>
              </a:spcAft>
              <a:buClr>
                <a:srgbClr val="324158"/>
              </a:buClr>
              <a:buSzPct val="100000"/>
              <a:buFont typeface="Arial"/>
              <a:buChar char="•"/>
            </a:pPr>
            <a:r>
              <a:t>Near the end of each session both arms get the same message, "This session is ending soon." In the captured run, turns 1.10 and 1.11 updated and committed the state files, and turn 1.12 called finish(claim="not_done").</a:t>
            </a:r>
          </a:p>
          <a:p>
            <a:pPr marL="228600" indent="-182880" algn="l">
              <a:lnSpc>
                <a:spcPct val="100000"/>
              </a:lnSpc>
              <a:spcBef>
                <a:spcPts val="0"/>
              </a:spcBef>
              <a:spcAft>
                <a:spcPts val="0"/>
              </a:spcAft>
              <a:buClr>
                <a:srgbClr val="324158"/>
              </a:buClr>
              <a:buSzPct val="100000"/>
              <a:buFont typeface="Arial"/>
              <a:buChar char="•"/>
            </a:pPr>
            <a:r>
              <a:t>A runner bug we found by reading runs: earlier, any finish ended the build phase, so session 2 never ran. Now finish(claim="not_done") before the last session ends only that session, in both arms.</a:t>
            </a:r>
          </a:p>
          <a:p>
            <a:pPr marL="228600" indent="-182880" algn="l">
              <a:lnSpc>
                <a:spcPct val="100000"/>
              </a:lnSpc>
              <a:spcBef>
                <a:spcPts val="0"/>
              </a:spcBef>
              <a:spcAft>
                <a:spcPts val="0"/>
              </a:spcAft>
              <a:buClr>
                <a:srgbClr val="324158"/>
              </a:buClr>
              <a:buSzPct val="100000"/>
              <a:buFont typeface="Arial"/>
              <a:buChar char="•"/>
            </a:pPr>
            <a:r>
              <a:t>The code at the stop, platform/src/shipharness/harness/state/lifecycle.py lines 100-111, the body of session_stop: compute the facts, merge them into the handoff, append a progress line, commit.</a:t>
            </a:r>
          </a:p>
          <a:p>
            <a:pPr marL="228600" indent="-182880" algn="l">
              <a:lnSpc>
                <a:spcPct val="100000"/>
              </a:lnSpc>
              <a:spcBef>
                <a:spcPts val="0"/>
              </a:spcBef>
              <a:spcAft>
                <a:spcPts val="0"/>
              </a:spcAft>
              <a:buClr>
                <a:srgbClr val="324158"/>
              </a:buClr>
              <a:buSzPct val="100000"/>
              <a:buFont typeface="Arial"/>
              <a:buChar char="•"/>
            </a:pPr>
            <a:r>
              <a:t>Key line: summary, tests = machine_summary(ctx, result, files_changed, timeout_s). It reads the last commits, files changed, the visible test result, open TODO markers, the migration heads, and the docs the agent opened; it runs the visible suite once per stop on harness time, not the agent's turns.</a:t>
            </a:r>
          </a:p>
          <a:p>
            <a:pPr marL="228600" indent="-182880" algn="l">
              <a:lnSpc>
                <a:spcPct val="100000"/>
              </a:lnSpc>
              <a:spcBef>
                <a:spcPts val="0"/>
              </a:spcBef>
              <a:spcAft>
                <a:spcPts val="0"/>
              </a:spcAft>
              <a:buClr>
                <a:srgbClr val="324158"/>
              </a:buClr>
              <a:buSzPct val="100000"/>
              <a:buFont typeface="Arial"/>
              <a:buChar char="•"/>
            </a:pPr>
            <a:r>
              <a:t>commit_paths names its paths, so anything half-staged stays out; its message, "harness: session N handoff for ..." is the first line session 2 sees in git log. If the agent deleted progress.md, the code falls back to the template and the log line still lands.</a:t>
            </a:r>
          </a:p>
          <a:p>
            <a:pPr marL="228600" indent="-182880" algn="l">
              <a:lnSpc>
                <a:spcPct val="100000"/>
              </a:lnSpc>
              <a:spcBef>
                <a:spcPts val="0"/>
              </a:spcBef>
              <a:spcAft>
                <a:spcPts val="0"/>
              </a:spcAft>
              <a:buClr>
                <a:srgbClr val="324158"/>
              </a:buClr>
              <a:buSzPct val="100000"/>
              <a:buFont typeface="Arial"/>
              <a:buChar char="•"/>
            </a:pPr>
            <a:r>
              <a:t>Analogy: a shift pattern with a fixed handover time, or a CI job that writes a build summary on every run instead of asking the developer to fill in a form.</a:t>
            </a:r>
          </a:p>
          <a:p>
            <a:pPr marL="228600" indent="-182880" algn="l">
              <a:lnSpc>
                <a:spcPct val="100000"/>
              </a:lnSpc>
              <a:spcBef>
                <a:spcPts val="0"/>
              </a:spcBef>
              <a:spcAft>
                <a:spcPts val="0"/>
              </a:spcAft>
              <a:buClr>
                <a:srgbClr val="324158"/>
              </a:buClr>
              <a:buSzPct val="100000"/>
              <a:buFont typeface="Arial"/>
              <a:buChar char="•"/>
            </a:pPr>
            <a:r>
              <a:t>Ask: "Why does the harness write at the stop instead of trusting the wrap-up turns?" Expected: the agent can run out of turns before writing anything.</a:t>
            </a:r>
          </a:p>
          <a:p>
            <a:pPr marL="228600" indent="-182880" algn="l">
              <a:lnSpc>
                <a:spcPct val="100000"/>
              </a:lnSpc>
              <a:spcBef>
                <a:spcPts val="0"/>
              </a:spcBef>
              <a:spcAft>
                <a:spcPts val="0"/>
              </a:spcAft>
              <a:buClr>
                <a:srgbClr val="324158"/>
              </a:buClr>
              <a:buSzPct val="100000"/>
              <a:buFont typeface="Arial"/>
              <a:buChar char="•"/>
            </a:pPr>
            <a:r>
              <a:t>Likely question: "Who decides when the session ends?" Answer: the runner, by the session turn budget (12 then 38 here), or the agent by calling finish.</a:t>
            </a:r>
          </a:p>
          <a:p>
            <a:pPr marL="228600" indent="-182880" algn="l">
              <a:lnSpc>
                <a:spcPct val="100000"/>
              </a:lnSpc>
              <a:spcBef>
                <a:spcPts val="0"/>
              </a:spcBef>
              <a:spcAft>
                <a:spcPts val="0"/>
              </a:spcAft>
              <a:buClr>
                <a:srgbClr val="324158"/>
              </a:buClr>
              <a:buSzPct val="100000"/>
              <a:buFont typeface="Arial"/>
              <a:buChar char="•"/>
            </a:pPr>
            <a:r>
              <a:t>Misconception: "a reset throws work away" or "the harness summarises the conversation". Correction: it clears the context, not the repository, and it never reads the transcript, only the repository.</a:t>
            </a:r>
          </a:p>
          <a:p>
            <a:pPr marL="228600" indent="-182880" algn="l">
              <a:lnSpc>
                <a:spcPct val="100000"/>
              </a:lnSpc>
              <a:spcBef>
                <a:spcPts val="0"/>
              </a:spcBef>
              <a:spcAft>
                <a:spcPts val="0"/>
              </a:spcAft>
              <a:buClr>
                <a:srgbClr val="324158"/>
              </a:buClr>
              <a:buSzPct val="100000"/>
              <a:buFont typeface="Arial"/>
              <a:buChar char="•"/>
            </a:pPr>
            <a:r>
              <a:t>Time: 4.5 minutes. Next: the file that crosses the stop.</a:t>
            </a:r>
          </a:p>
        </p:txBody>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(1:24:30-1:29)</a:t>
            </a:r>
          </a:p>
          <a:p>
            <a:pPr marL="228600" indent="-182880" algn="l">
              <a:lnSpc>
                <a:spcPct val="100000"/>
              </a:lnSpc>
              <a:spcBef>
                <a:spcPts val="0"/>
              </a:spcBef>
              <a:spcAft>
                <a:spcPts val="0"/>
              </a:spcAft>
              <a:buClr>
                <a:srgbClr val="324158"/>
              </a:buClr>
              <a:buSzPct val="100000"/>
              <a:buFont typeface="Arial"/>
              <a:buChar char="•"/>
            </a:pPr>
            <a:r>
              <a:t>The harness owns "Machine summary" and rewrites it at every stop. The agent owns "Notes from the agent". handoff.merge replaces only the harness part and keeps the agent's notes as written.</a:t>
            </a:r>
          </a:p>
          <a:p>
            <a:pPr marL="228600" indent="-182880" algn="l">
              <a:lnSpc>
                <a:spcPct val="100000"/>
              </a:lnSpc>
              <a:spcBef>
                <a:spcPts val="0"/>
              </a:spcBef>
              <a:spcAft>
                <a:spcPts val="0"/>
              </a:spcAft>
              <a:buClr>
                <a:srgbClr val="324158"/>
              </a:buClr>
              <a:buSzPct val="100000"/>
              <a:buFont typeface="Arial"/>
              <a:buChar char="•"/>
            </a:pPr>
            <a:r>
              <a:t>Example fact line: the migration heads line ends house rule R7 needs exactly one when it finds two heads (R7 is the code's name for House rule 7: Migrations), so session 2 sees the problem before writing another migration.</a:t>
            </a:r>
          </a:p>
          <a:p>
            <a:pPr marL="228600" indent="-182880" algn="l">
              <a:lnSpc>
                <a:spcPct val="100000"/>
              </a:lnSpc>
              <a:spcBef>
                <a:spcPts val="0"/>
              </a:spcBef>
              <a:spcAft>
                <a:spcPts val="0"/>
              </a:spcAft>
              <a:buClr>
                <a:srgbClr val="324158"/>
              </a:buClr>
              <a:buSzPct val="100000"/>
              <a:buFont typeface="Arial"/>
              <a:buChar char="•"/>
            </a:pPr>
            <a:r>
              <a:t>Real agent notes from the captured run: "API/web must not import app.db; all customer queries must filter org." A fresh session cannot see that in the code.</a:t>
            </a:r>
          </a:p>
          <a:p>
            <a:pPr marL="228600" indent="-182880" algn="l">
              <a:lnSpc>
                <a:spcPct val="100000"/>
              </a:lnSpc>
              <a:spcBef>
                <a:spcPts val="0"/>
              </a:spcBef>
              <a:spcAft>
                <a:spcPts val="0"/>
              </a:spcAft>
              <a:buClr>
                <a:srgbClr val="324158"/>
              </a:buClr>
              <a:buSzPct val="100000"/>
              <a:buFont typeface="Arial"/>
              <a:buChar char="•"/>
            </a:pPr>
            <a:r>
              <a:t>Session 2 is told: resume_text adds "Start with the Getting up to speed steps before you change code" plus the machine summary, after the neutral resume sentence both arms get.</a:t>
            </a:r>
          </a:p>
          <a:p>
            <a:pPr marL="228600" indent="-182880" algn="l">
              <a:lnSpc>
                <a:spcPct val="100000"/>
              </a:lnSpc>
              <a:spcBef>
                <a:spcPts val="0"/>
              </a:spcBef>
              <a:spcAft>
                <a:spcPts val="0"/>
              </a:spcAft>
              <a:buClr>
                <a:srgbClr val="324158"/>
              </a:buClr>
              <a:buSzPct val="100000"/>
              <a:buFont typeface="Arial"/>
              <a:buChar char="•"/>
            </a:pPr>
            <a:r>
              <a:t>Analogy: an incident handover in two parts: the dashboard snapshot (facts, generated) and the engineer's note (judgement, written).</a:t>
            </a:r>
          </a:p>
          <a:p>
            <a:pPr marL="228600" indent="-182880" algn="l">
              <a:lnSpc>
                <a:spcPct val="100000"/>
              </a:lnSpc>
              <a:spcBef>
                <a:spcPts val="0"/>
              </a:spcBef>
              <a:spcAft>
                <a:spcPts val="0"/>
              </a:spcAft>
              <a:buClr>
                <a:srgbClr val="324158"/>
              </a:buClr>
              <a:buSzPct val="100000"/>
              <a:buFont typeface="Arial"/>
              <a:buChar char="•"/>
            </a:pPr>
            <a:r>
              <a:t>Point at the top band: it exists even when the bottom band is empty.</a:t>
            </a:r>
          </a:p>
          <a:p>
            <a:pPr marL="228600" indent="-182880" algn="l">
              <a:lnSpc>
                <a:spcPct val="100000"/>
              </a:lnSpc>
              <a:spcBef>
                <a:spcPts val="0"/>
              </a:spcBef>
              <a:spcAft>
                <a:spcPts val="0"/>
              </a:spcAft>
              <a:buClr>
                <a:srgbClr val="324158"/>
              </a:buClr>
              <a:buSzPct val="100000"/>
              <a:buFont typeface="Arial"/>
              <a:buChar char="•"/>
            </a:pPr>
            <a:r>
              <a:t>Ask: "Which facts would you never trust the agent to write?" Expected: what was committed, which files changed, whether tests pass, how many heads.</a:t>
            </a:r>
          </a:p>
          <a:p>
            <a:pPr marL="228600" indent="-182880" algn="l">
              <a:lnSpc>
                <a:spcPct val="100000"/>
              </a:lnSpc>
              <a:spcBef>
                <a:spcPts val="0"/>
              </a:spcBef>
              <a:spcAft>
                <a:spcPts val="0"/>
              </a:spcAft>
              <a:buClr>
                <a:srgbClr val="324158"/>
              </a:buClr>
              <a:buSzPct val="100000"/>
              <a:buFont typeface="Arial"/>
              <a:buChar char="•"/>
            </a:pPr>
            <a:r>
              <a:t>Likely question: "What if the agent writes wrong notes?" Answer: they stay as written; the summary above is regenerated from git at every stop, so session 2 can check one against the other.</a:t>
            </a:r>
          </a:p>
          <a:p>
            <a:pPr marL="228600" indent="-182880" algn="l">
              <a:lnSpc>
                <a:spcPct val="100000"/>
              </a:lnSpc>
              <a:spcBef>
                <a:spcPts val="0"/>
              </a:spcBef>
              <a:spcAft>
                <a:spcPts val="0"/>
              </a:spcAft>
              <a:buClr>
                <a:srgbClr val="324158"/>
              </a:buClr>
              <a:buSzPct val="100000"/>
              <a:buFont typeface="Arial"/>
              <a:buChar char="•"/>
            </a:pPr>
            <a:r>
              <a:t>Likely question: "What if the agent deletes the file?" Answer: the harness rebuilds it from its template at the next stop.</a:t>
            </a:r>
          </a:p>
          <a:p>
            <a:pPr marL="228600" indent="-182880" algn="l">
              <a:lnSpc>
                <a:spcPct val="100000"/>
              </a:lnSpc>
              <a:spcBef>
                <a:spcPts val="0"/>
              </a:spcBef>
              <a:spcAft>
                <a:spcPts val="0"/>
              </a:spcAft>
              <a:buClr>
                <a:srgbClr val="324158"/>
              </a:buClr>
              <a:buSzPct val="100000"/>
              <a:buFont typeface="Arial"/>
              <a:buChar char="•"/>
            </a:pPr>
            <a:r>
              <a:t>Misconception: "a handoff written by the agent is enough". Correction: it is empty exactly when the agent ran out of turns.</a:t>
            </a:r>
          </a:p>
          <a:p>
            <a:pPr marL="228600" indent="-182880" algn="l">
              <a:lnSpc>
                <a:spcPct val="100000"/>
              </a:lnSpc>
              <a:spcBef>
                <a:spcPts val="0"/>
              </a:spcBef>
              <a:spcAft>
                <a:spcPts val="0"/>
              </a:spcAft>
              <a:buClr>
                <a:srgbClr val="324158"/>
              </a:buClr>
              <a:buSzPct val="100000"/>
              <a:buFont typeface="Arial"/>
              <a:buChar char="•"/>
            </a:pPr>
            <a:r>
              <a:t>Time: 4.5 minutes. Next: the plan and the ledger for the whole task.</a:t>
            </a:r>
          </a:p>
        </p:txBody>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(1:29-1:33:30)</a:t>
            </a:r>
          </a:p>
          <a:p>
            <a:pPr marL="228600" indent="-182880" algn="l">
              <a:lnSpc>
                <a:spcPct val="100000"/>
              </a:lnSpc>
              <a:spcBef>
                <a:spcPts val="0"/>
              </a:spcBef>
              <a:spcAft>
                <a:spcPts val="0"/>
              </a:spcAft>
              <a:buClr>
                <a:srgbClr val="324158"/>
              </a:buClr>
              <a:buSzPct val="100000"/>
              <a:buFont typeface="Arial"/>
              <a:buChar char="•"/>
            </a:pPr>
            <a:r>
              <a:t>The key-idea quote is from Source 10: Using PLANS.md for multi-hour problem solving (https://cookbook.openai.com/articles/codex_exec_plans), which asks for four living sections: Progress, Surprises &amp; Discoveries, Decision Log, Outcomes &amp; Retrospective.</a:t>
            </a:r>
          </a:p>
          <a:p>
            <a:pPr marL="228600" indent="-182880" algn="l">
              <a:lnSpc>
                <a:spcPct val="100000"/>
              </a:lnSpc>
              <a:spcBef>
                <a:spcPts val="0"/>
              </a:spcBef>
              <a:spcAft>
                <a:spcPts val="0"/>
              </a:spcAft>
              <a:buClr>
                <a:srgbClr val="324158"/>
              </a:buClr>
              <a:buSzPct val="100000"/>
              <a:buFont typeface="Arial"/>
              <a:buChar char="•"/>
            </a:pPr>
            <a:r>
              <a:t>Source 1: Harness engineering (https://openai.com/index/harness-engineering/) keeps "execution plans with progress and decision logs that are checked into the repository".</a:t>
            </a:r>
          </a:p>
          <a:p>
            <a:pPr marL="228600" indent="-182880" algn="l">
              <a:lnSpc>
                <a:spcPct val="100000"/>
              </a:lnSpc>
              <a:spcBef>
                <a:spcPts val="0"/>
              </a:spcBef>
              <a:spcAft>
                <a:spcPts val="0"/>
              </a:spcAft>
              <a:buClr>
                <a:srgbClr val="324158"/>
              </a:buClr>
              <a:buSzPct val="100000"/>
              <a:buFont typeface="Arial"/>
              <a:buChar char="•"/>
            </a:pPr>
            <a:r>
              <a:t>progress.md is the course's name for the claude-progress.txt of Source 2: Effective harnesses for long-running agents (https://www.anthropic.com/engineering/effective-harnesses-for-long-running-agents): what each session did and what is next. The agent edits every section except "Session log", where the harness appends one entry per stop.</a:t>
            </a:r>
          </a:p>
          <a:p>
            <a:pPr marL="228600" indent="-182880" algn="l">
              <a:lnSpc>
                <a:spcPct val="100000"/>
              </a:lnSpc>
              <a:spcBef>
                <a:spcPts val="0"/>
              </a:spcBef>
              <a:spcAft>
                <a:spcPts val="0"/>
              </a:spcAft>
              <a:buClr>
                <a:srgbClr val="324158"/>
              </a:buClr>
              <a:buSzPct val="100000"/>
              <a:buFont typeface="Arial"/>
              <a:buChar char="•"/>
            </a:pPr>
            <a:r>
              <a:t>Example decision for the Decision Log: "comments use keyset paging, ascending id, like projects", so session 2 does not reopen it.</a:t>
            </a:r>
          </a:p>
          <a:p>
            <a:pPr marL="228600" indent="-182880" algn="l">
              <a:lnSpc>
                <a:spcPct val="100000"/>
              </a:lnSpc>
              <a:spcBef>
                <a:spcPts val="0"/>
              </a:spcBef>
              <a:spcAft>
                <a:spcPts val="0"/>
              </a:spcAft>
              <a:buClr>
                <a:srgbClr val="324158"/>
              </a:buClr>
              <a:buSzPct val="100000"/>
              <a:buFont typeface="Arial"/>
              <a:buChar char="•"/>
            </a:pPr>
            <a:r>
              <a:t>The harness's own plan for comments says a new session must be able to restart from the plan, progress.md, and the git log alone.</a:t>
            </a:r>
          </a:p>
          <a:p>
            <a:pPr marL="228600" indent="-182880" algn="l">
              <a:lnSpc>
                <a:spcPct val="100000"/>
              </a:lnSpc>
              <a:spcBef>
                <a:spcPts val="0"/>
              </a:spcBef>
              <a:spcAft>
                <a:spcPts val="0"/>
              </a:spcAft>
              <a:buClr>
                <a:srgbClr val="324158"/>
              </a:buClr>
              <a:buSzPct val="100000"/>
              <a:buFont typeface="Arial"/>
              <a:buChar char="•"/>
            </a:pPr>
            <a:r>
              <a:t>Analogy: a design doc plus a changelog: the doc says what and why, the changelog what happened when.</a:t>
            </a:r>
          </a:p>
          <a:p>
            <a:pPr marL="228600" indent="-182880" algn="l">
              <a:lnSpc>
                <a:spcPct val="100000"/>
              </a:lnSpc>
              <a:spcBef>
                <a:spcPts val="0"/>
              </a:spcBef>
              <a:spcAft>
                <a:spcPts val="0"/>
              </a:spcAft>
              <a:buClr>
                <a:srgbClr val="324158"/>
              </a:buClr>
              <a:buSzPct val="100000"/>
              <a:buFont typeface="Arial"/>
              <a:buChar char="•"/>
            </a:pPr>
            <a:r>
              <a:t>Ask: "Could someone restart your current task from only your notes?" Expected: usually no; decisions live in chat or in someone's head.</a:t>
            </a:r>
          </a:p>
          <a:p>
            <a:pPr marL="228600" indent="-182880" algn="l">
              <a:lnSpc>
                <a:spcPct val="100000"/>
              </a:lnSpc>
              <a:spcBef>
                <a:spcPts val="0"/>
              </a:spcBef>
              <a:spcAft>
                <a:spcPts val="0"/>
              </a:spcAft>
              <a:buClr>
                <a:srgbClr val="324158"/>
              </a:buClr>
              <a:buSzPct val="100000"/>
              <a:buFont typeface="Arial"/>
              <a:buChar char="•"/>
            </a:pPr>
            <a:r>
              <a:t>Likely question: "Why Markdown here and JSON for the feature list later?" Answer: these are notes the agent writes freely; the feature list in Section 3: Scope and sandbox is graded state the agent must not edit.</a:t>
            </a:r>
          </a:p>
          <a:p>
            <a:pPr marL="228600" indent="-182880" algn="l">
              <a:lnSpc>
                <a:spcPct val="100000"/>
              </a:lnSpc>
              <a:spcBef>
                <a:spcPts val="0"/>
              </a:spcBef>
              <a:spcAft>
                <a:spcPts val="0"/>
              </a:spcAft>
              <a:buClr>
                <a:srgbClr val="324158"/>
              </a:buClr>
              <a:buSzPct val="100000"/>
              <a:buFont typeface="Arial"/>
              <a:buChar char="•"/>
            </a:pPr>
            <a:r>
              <a:t>Misconception: "the plan is written once at the start". Correction: it is a living document; progress lines get a UTC timestamp, and the harness moves the plan to completed/ when the feature passes.</a:t>
            </a:r>
          </a:p>
          <a:p>
            <a:pPr marL="228600" indent="-182880" algn="l">
              <a:lnSpc>
                <a:spcPct val="100000"/>
              </a:lnSpc>
              <a:spcBef>
                <a:spcPts val="0"/>
              </a:spcBef>
              <a:spcAft>
                <a:spcPts val="0"/>
              </a:spcAft>
              <a:buClr>
                <a:srgbClr val="324158"/>
              </a:buClr>
              <a:buSzPct val="100000"/>
              <a:buFont typeface="Arial"/>
              <a:buChar char="•"/>
            </a:pPr>
            <a:r>
              <a:t>Time: 4.5 minutes. Next: the routine that reads these files first.</a:t>
            </a:r>
          </a:p>
        </p:txBody>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4.5 min (1:33:30-1:38)</a:t>
            </a:r>
          </a:p>
          <a:p>
            <a:pPr marL="228600" indent="-182880" algn="l">
              <a:lnSpc>
                <a:spcPct val="100000"/>
              </a:lnSpc>
              <a:spcBef>
                <a:spcPts val="0"/>
              </a:spcBef>
              <a:spcAft>
                <a:spcPts val="0"/>
              </a:spcAft>
              <a:buClr>
                <a:srgbClr val="324158"/>
              </a:buClr>
              <a:buSzPct val="100000"/>
              <a:buFont typeface="Arial"/>
              <a:buChar char="•"/>
            </a:pPr>
            <a:r>
              <a:t>The routine is a heading in Source 2: Effective harnesses for long-running agents (https://www.anthropic.com/engineering/effective-harnesses-for-long-running-agents), "Getting up to speed": read the git log and progress file, then run init.sh and a basic test before touching code, because new work on a broken app "would likely make the problem worse."</a:t>
            </a:r>
          </a:p>
          <a:p>
            <a:pPr marL="228600" indent="-182880" algn="l">
              <a:lnSpc>
                <a:spcPct val="100000"/>
              </a:lnSpc>
              <a:spcBef>
                <a:spcPts val="0"/>
              </a:spcBef>
              <a:spcAft>
                <a:spcPts val="0"/>
              </a:spcAft>
              <a:buClr>
                <a:srgbClr val="324158"/>
              </a:buClr>
              <a:buSzPct val="100000"/>
              <a:buFont typeface="Arial"/>
              <a:buChar char="•"/>
            </a:pPr>
            <a:r>
              <a:t>Session 2's first calls in the captured run: pwd; git log --oneline -20, then cat progress.md and cat session-handoff.md, then the plan section-2-state-lifecycle/demo/harness/docs/exec-plans/active/F2.md (F2 is the code for Feature 2: Comments on issues), then bash init.sh.</a:t>
            </a:r>
          </a:p>
          <a:p>
            <a:pPr marL="228600" indent="-182880" algn="l">
              <a:lnSpc>
                <a:spcPct val="100000"/>
              </a:lnSpc>
              <a:spcBef>
                <a:spcPts val="0"/>
              </a:spcBef>
              <a:spcAft>
                <a:spcPts val="0"/>
              </a:spcAft>
              <a:buClr>
                <a:srgbClr val="324158"/>
              </a:buClr>
              <a:buSzPct val="100000"/>
              <a:buFont typeface="Arial"/>
              <a:buChar char="•"/>
            </a:pPr>
            <a:r>
              <a:t>TeamTrack's init.sh runs alembic heads, alembic upgrade head on a scratch SQLite database, then pytest tests/visible/test_issues.py -x, and leaves no files to commit.</a:t>
            </a:r>
          </a:p>
          <a:p>
            <a:pPr marL="228600" indent="-182880" algn="l">
              <a:lnSpc>
                <a:spcPct val="100000"/>
              </a:lnSpc>
              <a:spcBef>
                <a:spcPts val="0"/>
              </a:spcBef>
              <a:spcAft>
                <a:spcPts val="0"/>
              </a:spcAft>
              <a:buClr>
                <a:srgbClr val="324158"/>
              </a:buClr>
              <a:buSzPct val="100000"/>
              <a:buFont typeface="Arial"/>
              <a:buChar char="•"/>
            </a:pPr>
            <a:r>
              <a:t>In the captured run session 2's git log began with the harness's session 1 handoff commit, and session 2 wrote exactly one migration, 0002_comments.py, from the current head.</a:t>
            </a:r>
          </a:p>
          <a:p>
            <a:pPr marL="228600" indent="-182880" algn="l">
              <a:lnSpc>
                <a:spcPct val="100000"/>
              </a:lnSpc>
              <a:spcBef>
                <a:spcPts val="0"/>
              </a:spcBef>
              <a:spcAft>
                <a:spcPts val="0"/>
              </a:spcAft>
              <a:buClr>
                <a:srgbClr val="324158"/>
              </a:buClr>
              <a:buSzPct val="100000"/>
              <a:buFont typeface="Arial"/>
              <a:buChar char="•"/>
            </a:pPr>
            <a:r>
              <a:t>Analogy: the first ten minutes of an on-call shift: read the handover, check the dashboards are green, then start.</a:t>
            </a:r>
          </a:p>
          <a:p>
            <a:pPr marL="228600" indent="-182880" algn="l">
              <a:lnSpc>
                <a:spcPct val="100000"/>
              </a:lnSpc>
              <a:spcBef>
                <a:spcPts val="0"/>
              </a:spcBef>
              <a:spcAft>
                <a:spcPts val="0"/>
              </a:spcAft>
              <a:buClr>
                <a:srgbClr val="324158"/>
              </a:buClr>
              <a:buSzPct val="100000"/>
              <a:buFont typeface="Arial"/>
              <a:buChar char="•"/>
            </a:pPr>
            <a:r>
              <a:t>Point at the alembic heads line: one command would have stopped the opening story.</a:t>
            </a:r>
          </a:p>
          <a:p>
            <a:pPr marL="228600" indent="-182880" algn="l">
              <a:lnSpc>
                <a:spcPct val="100000"/>
              </a:lnSpc>
              <a:spcBef>
                <a:spcPts val="0"/>
              </a:spcBef>
              <a:spcAft>
                <a:spcPts val="0"/>
              </a:spcAft>
              <a:buClr>
                <a:srgbClr val="324158"/>
              </a:buClr>
              <a:buSzPct val="100000"/>
              <a:buFont typeface="Arial"/>
              <a:buChar char="•"/>
            </a:pPr>
            <a:r>
              <a:t>Ask: "What is the cheapest check that would have prevented the two-head story?" Expected: list the heads before writing a migration.</a:t>
            </a:r>
          </a:p>
          <a:p>
            <a:pPr marL="228600" indent="-182880" algn="l">
              <a:lnSpc>
                <a:spcPct val="100000"/>
              </a:lnSpc>
              <a:spcBef>
                <a:spcPts val="0"/>
              </a:spcBef>
              <a:spcAft>
                <a:spcPts val="0"/>
              </a:spcAft>
              <a:buClr>
                <a:srgbClr val="324158"/>
              </a:buClr>
              <a:buSzPct val="100000"/>
              <a:buFont typeface="Arial"/>
              <a:buChar char="•"/>
            </a:pPr>
            <a:r>
              <a:t>Likely question: "Who writes init.sh?" Answer: an initializer step before session 1. The source uses a model session; the course uses plain code, because one ticket fixes the files, so it costs no model call.</a:t>
            </a:r>
          </a:p>
          <a:p>
            <a:pPr marL="228600" indent="-182880" algn="l">
              <a:lnSpc>
                <a:spcPct val="100000"/>
              </a:lnSpc>
              <a:spcBef>
                <a:spcPts val="0"/>
              </a:spcBef>
              <a:spcAft>
                <a:spcPts val="0"/>
              </a:spcAft>
              <a:buClr>
                <a:srgbClr val="324158"/>
              </a:buClr>
              <a:buSzPct val="100000"/>
              <a:buFont typeface="Arial"/>
              <a:buChar char="•"/>
            </a:pPr>
            <a:r>
              <a:t>Misconception: "init.sh is for humans setting up a laptop". Correction: here it is the agent's smoke test at the start of every session.</a:t>
            </a:r>
          </a:p>
          <a:p>
            <a:pPr marL="228600" indent="-182880" algn="l">
              <a:lnSpc>
                <a:spcPct val="100000"/>
              </a:lnSpc>
              <a:spcBef>
                <a:spcPts val="0"/>
              </a:spcBef>
              <a:spcAft>
                <a:spcPts val="0"/>
              </a:spcAft>
              <a:buClr>
                <a:srgbClr val="324158"/>
              </a:buClr>
              <a:buSzPct val="100000"/>
              <a:buFont typeface="Arial"/>
              <a:buChar char="•"/>
            </a:pPr>
            <a:r>
              <a:t>Time: 4.5 minutes. Next: four files on one card.</a:t>
            </a:r>
          </a:p>
        </p:txBody>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(1:38-1:40)</a:t>
            </a:r>
          </a:p>
          <a:p>
            <a:pPr marL="228600" indent="-182880" algn="l">
              <a:lnSpc>
                <a:spcPct val="100000"/>
              </a:lnSpc>
              <a:spcBef>
                <a:spcPts val="0"/>
              </a:spcBef>
              <a:spcAft>
                <a:spcPts val="0"/>
              </a:spcAft>
              <a:buClr>
                <a:srgbClr val="324158"/>
              </a:buClr>
              <a:buSzPct val="100000"/>
              <a:buFont typeface="Arial"/>
              <a:buChar char="•"/>
            </a:pPr>
            <a:r>
              <a:t>Four files, each with one job, plus the git history that ties them together.</a:t>
            </a:r>
          </a:p>
          <a:p>
            <a:pPr marL="228600" indent="-182880" algn="l">
              <a:lnSpc>
                <a:spcPct val="100000"/>
              </a:lnSpc>
              <a:spcBef>
                <a:spcPts val="0"/>
              </a:spcBef>
              <a:spcAft>
                <a:spcPts val="0"/>
              </a:spcAft>
              <a:buClr>
                <a:srgbClr val="324158"/>
              </a:buClr>
              <a:buSzPct val="100000"/>
              <a:buFont typeface="Arial"/>
              <a:buChar char="•"/>
            </a:pPr>
            <a:r>
              <a:t>The initializer step writes all four and commits them before session 1, as "harness: initializer step for ..." in the git log.</a:t>
            </a:r>
          </a:p>
          <a:p>
            <a:pPr marL="228600" indent="-182880" algn="l">
              <a:lnSpc>
                <a:spcPct val="100000"/>
              </a:lnSpc>
              <a:spcBef>
                <a:spcPts val="0"/>
              </a:spcBef>
              <a:spcAft>
                <a:spcPts val="0"/>
              </a:spcAft>
              <a:buClr>
                <a:srgbClr val="324158"/>
              </a:buClr>
              <a:buSzPct val="100000"/>
              <a:buFont typeface="Arial"/>
              <a:buChar char="•"/>
            </a:pPr>
            <a:r>
              <a:t>Point at "Who writes it": ownership is the design decision, more than the file names.</a:t>
            </a:r>
          </a:p>
          <a:p>
            <a:pPr marL="228600" indent="-182880" algn="l">
              <a:lnSpc>
                <a:spcPct val="100000"/>
              </a:lnSpc>
              <a:spcBef>
                <a:spcPts val="0"/>
              </a:spcBef>
              <a:spcAft>
                <a:spcPts val="0"/>
              </a:spcAft>
              <a:buClr>
                <a:srgbClr val="324158"/>
              </a:buClr>
              <a:buSzPct val="100000"/>
              <a:buFont typeface="Arial"/>
              <a:buChar char="•"/>
            </a:pPr>
            <a:r>
              <a:t>Analogy: README, CHANGELOG, design doc, and handover note in a well-run repository: each answers one question for whoever arrives next.</a:t>
            </a:r>
          </a:p>
          <a:p>
            <a:pPr marL="228600" indent="-182880" algn="l">
              <a:lnSpc>
                <a:spcPct val="100000"/>
              </a:lnSpc>
              <a:spcBef>
                <a:spcPts val="0"/>
              </a:spcBef>
              <a:spcAft>
                <a:spcPts val="0"/>
              </a:spcAft>
              <a:buClr>
                <a:srgbClr val="324158"/>
              </a:buClr>
              <a:buSzPct val="100000"/>
              <a:buFont typeface="Arial"/>
              <a:buChar char="•"/>
            </a:pPr>
            <a:r>
              <a:t>Ask: "Which of these does your repository already have under another name?" Expected: a README with setup steps, sometimes a TODO file, rarely a handoff.</a:t>
            </a:r>
          </a:p>
          <a:p>
            <a:pPr marL="228600" indent="-182880" algn="l">
              <a:lnSpc>
                <a:spcPct val="100000"/>
              </a:lnSpc>
              <a:spcBef>
                <a:spcPts val="0"/>
              </a:spcBef>
              <a:spcAft>
                <a:spcPts val="0"/>
              </a:spcAft>
              <a:buClr>
                <a:srgbClr val="324158"/>
              </a:buClr>
              <a:buSzPct val="100000"/>
              <a:buFont typeface="Arial"/>
              <a:buChar char="•"/>
            </a:pPr>
            <a:r>
              <a:t>Likely question: "Do I need all four?" Answer: no; measure. The results slide shows no measurable difference on this ticket with this model.</a:t>
            </a:r>
          </a:p>
          <a:p>
            <a:pPr marL="228600" indent="-182880" algn="l">
              <a:lnSpc>
                <a:spcPct val="100000"/>
              </a:lnSpc>
              <a:spcBef>
                <a:spcPts val="0"/>
              </a:spcBef>
              <a:spcAft>
                <a:spcPts val="0"/>
              </a:spcAft>
              <a:buClr>
                <a:srgbClr val="324158"/>
              </a:buClr>
              <a:buSzPct val="100000"/>
              <a:buFont typeface="Arial"/>
              <a:buChar char="•"/>
            </a:pPr>
            <a:r>
              <a:t>Misconception: "more state files mean more reliable agents". Correction: they cost turns; harness arms hit the agent time limit more often (post hoc, next slides).</a:t>
            </a:r>
          </a:p>
          <a:p>
            <a:pPr marL="228600" indent="-182880" algn="l">
              <a:lnSpc>
                <a:spcPct val="100000"/>
              </a:lnSpc>
              <a:spcBef>
                <a:spcPts val="0"/>
              </a:spcBef>
              <a:spcAft>
                <a:spcPts val="0"/>
              </a:spcAft>
              <a:buClr>
                <a:srgbClr val="324158"/>
              </a:buClr>
              <a:buSzPct val="100000"/>
              <a:buFont typeface="Arial"/>
              <a:buChar char="•"/>
            </a:pPr>
            <a:r>
              <a:t>Instructor cue: make show-2 should have printed its Cost: line; read the session figure aloud.</a:t>
            </a:r>
          </a:p>
          <a:p>
            <a:pPr marL="228600" indent="-182880" algn="l">
              <a:lnSpc>
                <a:spcPct val="100000"/>
              </a:lnSpc>
              <a:spcBef>
                <a:spcPts val="0"/>
              </a:spcBef>
              <a:spcAft>
                <a:spcPts val="0"/>
              </a:spcAft>
              <a:buClr>
                <a:srgbClr val="324158"/>
              </a:buClr>
              <a:buSzPct val="100000"/>
              <a:buFont typeface="Arial"/>
              <a:buChar char="•"/>
            </a:pPr>
            <a:r>
              <a:t>Time: 2 minutes. Next: the live run.</a:t>
            </a:r>
          </a:p>
        </p:txBody>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 min (1:40-1:50)</a:t>
            </a:r>
          </a:p>
          <a:p>
            <a:pPr marL="228600" indent="-182880" algn="l">
              <a:lnSpc>
                <a:spcPct val="100000"/>
              </a:lnSpc>
              <a:spcBef>
                <a:spcPts val="0"/>
              </a:spcBef>
              <a:spcAft>
                <a:spcPts val="0"/>
              </a:spcAft>
              <a:buClr>
                <a:srgbClr val="324158"/>
              </a:buClr>
              <a:buSzPct val="100000"/>
              <a:buFont typeface="Arial"/>
              <a:buChar char="•"/>
            </a:pPr>
            <a:r>
              <a:t>Files for this demo: section-2-state-lifecycle/demo/run.sh, section-2-state-lifecycle/demo/walkthrough.md, section-2-state-lifecycle/demo/harness/ (the state files the arm starts with), section-2-state-lifecycle/demo/expected/ (the captured run, the fallback), docs/evidence/s2.md, console http://127.0.0.1:8765.</a:t>
            </a:r>
          </a:p>
          <a:p>
            <a:pPr marL="228600" indent="-182880" algn="l">
              <a:lnSpc>
                <a:spcPct val="100000"/>
              </a:lnSpc>
              <a:spcBef>
                <a:spcPts val="0"/>
              </a:spcBef>
              <a:spcAft>
                <a:spcPts val="0"/>
              </a:spcAft>
              <a:buClr>
                <a:srgbClr val="324158"/>
              </a:buClr>
              <a:buSzPct val="100000"/>
              <a:buFont typeface="Arial"/>
              <a:buChar char="•"/>
            </a:pPr>
            <a:r>
              <a:t>Switch to browser tab 2, the run of make show-2 SESSION_BUDGET=12,38 launched at about 1:11; it should have finished by about 1:18. Walk screens 1, 3, 2, 5, 4.</a:t>
            </a:r>
          </a:p>
          <a:p>
            <a:pPr marL="228600" indent="-182880" algn="l">
              <a:lnSpc>
                <a:spcPct val="100000"/>
              </a:lnSpc>
              <a:spcBef>
                <a:spcPts val="0"/>
              </a:spcBef>
              <a:spcAft>
                <a:spcPts val="0"/>
              </a:spcAft>
              <a:buClr>
                <a:srgbClr val="324158"/>
              </a:buClr>
              <a:buSzPct val="100000"/>
              <a:buFont typeface="Arial"/>
              <a:buChar char="•"/>
            </a:pPr>
            <a:r>
              <a:t>Screen 1 (1), Live. Scroll to the pill "Session 1 stopped" and say: "Turn budget spent: 12 turns." Point at "session 1 handoff written", then "Session 2 resumed · prefix: core, instructions, state". Say: "Session 2 starts with an empty context; only the files carry over."</a:t>
            </a:r>
          </a:p>
          <a:p>
            <a:pPr marL="228600" indent="-182880" algn="l">
              <a:lnSpc>
                <a:spcPct val="100000"/>
              </a:lnSpc>
              <a:spcBef>
                <a:spcPts val="0"/>
              </a:spcBef>
              <a:spcAft>
                <a:spcPts val="0"/>
              </a:spcAft>
              <a:buClr>
                <a:srgbClr val="324158"/>
              </a:buClr>
              <a:buSzPct val="100000"/>
              <a:buFont typeface="Arial"/>
              <a:buChar char="•"/>
            </a:pPr>
            <a:r>
              <a:t>Screen 1, turn 2.1: point at pwd; git log --oneline -20; cat progress.md. Say: "It reads state first, before any code." Then session 2 writes the model, service, route, seed, and one migration 0002_comments.py; then "primary verdict ready".</a:t>
            </a:r>
          </a:p>
          <a:p>
            <a:pPr marL="228600" indent="-182880" algn="l">
              <a:lnSpc>
                <a:spcPct val="100000"/>
              </a:lnSpc>
              <a:spcBef>
                <a:spcPts val="0"/>
              </a:spcBef>
              <a:spcAft>
                <a:spcPts val="0"/>
              </a:spcAft>
              <a:buClr>
                <a:srgbClr val="324158"/>
              </a:buClr>
              <a:buSzPct val="100000"/>
              <a:buFont typeface="Arial"/>
              <a:buChar char="•"/>
            </a:pPr>
            <a:r>
              <a:t>Read today's verdict. Pass: "Session 2 picked up the work. No continuity failure." Fail: "The handoff did not carry the work. Screen 3 shows how."</a:t>
            </a:r>
          </a:p>
          <a:p>
            <a:pPr marL="228600" indent="-182880" algn="l">
              <a:lnSpc>
                <a:spcPct val="100000"/>
              </a:lnSpc>
              <a:spcBef>
                <a:spcPts val="0"/>
              </a:spcBef>
              <a:spcAft>
                <a:spcPts val="0"/>
              </a:spcAft>
              <a:buClr>
                <a:srgbClr val="324158"/>
              </a:buClr>
              <a:buSzPct val="100000"/>
              <a:buFont typeface="Arial"/>
              <a:buChar char="•"/>
            </a:pPr>
            <a:r>
              <a:t>Run captured on 2026-10-17 (300 s agent limit): 0:00 initializer writes four files and commits; 1:23 session 1 stops at 12 turns, handoff committed, session 2 resumes; 6:36 run ends at the time limit after 43 turns (ABORTED: timeout, exit 2, still judged); 6:46 primary verdict PASS; 9:52 full verdict, hidden 56 of 56, mutants 0 of 4; command finished at 10 min 7 s.</a:t>
            </a:r>
          </a:p>
          <a:p>
            <a:pPr marL="228600" indent="-182880" algn="l">
              <a:lnSpc>
                <a:spcPct val="100000"/>
              </a:lnSpc>
              <a:spcBef>
                <a:spcPts val="0"/>
              </a:spcBef>
              <a:spcAft>
                <a:spcPts val="0"/>
              </a:spcAft>
              <a:buClr>
                <a:srgbClr val="324158"/>
              </a:buClr>
              <a:buSzPct val="100000"/>
              <a:buFont typeface="Arial"/>
              <a:buChar char="•"/>
            </a:pPr>
            <a:r>
              <a:t>Say: "Session 1 spent its 12 turns reading and wrapping up; session 2 built in its 31 turns. So a PASS on continuity tells us little here: there was little to redo." Mutants 0 of 4: the agent shipped no tests that catch the referee's mutants, Section 4: Verification's subject.</a:t>
            </a:r>
          </a:p>
          <a:p>
            <a:pPr marL="228600" indent="-182880" algn="l">
              <a:lnSpc>
                <a:spcPct val="100000"/>
              </a:lnSpc>
              <a:spcBef>
                <a:spcPts val="0"/>
              </a:spcBef>
              <a:spcAft>
                <a:spcPts val="0"/>
              </a:spcAft>
              <a:buClr>
                <a:srgbClr val="324158"/>
              </a:buClr>
              <a:buSzPct val="100000"/>
              <a:buFont typeface="Arial"/>
              <a:buChar char="•"/>
            </a:pPr>
            <a:r>
              <a:t>Screen 3 (3), Evidence. Point at the Sessions table (capture: "Session 1 · 12 turns · claim_not_done", "Session 2 · 31 turns"), then continuity: 0 new and r7_migrations: 0 new (r7_migrations is the House rule 7: Migrations check).</a:t>
            </a:r>
          </a:p>
          <a:p>
            <a:pPr marL="228600" indent="-182880" algn="l">
              <a:lnSpc>
                <a:spcPct val="100000"/>
              </a:lnSpc>
              <a:spcBef>
                <a:spcPts val="0"/>
              </a:spcBef>
              <a:spcAft>
                <a:spcPts val="0"/>
              </a:spcAft>
              <a:buClr>
                <a:srgbClr val="324158"/>
              </a:buClr>
              <a:buSzPct val="100000"/>
              <a:buFont typeface="Arial"/>
              <a:buChar char="•"/>
            </a:pPr>
            <a:r>
              <a:t>Screen 3, also diff_scope: 1 new: an edit to app/api/issues.py, outside the Feature 2: Comments on issues ticket's allowed paths. Say: "Nothing stopped it: the scope layer starts in Section 3: Scope and sandbox."</a:t>
            </a:r>
          </a:p>
          <a:p>
            <a:pPr marL="228600" indent="-182880" algn="l">
              <a:lnSpc>
                <a:spcPct val="100000"/>
              </a:lnSpc>
              <a:spcBef>
                <a:spcPts val="0"/>
              </a:spcBef>
              <a:spcAft>
                <a:spcPts val="0"/>
              </a:spcAft>
              <a:buClr>
                <a:srgbClr val="324158"/>
              </a:buClr>
              <a:buSzPct val="100000"/>
              <a:buFont typeface="Arial"/>
              <a:buChar char="•"/>
            </a:pPr>
            <a:r>
              <a:t>Screen 2 (2), Boards: Acme user, own-org cards only; the comments panel is on the issue page, and hidden tests judge it.</a:t>
            </a:r>
          </a:p>
          <a:p>
            <a:pPr marL="228600" indent="-182880" algn="l">
              <a:lnSpc>
                <a:spcPct val="100000"/>
              </a:lnSpc>
              <a:spcBef>
                <a:spcPts val="0"/>
              </a:spcBef>
              <a:spcAft>
                <a:spcPts val="0"/>
              </a:spcAft>
              <a:buClr>
                <a:srgbClr val="324158"/>
              </a:buClr>
              <a:buSzPct val="100000"/>
              <a:buFont typeface="Arial"/>
              <a:buChar char="•"/>
            </a:pPr>
            <a:r>
              <a:t>Screen 5 (5), Traces: the first wrong turn, named by the scope check (turn 2.16 in the capture); open session 2's first calls to show what it read. Screen 4 (4), A/B Report: the dots from before class. Say: "Today's run is not a dot in the comparison."</a:t>
            </a:r>
          </a:p>
          <a:p>
            <a:pPr marL="228600" indent="-182880" algn="l">
              <a:lnSpc>
                <a:spcPct val="100000"/>
              </a:lnSpc>
              <a:spcBef>
                <a:spcPts val="0"/>
              </a:spcBef>
              <a:spcAft>
                <a:spcPts val="0"/>
              </a:spcAft>
              <a:buClr>
                <a:srgbClr val="324158"/>
              </a:buClr>
              <a:buSzPct val="100000"/>
              <a:buFont typeface="Arial"/>
              <a:buChar char="•"/>
            </a:pPr>
            <a:r>
              <a:t>Code to mention: the stop runs session_stop in lifecycle.py (idea 1); walkthrough.md walks it line by line.</a:t>
            </a:r>
          </a:p>
          <a:p>
            <a:pPr marL="228600" indent="-182880" algn="l">
              <a:lnSpc>
                <a:spcPct val="100000"/>
              </a:lnSpc>
              <a:spcBef>
                <a:spcPts val="0"/>
              </a:spcBef>
              <a:spcAft>
                <a:spcPts val="0"/>
              </a:spcAft>
              <a:buClr>
                <a:srgbClr val="324158"/>
              </a:buClr>
              <a:buSzPct val="100000"/>
              <a:buFont typeface="Arial"/>
              <a:buChar char="•"/>
            </a:pPr>
            <a:r>
              <a:t>If the screen differs: no "Session 1 stopped" means the agent called finish(claim="done") in session 1 or hit a cap; say this arm never faced the stop. Other turn numbers or times: read what is there.</a:t>
            </a:r>
          </a:p>
          <a:p>
            <a:pPr marL="228600" indent="-182880" algn="l">
              <a:lnSpc>
                <a:spcPct val="100000"/>
              </a:lnSpc>
              <a:spcBef>
                <a:spcPts val="0"/>
              </a:spcBef>
              <a:spcAft>
                <a:spcPts val="0"/>
              </a:spcAft>
              <a:buClr>
                <a:srgbClr val="324158"/>
              </a:buClr>
              <a:buSzPct val="100000"/>
              <a:buFont typeface="Arial"/>
              <a:buChar char="•"/>
            </a:pPr>
            <a:r>
              <a:t>If the run broke for a reason outside the experiment (Docker, network, account): make replay RUN=&lt;id&gt; with the fallback id recorded the day before, or walk section-2-state-lifecycle/demo/expected/ (show-2-screen-1-t01m.png to show-2-screen-5-final.png, plus session-1-notes.txt and session-2-first-call.txt), saying "recorded before class". Docker down: sudo systemctl start docker, make warm.</a:t>
            </a:r>
          </a:p>
          <a:p>
            <a:pPr marL="228600" indent="-182880" algn="l">
              <a:lnSpc>
                <a:spcPct val="100000"/>
              </a:lnSpc>
              <a:spcBef>
                <a:spcPts val="0"/>
              </a:spcBef>
              <a:spcAft>
                <a:spcPts val="0"/>
              </a:spcAft>
              <a:buClr>
                <a:srgbClr val="324158"/>
              </a:buClr>
              <a:buSzPct val="100000"/>
              <a:buFont typeface="Arial"/>
              <a:buChar char="•"/>
            </a:pPr>
            <a:r>
              <a:t>Time: 10 minutes. Next: what we measured.</a:t>
            </a:r>
          </a:p>
        </p:txBody>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6 min (1:50-1:56)</a:t>
            </a:r>
          </a:p>
          <a:p>
            <a:pPr marL="228600" indent="-182880" algn="l">
              <a:lnSpc>
                <a:spcPct val="100000"/>
              </a:lnSpc>
              <a:spcBef>
                <a:spcPts val="0"/>
              </a:spcBef>
              <a:spcAft>
                <a:spcPts val="0"/>
              </a:spcAft>
              <a:buClr>
                <a:srgbClr val="324158"/>
              </a:buClr>
              <a:buSzPct val="100000"/>
              <a:buFont typeface="Arial"/>
              <a:buChar char="•"/>
            </a:pPr>
            <a:r>
              <a:t>Neither arm failed in any of the 7 A/Bs: medium effort 0 of 3 each, low effort 0 of 3 each, class settings 0 of 1 each. Model gpt-6-luna, same settings both arms. Say plainly: "No measurable difference on this task with this model."</a:t>
            </a:r>
          </a:p>
          <a:p>
            <a:pPr marL="228600" indent="-182880" algn="l">
              <a:lnSpc>
                <a:spcPct val="100000"/>
              </a:lnSpc>
              <a:spcBef>
                <a:spcPts val="0"/>
              </a:spcBef>
              <a:spcAft>
                <a:spcPts val="0"/>
              </a:spcAft>
              <a:buClr>
                <a:srgbClr val="324158"/>
              </a:buClr>
              <a:buSzPct val="100000"/>
              <a:buFont typeface="Arial"/>
              <a:buChar char="•"/>
            </a:pPr>
            <a:r>
              <a:t>Limit 1: in the medium- and low-effort rounds 6 of 12 arms built nothing (3 of 56 hidden tests, the 3 that pass on the starting code). The measure cannot fail when session 1 leaves nothing to redo.</a:t>
            </a:r>
          </a:p>
          <a:p>
            <a:pPr marL="228600" indent="-182880" algn="l">
              <a:lnSpc>
                <a:spcPct val="100000"/>
              </a:lnSpc>
              <a:spcBef>
                <a:spcPts val="0"/>
              </a:spcBef>
              <a:spcAft>
                <a:spcPts val="0"/>
              </a:spcAft>
              <a:buClr>
                <a:srgbClr val="324158"/>
              </a:buClr>
              <a:buSzPct val="100000"/>
              <a:buFont typeface="Arial"/>
              <a:buChar char="•"/>
            </a:pPr>
            <a:r>
              <a:t>Limit 2: those six runs exposed the runner bug from idea 1; the fix applies to both arms. In the class-settings round both arms passed 56 of 56 hidden tests.</a:t>
            </a:r>
          </a:p>
          <a:p>
            <a:pPr marL="228600" indent="-182880" algn="l">
              <a:lnSpc>
                <a:spcPct val="100000"/>
              </a:lnSpc>
              <a:spcBef>
                <a:spcPts val="0"/>
              </a:spcBef>
              <a:spcAft>
                <a:spcPts val="0"/>
              </a:spcAft>
              <a:buClr>
                <a:srgbClr val="324158"/>
              </a:buClr>
              <a:buSzPct val="100000"/>
              <a:buFont typeface="Arial"/>
              <a:buChar char="•"/>
            </a:pPr>
            <a:r>
              <a:t>Why a tie: in one test run the bare arm's session 2 found the uncommitted migration with git status by itself. The repository was enough state for this model.</a:t>
            </a:r>
          </a:p>
          <a:p>
            <a:pPr marL="228600" indent="-182880" algn="l">
              <a:lnSpc>
                <a:spcPct val="100000"/>
              </a:lnSpc>
              <a:spcBef>
                <a:spcPts val="0"/>
              </a:spcBef>
              <a:spcAft>
                <a:spcPts val="0"/>
              </a:spcAft>
              <a:buClr>
                <a:srgbClr val="324158"/>
              </a:buClr>
              <a:buSzPct val="100000"/>
              <a:buFont typeface="Arial"/>
              <a:buChar char="•"/>
            </a:pPr>
            <a:r>
              <a:t>Cost, post hoc (descriptive only), 9 runs per arm: harness arms hit the agent time limit in 4 of 9, bare in 0 of 9; median arm wall time 361 s against 232 s.</a:t>
            </a:r>
          </a:p>
          <a:p>
            <a:pPr marL="228600" indent="-182880" algn="l">
              <a:lnSpc>
                <a:spcPct val="100000"/>
              </a:lnSpc>
              <a:spcBef>
                <a:spcPts val="0"/>
              </a:spcBef>
              <a:spcAft>
                <a:spcPts val="0"/>
              </a:spcAft>
              <a:buClr>
                <a:srgbClr val="324158"/>
              </a:buClr>
              <a:buSzPct val="100000"/>
              <a:buFont typeface="Arial"/>
              <a:buChar char="•"/>
            </a:pPr>
            <a:r>
              <a:t>When it earns its place: tasks outlast one session, half-done work is hard to see, people and agents share a task.</a:t>
            </a:r>
          </a:p>
          <a:p>
            <a:pPr marL="228600" indent="-182880" algn="l">
              <a:lnSpc>
                <a:spcPct val="100000"/>
              </a:lnSpc>
              <a:spcBef>
                <a:spcPts val="0"/>
              </a:spcBef>
              <a:spcAft>
                <a:spcPts val="0"/>
              </a:spcAft>
              <a:buClr>
                <a:srgbClr val="324158"/>
              </a:buClr>
              <a:buSzPct val="100000"/>
              <a:buFont typeface="Arial"/>
              <a:buChar char="•"/>
            </a:pPr>
            <a:r>
              <a:t>Monday: stop your agent halfway and watch its first five calls for git status, git log, or a look at migrations/versions; if they are there, your model may not need much more.</a:t>
            </a:r>
          </a:p>
          <a:p>
            <a:pPr marL="228600" indent="-182880" algn="l">
              <a:lnSpc>
                <a:spcPct val="100000"/>
              </a:lnSpc>
              <a:spcBef>
                <a:spcPts val="0"/>
              </a:spcBef>
              <a:spcAft>
                <a:spcPts val="0"/>
              </a:spcAft>
              <a:buClr>
                <a:srgbClr val="324158"/>
              </a:buClr>
              <a:buSzPct val="100000"/>
              <a:buFont typeface="Arial"/>
              <a:buChar char="•"/>
            </a:pPr>
            <a:r>
              <a:t>The facts part is a short script at the stop: git log -3 --oneline, git status --short, alembic heads, the visible test result, appended to a two-owner handoff and committed with explicit paths. Measure redone lines (the course used a 30% threshold), duplicate tables, and heads; starter in use-in-your-repo/ and Assignment 2: State and sessions (make check-assignment-2 first).</a:t>
            </a:r>
          </a:p>
          <a:p>
            <a:pPr marL="228600" indent="-182880" algn="l">
              <a:lnSpc>
                <a:spcPct val="100000"/>
              </a:lnSpc>
              <a:spcBef>
                <a:spcPts val="0"/>
              </a:spcBef>
              <a:spcAft>
                <a:spcPts val="0"/>
              </a:spcAft>
              <a:buClr>
                <a:srgbClr val="324158"/>
              </a:buClr>
              <a:buSzPct val="100000"/>
              <a:buFont typeface="Arial"/>
              <a:buChar char="•"/>
            </a:pPr>
            <a:r>
              <a:t>Ask: "What would a fairer test of the handoff need?" Expected: longer tasks, more stops, sessions that leave real half-done code, more runs.</a:t>
            </a:r>
          </a:p>
          <a:p>
            <a:pPr marL="228600" indent="-182880" algn="l">
              <a:lnSpc>
                <a:spcPct val="100000"/>
              </a:lnSpc>
              <a:spcBef>
                <a:spcPts val="0"/>
              </a:spcBef>
              <a:spcAft>
                <a:spcPts val="0"/>
              </a:spcAft>
              <a:buClr>
                <a:srgbClr val="324158"/>
              </a:buClr>
              <a:buSzPct val="100000"/>
              <a:buFont typeface="Arial"/>
              <a:buChar char="•"/>
            </a:pPr>
            <a:r>
              <a:t>Likely question: "So are state files useless?" Answer: one bet on one model and ticket; Source 3: Harness design for long-running application development (https://www.anthropic.com/engineering/harness-design-long-running-apps) dropped context resets from its own harness once a later model no longer needed them.</a:t>
            </a:r>
          </a:p>
          <a:p>
            <a:pPr marL="228600" indent="-182880" algn="l">
              <a:lnSpc>
                <a:spcPct val="100000"/>
              </a:lnSpc>
              <a:spcBef>
                <a:spcPts val="0"/>
              </a:spcBef>
              <a:spcAft>
                <a:spcPts val="0"/>
              </a:spcAft>
              <a:buClr>
                <a:srgbClr val="324158"/>
              </a:buClr>
              <a:buSzPct val="100000"/>
              <a:buFont typeface="Arial"/>
              <a:buChar char="•"/>
            </a:pPr>
            <a:r>
              <a:t>Misconception: "no difference means it was a waste to measure" or "ask the agent to write a summary at the end". Correction: measuring found a runner bug and the turn cost; write the facts from code and let the agent add notes.</a:t>
            </a:r>
          </a:p>
          <a:p>
            <a:pPr marL="228600" indent="-182880" algn="l">
              <a:lnSpc>
                <a:spcPct val="100000"/>
              </a:lnSpc>
              <a:spcBef>
                <a:spcPts val="0"/>
              </a:spcBef>
              <a:spcAft>
                <a:spcPts val="0"/>
              </a:spcAft>
              <a:buClr>
                <a:srgbClr val="324158"/>
              </a:buClr>
              <a:buSzPct val="100000"/>
              <a:buFont typeface="Arial"/>
              <a:buChar char="•"/>
            </a:pPr>
            <a:r>
              <a:t>Time: 6 minutes. Next: questions.</a:t>
            </a:r>
          </a:p>
        </p:txBody>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(1:56-2:00)</a:t>
            </a:r>
          </a:p>
          <a:p>
            <a:pPr marL="228600" indent="-182880" algn="l">
              <a:lnSpc>
                <a:spcPct val="100000"/>
              </a:lnSpc>
              <a:spcBef>
                <a:spcPts val="0"/>
              </a:spcBef>
              <a:spcAft>
                <a:spcPts val="0"/>
              </a:spcAft>
              <a:buClr>
                <a:srgbClr val="324158"/>
              </a:buClr>
              <a:buSzPct val="100000"/>
              <a:buFont typeface="Arial"/>
              <a:buChar char="•"/>
            </a:pPr>
            <a:r>
              <a:t>Collect questions from chat; park long ones for the review session (Assignment 2: State and sessions slot, 25 minutes).</a:t>
            </a:r>
          </a:p>
          <a:p>
            <a:pPr marL="228600" indent="-182880" algn="l">
              <a:lnSpc>
                <a:spcPct val="100000"/>
              </a:lnSpc>
              <a:spcBef>
                <a:spcPts val="0"/>
              </a:spcBef>
              <a:spcAft>
                <a:spcPts val="0"/>
              </a:spcAft>
              <a:buClr>
                <a:srgbClr val="324158"/>
              </a:buClr>
              <a:buSzPct val="100000"/>
              <a:buFont typeface="Arial"/>
              <a:buChar char="•"/>
            </a:pPr>
            <a:r>
              <a:t>Ready answer, "Why 12 turns for session 1?": a pre-registered lever, the same for both arms, so the stop lands mid-feature.</a:t>
            </a:r>
          </a:p>
          <a:p>
            <a:pPr marL="228600" indent="-182880" algn="l">
              <a:lnSpc>
                <a:spcPct val="100000"/>
              </a:lnSpc>
              <a:spcBef>
                <a:spcPts val="0"/>
              </a:spcBef>
              <a:spcAft>
                <a:spcPts val="0"/>
              </a:spcAft>
              <a:buClr>
                <a:srgbClr val="324158"/>
              </a:buClr>
              <a:buSzPct val="100000"/>
              <a:buFont typeface="Arial"/>
              <a:buChar char="•"/>
            </a:pPr>
            <a:r>
              <a:t>Ready answer, "Why did session 2 edit app/api/issues.py?": the state layer has no scope guard; Section 3: Scope and sandbox adds one. The referee's diff_scope row counted the edit anyway.</a:t>
            </a:r>
          </a:p>
          <a:p>
            <a:pPr marL="228600" indent="-182880" algn="l">
              <a:lnSpc>
                <a:spcPct val="100000"/>
              </a:lnSpc>
              <a:spcBef>
                <a:spcPts val="0"/>
              </a:spcBef>
              <a:spcAft>
                <a:spcPts val="0"/>
              </a:spcAft>
              <a:buClr>
                <a:srgbClr val="324158"/>
              </a:buClr>
              <a:buSzPct val="100000"/>
              <a:buFont typeface="Arial"/>
              <a:buChar char="•"/>
            </a:pPr>
            <a:r>
              <a:t>Ready answer, "Does PASS mean the feature works?": no; read the hidden-test count next to it.</a:t>
            </a:r>
          </a:p>
          <a:p>
            <a:pPr marL="228600" indent="-182880" algn="l">
              <a:lnSpc>
                <a:spcPct val="100000"/>
              </a:lnSpc>
              <a:spcBef>
                <a:spcPts val="0"/>
              </a:spcBef>
              <a:spcAft>
                <a:spcPts val="0"/>
              </a:spcAft>
              <a:buClr>
                <a:srgbClr val="324158"/>
              </a:buClr>
              <a:buSzPct val="100000"/>
              <a:buFont typeface="Arial"/>
              <a:buChar char="•"/>
            </a:pPr>
            <a:r>
              <a:t>Ready answer, "Why still use a stop if newer models need no resets?": to make the problem visible at a known point, the same for both arms.</a:t>
            </a:r>
          </a:p>
          <a:p>
            <a:pPr marL="228600" indent="-182880" algn="l">
              <a:lnSpc>
                <a:spcPct val="100000"/>
              </a:lnSpc>
              <a:spcBef>
                <a:spcPts val="0"/>
              </a:spcBef>
              <a:spcAft>
                <a:spcPts val="0"/>
              </a:spcAft>
              <a:buClr>
                <a:srgbClr val="324158"/>
              </a:buClr>
              <a:buSzPct val="100000"/>
              <a:buFont typeface="Arial"/>
              <a:buChar char="•"/>
            </a:pPr>
            <a:r>
              <a:t>Point learners to section-2-state-lifecycle/demo/README.md and section-2-state-lifecycle/session-notes.md.</a:t>
            </a:r>
          </a:p>
          <a:p>
            <a:pPr marL="228600" indent="-182880" algn="l">
              <a:lnSpc>
                <a:spcPct val="100000"/>
              </a:lnSpc>
              <a:spcBef>
                <a:spcPts val="0"/>
              </a:spcBef>
              <a:spcAft>
                <a:spcPts val="0"/>
              </a:spcAft>
              <a:buClr>
                <a:srgbClr val="324158"/>
              </a:buClr>
              <a:buSzPct val="100000"/>
              <a:buFont typeface="Arial"/>
              <a:buChar char="•"/>
            </a:pPr>
            <a:r>
              <a:t>Ask: "What is one line you would add to your own handoff file?" Expected: the current test status, or the migration head.</a:t>
            </a:r>
          </a:p>
          <a:p>
            <a:pPr marL="228600" indent="-182880" algn="l">
              <a:lnSpc>
                <a:spcPct val="100000"/>
              </a:lnSpc>
              <a:spcBef>
                <a:spcPts val="0"/>
              </a:spcBef>
              <a:spcAft>
                <a:spcPts val="0"/>
              </a:spcAft>
              <a:buClr>
                <a:srgbClr val="324158"/>
              </a:buClr>
              <a:buSzPct val="100000"/>
              <a:buFont typeface="Arial"/>
              <a:buChar char="•"/>
            </a:pPr>
            <a:r>
              <a:t>Time: 4 minutes, section ends at 2:00. Next: Section 3, a live A/B.</a:t>
            </a:r>
          </a:p>
        </p:txBody>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(2:00-2:02)</a:t>
            </a:r>
          </a:p>
          <a:p>
            <a:pPr marL="228600" indent="-182880" algn="l">
              <a:lnSpc>
                <a:spcPct val="100000"/>
              </a:lnSpc>
              <a:spcBef>
                <a:spcPts val="0"/>
              </a:spcBef>
              <a:spcAft>
                <a:spcPts val="0"/>
              </a:spcAft>
              <a:buClr>
                <a:srgbClr val="324158"/>
              </a:buClr>
              <a:buSzPct val="100000"/>
              <a:buFont typeface="Arial"/>
              <a:buChar char="•"/>
            </a:pPr>
            <a:r>
              <a:t>Section 3: Scope and sandbox limits what the agent may change and what it can reach. The ticket: Feature 4: Version checks on issue edits: an ETag on every issue, If-Match, a 412 on a stale save, plus an issue history.</a:t>
            </a:r>
          </a:p>
          <a:p>
            <a:pPr marL="228600" indent="-182880" algn="l">
              <a:lnSpc>
                <a:spcPct val="100000"/>
              </a:lnSpc>
              <a:spcBef>
                <a:spcPts val="0"/>
              </a:spcBef>
              <a:spcAft>
                <a:spcPts val="0"/>
              </a:spcAft>
              <a:buClr>
                <a:srgbClr val="324158"/>
              </a:buClr>
              <a:buSzPct val="100000"/>
              <a:buFont typeface="Arial"/>
              <a:buChar char="•"/>
            </a:pPr>
            <a:r>
              <a:t>This is the one section with a live A/B, because the data before class showed a gap. The primary measure: did an arm change a file outside the ticket's allowed paths?</a:t>
            </a:r>
          </a:p>
          <a:p>
            <a:pPr marL="228600" indent="-182880" algn="l">
              <a:lnSpc>
                <a:spcPct val="100000"/>
              </a:lnSpc>
              <a:spcBef>
                <a:spcPts val="0"/>
              </a:spcBef>
              <a:spcAft>
                <a:spcPts val="0"/>
              </a:spcAft>
              <a:buClr>
                <a:srgbClr val="324158"/>
              </a:buClr>
              <a:buSzPct val="100000"/>
              <a:buFont typeface="Arial"/>
              <a:buChar char="•"/>
            </a:pPr>
            <a:r>
              <a:t>Launch now, about 2:01, terminal B: make demo-3 FEATURE=version-checks. Without FEATURE it runs Feature 3: Safe retries for issue creation, a ticket with no gap; the old form FEATURE=F4 runs the same ticket as the readable one.</a:t>
            </a:r>
          </a:p>
          <a:p>
            <a:pPr marL="228600" indent="-182880" algn="l">
              <a:lnSpc>
                <a:spcPct val="100000"/>
              </a:lnSpc>
              <a:spcBef>
                <a:spcPts val="0"/>
              </a:spcBef>
              <a:spcAft>
                <a:spcPts val="0"/>
              </a:spcAft>
              <a:buClr>
                <a:srgbClr val="324158"/>
              </a:buClr>
              <a:buSzPct val="100000"/>
              <a:buFont typeface="Arial"/>
              <a:buChar char="•"/>
            </a:pPr>
            <a:r>
              <a:t>Both arms run at once, each in its own container with the same limits. The harness arm has the instructions, state, and scope layers; the bare arm has none.</a:t>
            </a:r>
          </a:p>
          <a:p>
            <a:pPr marL="228600" indent="-182880" algn="l">
              <a:lnSpc>
                <a:spcPct val="100000"/>
              </a:lnSpc>
              <a:spcBef>
                <a:spcPts val="0"/>
              </a:spcBef>
              <a:spcAft>
                <a:spcPts val="0"/>
              </a:spcAft>
              <a:buClr>
                <a:srgbClr val="324158"/>
              </a:buClr>
              <a:buSzPct val="100000"/>
              <a:buFont typeface="Arial"/>
              <a:buChar char="•"/>
            </a:pPr>
            <a:r>
              <a:t>Browser tab 2: reload the run list, open the newest run, press 1; F shows one arm full screen. Around minute 1, screen 1 may show a block row for app/services/errors.py in the harness arm.</a:t>
            </a:r>
          </a:p>
          <a:p>
            <a:pPr marL="228600" indent="-182880" algn="l">
              <a:lnSpc>
                <a:spcPct val="100000"/>
              </a:lnSpc>
              <a:spcBef>
                <a:spcPts val="0"/>
              </a:spcBef>
              <a:spcAft>
                <a:spcPts val="0"/>
              </a:spcAft>
              <a:buClr>
                <a:srgbClr val="324158"/>
              </a:buClr>
              <a:buSzPct val="100000"/>
              <a:buFont typeface="Arial"/>
              <a:buChar char="•"/>
            </a:pPr>
            <a:r>
              <a:t>Expected, measured 2026-10-18 (three A/Bs, class profile, two runs at a time): bare primary verdict 2 to 6 minutes after launch (1:52 to 5:23), full 4 to 8 minutes (3:58 to 7:42); harness primary 6 to 8 minutes (6:12 to 7:23), full 8 to 10 minutes (7:31 to 9:43); cost $0.037 to $0.053; every arm completed. Done by about 2:11; the DEMO slide is at about 2:28.</a:t>
            </a:r>
          </a:p>
          <a:p>
            <a:pPr marL="228600" indent="-182880" algn="l">
              <a:lnSpc>
                <a:spcPct val="100000"/>
              </a:lnSpc>
              <a:spcBef>
                <a:spcPts val="0"/>
              </a:spcBef>
              <a:spcAft>
                <a:spcPts val="0"/>
              </a:spcAft>
              <a:buClr>
                <a:srgbClr val="324158"/>
              </a:buClr>
              <a:buSzPct val="100000"/>
              <a:buFont typeface="Arial"/>
              <a:buChar char="•"/>
            </a:pPr>
            <a:r>
              <a:t>If the console shows F3 (the code for Feature 3): FEATURE=version-checks was left out; Ctrl+C and relaunch with it. Key or date errors: fix .env, make doctor, relaunch.</a:t>
            </a:r>
          </a:p>
          <a:p>
            <a:pPr marL="228600" indent="-182880" algn="l">
              <a:lnSpc>
                <a:spcPct val="100000"/>
              </a:lnSpc>
              <a:spcBef>
                <a:spcPts val="0"/>
              </a:spcBef>
              <a:spcAft>
                <a:spcPts val="0"/>
              </a:spcAft>
              <a:buClr>
                <a:srgbClr val="324158"/>
              </a:buClr>
              <a:buSzPct val="100000"/>
              <a:buFont typeface="Arial"/>
              <a:buChar char="•"/>
            </a:pPr>
            <a:r>
              <a:t>Analogy: least privilege for a service account, applied to an agent: the files of one feature, inside one container.</a:t>
            </a:r>
          </a:p>
          <a:p>
            <a:pPr marL="228600" indent="-182880" algn="l">
              <a:lnSpc>
                <a:spcPct val="100000"/>
              </a:lnSpc>
              <a:spcBef>
                <a:spcPts val="0"/>
              </a:spcBef>
              <a:spcAft>
                <a:spcPts val="0"/>
              </a:spcAft>
              <a:buClr>
                <a:srgbClr val="324158"/>
              </a:buClr>
              <a:buSzPct val="100000"/>
              <a:buFont typeface="Arial"/>
              <a:buChar char="•"/>
            </a:pPr>
            <a:r>
              <a:t>Ask: "Has an agent ever changed a file you did not ask it to touch?" Expected: most hands; config files, shared utils, lockfiles.</a:t>
            </a:r>
          </a:p>
          <a:p>
            <a:pPr marL="228600" indent="-182880" algn="l">
              <a:lnSpc>
                <a:spcPct val="100000"/>
              </a:lnSpc>
              <a:spcBef>
                <a:spcPts val="0"/>
              </a:spcBef>
              <a:spcAft>
                <a:spcPts val="0"/>
              </a:spcAft>
              <a:buClr>
                <a:srgbClr val="324158"/>
              </a:buClr>
              <a:buSzPct val="100000"/>
              <a:buFont typeface="Arial"/>
              <a:buChar char="•"/>
            </a:pPr>
            <a:r>
              <a:t>Likely question: "Is the sandbox part of the comparison?" Answer: no; both arms run in the same container. It is taught here, never the variable.</a:t>
            </a:r>
          </a:p>
          <a:p>
            <a:pPr marL="228600" indent="-182880" algn="l">
              <a:lnSpc>
                <a:spcPct val="100000"/>
              </a:lnSpc>
              <a:spcBef>
                <a:spcPts val="0"/>
              </a:spcBef>
              <a:spcAft>
                <a:spcPts val="0"/>
              </a:spcAft>
              <a:buClr>
                <a:srgbClr val="324158"/>
              </a:buClr>
              <a:buSzPct val="100000"/>
              <a:buFont typeface="Arial"/>
              <a:buChar char="•"/>
            </a:pPr>
            <a:r>
              <a:t>Misconception: "scope is about security". Correction: the scope layer keeps a change inside the ticket; the container is the security boundary.</a:t>
            </a:r>
          </a:p>
          <a:p>
            <a:pPr marL="228600" indent="-182880" algn="l">
              <a:lnSpc>
                <a:spcPct val="100000"/>
              </a:lnSpc>
              <a:spcBef>
                <a:spcPts val="0"/>
              </a:spcBef>
              <a:spcAft>
                <a:spcPts val="0"/>
              </a:spcAft>
              <a:buClr>
                <a:srgbClr val="324158"/>
              </a:buClr>
              <a:buSzPct val="100000"/>
              <a:buFont typeface="Arial"/>
              <a:buChar char="•"/>
            </a:pPr>
            <a:r>
              <a:t>Time: 2 minutes including the launch. Next: the failure this section is about.</a:t>
            </a:r>
          </a:p>
        </p:txBody>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(2:02-2:06)</a:t>
            </a:r>
          </a:p>
          <a:p>
            <a:pPr marL="228600" indent="-182880" algn="l">
              <a:lnSpc>
                <a:spcPct val="100000"/>
              </a:lnSpc>
              <a:spcBef>
                <a:spcPts val="0"/>
              </a:spcBef>
              <a:spcAft>
                <a:spcPts val="0"/>
              </a:spcAft>
              <a:buClr>
                <a:srgbClr val="324158"/>
              </a:buClr>
              <a:buSzPct val="100000"/>
              <a:buFont typeface="Arial"/>
              <a:buChar char="•"/>
            </a:pPr>
            <a:r>
              <a:t>Illustrative scenario from the concepts page: Sam asks a coding agent for version checks on TeamTrack issues: an ETag, If-Match, a 412 on stale saves. The ticket lists the files; nothing checks the list.</a:t>
            </a:r>
          </a:p>
          <a:p>
            <a:pPr marL="228600" indent="-182880" algn="l">
              <a:lnSpc>
                <a:spcPct val="100000"/>
              </a:lnSpc>
              <a:spcBef>
                <a:spcPts val="0"/>
              </a:spcBef>
              <a:spcAft>
                <a:spcPts val="0"/>
              </a:spcAft>
              <a:buClr>
                <a:srgbClr val="324158"/>
              </a:buClr>
              <a:buSzPct val="100000"/>
              <a:buFont typeface="Arial"/>
              <a:buChar char="•"/>
            </a:pPr>
            <a:r>
              <a:t>A month later another team changes the shared error mapping, version checks answer the wrong status, nobody links it to this ticket, and every agent diff now needs a full review.</a:t>
            </a:r>
          </a:p>
          <a:p>
            <a:pPr marL="228600" indent="-182880" algn="l">
              <a:lnSpc>
                <a:spcPct val="100000"/>
              </a:lnSpc>
              <a:spcBef>
                <a:spcPts val="0"/>
              </a:spcBef>
              <a:spcAft>
                <a:spcPts val="0"/>
              </a:spcAft>
              <a:buClr>
                <a:srgbClr val="324158"/>
              </a:buClr>
              <a:buSzPct val="100000"/>
              <a:buFont typeface="Arial"/>
              <a:buChar char="•"/>
            </a:pPr>
            <a:r>
              <a:t>Real, before class: in the confirmation run of Section 3: Scope and sandbox every bare arm on Feature 4 changed app/services/errors.py, which is not in the build phase's allowed paths. In one run it added a PreconditionFailed error class with status 412 there.</a:t>
            </a:r>
          </a:p>
          <a:p>
            <a:pPr marL="228600" indent="-182880" algn="l">
              <a:lnSpc>
                <a:spcPct val="100000"/>
              </a:lnSpc>
              <a:spcBef>
                <a:spcPts val="0"/>
              </a:spcBef>
              <a:spcAft>
                <a:spcPts val="0"/>
              </a:spcAft>
              <a:buClr>
                <a:srgbClr val="324158"/>
              </a:buClr>
              <a:buSzPct val="100000"/>
              <a:buFont typeface="Arial"/>
              <a:buChar char="•"/>
            </a:pPr>
            <a:r>
              <a:t>The agent is following a pattern: the handbook points to the shared errors module for every new error. Source 1: Harness engineering (https://openai.com/index/harness-engineering/): "Codex replicates patterns that already exist in the repository—even uneven or suboptimal ones."</a:t>
            </a:r>
          </a:p>
          <a:p>
            <a:pPr marL="228600" indent="-182880" algn="l">
              <a:lnSpc>
                <a:spcPct val="100000"/>
              </a:lnSpc>
              <a:spcBef>
                <a:spcPts val="0"/>
              </a:spcBef>
              <a:spcAft>
                <a:spcPts val="0"/>
              </a:spcAft>
              <a:buClr>
                <a:srgbClr val="324158"/>
              </a:buClr>
              <a:buSzPct val="100000"/>
              <a:buFont typeface="Arial"/>
              <a:buChar char="•"/>
            </a:pPr>
            <a:r>
              <a:t>Analogy: a pull request that touches a shared library in a monorepo without the library's code owners reviewing it.</a:t>
            </a:r>
          </a:p>
          <a:p>
            <a:pPr marL="228600" indent="-182880" algn="l">
              <a:lnSpc>
                <a:spcPct val="100000"/>
              </a:lnSpc>
              <a:spcBef>
                <a:spcPts val="0"/>
              </a:spcBef>
              <a:spcAft>
                <a:spcPts val="0"/>
              </a:spcAft>
              <a:buClr>
                <a:srgbClr val="324158"/>
              </a:buClr>
              <a:buSzPct val="100000"/>
              <a:buFont typeface="Arial"/>
              <a:buChar char="•"/>
            </a:pPr>
            <a:r>
              <a:t>Point at card 3: that is where a small edit reaches other features.</a:t>
            </a:r>
          </a:p>
          <a:p>
            <a:pPr marL="228600" indent="-182880" algn="l">
              <a:lnSpc>
                <a:spcPct val="100000"/>
              </a:lnSpc>
              <a:spcBef>
                <a:spcPts val="0"/>
              </a:spcBef>
              <a:spcAft>
                <a:spcPts val="0"/>
              </a:spcAft>
              <a:buClr>
                <a:srgbClr val="324158"/>
              </a:buClr>
              <a:buSzPct val="100000"/>
              <a:buFont typeface="Arial"/>
              <a:buChar char="•"/>
            </a:pPr>
            <a:r>
              <a:t>Ask: "Was adding the error class wrong?" Expected: not by itself; it was outside what the ticket allowed, so the shared module's owners never reviewed it.</a:t>
            </a:r>
          </a:p>
          <a:p>
            <a:pPr marL="228600" indent="-182880" algn="l">
              <a:lnSpc>
                <a:spcPct val="100000"/>
              </a:lnSpc>
              <a:spcBef>
                <a:spcPts val="0"/>
              </a:spcBef>
              <a:spcAft>
                <a:spcPts val="0"/>
              </a:spcAft>
              <a:buClr>
                <a:srgbClr val="324158"/>
              </a:buClr>
              <a:buSzPct val="100000"/>
              <a:buFont typeface="Arial"/>
              <a:buChar char="•"/>
            </a:pPr>
            <a:r>
              <a:t>Likely question: "Did the stray edit break anything in your runs?" Answer: no; existing tests kept passing (190 of 190) in every arm. The count measures scope, not correctness.</a:t>
            </a:r>
          </a:p>
          <a:p>
            <a:pPr marL="228600" indent="-182880" algn="l">
              <a:lnSpc>
                <a:spcPct val="100000"/>
              </a:lnSpc>
              <a:spcBef>
                <a:spcPts val="0"/>
              </a:spcBef>
              <a:spcAft>
                <a:spcPts val="0"/>
              </a:spcAft>
              <a:buClr>
                <a:srgbClr val="324158"/>
              </a:buClr>
              <a:buSzPct val="100000"/>
              <a:buFont typeface="Arial"/>
              <a:buChar char="•"/>
            </a:pPr>
            <a:r>
              <a:t>Misconception: "a small diff is a safe diff". Correction: size says nothing about where the lines landed.</a:t>
            </a:r>
          </a:p>
          <a:p>
            <a:pPr marL="228600" indent="-182880" algn="l">
              <a:lnSpc>
                <a:spcPct val="100000"/>
              </a:lnSpc>
              <a:spcBef>
                <a:spcPts val="0"/>
              </a:spcBef>
              <a:spcAft>
                <a:spcPts val="0"/>
              </a:spcAft>
              <a:buClr>
                <a:srgbClr val="324158"/>
              </a:buClr>
              <a:buSzPct val="100000"/>
              <a:buFont typeface="Arial"/>
              <a:buChar char="•"/>
            </a:pPr>
            <a:r>
              <a:t>Time: 4 minutes. Next: both arms read the same list; why is that not enough?</a:t>
            </a:r>
          </a:p>
        </p:txBody>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 min (2:06-2:09)</a:t>
            </a:r>
          </a:p>
          <a:p>
            <a:pPr marL="228600" indent="-182880" algn="l">
              <a:lnSpc>
                <a:spcPct val="100000"/>
              </a:lnSpc>
              <a:spcBef>
                <a:spcPts val="0"/>
              </a:spcBef>
              <a:spcAft>
                <a:spcPts val="0"/>
              </a:spcAft>
              <a:buClr>
                <a:srgbClr val="324158"/>
              </a:buClr>
              <a:buSzPct val="100000"/>
              <a:buFont typeface="Arial"/>
              <a:buChar char="•"/>
            </a:pPr>
            <a:r>
              <a:t>Allowed paths are the globs a ticket lists per phase: the files the agent may change then. A phase is one stage of a run: build writes the feature, test adds tests only.</a:t>
            </a:r>
          </a:p>
          <a:p>
            <a:pPr marL="228600" indent="-182880" algn="l">
              <a:lnSpc>
                <a:spcPct val="100000"/>
              </a:lnSpc>
              <a:spcBef>
                <a:spcPts val="0"/>
              </a:spcBef>
              <a:spcAft>
                <a:spcPts val="0"/>
              </a:spcAft>
              <a:buClr>
                <a:srgbClr val="324158"/>
              </a:buClr>
              <a:buSzPct val="100000"/>
              <a:buFont typeface="Arial"/>
              <a:buChar char="•"/>
            </a:pPr>
            <a:r>
              <a:t>Feature 4: Version checks on issue edits' build list: the issue and audit API, services and repositories, app/web/, and tests/visible/. app/services/errors.py is not on it.</a:t>
            </a:r>
          </a:p>
          <a:p>
            <a:pPr marL="228600" indent="-182880" algn="l">
              <a:lnSpc>
                <a:spcPct val="100000"/>
              </a:lnSpc>
              <a:spcBef>
                <a:spcPts val="0"/>
              </a:spcBef>
              <a:spcAft>
                <a:spcPts val="0"/>
              </a:spcAft>
              <a:buClr>
                <a:srgbClr val="324158"/>
              </a:buClr>
              <a:buSzPct val="100000"/>
              <a:buFont typeface="Arial"/>
              <a:buChar char="•"/>
            </a:pPr>
            <a:r>
              <a:t>Ask first: "Is a list in the prompt enough?" Expected: split; some trust the model to follow instructions. The bare arm sees the list in the same ticket text; the only difference is whether code checks it.</a:t>
            </a:r>
          </a:p>
          <a:p>
            <a:pPr marL="228600" indent="-182880" algn="l">
              <a:lnSpc>
                <a:spcPct val="100000"/>
              </a:lnSpc>
              <a:spcBef>
                <a:spcPts val="0"/>
              </a:spcBef>
              <a:spcAft>
                <a:spcPts val="0"/>
              </a:spcAft>
              <a:buClr>
                <a:srgbClr val="324158"/>
              </a:buClr>
              <a:buSzPct val="100000"/>
              <a:buFont typeface="Arial"/>
              <a:buChar char="•"/>
            </a:pPr>
            <a:r>
              <a:t>Source 2: Effective harnesses for long-running agents (https://www.anthropic.com/engineering/effective-harnesses-for-long-running-agents): its harness told the agent "It is unacceptable to remove or edit tests" and kept the feature list in JSON because "the model is less likely to inappropriately change or overwrite JSON files compared to Markdown files." "Less likely" is the point.</a:t>
            </a:r>
          </a:p>
          <a:p>
            <a:pPr marL="228600" indent="-182880" algn="l">
              <a:lnSpc>
                <a:spcPct val="100000"/>
              </a:lnSpc>
              <a:spcBef>
                <a:spcPts val="0"/>
              </a:spcBef>
              <a:spcAft>
                <a:spcPts val="0"/>
              </a:spcAft>
              <a:buClr>
                <a:srgbClr val="324158"/>
              </a:buClr>
              <a:buSzPct val="100000"/>
              <a:buFont typeface="Arial"/>
              <a:buChar char="•"/>
            </a:pPr>
            <a:r>
              <a:t>In our runs, the same ticket text did not stop the bare arm in any of 3 runs.</a:t>
            </a:r>
          </a:p>
          <a:p>
            <a:pPr marL="228600" indent="-182880" algn="l">
              <a:lnSpc>
                <a:spcPct val="100000"/>
              </a:lnSpc>
              <a:spcBef>
                <a:spcPts val="0"/>
              </a:spcBef>
              <a:spcAft>
                <a:spcPts val="0"/>
              </a:spcAft>
              <a:buClr>
                <a:srgbClr val="324158"/>
              </a:buClr>
              <a:buSzPct val="100000"/>
              <a:buFont typeface="Arial"/>
              <a:buChar char="•"/>
            </a:pPr>
            <a:r>
              <a:t>Source 1: Harness engineering (https://openai.com/index/harness-engineering/) names the alternative: "enforce boundaries centrally, allow autonomy locally."</a:t>
            </a:r>
          </a:p>
          <a:p>
            <a:pPr marL="228600" indent="-182880" algn="l">
              <a:lnSpc>
                <a:spcPct val="100000"/>
              </a:lnSpc>
              <a:spcBef>
                <a:spcPts val="0"/>
              </a:spcBef>
              <a:spcAft>
                <a:spcPts val="0"/>
              </a:spcAft>
              <a:buClr>
                <a:srgbClr val="324158"/>
              </a:buClr>
              <a:buSzPct val="100000"/>
              <a:buFont typeface="Arial"/>
              <a:buChar char="•"/>
            </a:pPr>
            <a:r>
              <a:t>Analogy: "please don't push to main" in the wiki versus a protected branch; a "staff only" sign versus a locked door.</a:t>
            </a:r>
          </a:p>
          <a:p>
            <a:pPr marL="228600" indent="-182880" algn="l">
              <a:lnSpc>
                <a:spcPct val="100000"/>
              </a:lnSpc>
              <a:spcBef>
                <a:spcPts val="0"/>
              </a:spcBef>
              <a:spcAft>
                <a:spcPts val="0"/>
              </a:spcAft>
              <a:buClr>
                <a:srgbClr val="324158"/>
              </a:buClr>
              <a:buSzPct val="100000"/>
              <a:buFont typeface="Arial"/>
              <a:buChar char="•"/>
            </a:pPr>
            <a:r>
              <a:t>Ask: "Where would you enforce it: the prompt, review, or the tool call?" Expected: the tool call, before the write lands.</a:t>
            </a:r>
          </a:p>
          <a:p>
            <a:pPr marL="228600" indent="-182880" algn="l">
              <a:lnSpc>
                <a:spcPct val="100000"/>
              </a:lnSpc>
              <a:spcBef>
                <a:spcPts val="0"/>
              </a:spcBef>
              <a:spcAft>
                <a:spcPts val="0"/>
              </a:spcAft>
              <a:buClr>
                <a:srgbClr val="324158"/>
              </a:buClr>
              <a:buSzPct val="100000"/>
              <a:buFont typeface="Arial"/>
              <a:buChar char="•"/>
            </a:pPr>
            <a:r>
              <a:t>Likely question: "Why not just review harder?" Answer: review comes after the cost; a refused patch never lands, and the agent learns the boundary at once.</a:t>
            </a:r>
          </a:p>
          <a:p>
            <a:pPr marL="228600" indent="-182880" algn="l">
              <a:lnSpc>
                <a:spcPct val="100000"/>
              </a:lnSpc>
              <a:spcBef>
                <a:spcPts val="0"/>
              </a:spcBef>
              <a:spcAft>
                <a:spcPts val="0"/>
              </a:spcAft>
              <a:buClr>
                <a:srgbClr val="324158"/>
              </a:buClr>
              <a:buSzPct val="100000"/>
              <a:buFont typeface="Arial"/>
              <a:buChar char="•"/>
            </a:pPr>
            <a:r>
              <a:t>Misconception: "strong wording in the prompt works like a rule". Correction: wording makes a bad edit rarer, never impossible.</a:t>
            </a:r>
          </a:p>
          <a:p>
            <a:pPr marL="228600" indent="-182880" algn="l">
              <a:lnSpc>
                <a:spcPct val="100000"/>
              </a:lnSpc>
              <a:spcBef>
                <a:spcPts val="0"/>
              </a:spcBef>
              <a:spcAft>
                <a:spcPts val="0"/>
              </a:spcAft>
              <a:buClr>
                <a:srgbClr val="324158"/>
              </a:buClr>
              <a:buSzPct val="100000"/>
              <a:buFont typeface="Arial"/>
              <a:buChar char="•"/>
            </a:pPr>
            <a:r>
              <a:t>Time: 3 minutes. Next: four boundaries, one per slide.</a:t>
            </a:r>
          </a:p>
        </p:txBody>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4.25 min (2:09-2:13:15)</a:t>
            </a:r>
          </a:p>
          <a:p>
            <a:pPr marL="228600" indent="-182880" algn="l">
              <a:lnSpc>
                <a:spcPct val="100000"/>
              </a:lnSpc>
              <a:spcBef>
                <a:spcPts val="0"/>
              </a:spcBef>
              <a:spcAft>
                <a:spcPts val="0"/>
              </a:spcAft>
              <a:buClr>
                <a:srgbClr val="324158"/>
              </a:buClr>
              <a:buSzPct val="100000"/>
              <a:buFont typeface="Arial"/>
              <a:buChar char="•"/>
            </a:pPr>
            <a:r>
              <a:t>The feature list is the scope. In Source 2: Effective harnesses for long-running agents (https://www.anthropic.com/engineering/effective-harnesses-for-long-running-agents) the coding agent "was then asked to work on only one feature at a time"; the scope block in context names that one feature.</a:t>
            </a:r>
          </a:p>
          <a:p>
            <a:pPr marL="228600" indent="-182880" algn="l">
              <a:lnSpc>
                <a:spcPct val="100000"/>
              </a:lnSpc>
              <a:spcBef>
                <a:spcPts val="0"/>
              </a:spcBef>
              <a:spcAft>
                <a:spcPts val="0"/>
              </a:spcAft>
              <a:buClr>
                <a:srgbClr val="324158"/>
              </a:buClr>
              <a:buSzPct val="100000"/>
              <a:buFont typeface="Arial"/>
              <a:buChar char="•"/>
            </a:pPr>
            <a:r>
              <a:t>In that source the agent edits the list "only by changing the status of a passes field". This course goes further: the agent may not edit it at all. It calls finish, and the harness sets passes after its own test run.</a:t>
            </a:r>
          </a:p>
          <a:p>
            <a:pPr marL="228600" indent="-182880" algn="l">
              <a:lnSpc>
                <a:spcPct val="100000"/>
              </a:lnSpc>
              <a:spcBef>
                <a:spcPts val="0"/>
              </a:spcBef>
              <a:spcAft>
                <a:spcPts val="0"/>
              </a:spcAft>
              <a:buClr>
                <a:srgbClr val="324158"/>
              </a:buClr>
              <a:buSzPct val="100000"/>
              <a:buFont typeface="Arial"/>
              <a:buChar char="•"/>
            </a:pPr>
            <a:r>
              <a:t>The entry, from section-3-scope-sandbox/demo/harness/feature_list.json: "id": "F4" (the code for Feature 4: Version checks on issue edits), the description "Optimistic concurrency (ETag, If-Match) and issue history", "passes": false, "evidence": null, "testedAt": null. Key line: passes, set only by the harness.</a:t>
            </a:r>
          </a:p>
          <a:p>
            <a:pPr marL="228600" indent="-182880" algn="l">
              <a:lnSpc>
                <a:spcPct val="100000"/>
              </a:lnSpc>
              <a:spcBef>
                <a:spcPts val="0"/>
              </a:spcBef>
              <a:spcAft>
                <a:spcPts val="0"/>
              </a:spcAft>
              <a:buClr>
                <a:srgbClr val="324158"/>
              </a:buClr>
              <a:buSzPct val="100000"/>
              <a:buFont typeface="Arial"/>
              <a:buChar char="•"/>
            </a:pPr>
            <a:r>
              <a:t>Why: Source 3: Harness design for long-running application development (https://www.anthropic.com/engineering/harness-design-long-running-apps): "Separating the agent doing the work from the agent judging it proves to be a strong lever to address this issue." evidence and testedAt are the course's additions.</a:t>
            </a:r>
          </a:p>
          <a:p>
            <a:pPr marL="228600" indent="-182880" algn="l">
              <a:lnSpc>
                <a:spcPct val="100000"/>
              </a:lnSpc>
              <a:spcBef>
                <a:spcPts val="0"/>
              </a:spcBef>
              <a:spcAft>
                <a:spcPts val="0"/>
              </a:spcAft>
              <a:buClr>
                <a:srgbClr val="324158"/>
              </a:buClr>
              <a:buSzPct val="100000"/>
              <a:buFont typeface="Arial"/>
              <a:buChar char="•"/>
            </a:pPr>
            <a:r>
              <a:t>In the captured run, at 4:30 on the console clock the harness arm got "passes: visible-tests at ...": the harness set it, not the agent.</a:t>
            </a:r>
          </a:p>
          <a:p>
            <a:pPr marL="228600" indent="-182880" algn="l">
              <a:lnSpc>
                <a:spcPct val="100000"/>
              </a:lnSpc>
              <a:spcBef>
                <a:spcPts val="0"/>
              </a:spcBef>
              <a:spcAft>
                <a:spcPts val="0"/>
              </a:spcAft>
              <a:buClr>
                <a:srgbClr val="324158"/>
              </a:buClr>
              <a:buSzPct val="100000"/>
              <a:buFont typeface="Arial"/>
              <a:buChar char="•"/>
            </a:pPr>
            <a:r>
              <a:t>Off limits in every phase; JSON is "less likely" to be overwritten, and the guard makes it never.</a:t>
            </a:r>
          </a:p>
          <a:p>
            <a:pPr marL="228600" indent="-182880" algn="l">
              <a:lnSpc>
                <a:spcPct val="100000"/>
              </a:lnSpc>
              <a:spcBef>
                <a:spcPts val="0"/>
              </a:spcBef>
              <a:spcAft>
                <a:spcPts val="0"/>
              </a:spcAft>
              <a:buClr>
                <a:srgbClr val="324158"/>
              </a:buClr>
              <a:buSzPct val="100000"/>
              <a:buFont typeface="Arial"/>
              <a:buChar char="•"/>
            </a:pPr>
            <a:r>
              <a:t>Analogy: CI status on a pull request: the author cannot click "checks passed".</a:t>
            </a:r>
          </a:p>
          <a:p>
            <a:pPr marL="228600" indent="-182880" algn="l">
              <a:lnSpc>
                <a:spcPct val="100000"/>
              </a:lnSpc>
              <a:spcBef>
                <a:spcPts val="0"/>
              </a:spcBef>
              <a:spcAft>
                <a:spcPts val="0"/>
              </a:spcAft>
              <a:buClr>
                <a:srgbClr val="324158"/>
              </a:buClr>
              <a:buSzPct val="100000"/>
              <a:buFont typeface="Arial"/>
              <a:buChar char="•"/>
            </a:pPr>
            <a:r>
              <a:t>Ask: "What goes wrong if the agent can set passes?" Expected: it marks its own work done, the false "done" of Section 4: Verification.</a:t>
            </a:r>
          </a:p>
          <a:p>
            <a:pPr marL="228600" indent="-182880" algn="l">
              <a:lnSpc>
                <a:spcPct val="100000"/>
              </a:lnSpc>
              <a:spcBef>
                <a:spcPts val="0"/>
              </a:spcBef>
              <a:spcAft>
                <a:spcPts val="0"/>
              </a:spcAft>
              <a:buClr>
                <a:srgbClr val="324158"/>
              </a:buClr>
              <a:buSzPct val="100000"/>
              <a:buFont typeface="Arial"/>
              <a:buChar char="•"/>
            </a:pPr>
            <a:r>
              <a:t>Likely question: "Why one feature, not the backlog?" Answer: the boundary is per feature; with one feature the allowed paths are one list.</a:t>
            </a:r>
          </a:p>
          <a:p>
            <a:pPr marL="228600" indent="-182880" algn="l">
              <a:lnSpc>
                <a:spcPct val="100000"/>
              </a:lnSpc>
              <a:spcBef>
                <a:spcPts val="0"/>
              </a:spcBef>
              <a:spcAft>
                <a:spcPts val="0"/>
              </a:spcAft>
              <a:buClr>
                <a:srgbClr val="324158"/>
              </a:buClr>
              <a:buSzPct val="100000"/>
              <a:buFont typeface="Arial"/>
              <a:buChar char="•"/>
            </a:pPr>
            <a:r>
              <a:t>Misconception: "the feature list is the agent's to-do list". Correction: it is graded state owned by the harness; the agent reads it and cannot write it.</a:t>
            </a:r>
          </a:p>
          <a:p>
            <a:pPr marL="228600" indent="-182880" algn="l">
              <a:lnSpc>
                <a:spcPct val="100000"/>
              </a:lnSpc>
              <a:spcBef>
                <a:spcPts val="0"/>
              </a:spcBef>
              <a:spcAft>
                <a:spcPts val="0"/>
              </a:spcAft>
              <a:buClr>
                <a:srgbClr val="324158"/>
              </a:buClr>
              <a:buSzPct val="100000"/>
              <a:buFont typeface="Arial"/>
              <a:buChar char="•"/>
            </a:pPr>
            <a:r>
              <a:t>Time: 4.25 minutes. Next: one list of files per phase.</a:t>
            </a:r>
          </a:p>
        </p:txBody>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4.25 min (2:13:15-2:17:30)</a:t>
            </a:r>
          </a:p>
          <a:p>
            <a:pPr marL="228600" indent="-182880" algn="l">
              <a:lnSpc>
                <a:spcPct val="100000"/>
              </a:lnSpc>
              <a:spcBef>
                <a:spcPts val="0"/>
              </a:spcBef>
              <a:spcAft>
                <a:spcPts val="0"/>
              </a:spcAft>
              <a:buClr>
                <a:srgbClr val="324158"/>
              </a:buClr>
              <a:buSzPct val="100000"/>
              <a:buFont typeface="Arial"/>
              <a:buChar char="•"/>
            </a:pPr>
            <a:r>
              <a:t>A patch lists its paths, so it is checked before anything is written; one refused path refuses the whole patch. A shell command can write anything, so the layer takes a byte snapshot before it runs and restores any file outside the list after.</a:t>
            </a:r>
          </a:p>
          <a:p>
            <a:pPr marL="228600" indent="-182880" algn="l">
              <a:lnSpc>
                <a:spcPct val="100000"/>
              </a:lnSpc>
              <a:spcBef>
                <a:spcPts val="0"/>
              </a:spcBef>
              <a:spcAft>
                <a:spcPts val="0"/>
              </a:spcAft>
              <a:buClr>
                <a:srgbClr val="324158"/>
              </a:buClr>
              <a:buSzPct val="100000"/>
              <a:buFont typeface="Arial"/>
              <a:buChar char="•"/>
            </a:pPr>
            <a:r>
              <a:t>Build phase: feature files and tests. Test phase: tests/visible/ only, so the agent cannot make a failing test pass by changing the code.</a:t>
            </a:r>
          </a:p>
          <a:p>
            <a:pPr marL="228600" indent="-182880" algn="l">
              <a:lnSpc>
                <a:spcPct val="100000"/>
              </a:lnSpc>
              <a:spcBef>
                <a:spcPts val="0"/>
              </a:spcBef>
              <a:spcAft>
                <a:spcPts val="0"/>
              </a:spcAft>
              <a:buClr>
                <a:srgbClr val="324158"/>
              </a:buClr>
              <a:buSzPct val="100000"/>
              <a:buFont typeface="Arial"/>
              <a:buChar char="•"/>
            </a:pPr>
            <a:r>
              <a:t>Real refusal the harness arm read: "app/services/errors.py: outside the allowed paths for the build phase (...); patch not applied". After it, every harness arm defined its 412 error in app/services/issues.py, a file on the list.</a:t>
            </a:r>
          </a:p>
          <a:p>
            <a:pPr marL="228600" indent="-182880" algn="l">
              <a:lnSpc>
                <a:spcPct val="100000"/>
              </a:lnSpc>
              <a:spcBef>
                <a:spcPts val="0"/>
              </a:spcBef>
              <a:spcAft>
                <a:spcPts val="0"/>
              </a:spcAft>
              <a:buClr>
                <a:srgbClr val="324158"/>
              </a:buClr>
              <a:buSzPct val="100000"/>
              <a:buFont typeface="Arial"/>
              <a:buChar char="•"/>
            </a:pPr>
            <a:r>
              <a:t>The code, platform/src/shipharness/harness/scope/guard.py lines 68-78, reason(path): harness-only files first (feature_list.json and its schema), so no allow list opens them; then the state files, which belong to the agent in every phase; then the phase's globs (* stays in one folder,  spans folders).</a:t>
            </a:r>
          </a:p>
          <a:p>
            <a:pPr marL="228600" indent="-182880" algn="l">
              <a:lnSpc>
                <a:spcPct val="100000"/>
              </a:lnSpc>
              <a:spcBef>
                <a:spcPts val="0"/>
              </a:spcBef>
              <a:spcAft>
                <a:spcPts val="0"/>
              </a:spcAft>
              <a:buClr>
                <a:srgbClr val="324158"/>
              </a:buClr>
              <a:buSzPct val="100000"/>
              <a:buFont typeface="Arial"/>
              <a:buChar char="•"/>
            </a:pPr>
            <a:r>
              <a:t>Key line: return f"{rel} is outside the allowed paths for the {self.phase} phase ({listed})". The refusal names the phase and the full list, so the next attempt lands inside in one turn.</a:t>
            </a:r>
          </a:p>
          <a:p>
            <a:pPr marL="228600" indent="-182880" algn="l">
              <a:lnSpc>
                <a:spcPct val="100000"/>
              </a:lnSpc>
              <a:spcBef>
                <a:spcPts val="0"/>
              </a:spcBef>
              <a:spcAft>
                <a:spcPts val="0"/>
              </a:spcAft>
              <a:buClr>
                <a:srgbClr val="324158"/>
              </a:buClr>
              <a:buSzPct val="100000"/>
              <a:buFont typeface="Arial"/>
              <a:buChar char="•"/>
            </a:pPr>
            <a:r>
              <a:t>Callers: before_tool in scope/layer.py (lines 156-167) checks every patch target, both header lines, renames and copies; after_tool (lines 177-183) compares byte snapshots and restores stray files, no git involved.</a:t>
            </a:r>
          </a:p>
          <a:p>
            <a:pPr marL="228600" indent="-182880" algn="l">
              <a:lnSpc>
                <a:spcPct val="100000"/>
              </a:lnSpc>
              <a:spcBef>
                <a:spcPts val="0"/>
              </a:spcBef>
              <a:spcAft>
                <a:spcPts val="0"/>
              </a:spcAft>
              <a:buClr>
                <a:srgbClr val="324158"/>
              </a:buClr>
              <a:buSzPct val="100000"/>
              <a:buFont typeface="Arial"/>
              <a:buChar char="•"/>
            </a:pPr>
            <a:r>
              <a:t>The referee (ab/referee.py, lines 589-592) recomputes from the shipped diff, the same way for both arms: paths matching neither the build nor the test list, the diff_scope row.</a:t>
            </a:r>
          </a:p>
          <a:p>
            <a:pPr marL="228600" indent="-182880" algn="l">
              <a:lnSpc>
                <a:spcPct val="100000"/>
              </a:lnSpc>
              <a:spcBef>
                <a:spcPts val="0"/>
              </a:spcBef>
              <a:spcAft>
                <a:spcPts val="0"/>
              </a:spcAft>
              <a:buClr>
                <a:srgbClr val="324158"/>
              </a:buClr>
              <a:buSzPct val="100000"/>
              <a:buFont typeface="Arial"/>
              <a:buChar char="•"/>
            </a:pPr>
            <a:r>
              <a:t>Analogy: branch protection plus required code-owner review, per tool call instead of per merge; a policy engine that returns a readable deny reason instead of a bare 403.</a:t>
            </a:r>
          </a:p>
          <a:p>
            <a:pPr marL="228600" indent="-182880" algn="l">
              <a:lnSpc>
                <a:spcPct val="100000"/>
              </a:lnSpc>
              <a:spcBef>
                <a:spcPts val="0"/>
              </a:spcBef>
              <a:spcAft>
                <a:spcPts val="0"/>
              </a:spcAft>
              <a:buClr>
                <a:srgbClr val="324158"/>
              </a:buClr>
              <a:buSzPct val="100000"/>
              <a:buFont typeface="Arial"/>
              <a:buChar char="•"/>
            </a:pPr>
            <a:r>
              <a:t>Ask: "Why check commands after they run?" Expected: the command text does not say which files it writes; sed -i or a code generator shows only in the result.</a:t>
            </a:r>
          </a:p>
          <a:p>
            <a:pPr marL="228600" indent="-182880" algn="l">
              <a:lnSpc>
                <a:spcPct val="100000"/>
              </a:lnSpc>
              <a:spcBef>
                <a:spcPts val="0"/>
              </a:spcBef>
              <a:spcAft>
                <a:spcPts val="0"/>
              </a:spcAft>
              <a:buClr>
                <a:srgbClr val="324158"/>
              </a:buClr>
              <a:buSzPct val="100000"/>
              <a:buFont typeface="Arial"/>
              <a:buChar char="•"/>
            </a:pPr>
            <a:r>
              <a:t>Likely question: "Did any run need a revert?" Answer: none of this demo's test runs; the agents changed files with apply_patch.</a:t>
            </a:r>
          </a:p>
          <a:p>
            <a:pPr marL="228600" indent="-182880" algn="l">
              <a:lnSpc>
                <a:spcPct val="100000"/>
              </a:lnSpc>
              <a:spcBef>
                <a:spcPts val="0"/>
              </a:spcBef>
              <a:spcAft>
                <a:spcPts val="0"/>
              </a:spcAft>
              <a:buClr>
                <a:srgbClr val="324158"/>
              </a:buClr>
              <a:buSzPct val="100000"/>
              <a:buFont typeface="Arial"/>
              <a:buChar char="•"/>
            </a:pPr>
            <a:r>
              <a:t>Misconception: "this micromanages the agent" or "the referee trusts the guard's log". Correction: the agent still chooses how and where inside the list; and the referee recomputes from the diff, including the bare arm, which has no guard.</a:t>
            </a:r>
          </a:p>
          <a:p>
            <a:pPr marL="228600" indent="-182880" algn="l">
              <a:lnSpc>
                <a:spcPct val="100000"/>
              </a:lnSpc>
              <a:spcBef>
                <a:spcPts val="0"/>
              </a:spcBef>
              <a:spcAft>
                <a:spcPts val="0"/>
              </a:spcAft>
              <a:buClr>
                <a:srgbClr val="324158"/>
              </a:buClr>
              <a:buSzPct val="100000"/>
              <a:buFont typeface="Arial"/>
              <a:buChar char="•"/>
            </a:pPr>
            <a:r>
              <a:t>Time: 4.25 minutes. Next: the machine boundary.</a:t>
            </a:r>
          </a:p>
        </p:txBody>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4.25 min (2:17:30-2:21:45)</a:t>
            </a:r>
          </a:p>
          <a:p>
            <a:pPr marL="228600" indent="-182880" algn="l">
              <a:lnSpc>
                <a:spcPct val="100000"/>
              </a:lnSpc>
              <a:spcBef>
                <a:spcPts val="0"/>
              </a:spcBef>
              <a:spcAft>
                <a:spcPts val="0"/>
              </a:spcAft>
              <a:buClr>
                <a:srgbClr val="324158"/>
              </a:buClr>
              <a:buSzPct val="100000"/>
              <a:buFont typeface="Arial"/>
              <a:buChar char="•"/>
            </a:pPr>
            <a:r>
              <a:t>The model call and the keys live on the host; only tool commands run in the container. A bad command cannot reach the keys or the network.</a:t>
            </a:r>
          </a:p>
          <a:p>
            <a:pPr marL="228600" indent="-182880" algn="l">
              <a:lnSpc>
                <a:spcPct val="100000"/>
              </a:lnSpc>
              <a:spcBef>
                <a:spcPts val="0"/>
              </a:spcBef>
              <a:spcAft>
                <a:spcPts val="0"/>
              </a:spcAft>
              <a:buClr>
                <a:srgbClr val="324158"/>
              </a:buClr>
              <a:buSzPct val="100000"/>
              <a:buFont typeface="Arial"/>
              <a:buChar char="•"/>
            </a:pPr>
            <a:r>
              <a:t>With --network none, Source 11: None network driver (https://docs.docker.com/engine/network/drivers/none/) says "only the loopback device is created" (loopback: the container's own internal address). No installs, downloads, or calls out.</a:t>
            </a:r>
          </a:p>
          <a:p>
            <a:pPr marL="228600" indent="-182880" algn="l">
              <a:lnSpc>
                <a:spcPct val="100000"/>
              </a:lnSpc>
              <a:spcBef>
                <a:spcPts val="0"/>
              </a:spcBef>
              <a:spcAft>
                <a:spcPts val="0"/>
              </a:spcAft>
              <a:buClr>
                <a:srgbClr val="324158"/>
              </a:buClr>
              <a:buSzPct val="100000"/>
              <a:buFont typeface="Arial"/>
              <a:buChar char="•"/>
            </a:pPr>
            <a:r>
              <a:t>Inside: read-only root filesystem; /work and /tmp writable.</a:t>
            </a:r>
          </a:p>
          <a:p>
            <a:pPr marL="228600" indent="-182880" algn="l">
              <a:lnSpc>
                <a:spcPct val="100000"/>
              </a:lnSpc>
              <a:spcBef>
                <a:spcPts val="0"/>
              </a:spcBef>
              <a:spcAft>
                <a:spcPts val="0"/>
              </a:spcAft>
              <a:buClr>
                <a:srgbClr val="324158"/>
              </a:buClr>
              <a:buSzPct val="100000"/>
              <a:buFont typeface="Arial"/>
              <a:buChar char="•"/>
            </a:pPr>
            <a:r>
              <a:t>Source 4: Building a C compiler with a team of parallel Claudes (https://www.anthropic.com/engineering/building-c-compiler): each agent had a container, and "Claude did not have internet access at any point during its development." The author advises "(Run this in a container, not your actual machine)", after seeing Claude "pkill -9 bash on accident, thus killing itself and ending the loop."</a:t>
            </a:r>
          </a:p>
          <a:p>
            <a:pPr marL="228600" indent="-182880" algn="l">
              <a:lnSpc>
                <a:spcPct val="100000"/>
              </a:lnSpc>
              <a:spcBef>
                <a:spcPts val="0"/>
              </a:spcBef>
              <a:spcAft>
                <a:spcPts val="0"/>
              </a:spcAft>
              <a:buClr>
                <a:srgbClr val="324158"/>
              </a:buClr>
              <a:buSzPct val="100000"/>
              <a:buFont typeface="Arial"/>
              <a:buChar char="•"/>
            </a:pPr>
            <a:r>
              <a:t>Analogy: a CI runner: the job runs in a throwaway container; deploy credentials are injected elsewhere, not left in the workspace.</a:t>
            </a:r>
          </a:p>
          <a:p>
            <a:pPr marL="228600" indent="-182880" algn="l">
              <a:lnSpc>
                <a:spcPct val="100000"/>
              </a:lnSpc>
              <a:spcBef>
                <a:spcPts val="0"/>
              </a:spcBef>
              <a:spcAft>
                <a:spcPts val="0"/>
              </a:spcAft>
              <a:buClr>
                <a:srgbClr val="324158"/>
              </a:buClr>
              <a:buSzPct val="100000"/>
              <a:buFont typeface="Arial"/>
              <a:buChar char="•"/>
            </a:pPr>
            <a:r>
              <a:t>Point at the keys outside the container.</a:t>
            </a:r>
          </a:p>
          <a:p>
            <a:pPr marL="228600" indent="-182880" algn="l">
              <a:lnSpc>
                <a:spcPct val="100000"/>
              </a:lnSpc>
              <a:spcBef>
                <a:spcPts val="0"/>
              </a:spcBef>
              <a:spcAft>
                <a:spcPts val="0"/>
              </a:spcAft>
              <a:buClr>
                <a:srgbClr val="324158"/>
              </a:buClr>
              <a:buSzPct val="100000"/>
              <a:buFont typeface="Arial"/>
              <a:buChar char="•"/>
            </a:pPr>
            <a:r>
              <a:t>Ask: "Why can the sandbox never show up as a win in our A/B?" Expected: both arms get the identical container, so it is never what differs.</a:t>
            </a:r>
          </a:p>
          <a:p>
            <a:pPr marL="228600" indent="-182880" algn="l">
              <a:lnSpc>
                <a:spcPct val="100000"/>
              </a:lnSpc>
              <a:spcBef>
                <a:spcPts val="0"/>
              </a:spcBef>
              <a:spcAft>
                <a:spcPts val="0"/>
              </a:spcAft>
              <a:buClr>
                <a:srgbClr val="324158"/>
              </a:buClr>
              <a:buSzPct val="100000"/>
              <a:buFont typeface="Arial"/>
              <a:buChar char="•"/>
            </a:pPr>
            <a:r>
              <a:t>Likely question: "Did the sandbox refuse anything before class?" Answer: no sandbox_denied event in any test run; it is there for the run that goes wrong.</a:t>
            </a:r>
          </a:p>
          <a:p>
            <a:pPr marL="228600" indent="-182880" algn="l">
              <a:lnSpc>
                <a:spcPct val="100000"/>
              </a:lnSpc>
              <a:spcBef>
                <a:spcPts val="0"/>
              </a:spcBef>
              <a:spcAft>
                <a:spcPts val="0"/>
              </a:spcAft>
              <a:buClr>
                <a:srgbClr val="324158"/>
              </a:buClr>
              <a:buSzPct val="100000"/>
              <a:buFont typeface="Arial"/>
              <a:buChar char="•"/>
            </a:pPr>
            <a:r>
              <a:t>Misconception: "a container is a sandbox by default". Correction: only with the flags: no network, read-only root, non-root user, dropped capabilities, limits.</a:t>
            </a:r>
          </a:p>
          <a:p>
            <a:pPr marL="228600" indent="-182880" algn="l">
              <a:lnSpc>
                <a:spcPct val="100000"/>
              </a:lnSpc>
              <a:spcBef>
                <a:spcPts val="0"/>
              </a:spcBef>
              <a:spcAft>
                <a:spcPts val="0"/>
              </a:spcAft>
              <a:buClr>
                <a:srgbClr val="324158"/>
              </a:buClr>
              <a:buSzPct val="100000"/>
              <a:buFont typeface="Arial"/>
              <a:buChar char="•"/>
            </a:pPr>
            <a:r>
              <a:t>Time: 4.25 minutes. Next: the principle behind those flags.</a:t>
            </a:r>
          </a:p>
        </p:txBody>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4.25 min (2:21:45-2:26)</a:t>
            </a:r>
          </a:p>
          <a:p>
            <a:pPr marL="228600" indent="-182880" algn="l">
              <a:lnSpc>
                <a:spcPct val="100000"/>
              </a:lnSpc>
              <a:spcBef>
                <a:spcPts val="0"/>
              </a:spcBef>
              <a:spcAft>
                <a:spcPts val="0"/>
              </a:spcAft>
              <a:buClr>
                <a:srgbClr val="324158"/>
              </a:buClr>
              <a:buSzPct val="100000"/>
              <a:buFont typeface="Arial"/>
              <a:buChar char="•"/>
            </a:pPr>
            <a:r>
              <a:t>The lead quote is Source 1: Harness engineering (https://openai.com/index/harness-engineering/). Give the agent the smallest set of files, permissions, and resources the task needs, enforced centrally; the agent keeps its freedom inside.</a:t>
            </a:r>
          </a:p>
          <a:p>
            <a:pPr marL="228600" indent="-182880" algn="l">
              <a:lnSpc>
                <a:spcPct val="100000"/>
              </a:lnSpc>
              <a:spcBef>
                <a:spcPts val="0"/>
              </a:spcBef>
              <a:spcAft>
                <a:spcPts val="0"/>
              </a:spcAft>
              <a:buClr>
                <a:srgbClr val="324158"/>
              </a:buClr>
              <a:buSzPct val="100000"/>
              <a:buFont typeface="Arial"/>
              <a:buChar char="•"/>
            </a:pPr>
            <a:r>
              <a:t>The class sandbox policy: --user 1000:1000, --cap-drop ALL (Linux capabilities are root's powers split into pieces; this drops every one), --memory 1024m with no swap, --pids-limit 256, 2 CPUs, an agent time limit of 420 s for both arms.</a:t>
            </a:r>
          </a:p>
          <a:p>
            <a:pPr marL="228600" indent="-182880" algn="l">
              <a:lnSpc>
                <a:spcPct val="100000"/>
              </a:lnSpc>
              <a:spcBef>
                <a:spcPts val="0"/>
              </a:spcBef>
              <a:spcAft>
                <a:spcPts val="0"/>
              </a:spcAft>
              <a:buClr>
                <a:srgbClr val="324158"/>
              </a:buClr>
              <a:buSzPct val="100000"/>
              <a:buFont typeface="Arial"/>
              <a:buChar char="•"/>
            </a:pPr>
            <a:r>
              <a:t>The two refusals differ: blocked comes from the scope layer on the host, harness arm only, asking "is this file in scope now?"; sandbox_denied comes from the container policy, both arms, asking "can this machine do this at all?".</a:t>
            </a:r>
          </a:p>
          <a:p>
            <a:pPr marL="228600" indent="-182880" algn="l">
              <a:lnSpc>
                <a:spcPct val="100000"/>
              </a:lnSpc>
              <a:spcBef>
                <a:spcPts val="0"/>
              </a:spcBef>
              <a:spcAft>
                <a:spcPts val="0"/>
              </a:spcAft>
              <a:buClr>
                <a:srgbClr val="324158"/>
              </a:buClr>
              <a:buSzPct val="100000"/>
              <a:buFont typeface="Arial"/>
              <a:buChar char="•"/>
            </a:pPr>
            <a:r>
              <a:t>Analogy: IAM roles: a service account gets read on one bucket, not admin on the project.</a:t>
            </a:r>
          </a:p>
          <a:p>
            <a:pPr marL="228600" indent="-182880" algn="l">
              <a:lnSpc>
                <a:spcPct val="100000"/>
              </a:lnSpc>
              <a:spcBef>
                <a:spcPts val="0"/>
              </a:spcBef>
              <a:spcAft>
                <a:spcPts val="0"/>
              </a:spcAft>
              <a:buClr>
                <a:srgbClr val="324158"/>
              </a:buClr>
              <a:buSzPct val="100000"/>
              <a:buFont typeface="Arial"/>
              <a:buChar char="•"/>
            </a:pPr>
            <a:r>
              <a:t>Point at the inner ring: the scope boundary is the only part that differs between arms.</a:t>
            </a:r>
          </a:p>
          <a:p>
            <a:pPr marL="228600" indent="-182880" algn="l">
              <a:lnSpc>
                <a:spcPct val="100000"/>
              </a:lnSpc>
              <a:spcBef>
                <a:spcPts val="0"/>
              </a:spcBef>
              <a:spcAft>
                <a:spcPts val="0"/>
              </a:spcAft>
              <a:buClr>
                <a:srgbClr val="324158"/>
              </a:buClr>
              <a:buSzPct val="100000"/>
              <a:buFont typeface="Arial"/>
              <a:buChar char="•"/>
            </a:pPr>
            <a:r>
              <a:t>Ask: "Which ring would have stopped the errors.py edit?" Expected: the allowed-paths ring; the container allows writes anywhere in /work.</a:t>
            </a:r>
          </a:p>
          <a:p>
            <a:pPr marL="228600" indent="-182880" algn="l">
              <a:lnSpc>
                <a:spcPct val="100000"/>
              </a:lnSpc>
              <a:spcBef>
                <a:spcPts val="0"/>
              </a:spcBef>
              <a:spcAft>
                <a:spcPts val="0"/>
              </a:spcAft>
              <a:buClr>
                <a:srgbClr val="324158"/>
              </a:buClr>
              <a:buSzPct val="100000"/>
              <a:buFont typeface="Arial"/>
              <a:buChar char="•"/>
            </a:pPr>
            <a:r>
              <a:t>Likely question: "What if the list is wrong and the feature truly needs another file?" Answer: the agent works around it and the result can be worse; fix the list, not the guard.</a:t>
            </a:r>
          </a:p>
          <a:p>
            <a:pPr marL="228600" indent="-182880" algn="l">
              <a:lnSpc>
                <a:spcPct val="100000"/>
              </a:lnSpc>
              <a:spcBef>
                <a:spcPts val="0"/>
              </a:spcBef>
              <a:spcAft>
                <a:spcPts val="0"/>
              </a:spcAft>
              <a:buClr>
                <a:srgbClr val="324158"/>
              </a:buClr>
              <a:buSzPct val="100000"/>
              <a:buFont typeface="Arial"/>
              <a:buChar char="•"/>
            </a:pPr>
            <a:r>
              <a:t>Misconception: "least privilege is free". Correction: harness arms ran longer overall (median 302 s against 190 s, post hoc, all layers together); the block itself cost one refused patch before the error class moved to an allowed file.</a:t>
            </a:r>
          </a:p>
          <a:p>
            <a:pPr marL="228600" indent="-182880" algn="l">
              <a:lnSpc>
                <a:spcPct val="100000"/>
              </a:lnSpc>
              <a:spcBef>
                <a:spcPts val="0"/>
              </a:spcBef>
              <a:spcAft>
                <a:spcPts val="0"/>
              </a:spcAft>
              <a:buClr>
                <a:srgbClr val="324158"/>
              </a:buClr>
              <a:buSzPct val="100000"/>
              <a:buFont typeface="Arial"/>
              <a:buChar char="•"/>
            </a:pPr>
            <a:r>
              <a:t>Time: 4.25 minutes. Next: four boundaries on one card.</a:t>
            </a:r>
          </a:p>
        </p:txBody>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(2:26-2:28)</a:t>
            </a:r>
          </a:p>
          <a:p>
            <a:pPr marL="228600" indent="-182880" algn="l">
              <a:lnSpc>
                <a:spcPct val="100000"/>
              </a:lnSpc>
              <a:spcBef>
                <a:spcPts val="0"/>
              </a:spcBef>
              <a:spcAft>
                <a:spcPts val="0"/>
              </a:spcAft>
              <a:buClr>
                <a:srgbClr val="324158"/>
              </a:buClr>
              <a:buSzPct val="100000"/>
              <a:buFont typeface="Arial"/>
              <a:buChar char="•"/>
            </a:pPr>
            <a:r>
              <a:t>Rows 1 and 2 are the scope layer, the A/B variable. Rows 3 and 4 are the container, identical for both arms.</a:t>
            </a:r>
          </a:p>
          <a:p>
            <a:pPr marL="228600" indent="-182880" algn="l">
              <a:lnSpc>
                <a:spcPct val="100000"/>
              </a:lnSpc>
              <a:spcBef>
                <a:spcPts val="0"/>
              </a:spcBef>
              <a:spcAft>
                <a:spcPts val="0"/>
              </a:spcAft>
              <a:buClr>
                <a:srgbClr val="324158"/>
              </a:buClr>
              <a:buSzPct val="100000"/>
              <a:buFont typeface="Arial"/>
              <a:buChar char="•"/>
            </a:pPr>
            <a:r>
              <a:t>The harness arm also sees a scope block in its context: "Files you may change in each phase", the build and test lists, and "A patch that touches any other file is rejected before it is applied."</a:t>
            </a:r>
          </a:p>
          <a:p>
            <a:pPr marL="228600" indent="-182880" algn="l">
              <a:lnSpc>
                <a:spcPct val="100000"/>
              </a:lnSpc>
              <a:spcBef>
                <a:spcPts val="0"/>
              </a:spcBef>
              <a:spcAft>
                <a:spcPts val="0"/>
              </a:spcAft>
              <a:buClr>
                <a:srgbClr val="324158"/>
              </a:buClr>
              <a:buSzPct val="100000"/>
              <a:buFont typeface="Arial"/>
              <a:buChar char="•"/>
            </a:pPr>
            <a:r>
              <a:t>The block tells; the check makes it true. The bare arm read the same list in its ticket.</a:t>
            </a:r>
          </a:p>
          <a:p>
            <a:pPr marL="228600" indent="-182880" algn="l">
              <a:lnSpc>
                <a:spcPct val="100000"/>
              </a:lnSpc>
              <a:spcBef>
                <a:spcPts val="0"/>
              </a:spcBef>
              <a:spcAft>
                <a:spcPts val="0"/>
              </a:spcAft>
              <a:buClr>
                <a:srgbClr val="324158"/>
              </a:buClr>
              <a:buSzPct val="100000"/>
              <a:buFont typeface="Arial"/>
              <a:buChar char="•"/>
            </a:pPr>
            <a:r>
              <a:t>Analogy: the four checks a platform team runs before giving a contractor access: which repo, which paths, which machine, which permissions.</a:t>
            </a:r>
          </a:p>
          <a:p>
            <a:pPr marL="228600" indent="-182880" algn="l">
              <a:lnSpc>
                <a:spcPct val="100000"/>
              </a:lnSpc>
              <a:spcBef>
                <a:spcPts val="0"/>
              </a:spcBef>
              <a:spcAft>
                <a:spcPts val="0"/>
              </a:spcAft>
              <a:buClr>
                <a:srgbClr val="324158"/>
              </a:buClr>
              <a:buSzPct val="100000"/>
              <a:buFont typeface="Arial"/>
              <a:buChar char="•"/>
            </a:pPr>
            <a:r>
              <a:t>Ask: "Which row do you already have at work?" Expected: containers often; enforced per-task file lists rarely.</a:t>
            </a:r>
          </a:p>
          <a:p>
            <a:pPr marL="228600" indent="-182880" algn="l">
              <a:lnSpc>
                <a:spcPct val="100000"/>
              </a:lnSpc>
              <a:spcBef>
                <a:spcPts val="0"/>
              </a:spcBef>
              <a:spcAft>
                <a:spcPts val="0"/>
              </a:spcAft>
              <a:buClr>
                <a:srgbClr val="324158"/>
              </a:buClr>
              <a:buSzPct val="100000"/>
              <a:buFont typeface="Arial"/>
              <a:buChar char="•"/>
            </a:pPr>
            <a:r>
              <a:t>Misconception: "the sandbox and the scope layer do the same job". Correction: different questions, different arms.</a:t>
            </a:r>
          </a:p>
          <a:p>
            <a:pPr marL="228600" indent="-182880" algn="l">
              <a:lnSpc>
                <a:spcPct val="100000"/>
              </a:lnSpc>
              <a:spcBef>
                <a:spcPts val="0"/>
              </a:spcBef>
              <a:spcAft>
                <a:spcPts val="0"/>
              </a:spcAft>
              <a:buClr>
                <a:srgbClr val="324158"/>
              </a:buClr>
              <a:buSzPct val="100000"/>
              <a:buFont typeface="Arial"/>
              <a:buChar char="•"/>
            </a:pPr>
            <a:r>
              <a:t>Instructor cue: if make demo-3 has printed its Cost: line, read the session figure aloud; it decides one or two final features later (the $1.10 rule).</a:t>
            </a:r>
          </a:p>
          <a:p>
            <a:pPr marL="228600" indent="-182880" algn="l">
              <a:lnSpc>
                <a:spcPct val="100000"/>
              </a:lnSpc>
              <a:spcBef>
                <a:spcPts val="0"/>
              </a:spcBef>
              <a:spcAft>
                <a:spcPts val="0"/>
              </a:spcAft>
              <a:buClr>
                <a:srgbClr val="324158"/>
              </a:buClr>
              <a:buSzPct val="100000"/>
              <a:buFont typeface="Arial"/>
              <a:buChar char="•"/>
            </a:pPr>
            <a:r>
              <a:t>Likely question: "Which row is cheapest to start with?" Answer: counting, not blocking: write the globs and count files outside them after each run.</a:t>
            </a:r>
          </a:p>
          <a:p>
            <a:pPr marL="228600" indent="-182880" algn="l">
              <a:lnSpc>
                <a:spcPct val="100000"/>
              </a:lnSpc>
              <a:spcBef>
                <a:spcPts val="0"/>
              </a:spcBef>
              <a:spcAft>
                <a:spcPts val="0"/>
              </a:spcAft>
              <a:buClr>
                <a:srgbClr val="324158"/>
              </a:buClr>
              <a:buSzPct val="100000"/>
              <a:buFont typeface="Arial"/>
              <a:buChar char="•"/>
            </a:pPr>
            <a:r>
              <a:t>Time: 2 minutes. Next: the live A/B.</a:t>
            </a:r>
          </a:p>
        </p:txBody>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 min (2:28-2:38)</a:t>
            </a:r>
          </a:p>
          <a:p>
            <a:pPr marL="228600" indent="-182880" algn="l">
              <a:lnSpc>
                <a:spcPct val="100000"/>
              </a:lnSpc>
              <a:spcBef>
                <a:spcPts val="0"/>
              </a:spcBef>
              <a:spcAft>
                <a:spcPts val="0"/>
              </a:spcAft>
              <a:buClr>
                <a:srgbClr val="324158"/>
              </a:buClr>
              <a:buSzPct val="100000"/>
              <a:buFont typeface="Arial"/>
              <a:buChar char="•"/>
            </a:pPr>
            <a:r>
              <a:t>Files for this demo: section-3-scope-sandbox/demo/run.sh, section-3-scope-sandbox/demo/walkthrough.md, section-3-scope-sandbox/demo/harness/ (the feature list and scope files), section-3-scope-sandbox/demo/expected/ (the captured A/B, the fallback), docs/evidence/s3.md, console http://127.0.0.1:8765.</a:t>
            </a:r>
          </a:p>
          <a:p>
            <a:pPr marL="228600" indent="-182880" algn="l">
              <a:lnSpc>
                <a:spcPct val="100000"/>
              </a:lnSpc>
              <a:spcBef>
                <a:spcPts val="0"/>
              </a:spcBef>
              <a:spcAft>
                <a:spcPts val="0"/>
              </a:spcAft>
              <a:buClr>
                <a:srgbClr val="324158"/>
              </a:buClr>
              <a:buSzPct val="100000"/>
              <a:buFont typeface="Arial"/>
              <a:buChar char="•"/>
            </a:pPr>
            <a:r>
              <a:t>Switch to browser tab 2, the A/B from make demo-3 FEATURE=version-checks, launched at about 2:01. Bare arm left, harness arm right; F shows one arm full width. Walk screens 3, 1, 2, 5, 4: screen 3 first, because the scope answer is there.</a:t>
            </a:r>
          </a:p>
          <a:p>
            <a:pPr marL="228600" indent="-182880" algn="l">
              <a:lnSpc>
                <a:spcPct val="100000"/>
              </a:lnSpc>
              <a:spcBef>
                <a:spcPts val="0"/>
              </a:spcBef>
              <a:spcAft>
                <a:spcPts val="0"/>
              </a:spcAft>
              <a:buClr>
                <a:srgbClr val="324158"/>
              </a:buClr>
              <a:buSzPct val="100000"/>
              <a:buFont typeface="Arial"/>
              <a:buChar char="•"/>
            </a:pPr>
            <a:r>
              <a:t>Screen 3 (3), Evidence, column "Scope and sandbox". Point at the bare diff map, changed app/services/errors.py, then the harness diff map, blocked app/services/errors.py. Say: "Same file, same pull; only one arm was refused."</a:t>
            </a:r>
          </a:p>
          <a:p>
            <a:pPr marL="228600" indent="-182880" algn="l">
              <a:lnSpc>
                <a:spcPct val="100000"/>
              </a:lnSpc>
              <a:spcBef>
                <a:spcPts val="0"/>
              </a:spcBef>
              <a:spcAft>
                <a:spcPts val="0"/>
              </a:spcAft>
              <a:buClr>
                <a:srgbClr val="324158"/>
              </a:buClr>
              <a:buSzPct val="100000"/>
              <a:buFont typeface="Arial"/>
              <a:buChar char="•"/>
            </a:pPr>
            <a:r>
              <a:t>Screen 3, right column: diff_scope: 1 new (bare) against diff_scope: 0 new (harness). Pass: "No file outside the ticket's paths." Fail: "This arm changed a file it was not asked to touch."</a:t>
            </a:r>
          </a:p>
          <a:p>
            <a:pPr marL="228600" indent="-182880" algn="l">
              <a:lnSpc>
                <a:spcPct val="100000"/>
              </a:lnSpc>
              <a:spcBef>
                <a:spcPts val="0"/>
              </a:spcBef>
              <a:spcAft>
                <a:spcPts val="0"/>
              </a:spcAft>
              <a:buClr>
                <a:srgbClr val="324158"/>
              </a:buClr>
              <a:buSzPct val="100000"/>
              <a:buFont typeface="Arial"/>
              <a:buChar char="•"/>
            </a:pPr>
            <a:r>
              <a:t>Screen 3, sandbox: "Sandbox denials: none" in both. If one is listed, show its reason code and command; if not, show the policy printout and say: "The sandbox is the same for both arms. It is taught here, but it is never the variable."</a:t>
            </a:r>
          </a:p>
          <a:p>
            <a:pPr marL="228600" indent="-182880" algn="l">
              <a:lnSpc>
                <a:spcPct val="100000"/>
              </a:lnSpc>
              <a:spcBef>
                <a:spcPts val="0"/>
              </a:spcBef>
              <a:spcAft>
                <a:spcPts val="0"/>
              </a:spcAft>
              <a:buClr>
                <a:srgbClr val="324158"/>
              </a:buClr>
              <a:buSzPct val="100000"/>
              <a:buFont typeface="Arial"/>
              <a:buChar char="•"/>
            </a:pPr>
            <a:r>
              <a:t>Screen 1 (1), Live. Point at the harness decision block for app/services/errors.py, with the reason the agent read. Both pills likely say FAIL: that is Feature 4: Version checks on issue edits' own bar (every hidden test and every referee mutant), which every arm failed before class. Say: "The scope result is on screen 3, not in this pill."</a:t>
            </a:r>
          </a:p>
          <a:p>
            <a:pPr marL="228600" indent="-182880" algn="l">
              <a:lnSpc>
                <a:spcPct val="100000"/>
              </a:lnSpc>
              <a:spcBef>
                <a:spcPts val="0"/>
              </a:spcBef>
              <a:spcAft>
                <a:spcPts val="0"/>
              </a:spcAft>
              <a:buClr>
                <a:srgbClr val="324158"/>
              </a:buClr>
              <a:buSzPct val="100000"/>
              <a:buFont typeface="Arial"/>
              <a:buChar char="•"/>
            </a:pPr>
            <a:r>
              <a:t>Captured run 3 of the confirmation, 2026-10-17 (ran alone, 420 s limit; console clock starts 18 s after launch): 0:23 bare patches app/services/errors.py; 1:16 harness patch to the same file blocked; 3:42 bare arm ends after 43 turns; 4:30 harness sets passes from visible tests; 5:15 bare primary verdict; 7:22 harness arm ends ABORTED: timeout after 39 turns; 8:06 bare full verdict; 8:50 and 11:18 harness verdicts; command finished 11 min 41 s, exit 2.</a:t>
            </a:r>
          </a:p>
          <a:p>
            <a:pPr marL="228600" indent="-182880" algn="l">
              <a:lnSpc>
                <a:spcPct val="100000"/>
              </a:lnSpc>
              <a:spcBef>
                <a:spcPts val="0"/>
              </a:spcBef>
              <a:spcAft>
                <a:spcPts val="0"/>
              </a:spcAft>
              <a:buClr>
                <a:srgbClr val="324158"/>
              </a:buClr>
              <a:buSzPct val="100000"/>
              <a:buFont typeface="Arial"/>
              <a:buChar char="•"/>
            </a:pPr>
            <a:r>
              <a:t>Say: "Both arms felt the same pull within 76 seconds; only the harness arm was stopped. Right after the block it put its 412 error in app/services/issues.py."</a:t>
            </a:r>
          </a:p>
          <a:p>
            <a:pPr marL="228600" indent="-182880" algn="l">
              <a:lnSpc>
                <a:spcPct val="100000"/>
              </a:lnSpc>
              <a:spcBef>
                <a:spcPts val="0"/>
              </a:spcBef>
              <a:spcAft>
                <a:spcPts val="0"/>
              </a:spcAft>
              <a:buClr>
                <a:srgbClr val="324158"/>
              </a:buClr>
              <a:buSzPct val="100000"/>
              <a:buFont typeface="Arial"/>
              <a:buChar char="•"/>
            </a:pPr>
            <a:r>
              <a:t>Every harness arm ended on the harness's own 120 s limit for its work (handoffs and the visible-test run that sets passes), not on the 420 s agent limit. Each still shipped a change and was scored. Raising that limit was not pre-registered, so it was not changed for the confirmation; since 2026-10-18 the class profile gives harness work 900 s, and every arm of the three demo-3 runs measured that day completed. Runs 1 and 2 ran together and took 16 min 34 s and 15 min 22 s.</a:t>
            </a:r>
          </a:p>
          <a:p>
            <a:pPr marL="228600" indent="-182880" algn="l">
              <a:lnSpc>
                <a:spcPct val="100000"/>
              </a:lnSpc>
              <a:spcBef>
                <a:spcPts val="0"/>
              </a:spcBef>
              <a:spcAft>
                <a:spcPts val="0"/>
              </a:spcAft>
              <a:buClr>
                <a:srgbClr val="324158"/>
              </a:buClr>
              <a:buSzPct val="100000"/>
              <a:buFont typeface="Arial"/>
              <a:buChar char="•"/>
            </a:pPr>
            <a:r>
              <a:t>Screen 2 (2), Boards: both boards own-org only; the referee's two-tab capture where tab B's stale save gets a 409 page.</a:t>
            </a:r>
          </a:p>
          <a:p>
            <a:pPr marL="228600" indent="-182880" algn="l">
              <a:lnSpc>
                <a:spcPct val="100000"/>
              </a:lnSpc>
              <a:spcBef>
                <a:spcPts val="0"/>
              </a:spcBef>
              <a:spcAft>
                <a:spcPts val="0"/>
              </a:spcAft>
              <a:buClr>
                <a:srgbClr val="324158"/>
              </a:buClr>
              <a:buSzPct val="100000"/>
              <a:buFont typeface="Arial"/>
              <a:buChar char="•"/>
            </a:pPr>
            <a:r>
              <a:t>Screen 5 (5), Traces: "First wrong turn": in the capture, bare turn 1.14 edited app/services/errors.py; harness turn 1.12 was the blocked patch. Screen 4 (4), A/B Report: hollow dots for both arms on Feature 4's own measure. Say: "The scope count is on screen 3, not here."</a:t>
            </a:r>
          </a:p>
          <a:p>
            <a:pPr marL="228600" indent="-182880" algn="l">
              <a:lnSpc>
                <a:spcPct val="100000"/>
              </a:lnSpc>
              <a:spcBef>
                <a:spcPts val="0"/>
              </a:spcBef>
              <a:spcAft>
                <a:spcPts val="0"/>
              </a:spcAft>
              <a:buClr>
                <a:srgbClr val="324158"/>
              </a:buClr>
              <a:buSzPct val="100000"/>
              <a:buFont typeface="Arial"/>
              <a:buChar char="•"/>
            </a:pPr>
            <a:r>
              <a:t>Code to mention: the refusal text comes from reason() in guard.py (idea 2); walkthrough.md has it.</a:t>
            </a:r>
          </a:p>
          <a:p>
            <a:pPr marL="228600" indent="-182880" algn="l">
              <a:lnSpc>
                <a:spcPct val="100000"/>
              </a:lnSpc>
              <a:spcBef>
                <a:spcPts val="0"/>
              </a:spcBef>
              <a:spcAft>
                <a:spcPts val="0"/>
              </a:spcAft>
              <a:buClr>
                <a:srgbClr val="324158"/>
              </a:buClr>
              <a:buSzPct val="100000"/>
              <a:buFont typeface="Arial"/>
              <a:buChar char="•"/>
            </a:pPr>
            <a:r>
              <a:t>If today's bare arm stays in scope: say so; it is one more dot. If the harness arm is still running, show the bare arm's screen 3 now and return.</a:t>
            </a:r>
          </a:p>
          <a:p>
            <a:pPr marL="228600" indent="-182880" algn="l">
              <a:lnSpc>
                <a:spcPct val="100000"/>
              </a:lnSpc>
              <a:spcBef>
                <a:spcPts val="0"/>
              </a:spcBef>
              <a:spcAft>
                <a:spcPts val="0"/>
              </a:spcAft>
              <a:buClr>
                <a:srgbClr val="324158"/>
              </a:buClr>
              <a:buSzPct val="100000"/>
              <a:buFont typeface="Arial"/>
              <a:buChar char="•"/>
            </a:pPr>
            <a:r>
              <a:t>If the A/B broke for a reason outside the experiment: make replay RUN=&lt;id&gt; with the fallback id recorded the day before, or walk section-3-scope-sandbox/demo/expected/ (screens 1, 3, 2, 5, 4, then screen-3-run-1.png and screen-3-run-2.png for the other two runs), saying "recorded before class". Docker down: sudo systemctl start docker, make warm.</a:t>
            </a:r>
          </a:p>
          <a:p>
            <a:pPr marL="228600" indent="-182880" algn="l">
              <a:lnSpc>
                <a:spcPct val="100000"/>
              </a:lnSpc>
              <a:spcBef>
                <a:spcPts val="0"/>
              </a:spcBef>
              <a:spcAft>
                <a:spcPts val="0"/>
              </a:spcAft>
              <a:buClr>
                <a:srgbClr val="324158"/>
              </a:buClr>
              <a:buSzPct val="100000"/>
              <a:buFont typeface="Arial"/>
              <a:buChar char="•"/>
            </a:pPr>
            <a:r>
              <a:t>Time: 10 minutes. Next: the honest numbers.</a:t>
            </a:r>
          </a:p>
        </p:txBody>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6 min (2:38-2:44)</a:t>
            </a:r>
          </a:p>
          <a:p>
            <a:pPr marL="228600" indent="-182880" algn="l">
              <a:lnSpc>
                <a:spcPct val="100000"/>
              </a:lnSpc>
              <a:spcBef>
                <a:spcPts val="0"/>
              </a:spcBef>
              <a:spcAft>
                <a:spcPts val="0"/>
              </a:spcAft>
              <a:buClr>
                <a:srgbClr val="324158"/>
              </a:buClr>
              <a:buSzPct val="100000"/>
              <a:buFont typeface="Arial"/>
              <a:buChar char="•"/>
            </a:pPr>
            <a:r>
              <a:t>The confirmation run of Section 3: Scope and sandbox was pre-registered before any of its runs: Feature 4: Version checks on issue edits, the Section 3 stack, class profile, 3 A/Bs, and "harness ahead" only if the gap was not caused by harness-only timeouts. Result: harness ahead; every bare arm left the list.</a:t>
            </a:r>
          </a:p>
          <a:p>
            <a:pPr marL="228600" indent="-182880" algn="l">
              <a:lnSpc>
                <a:spcPct val="100000"/>
              </a:lnSpc>
              <a:spcBef>
                <a:spcPts val="0"/>
              </a:spcBef>
              <a:spcAft>
                <a:spcPts val="0"/>
              </a:spcAft>
              <a:buClr>
                <a:srgbClr val="324158"/>
              </a:buClr>
              <a:buSzPct val="100000"/>
              <a:buFont typeface="Arial"/>
              <a:buChar char="•"/>
            </a:pPr>
            <a:r>
              <a:t>Feature 3: Safe retries for issue creation, the section's own ticket, plain and with a tempting shared middleware: no arm left scope in 10 runs per arm, and every arm passed 49 of 49 hidden tests. Say plainly: no measurable difference on Feature 3.</a:t>
            </a:r>
          </a:p>
          <a:p>
            <a:pPr marL="228600" indent="-182880" algn="l">
              <a:lnSpc>
                <a:spcPct val="100000"/>
              </a:lnSpc>
              <a:spcBef>
                <a:spcPts val="0"/>
              </a:spcBef>
              <a:spcAft>
                <a:spcPts val="0"/>
              </a:spcAft>
              <a:buClr>
                <a:srgbClr val="324158"/>
              </a:buClr>
              <a:buSzPct val="100000"/>
              <a:buFont typeface="Arial"/>
              <a:buChar char="•"/>
            </a:pPr>
            <a:r>
              <a:t>Why partly by construction: the scope layer refuses exactly what the referee counts, so the harness zero is built in. What the runs show is that the same agent, ticket, and handbook edit a shared file every time nothing stops it.</a:t>
            </a:r>
          </a:p>
          <a:p>
            <a:pPr marL="228600" indent="-182880" algn="l">
              <a:lnSpc>
                <a:spcPct val="100000"/>
              </a:lnSpc>
              <a:spcBef>
                <a:spcPts val="0"/>
              </a:spcBef>
              <a:spcAft>
                <a:spcPts val="0"/>
              </a:spcAft>
              <a:buClr>
                <a:srgbClr val="324158"/>
              </a:buClr>
              <a:buSzPct val="100000"/>
              <a:buFont typeface="Arial"/>
              <a:buChar char="•"/>
            </a:pPr>
            <a:r>
              <a:t>What it does not prove: that the stray file broke anything (existing tests 190 of 190 in every arm); that the harness built a better feature (hidden tests: bare 68 of 69 in each run, harness 68, 62, and 65; no arm met the ticket's own bar).</a:t>
            </a:r>
          </a:p>
          <a:p>
            <a:pPr marL="228600" indent="-182880" algn="l">
              <a:lnSpc>
                <a:spcPct val="100000"/>
              </a:lnSpc>
              <a:spcBef>
                <a:spcPts val="0"/>
              </a:spcBef>
              <a:spcAft>
                <a:spcPts val="0"/>
              </a:spcAft>
              <a:buClr>
                <a:srgbClr val="324158"/>
              </a:buClr>
              <a:buSzPct val="100000"/>
              <a:buFont typeface="Arial"/>
              <a:buChar char="•"/>
            </a:pPr>
            <a:r>
              <a:t>Post hoc, descriptive only: in the earlier Feature 4 pilot, bare arms left the allowed paths in 6 of 6 runs; median tests shipped 15.5 for bare and 0 for harness. A guard that blocks everything would also score zero.</a:t>
            </a:r>
          </a:p>
          <a:p>
            <a:pPr marL="228600" indent="-182880" algn="l">
              <a:lnSpc>
                <a:spcPct val="100000"/>
              </a:lnSpc>
              <a:spcBef>
                <a:spcPts val="0"/>
              </a:spcBef>
              <a:spcAft>
                <a:spcPts val="0"/>
              </a:spcAft>
              <a:buClr>
                <a:srgbClr val="324158"/>
              </a:buClr>
              <a:buSzPct val="100000"/>
              <a:buFont typeface="Arial"/>
              <a:buChar char="•"/>
            </a:pPr>
            <a:r>
              <a:t>Monday: count first. Write the globs, run the agent, and count files outside them with git diff --name-only; that is your bare-arm number. Zero across several tasks: a guard adds little. The same shared module again and again: enforce it.</a:t>
            </a:r>
          </a:p>
          <a:p>
            <a:pPr marL="228600" indent="-182880" algn="l">
              <a:lnSpc>
                <a:spcPct val="100000"/>
              </a:lnSpc>
              <a:spcBef>
                <a:spcPts val="0"/>
              </a:spcBef>
              <a:spcAft>
                <a:spcPts val="0"/>
              </a:spcAft>
              <a:buClr>
                <a:srgbClr val="324158"/>
              </a:buClr>
              <a:buSzPct val="100000"/>
              <a:buFont typeface="Arial"/>
              <a:buChar char="•"/>
            </a:pPr>
            <a:r>
              <a:t>Enforce in two places: before a patch applies and after each command with a snapshot (a patch-only check misses sed -i and generated files). Make grading files off limits in every phase. For the runtime: container, --network none, non-root, keys on the host. Starter: Assignment 3: Scope and sandbox (make check-assignment-3 first) and use-in-your-repo/.</a:t>
            </a:r>
          </a:p>
          <a:p>
            <a:pPr marL="228600" indent="-182880" algn="l">
              <a:lnSpc>
                <a:spcPct val="100000"/>
              </a:lnSpc>
              <a:spcBef>
                <a:spcPts val="0"/>
              </a:spcBef>
              <a:spcAft>
                <a:spcPts val="0"/>
              </a:spcAft>
              <a:buClr>
                <a:srgbClr val="324158"/>
              </a:buClr>
              <a:buSzPct val="100000"/>
              <a:buFont typeface="Arial"/>
              <a:buChar char="•"/>
            </a:pPr>
            <a:r>
              <a:t>Analogy: a linter rule that bans an import always shows zero in the repo that runs it; the useful number is how often code without the rule violates it.</a:t>
            </a:r>
          </a:p>
          <a:p>
            <a:pPr marL="228600" indent="-182880" algn="l">
              <a:lnSpc>
                <a:spcPct val="100000"/>
              </a:lnSpc>
              <a:spcBef>
                <a:spcPts val="0"/>
              </a:spcBef>
              <a:spcAft>
                <a:spcPts val="0"/>
              </a:spcAft>
              <a:buClr>
                <a:srgbClr val="324158"/>
              </a:buClr>
              <a:buSzPct val="100000"/>
              <a:buFont typeface="Arial"/>
              <a:buChar char="•"/>
            </a:pPr>
            <a:r>
              <a:t>Ask: "What would you measure next to the guard, so a guard that blocks everything cannot look good?" Expected: hidden tests passed, existing tests green, tests shipped, time to done.</a:t>
            </a:r>
          </a:p>
          <a:p>
            <a:pPr marL="228600" indent="-182880" algn="l">
              <a:lnSpc>
                <a:spcPct val="100000"/>
              </a:lnSpc>
              <a:spcBef>
                <a:spcPts val="0"/>
              </a:spcBef>
              <a:spcAft>
                <a:spcPts val="0"/>
              </a:spcAft>
              <a:buClr>
                <a:srgbClr val="324158"/>
              </a:buClr>
              <a:buSzPct val="100000"/>
              <a:buFont typeface="Arial"/>
              <a:buChar char="•"/>
            </a:pPr>
            <a:r>
              <a:t>Likely question: "Why did the bare arm stay in scope on Feature 3 but not Feature 4?" Answer: Feature 4 needs a new error and the handbook points to the shared module; Feature 3 did not pull it out.</a:t>
            </a:r>
          </a:p>
          <a:p>
            <a:pPr marL="228600" indent="-182880" algn="l">
              <a:lnSpc>
                <a:spcPct val="100000"/>
              </a:lnSpc>
              <a:spcBef>
                <a:spcPts val="0"/>
              </a:spcBef>
              <a:spcAft>
                <a:spcPts val="0"/>
              </a:spcAft>
              <a:buClr>
                <a:srgbClr val="324158"/>
              </a:buClr>
              <a:buSzPct val="100000"/>
              <a:buFont typeface="Arial"/>
              <a:buChar char="•"/>
            </a:pPr>
            <a:r>
              <a:t>Misconception: "harness ahead means a better feature" or "turn on the guard and you're done". Correction: it means no shipped file outside the list; and say why in the refusal and name the allowed files, or the agent wastes turns guessing.</a:t>
            </a:r>
          </a:p>
          <a:p>
            <a:pPr marL="228600" indent="-182880" algn="l">
              <a:lnSpc>
                <a:spcPct val="100000"/>
              </a:lnSpc>
              <a:spcBef>
                <a:spcPts val="0"/>
              </a:spcBef>
              <a:spcAft>
                <a:spcPts val="0"/>
              </a:spcAft>
              <a:buClr>
                <a:srgbClr val="324158"/>
              </a:buClr>
              <a:buSzPct val="100000"/>
              <a:buFont typeface="Arial"/>
              <a:buChar char="•"/>
            </a:pPr>
            <a:r>
              <a:t>Time: 6 minutes. Next: questions.</a:t>
            </a:r>
          </a:p>
        </p:txBody>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6 min (2:44-2:50)</a:t>
            </a:r>
          </a:p>
          <a:p>
            <a:pPr marL="228600" indent="-182880" algn="l">
              <a:lnSpc>
                <a:spcPct val="100000"/>
              </a:lnSpc>
              <a:spcBef>
                <a:spcPts val="0"/>
              </a:spcBef>
              <a:spcAft>
                <a:spcPts val="0"/>
              </a:spcAft>
              <a:buClr>
                <a:srgbClr val="324158"/>
              </a:buClr>
              <a:buSzPct val="100000"/>
              <a:buFont typeface="Arial"/>
              <a:buChar char="•"/>
            </a:pPr>
            <a:r>
              <a:t>Collect questions; park long ones for the review session (Assignment 3: Scope and sandbox slot, with the hidden-diff reveal).</a:t>
            </a:r>
          </a:p>
          <a:p>
            <a:pPr marL="228600" indent="-182880" algn="l">
              <a:lnSpc>
                <a:spcPct val="100000"/>
              </a:lnSpc>
              <a:spcBef>
                <a:spcPts val="0"/>
              </a:spcBef>
              <a:spcAft>
                <a:spcPts val="0"/>
              </a:spcAft>
              <a:buClr>
                <a:srgbClr val="324158"/>
              </a:buClr>
              <a:buSzPct val="100000"/>
              <a:buFont typeface="Arial"/>
              <a:buChar char="•"/>
            </a:pPr>
            <a:r>
              <a:t>Ready answer, "If the harness scores zero by construction, why run an A/B?": for the bare arm's count; on Feature 4: Version checks on issue edits it left the list every run.</a:t>
            </a:r>
          </a:p>
          <a:p>
            <a:pPr marL="228600" indent="-182880" algn="l">
              <a:lnSpc>
                <a:spcPct val="100000"/>
              </a:lnSpc>
              <a:spcBef>
                <a:spcPts val="0"/>
              </a:spcBef>
              <a:spcAft>
                <a:spcPts val="0"/>
              </a:spcAft>
              <a:buClr>
                <a:srgbClr val="324158"/>
              </a:buClr>
              <a:buSzPct val="100000"/>
              <a:buFont typeface="Arial"/>
              <a:buChar char="•"/>
            </a:pPr>
            <a:r>
              <a:t>Ready answer, "Why did both pills say FAIL?": they score Feature 4's own bar, every hidden test and every mutant; the scope result is on screen 3.</a:t>
            </a:r>
          </a:p>
          <a:p>
            <a:pPr marL="228600" indent="-182880" algn="l">
              <a:lnSpc>
                <a:spcPct val="100000"/>
              </a:lnSpc>
              <a:spcBef>
                <a:spcPts val="0"/>
              </a:spcBef>
              <a:spcAft>
                <a:spcPts val="0"/>
              </a:spcAft>
              <a:buClr>
                <a:srgbClr val="324158"/>
              </a:buClr>
              <a:buSzPct val="100000"/>
              <a:buFont typeface="Arial"/>
              <a:buChar char="•"/>
            </a:pPr>
            <a:r>
              <a:t>Ready answer, "What if the agent edits with sed?": the snapshot comparison after the command restores the file and the tool result ends with REVERTED.</a:t>
            </a:r>
          </a:p>
          <a:p>
            <a:pPr marL="228600" indent="-182880" algn="l">
              <a:lnSpc>
                <a:spcPct val="100000"/>
              </a:lnSpc>
              <a:spcBef>
                <a:spcPts val="0"/>
              </a:spcBef>
              <a:spcAft>
                <a:spcPts val="0"/>
              </a:spcAft>
              <a:buClr>
                <a:srgbClr val="324158"/>
              </a:buClr>
              <a:buSzPct val="100000"/>
              <a:buFont typeface="Arial"/>
              <a:buChar char="•"/>
            </a:pPr>
            <a:r>
              <a:t>Ready answer, "Did the sandbox refuse anything?": no command in any test run; it is the same for both arms, so no run measures it.</a:t>
            </a:r>
          </a:p>
          <a:p>
            <a:pPr marL="228600" indent="-182880" algn="l">
              <a:lnSpc>
                <a:spcPct val="100000"/>
              </a:lnSpc>
              <a:spcBef>
                <a:spcPts val="0"/>
              </a:spcBef>
              <a:spcAft>
                <a:spcPts val="0"/>
              </a:spcAft>
              <a:buClr>
                <a:srgbClr val="324158"/>
              </a:buClr>
              <a:buSzPct val="100000"/>
              <a:buFont typeface="Arial"/>
              <a:buChar char="•"/>
            </a:pPr>
            <a:r>
              <a:t>Point learners to section-3-scope-sandbox/demo/README.md and section-3-scope-sandbox/session-notes.md.</a:t>
            </a:r>
          </a:p>
          <a:p>
            <a:pPr marL="228600" indent="-182880" algn="l">
              <a:lnSpc>
                <a:spcPct val="100000"/>
              </a:lnSpc>
              <a:spcBef>
                <a:spcPts val="0"/>
              </a:spcBef>
              <a:spcAft>
                <a:spcPts val="0"/>
              </a:spcAft>
              <a:buClr>
                <a:srgbClr val="324158"/>
              </a:buClr>
              <a:buSzPct val="100000"/>
              <a:buFont typeface="Arial"/>
              <a:buChar char="•"/>
            </a:pPr>
            <a:r>
              <a:t>Ask: "Who in your team owns the shared modules an agent might touch?" Expected: often nobody explicitly, which is the point.</a:t>
            </a:r>
          </a:p>
          <a:p>
            <a:pPr marL="228600" indent="-182880" algn="l">
              <a:lnSpc>
                <a:spcPct val="100000"/>
              </a:lnSpc>
              <a:spcBef>
                <a:spcPts val="0"/>
              </a:spcBef>
              <a:spcAft>
                <a:spcPts val="0"/>
              </a:spcAft>
              <a:buClr>
                <a:srgbClr val="324158"/>
              </a:buClr>
              <a:buSzPct val="100000"/>
              <a:buFont typeface="Arial"/>
              <a:buChar char="•"/>
            </a:pPr>
            <a:r>
              <a:t>Time: 6 minutes, section ends at 2:50; take an extra question or two. Next: a 5-minute break.</a:t>
            </a:r>
          </a:p>
        </p:txBody>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5 min (2:50-2:55)</a:t>
            </a:r>
          </a:p>
          <a:p>
            <a:pPr marL="228600" indent="-182880" algn="l">
              <a:lnSpc>
                <a:spcPct val="100000"/>
              </a:lnSpc>
              <a:spcBef>
                <a:spcPts val="0"/>
              </a:spcBef>
              <a:spcAft>
                <a:spcPts val="0"/>
              </a:spcAft>
              <a:buClr>
                <a:srgbClr val="324158"/>
              </a:buClr>
              <a:buSzPct val="100000"/>
              <a:buFont typeface="Arial"/>
              <a:buChar char="•"/>
            </a:pPr>
            <a:r>
              <a:t>Write the return time (2:55) on the slide before you step away.</a:t>
            </a:r>
          </a:p>
          <a:p>
            <a:pPr marL="228600" indent="-182880" algn="l">
              <a:lnSpc>
                <a:spcPct val="100000"/>
              </a:lnSpc>
              <a:spcBef>
                <a:spcPts val="0"/>
              </a:spcBef>
              <a:spcAft>
                <a:spcPts val="0"/>
              </a:spcAft>
              <a:buClr>
                <a:srgbClr val="324158"/>
              </a:buClr>
              <a:buSzPct val="100000"/>
              <a:buFont typeface="Arial"/>
              <a:buChar char="•"/>
            </a:pPr>
            <a:r>
              <a:t>Nothing runs during the break; do not launch any command.</a:t>
            </a:r>
          </a:p>
          <a:p>
            <a:pPr marL="228600" indent="-182880" algn="l">
              <a:lnSpc>
                <a:spcPct val="100000"/>
              </a:lnSpc>
              <a:spcBef>
                <a:spcPts val="0"/>
              </a:spcBef>
              <a:spcAft>
                <a:spcPts val="0"/>
              </a:spcAft>
              <a:buClr>
                <a:srgbClr val="324158"/>
              </a:buClr>
              <a:buSzPct val="100000"/>
              <a:buFont typeface="Arial"/>
              <a:buChar char="•"/>
            </a:pPr>
            <a:r>
              <a:t>Check that terminal A (console) and terminal B are up, and open terminal C for the final A/B.</a:t>
            </a:r>
          </a:p>
          <a:p>
            <a:pPr marL="228600" indent="-182880" algn="l">
              <a:lnSpc>
                <a:spcPct val="100000"/>
              </a:lnSpc>
              <a:spcBef>
                <a:spcPts val="0"/>
              </a:spcBef>
              <a:spcAft>
                <a:spcPts val="0"/>
              </a:spcAft>
              <a:buClr>
                <a:srgbClr val="324158"/>
              </a:buClr>
              <a:buSzPct val="100000"/>
              <a:buFont typeface="Arial"/>
              <a:buChar char="•"/>
            </a:pPr>
            <a:r>
              <a:t>Note the session figure from the Cost: line of Section 3: Scope and sandbox: $1.10 or less allows two final features after the poll at the start of Section 4: Verification.</a:t>
            </a:r>
          </a:p>
          <a:p>
            <a:pPr marL="228600" indent="-182880" algn="l">
              <a:lnSpc>
                <a:spcPct val="100000"/>
              </a:lnSpc>
              <a:spcBef>
                <a:spcPts val="0"/>
              </a:spcBef>
              <a:spcAft>
                <a:spcPts val="0"/>
              </a:spcAft>
              <a:buClr>
                <a:srgbClr val="324158"/>
              </a:buClr>
              <a:buSzPct val="100000"/>
              <a:buFont typeface="Arial"/>
              <a:buChar char="•"/>
            </a:pPr>
            <a:r>
              <a:t>Transition: "Welcome back. We know what the agent knows, remembers, and may change. Now: what proves it is done."</a:t>
            </a:r>
          </a:p>
        </p:txBody>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(2:55-2:57)</a:t>
            </a:r>
          </a:p>
          <a:p>
            <a:pPr marL="228600" indent="-182880" algn="l">
              <a:lnSpc>
                <a:spcPct val="100000"/>
              </a:lnSpc>
              <a:spcBef>
                <a:spcPts val="0"/>
              </a:spcBef>
              <a:spcAft>
                <a:spcPts val="0"/>
              </a:spcAft>
              <a:buClr>
                <a:srgbClr val="324158"/>
              </a:buClr>
              <a:buSzPct val="100000"/>
              <a:buFont typeface="Arial"/>
              <a:buChar char="•"/>
            </a:pPr>
            <a:r>
              <a:t>The only poll of the class, at the start of Section 4: Verification, right before the two launches. The final is the one live A/B of the whole stack, all four layers against the bare arm, on a feature neither arm has seen in class.</a:t>
            </a:r>
          </a:p>
          <a:p>
            <a:pPr marL="228600" indent="-182880" algn="l">
              <a:lnSpc>
                <a:spcPct val="100000"/>
              </a:lnSpc>
              <a:spcBef>
                <a:spcPts val="0"/>
              </a:spcBef>
              <a:spcAft>
                <a:spcPts val="0"/>
              </a:spcAft>
              <a:buClr>
                <a:srgbClr val="324158"/>
              </a:buClr>
              <a:buSzPct val="100000"/>
              <a:buFont typeface="Arial"/>
              <a:buChar char="•"/>
            </a:pPr>
            <a:r>
              <a:t>Feature 5: Bulk close: at the end of a sprint a team closes all finished work in one request, POST /projects/{project_id}/issues/bulk-close, with one audit row per request. A single session, closest to this section's gate.</a:t>
            </a:r>
          </a:p>
          <a:p>
            <a:pPr marL="228600" indent="-182880" algn="l">
              <a:lnSpc>
                <a:spcPct val="100000"/>
              </a:lnSpc>
              <a:spcBef>
                <a:spcPts val="0"/>
              </a:spcBef>
              <a:spcAft>
                <a:spcPts val="0"/>
              </a:spcAft>
              <a:buClr>
                <a:srgbClr val="324158"/>
              </a:buClr>
              <a:buSzPct val="100000"/>
              <a:buFont typeface="Arial"/>
              <a:buChar char="•"/>
            </a:pPr>
            <a:r>
              <a:t>Feature 6: Watchers: users watch and unwatch issues; admins can add watchers for others. The work is split over a session stop, so it tests the handoff of Section 2: State and sessions again.</a:t>
            </a:r>
          </a:p>
          <a:p>
            <a:pPr marL="228600" indent="-182880" algn="l">
              <a:lnSpc>
                <a:spcPct val="100000"/>
              </a:lnSpc>
              <a:spcBef>
                <a:spcPts val="0"/>
              </a:spcBef>
              <a:spcAft>
                <a:spcPts val="0"/>
              </a:spcAft>
              <a:buClr>
                <a:srgbClr val="324158"/>
              </a:buClr>
              <a:buSzPct val="100000"/>
              <a:buFont typeface="Arial"/>
              <a:buChar char="•"/>
            </a:pPr>
            <a:r>
              <a:t>Feature 7: Labels: teams tag issues with their own labels and filter lists by label; it also spans a session stop.</a:t>
            </a:r>
          </a:p>
          <a:p>
            <a:pPr marL="228600" indent="-182880" algn="l">
              <a:lnSpc>
                <a:spcPct val="100000"/>
              </a:lnSpc>
              <a:spcBef>
                <a:spcPts val="0"/>
              </a:spcBef>
              <a:spcAft>
                <a:spcPts val="0"/>
              </a:spcAft>
              <a:buClr>
                <a:srgbClr val="324158"/>
              </a:buClr>
              <a:buSzPct val="100000"/>
              <a:buFont typeface="Arial"/>
              <a:buChar char="•"/>
            </a:pPr>
            <a:r>
              <a:t>Ask while it runs: "Which one do you expect the harness to help most?" Expected: watchers or labels, because of the stop. Remind them Section 2 showed no measurable difference on its ticket.</a:t>
            </a:r>
          </a:p>
          <a:p>
            <a:pPr marL="228600" indent="-182880" algn="l">
              <a:lnSpc>
                <a:spcPct val="100000"/>
              </a:lnSpc>
              <a:spcBef>
                <a:spcPts val="0"/>
              </a:spcBef>
              <a:spcAft>
                <a:spcPts val="0"/>
              </a:spcAft>
              <a:buClr>
                <a:srgbClr val="324158"/>
              </a:buClr>
              <a:buSzPct val="100000"/>
              <a:buFont typeface="Arial"/>
              <a:buChar char="•"/>
            </a:pPr>
            <a:r>
              <a:t>Note the winner and the runner-up. Their command names: bulk-close, watchers, labels. The next slide launches make final FEATURES=&lt;winner&gt;,&lt;runner-up&gt;, for example make final FEATURES=watchers,bulk-close.</a:t>
            </a:r>
          </a:p>
          <a:p>
            <a:pPr marL="228600" indent="-182880" algn="l">
              <a:lnSpc>
                <a:spcPct val="100000"/>
              </a:lnSpc>
              <a:spcBef>
                <a:spcPts val="0"/>
              </a:spcBef>
              <a:spcAft>
                <a:spcPts val="0"/>
              </a:spcAft>
              <a:buClr>
                <a:srgbClr val="324158"/>
              </a:buClr>
              <a:buSzPct val="100000"/>
              <a:buFont typeface="Arial"/>
              <a:buChar char="•"/>
            </a:pPr>
            <a:r>
              <a:t>Two features only if the Cost: line of Section 3: Scope and sandbox showed a session figure of $1.10 or less; otherwise the winner alone. The session cap is $2.50; one feature costs at most $0.58 at the caps.</a:t>
            </a:r>
          </a:p>
          <a:p>
            <a:pPr marL="228600" indent="-182880" algn="l">
              <a:lnSpc>
                <a:spcPct val="100000"/>
              </a:lnSpc>
              <a:spcBef>
                <a:spcPts val="0"/>
              </a:spcBef>
              <a:spcAft>
                <a:spcPts val="0"/>
              </a:spcAft>
              <a:buClr>
                <a:srgbClr val="324158"/>
              </a:buClr>
              <a:buSzPct val="100000"/>
              <a:buFont typeface="Arial"/>
              <a:buChar char="•"/>
            </a:pPr>
            <a:r>
              <a:t>Likely question: "Why not run all three?" Answer: the session cap.</a:t>
            </a:r>
          </a:p>
          <a:p>
            <a:pPr marL="228600" indent="-182880" algn="l">
              <a:lnSpc>
                <a:spcPct val="100000"/>
              </a:lnSpc>
              <a:spcBef>
                <a:spcPts val="0"/>
              </a:spcBef>
              <a:spcAft>
                <a:spcPts val="0"/>
              </a:spcAft>
              <a:buClr>
                <a:srgbClr val="324158"/>
              </a:buClr>
              <a:buSzPct val="100000"/>
              <a:buFont typeface="Arial"/>
              <a:buChar char="•"/>
            </a:pPr>
            <a:r>
              <a:t>Misconception: "the final will settle which arm is better". Correction: one A/B is one dot; we read it next to the runs from before class.</a:t>
            </a:r>
          </a:p>
          <a:p>
            <a:pPr marL="228600" indent="-182880" algn="l">
              <a:lnSpc>
                <a:spcPct val="100000"/>
              </a:lnSpc>
              <a:spcBef>
                <a:spcPts val="0"/>
              </a:spcBef>
              <a:spcAft>
                <a:spcPts val="0"/>
              </a:spcAft>
              <a:buClr>
                <a:srgbClr val="324158"/>
              </a:buClr>
              <a:buSzPct val="100000"/>
              <a:buFont typeface="Arial"/>
              <a:buChar char="•"/>
            </a:pPr>
            <a:r>
              <a:t>Time: 2 minutes, close the poll at 2:57. Next: the section start and both launches.</a:t>
            </a:r>
          </a:p>
        </p:txBody>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(2:57-2:59)</a:t>
            </a:r>
          </a:p>
          <a:p>
            <a:pPr marL="228600" indent="-182880" algn="l">
              <a:lnSpc>
                <a:spcPct val="100000"/>
              </a:lnSpc>
              <a:spcBef>
                <a:spcPts val="0"/>
              </a:spcBef>
              <a:spcAft>
                <a:spcPts val="0"/>
              </a:spcAft>
              <a:buClr>
                <a:srgbClr val="324158"/>
              </a:buClr>
              <a:buSzPct val="100000"/>
              <a:buFont typeface="Arial"/>
              <a:buChar char="•"/>
            </a:pPr>
            <a:r>
              <a:t>The poll has just closed: you have the winner and the runner-up. Section 4: Verification asks who decides the work is finished: the call finish(claim="done") and what we check before we believe it. The ticket: Feature 4: Version checks on issue edits again, optimistic concurrency (ETag, If-Match, 412), the hardest ticket in the course.</a:t>
            </a:r>
          </a:p>
          <a:p>
            <a:pPr marL="228600" indent="-182880" algn="l">
              <a:lnSpc>
                <a:spcPct val="100000"/>
              </a:lnSpc>
              <a:spcBef>
                <a:spcPts val="0"/>
              </a:spcBef>
              <a:spcAft>
                <a:spcPts val="0"/>
              </a:spcAft>
              <a:buClr>
                <a:srgbClr val="324158"/>
              </a:buClr>
              <a:buSzPct val="100000"/>
              <a:buFont typeface="Arial"/>
              <a:buChar char="•"/>
            </a:pPr>
            <a:r>
              <a:t>The primary measure: a run passes only with all 69 hidden tests passing and all 4 referee mutants caught by its own tests.</a:t>
            </a:r>
          </a:p>
          <a:p>
            <a:pPr marL="228600" indent="-182880" algn="l">
              <a:lnSpc>
                <a:spcPct val="100000"/>
              </a:lnSpc>
              <a:spcBef>
                <a:spcPts val="0"/>
              </a:spcBef>
              <a:spcAft>
                <a:spcPts val="0"/>
              </a:spcAft>
              <a:buClr>
                <a:srgbClr val="324158"/>
              </a:buClr>
              <a:buSzPct val="100000"/>
              <a:buFont typeface="Arial"/>
              <a:buChar char="•"/>
            </a:pPr>
            <a:r>
              <a:t>Launch 1, 2:57, terminal B: make show-4. It runs shipharness ab --section demo-4 --feature F4 --arms harness --profile class (F4 is the console's code for Feature 4). Open its run in browser tab 2.</a:t>
            </a:r>
          </a:p>
          <a:p>
            <a:pPr marL="228600" indent="-182880" algn="l">
              <a:lnSpc>
                <a:spcPct val="100000"/>
              </a:lnSpc>
              <a:spcBef>
                <a:spcPts val="0"/>
              </a:spcBef>
              <a:spcAft>
                <a:spcPts val="0"/>
              </a:spcAft>
              <a:buClr>
                <a:srgbClr val="324158"/>
              </a:buClr>
              <a:buSzPct val="100000"/>
              <a:buFont typeface="Arial"/>
              <a:buChar char="•"/>
            </a:pPr>
            <a:r>
              <a:t>Launch 2, right after, terminal C: make final with FEATURES= set to the poll winner, a comma, the runner-up, for example make final FEATURES=watchers,bulk-close. Always pass FEATURES; the default is bulk close, then watchers. Open its run in browser tab 3, then go back to tab 2.</a:t>
            </a:r>
          </a:p>
          <a:p>
            <a:pPr marL="228600" indent="-182880" algn="l">
              <a:lnSpc>
                <a:spcPct val="100000"/>
              </a:lnSpc>
              <a:spcBef>
                <a:spcPts val="0"/>
              </a:spcBef>
              <a:spcAft>
                <a:spcPts val="0"/>
              </a:spcAft>
              <a:buClr>
                <a:srgbClr val="324158"/>
              </a:buClr>
              <a:buSzPct val="100000"/>
              <a:buFont typeface="Arial"/>
              <a:buChar char="•"/>
            </a:pPr>
            <a:r>
              <a:t>show-4, measured 2026-10-18 (three runs, class profile, next to another run, filters on the first three proposed tests): primary verdict 6 to 7 minutes (5:51 to 6:50), full verdict 7 to 9 minutes (6:51 to 8:26), cost $0.023 to $0.033 against a $0.24 cap. Expect the full verdict by about 3:06. The DEMO slide is at about 3:22.</a:t>
            </a:r>
          </a:p>
          <a:p>
            <a:pPr marL="228600" indent="-182880" algn="l">
              <a:lnSpc>
                <a:spcPct val="100000"/>
              </a:lnSpc>
              <a:spcBef>
                <a:spcPts val="0"/>
              </a:spcBef>
              <a:spcAft>
                <a:spcPts val="0"/>
              </a:spcAft>
              <a:buClr>
                <a:srgbClr val="324158"/>
              </a:buClr>
              <a:buSzPct val="100000"/>
              <a:buFont typeface="Arial"/>
              <a:buChar char="•"/>
            </a:pPr>
            <a:r>
              <a:t>The final, measured 2026-10-18 (three Feature 5: Bulk close runs, class profile): the harness arm's full verdict 9 to 16 minutes after launch (8:41 to 15:22), the bare arm's 4 to 8 minutes; cost $0.044 to $0.048 per feature. Features run one after another: the first done by about 3:13, the second by about 3:28, before the final block at 3:40. Feature 6: Watchers has two build sessions and was not timed as a final, so do not promise its finish time.</a:t>
            </a:r>
          </a:p>
          <a:p>
            <a:pPr marL="228600" indent="-182880" algn="l">
              <a:lnSpc>
                <a:spcPct val="100000"/>
              </a:lnSpc>
              <a:spcBef>
                <a:spcPts val="0"/>
              </a:spcBef>
              <a:spcAft>
                <a:spcPts val="0"/>
              </a:spcAft>
              <a:buClr>
                <a:srgbClr val="324158"/>
              </a:buClr>
              <a:buSzPct val="100000"/>
              <a:buFont typeface="Arial"/>
              <a:buChar char="•"/>
            </a:pPr>
            <a:r>
              <a:t>What to watch on screen 1 meanwhile: a blocked edit near minute 1; finish done and the gate pills at minutes 2-3; the test phase and its filters at minutes 5-8; the referee at minute 9.</a:t>
            </a:r>
          </a:p>
          <a:p>
            <a:pPr marL="228600" indent="-182880" algn="l">
              <a:lnSpc>
                <a:spcPct val="100000"/>
              </a:lnSpc>
              <a:spcBef>
                <a:spcPts val="0"/>
              </a:spcBef>
              <a:spcAft>
                <a:spcPts val="0"/>
              </a:spcAft>
              <a:buClr>
                <a:srgbClr val="324158"/>
              </a:buClr>
              <a:buSzPct val="100000"/>
              <a:buFont typeface="Arial"/>
              <a:buChar char="•"/>
            </a:pPr>
            <a:r>
              <a:t>If it fails: key or date errors mean fix .env and rerun make doctor; docker run failed means sudo systemctl start docker then make warm; wrong feature in terminal C means Ctrl+C and relaunch. ABORTED: timeout is a result.</a:t>
            </a:r>
          </a:p>
          <a:p>
            <a:pPr marL="228600" indent="-182880" algn="l">
              <a:lnSpc>
                <a:spcPct val="100000"/>
              </a:lnSpc>
              <a:spcBef>
                <a:spcPts val="0"/>
              </a:spcBef>
              <a:spcAft>
                <a:spcPts val="0"/>
              </a:spcAft>
              <a:buClr>
                <a:srgbClr val="324158"/>
              </a:buClr>
              <a:buSzPct val="100000"/>
              <a:buFont typeface="Arial"/>
              <a:buChar char="•"/>
            </a:pPr>
            <a:r>
              <a:t>Analogy: a pull request that says "tested locally": nobody merges on that sentence; CI and review decide.</a:t>
            </a:r>
          </a:p>
          <a:p>
            <a:pPr marL="228600" indent="-182880" algn="l">
              <a:lnSpc>
                <a:spcPct val="100000"/>
              </a:lnSpc>
              <a:spcBef>
                <a:spcPts val="0"/>
              </a:spcBef>
              <a:spcAft>
                <a:spcPts val="0"/>
              </a:spcAft>
              <a:buClr>
                <a:srgbClr val="324158"/>
              </a:buClr>
              <a:buSzPct val="100000"/>
              <a:buFont typeface="Arial"/>
              <a:buChar char="•"/>
            </a:pPr>
            <a:r>
              <a:t>Ask: "When did an agent last tell you it was done when it was not?" Expected: green tests and a broken feature; take one story.</a:t>
            </a:r>
          </a:p>
          <a:p>
            <a:pPr marL="228600" indent="-182880" algn="l">
              <a:lnSpc>
                <a:spcPct val="100000"/>
              </a:lnSpc>
              <a:spcBef>
                <a:spcPts val="0"/>
              </a:spcBef>
              <a:spcAft>
                <a:spcPts val="0"/>
              </a:spcAft>
              <a:buClr>
                <a:srgbClr val="324158"/>
              </a:buClr>
              <a:buSzPct val="100000"/>
              <a:buFont typeface="Arial"/>
              <a:buChar char="•"/>
            </a:pPr>
            <a:r>
              <a:t>Misconception: "verification means the agent runs the tests". Correction: the agent running tests is self-grading; this section moves the judgment out of the agent.</a:t>
            </a:r>
          </a:p>
          <a:p>
            <a:pPr marL="228600" indent="-182880" algn="l">
              <a:lnSpc>
                <a:spcPct val="100000"/>
              </a:lnSpc>
              <a:spcBef>
                <a:spcPts val="0"/>
              </a:spcBef>
              <a:spcAft>
                <a:spcPts val="0"/>
              </a:spcAft>
              <a:buClr>
                <a:srgbClr val="324158"/>
              </a:buClr>
              <a:buSzPct val="100000"/>
              <a:buFont typeface="Arial"/>
              <a:buChar char="•"/>
            </a:pPr>
            <a:r>
              <a:t>Time: 2 minutes including both launches. Next: the story of version checks.</a:t>
            </a:r>
          </a:p>
        </p:txBody>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4 min (2:59-3:03)</a:t>
            </a:r>
          </a:p>
          <a:p>
            <a:pPr marL="228600" indent="-182880" algn="l">
              <a:lnSpc>
                <a:spcPct val="100000"/>
              </a:lnSpc>
              <a:spcBef>
                <a:spcPts val="0"/>
              </a:spcBef>
              <a:spcAft>
                <a:spcPts val="0"/>
              </a:spcAft>
              <a:buClr>
                <a:srgbClr val="324158"/>
              </a:buClr>
              <a:buSzPct val="100000"/>
              <a:buFont typeface="Arial"/>
              <a:buChar char="•"/>
            </a:pPr>
            <a:r>
              <a:t>The ticket: GET /issues/{id} returns an ETag holding the issue's version; a write with a stale If-Match returns 412 precondition_failed and changes nothing; every successful change moves the version up by one.</a:t>
            </a:r>
          </a:p>
          <a:p>
            <a:pPr marL="228600" indent="-182880" algn="l">
              <a:lnSpc>
                <a:spcPct val="100000"/>
              </a:lnSpc>
              <a:spcBef>
                <a:spcPts val="0"/>
              </a:spcBef>
              <a:spcAft>
                <a:spcPts val="0"/>
              </a:spcAft>
              <a:buClr>
                <a:srgbClr val="324158"/>
              </a:buClr>
              <a:buSzPct val="100000"/>
              <a:buFont typeface="Arial"/>
              <a:buChar char="•"/>
            </a:pPr>
            <a:r>
              <a:t>Why every check approved it: If-Match is optional, so old tests pass; no existing test sends a stale header; review saw green CI and a confident summary.</a:t>
            </a:r>
          </a:p>
          <a:p>
            <a:pPr marL="228600" indent="-182880" algn="l">
              <a:lnSpc>
                <a:spcPct val="100000"/>
              </a:lnSpc>
              <a:spcBef>
                <a:spcPts val="0"/>
              </a:spcBef>
              <a:spcAft>
                <a:spcPts val="0"/>
              </a:spcAft>
              <a:buClr>
                <a:srgbClr val="324158"/>
              </a:buClr>
              <a:buSzPct val="100000"/>
              <a:buFont typeface="Arial"/>
              <a:buChar char="•"/>
            </a:pPr>
            <a:r>
              <a:t>The scenario is illustrative (the repo labels it so). The real version from before class is on the next slide.</a:t>
            </a:r>
          </a:p>
          <a:p>
            <a:pPr marL="228600" indent="-182880" algn="l">
              <a:lnSpc>
                <a:spcPct val="100000"/>
              </a:lnSpc>
              <a:spcBef>
                <a:spcPts val="0"/>
              </a:spcBef>
              <a:spcAft>
                <a:spcPts val="0"/>
              </a:spcAft>
              <a:buClr>
                <a:srgbClr val="324158"/>
              </a:buClr>
              <a:buSzPct val="100000"/>
              <a:buFont typeface="Arial"/>
              <a:buChar char="•"/>
            </a:pPr>
            <a:r>
              <a:t>The header is optional on purpose, so existing clients keep working, and that is why the old suite stays green whether the check works or not.</a:t>
            </a:r>
          </a:p>
          <a:p>
            <a:pPr marL="228600" indent="-182880" algn="l">
              <a:lnSpc>
                <a:spcPct val="100000"/>
              </a:lnSpc>
              <a:spcBef>
                <a:spcPts val="0"/>
              </a:spcBef>
              <a:spcAft>
                <a:spcPts val="0"/>
              </a:spcAft>
              <a:buClr>
                <a:srgbClr val="324158"/>
              </a:buClr>
              <a:buSzPct val="100000"/>
              <a:buFont typeface="Arial"/>
              <a:buChar char="•"/>
            </a:pPr>
            <a:r>
              <a:t>Check order in the spec: 401, 403, 404, then 412, then 422. A stale If-Match with an invalid body must give 412, not 422. It comes back in the demo.</a:t>
            </a:r>
          </a:p>
          <a:p>
            <a:pPr marL="228600" indent="-182880" algn="l">
              <a:lnSpc>
                <a:spcPct val="100000"/>
              </a:lnSpc>
              <a:spcBef>
                <a:spcPts val="0"/>
              </a:spcBef>
              <a:spcAft>
                <a:spcPts val="0"/>
              </a:spcAft>
              <a:buClr>
                <a:srgbClr val="324158"/>
              </a:buClr>
              <a:buSzPct val="100000"/>
              <a:buFont typeface="Arial"/>
              <a:buChar char="•"/>
            </a:pPr>
            <a:r>
              <a:t>Say the race: tabs A and B both read version 3; A saves, the version becomes 4; B saves with the stale If-Match and must get 412. Ask where the lost update happens. Expected: at B's save, when the server does not compare versions.</a:t>
            </a:r>
          </a:p>
          <a:p>
            <a:pPr marL="228600" indent="-182880" algn="l">
              <a:lnSpc>
                <a:spcPct val="100000"/>
              </a:lnSpc>
              <a:spcBef>
                <a:spcPts val="0"/>
              </a:spcBef>
              <a:spcAft>
                <a:spcPts val="0"/>
              </a:spcAft>
              <a:buClr>
                <a:srgbClr val="324158"/>
              </a:buClr>
              <a:buSzPct val="100000"/>
              <a:buFont typeface="Arial"/>
              <a:buChar char="•"/>
            </a:pPr>
            <a:r>
              <a:t>Analogy: a review that approves "tests pass" when the tests never exercise the changed branch.</a:t>
            </a:r>
          </a:p>
          <a:p>
            <a:pPr marL="228600" indent="-182880" algn="l">
              <a:lnSpc>
                <a:spcPct val="100000"/>
              </a:lnSpc>
              <a:spcBef>
                <a:spcPts val="0"/>
              </a:spcBef>
              <a:spcAft>
                <a:spcPts val="0"/>
              </a:spcAft>
              <a:buClr>
                <a:srgbClr val="324158"/>
              </a:buClr>
              <a:buSzPct val="100000"/>
              <a:buFont typeface="Arial"/>
              <a:buChar char="•"/>
            </a:pPr>
            <a:r>
              <a:t>Ask: "Which test would have caught this?" Expected: two writers, the second with the old version, expecting 412 and no change.</a:t>
            </a:r>
          </a:p>
          <a:p>
            <a:pPr marL="228600" indent="-182880" algn="l">
              <a:lnSpc>
                <a:spcPct val="100000"/>
              </a:lnSpc>
              <a:spcBef>
                <a:spcPts val="0"/>
              </a:spcBef>
              <a:spcAft>
                <a:spcPts val="0"/>
              </a:spcAft>
              <a:buClr>
                <a:srgbClr val="324158"/>
              </a:buClr>
              <a:buSzPct val="100000"/>
              <a:buFont typeface="Arial"/>
              <a:buChar char="•"/>
            </a:pPr>
            <a:r>
              <a:t>Likely question: "Isn't this just a bad test suite?" Answer: yes, and the agent wrote the suite it then graded. That is the cause we fix.</a:t>
            </a:r>
          </a:p>
          <a:p>
            <a:pPr marL="228600" indent="-182880" algn="l">
              <a:lnSpc>
                <a:spcPct val="100000"/>
              </a:lnSpc>
              <a:spcBef>
                <a:spcPts val="0"/>
              </a:spcBef>
              <a:spcAft>
                <a:spcPts val="0"/>
              </a:spcAft>
              <a:buClr>
                <a:srgbClr val="324158"/>
              </a:buClr>
              <a:buSzPct val="100000"/>
              <a:buFont typeface="Arial"/>
              <a:buChar char="•"/>
            </a:pPr>
            <a:r>
              <a:t>Misconception: "the agent lied". Correction: nobody lied; it checked what it could see, and what it could see was not the feature.</a:t>
            </a:r>
          </a:p>
          <a:p>
            <a:pPr marL="228600" indent="-182880" algn="l">
              <a:lnSpc>
                <a:spcPct val="100000"/>
              </a:lnSpc>
              <a:spcBef>
                <a:spcPts val="0"/>
              </a:spcBef>
              <a:spcAft>
                <a:spcPts val="0"/>
              </a:spcAft>
              <a:buClr>
                <a:srgbClr val="324158"/>
              </a:buClr>
              <a:buSzPct val="100000"/>
              <a:buFont typeface="Arial"/>
              <a:buChar char="•"/>
            </a:pPr>
            <a:r>
              <a:t>Time: 4 minutes. Next: what really happened before class.</a:t>
            </a:r>
          </a:p>
        </p:txBody>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 min (3:03-3:06)</a:t>
            </a:r>
          </a:p>
          <a:p>
            <a:pPr marL="228600" indent="-182880" algn="l">
              <a:lnSpc>
                <a:spcPct val="100000"/>
              </a:lnSpc>
              <a:spcBef>
                <a:spcPts val="0"/>
              </a:spcBef>
              <a:spcAft>
                <a:spcPts val="0"/>
              </a:spcAft>
              <a:buClr>
                <a:srgbClr val="324158"/>
              </a:buClr>
              <a:buSzPct val="100000"/>
              <a:buFont typeface="Arial"/>
              <a:buChar char="•"/>
            </a:pPr>
            <a:r>
              <a:t>Real: in the class-profile round the bare arm ended its build with the claim "Verified the complete visible suite (191 passing)" and called finish(claim="done"); in the bare arm that call ends the phase.</a:t>
            </a:r>
          </a:p>
          <a:p>
            <a:pPr marL="228600" indent="-182880" algn="l">
              <a:lnSpc>
                <a:spcPct val="100000"/>
              </a:lnSpc>
              <a:spcBef>
                <a:spcPts val="0"/>
              </a:spcBef>
              <a:spcAft>
                <a:spcPts val="0"/>
              </a:spcAft>
              <a:buClr>
                <a:srgbClr val="324158"/>
              </a:buClr>
              <a:buSzPct val="100000"/>
              <a:buFont typeface="Arial"/>
              <a:buChar char="•"/>
            </a:pPr>
            <a:r>
              <a:t>Ask first: "Are the version checks done? Hands up for yes." Expected: "probably" or "we can't tell"; the second is the right instinct.</a:t>
            </a:r>
          </a:p>
          <a:p>
            <a:pPr marL="228600" indent="-182880" algn="l">
              <a:lnSpc>
                <a:spcPct val="100000"/>
              </a:lnSpc>
              <a:spcBef>
                <a:spcPts val="0"/>
              </a:spcBef>
              <a:spcAft>
                <a:spcPts val="0"/>
              </a:spcAft>
              <a:buClr>
                <a:srgbClr val="324158"/>
              </a:buClr>
              <a:buSzPct val="100000"/>
              <a:buFont typeface="Arial"/>
              <a:buChar char="•"/>
            </a:pPr>
            <a:r>
              <a:t>The failing hidden test: test_invalid_body_with_a_stale_version_is_412, a stale If-Match plus an invalid body, 412 expected. Both arms of that A/B failed it. Each piece worked alone; validation ran before the version check.</a:t>
            </a:r>
          </a:p>
          <a:p>
            <a:pPr marL="228600" indent="-182880" algn="l">
              <a:lnSpc>
                <a:spcPct val="100000"/>
              </a:lnSpc>
              <a:spcBef>
                <a:spcPts val="0"/>
              </a:spcBef>
              <a:spcAft>
                <a:spcPts val="0"/>
              </a:spcAft>
              <a:buClr>
                <a:srgbClr val="324158"/>
              </a:buClr>
              <a:buSzPct val="100000"/>
              <a:buFont typeface="Arial"/>
              <a:buChar char="•"/>
            </a:pPr>
            <a:r>
              <a:t>Source 12: SpecBench: Measuring Reward Hacking in Long-Horizon Coding Agents (https://arxiv.org/abs/2605.21384) names this shape (reward hacking: passing the checks without doing the task): "compositional failures account for a much larger fraction of reward hacking behavior" than deliberate exploits.</a:t>
            </a:r>
          </a:p>
          <a:p>
            <a:pPr marL="228600" indent="-182880" algn="l">
              <a:lnSpc>
                <a:spcPct val="100000"/>
              </a:lnSpc>
              <a:spcBef>
                <a:spcPts val="0"/>
              </a:spcBef>
              <a:spcAft>
                <a:spcPts val="0"/>
              </a:spcAft>
              <a:buClr>
                <a:srgbClr val="324158"/>
              </a:buClr>
              <a:buSzPct val="100000"/>
              <a:buFont typeface="Arial"/>
              <a:buChar char="•"/>
            </a:pPr>
            <a:r>
              <a:t>Reason 2, Source 3: Harness design for long-running application development (https://www.anthropic.com/engineering/harness-design-long-running-apps): "agents reliably skew positive when grading their own work."</a:t>
            </a:r>
          </a:p>
          <a:p>
            <a:pPr marL="228600" indent="-182880" algn="l">
              <a:lnSpc>
                <a:spcPct val="100000"/>
              </a:lnSpc>
              <a:spcBef>
                <a:spcPts val="0"/>
              </a:spcBef>
              <a:spcAft>
                <a:spcPts val="0"/>
              </a:spcAft>
              <a:buClr>
                <a:srgbClr val="324158"/>
              </a:buClr>
              <a:buSzPct val="100000"/>
              <a:buFont typeface="Arial"/>
              <a:buChar char="•"/>
            </a:pPr>
            <a:r>
              <a:t>Source 4: Building a C compiler with a team of parallel Claudes (https://www.anthropic.com/engineering/building-c-compiler): "it is easy to see tests pass and assume the job is done, when this is rarely the case."</a:t>
            </a:r>
          </a:p>
          <a:p>
            <a:pPr marL="228600" indent="-182880" algn="l">
              <a:lnSpc>
                <a:spcPct val="100000"/>
              </a:lnSpc>
              <a:spcBef>
                <a:spcPts val="0"/>
              </a:spcBef>
              <a:spcAft>
                <a:spcPts val="0"/>
              </a:spcAft>
              <a:buClr>
                <a:srgbClr val="324158"/>
              </a:buClr>
              <a:buSzPct val="100000"/>
              <a:buFont typeface="Arial"/>
              <a:buChar char="•"/>
            </a:pPr>
            <a:r>
              <a:t>This was the one done claim in the whole pilot with a failing hidden test. It came in the class-settings round, after the 34-run post hoc count, which had none (0 of 19 bare claims, 0 of 10 harness).</a:t>
            </a:r>
          </a:p>
          <a:p>
            <a:pPr marL="228600" indent="-182880" algn="l">
              <a:lnSpc>
                <a:spcPct val="100000"/>
              </a:lnSpc>
              <a:spcBef>
                <a:spcPts val="0"/>
              </a:spcBef>
              <a:spcAft>
                <a:spcPts val="0"/>
              </a:spcAft>
              <a:buClr>
                <a:srgbClr val="324158"/>
              </a:buClr>
              <a:buSzPct val="100000"/>
              <a:buFont typeface="Arial"/>
              <a:buChar char="•"/>
            </a:pPr>
            <a:r>
              <a:t>Analogy: a developer approving their own pull request; or a smoke test that only hits /health.</a:t>
            </a:r>
          </a:p>
          <a:p>
            <a:pPr marL="228600" indent="-182880" algn="l">
              <a:lnSpc>
                <a:spcPct val="100000"/>
              </a:lnSpc>
              <a:spcBef>
                <a:spcPts val="0"/>
              </a:spcBef>
              <a:spcAft>
                <a:spcPts val="0"/>
              </a:spcAft>
              <a:buClr>
                <a:srgbClr val="324158"/>
              </a:buClr>
              <a:buSzPct val="100000"/>
              <a:buFont typeface="Arial"/>
              <a:buChar char="•"/>
            </a:pPr>
            <a:r>
              <a:t>Ask: "Who should decide done?" Expected: something the agent does not control: a gate, CI, a second reviewer, tests it never saw. The four ideas map to those answers.</a:t>
            </a:r>
          </a:p>
          <a:p>
            <a:pPr marL="228600" indent="-182880" algn="l">
              <a:lnSpc>
                <a:spcPct val="100000"/>
              </a:lnSpc>
              <a:spcBef>
                <a:spcPts val="0"/>
              </a:spcBef>
              <a:spcAft>
                <a:spcPts val="0"/>
              </a:spcAft>
              <a:buClr>
                <a:srgbClr val="324158"/>
              </a:buClr>
              <a:buSzPct val="100000"/>
              <a:buFont typeface="Arial"/>
              <a:buChar char="•"/>
            </a:pPr>
            <a:r>
              <a:t>Likely question: "Would a second LLM fix this?" Answer: partly; Source 3 (https://www.anthropic.com/engineering/harness-design-long-running-apps) says separating doer and judge is "a strong lever", but "the evaluator is still an LLM that is inclined to be generous towards LLM-generated outputs."</a:t>
            </a:r>
          </a:p>
          <a:p>
            <a:pPr marL="228600" indent="-182880" algn="l">
              <a:lnSpc>
                <a:spcPct val="100000"/>
              </a:lnSpc>
              <a:spcBef>
                <a:spcPts val="0"/>
              </a:spcBef>
              <a:spcAft>
                <a:spcPts val="0"/>
              </a:spcAft>
              <a:buClr>
                <a:srgbClr val="324158"/>
              </a:buClr>
              <a:buSzPct val="100000"/>
              <a:buFont typeface="Arial"/>
              <a:buChar char="•"/>
            </a:pPr>
            <a:r>
              <a:t>Misconception: "the agent gamed the tests". Correction: no sign of deliberate gaming; it is an untested combination.</a:t>
            </a:r>
          </a:p>
          <a:p>
            <a:pPr marL="228600" indent="-182880" algn="l">
              <a:lnSpc>
                <a:spcPct val="100000"/>
              </a:lnSpc>
              <a:spcBef>
                <a:spcPts val="0"/>
              </a:spcBef>
              <a:spcAft>
                <a:spcPts val="0"/>
              </a:spcAft>
              <a:buClr>
                <a:srgbClr val="324158"/>
              </a:buClr>
              <a:buSzPct val="100000"/>
              <a:buFont typeface="Arial"/>
              <a:buChar char="•"/>
            </a:pPr>
            <a:r>
              <a:t>Time: 3 minutes. Next: idea 1, why self-grading fails.</a:t>
            </a:r>
          </a:p>
        </p:txBody>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3.5 min (3:06-3:09:30)</a:t>
            </a:r>
          </a:p>
          <a:p>
            <a:pPr marL="228600" indent="-182880" algn="l">
              <a:lnSpc>
                <a:spcPct val="100000"/>
              </a:lnSpc>
              <a:spcBef>
                <a:spcPts val="0"/>
              </a:spcBef>
              <a:spcAft>
                <a:spcPts val="0"/>
              </a:spcAft>
              <a:buClr>
                <a:srgbClr val="324158"/>
              </a:buClr>
              <a:buSzPct val="100000"/>
              <a:buFont typeface="Arial"/>
              <a:buChar char="•"/>
            </a:pPr>
            <a:r>
              <a:t>In the bare arm the agent is author, tester, and judge; the visible suite is the only evidence, and the agent chose what went into it.</a:t>
            </a:r>
          </a:p>
          <a:p>
            <a:pPr marL="228600" indent="-182880" algn="l">
              <a:lnSpc>
                <a:spcPct val="100000"/>
              </a:lnSpc>
              <a:spcBef>
                <a:spcPts val="0"/>
              </a:spcBef>
              <a:spcAft>
                <a:spcPts val="0"/>
              </a:spcAft>
              <a:buClr>
                <a:srgbClr val="324158"/>
              </a:buClr>
              <a:buSzPct val="100000"/>
              <a:buFont typeface="Arial"/>
              <a:buChar char="•"/>
            </a:pPr>
            <a:r>
              <a:t>Source 3: Harness design for long-running application development (https://www.anthropic.com/engineering/harness-design-long-running-apps): "agents reliably skew positive when grading their own work."</a:t>
            </a:r>
          </a:p>
          <a:p>
            <a:pPr marL="228600" indent="-182880" algn="l">
              <a:lnSpc>
                <a:spcPct val="100000"/>
              </a:lnSpc>
              <a:spcBef>
                <a:spcPts val="0"/>
              </a:spcBef>
              <a:spcAft>
                <a:spcPts val="0"/>
              </a:spcAft>
              <a:buClr>
                <a:srgbClr val="324158"/>
              </a:buClr>
              <a:buSzPct val="100000"/>
              <a:buFont typeface="Arial"/>
              <a:buChar char="•"/>
            </a:pPr>
            <a:r>
              <a:t>Source 12: SpecBench: Measuring Reward Hacking in Long-Horizon Coding Agents (https://arxiv.org/abs/2605.21384): "while every frontier agent saturates the visible suite, reward hacking persists, with smaller models exhibiting larger gaps on holdout suites." The failures it finds are mostly features that fail only combined.</a:t>
            </a:r>
          </a:p>
          <a:p>
            <a:pPr marL="228600" indent="-182880" algn="l">
              <a:lnSpc>
                <a:spcPct val="100000"/>
              </a:lnSpc>
              <a:spcBef>
                <a:spcPts val="0"/>
              </a:spcBef>
              <a:spcAft>
                <a:spcPts val="0"/>
              </a:spcAft>
              <a:buClr>
                <a:srgbClr val="324158"/>
              </a:buClr>
              <a:buSzPct val="100000"/>
              <a:buFont typeface="Arial"/>
              <a:buChar char="•"/>
            </a:pPr>
            <a:r>
              <a:t>Example: the Feature 4: Version checks on issue edits visible suite passed 191 tests in the bare arm's run; the held-out suite of 69 caught the one combination it missed.</a:t>
            </a:r>
          </a:p>
          <a:p>
            <a:pPr marL="228600" indent="-182880" algn="l">
              <a:lnSpc>
                <a:spcPct val="100000"/>
              </a:lnSpc>
              <a:spcBef>
                <a:spcPts val="0"/>
              </a:spcBef>
              <a:spcAft>
                <a:spcPts val="0"/>
              </a:spcAft>
              <a:buClr>
                <a:srgbClr val="324158"/>
              </a:buClr>
              <a:buSzPct val="100000"/>
              <a:buFont typeface="Arial"/>
              <a:buChar char="•"/>
            </a:pPr>
            <a:r>
              <a:t>Analogy: grading your own exam with your own answer key.</a:t>
            </a:r>
          </a:p>
          <a:p>
            <a:pPr marL="228600" indent="-182880" algn="l">
              <a:lnSpc>
                <a:spcPct val="100000"/>
              </a:lnSpc>
              <a:spcBef>
                <a:spcPts val="0"/>
              </a:spcBef>
              <a:spcAft>
                <a:spcPts val="0"/>
              </a:spcAft>
              <a:buClr>
                <a:srgbClr val="324158"/>
              </a:buClr>
              <a:buSzPct val="100000"/>
              <a:buFont typeface="Arial"/>
              <a:buChar char="•"/>
            </a:pPr>
            <a:r>
              <a:t>Point at the arrow from the build phase straight to finish(claim="done"): nothing stands between the claim and the end; each of the next three ideas adds a check after it.</a:t>
            </a:r>
          </a:p>
          <a:p>
            <a:pPr marL="228600" indent="-182880" algn="l">
              <a:lnSpc>
                <a:spcPct val="100000"/>
              </a:lnSpc>
              <a:spcBef>
                <a:spcPts val="0"/>
              </a:spcBef>
              <a:spcAft>
                <a:spcPts val="0"/>
              </a:spcAft>
              <a:buClr>
                <a:srgbClr val="324158"/>
              </a:buClr>
              <a:buSzPct val="100000"/>
              <a:buFont typeface="Arial"/>
              <a:buChar char="•"/>
            </a:pPr>
            <a:r>
              <a:t>Ask: "Who writes most of the new tests in your repo now?" Expected: more and more the agent, so the agent writes its own exam.</a:t>
            </a:r>
          </a:p>
          <a:p>
            <a:pPr marL="228600" indent="-182880" algn="l">
              <a:lnSpc>
                <a:spcPct val="100000"/>
              </a:lnSpc>
              <a:spcBef>
                <a:spcPts val="0"/>
              </a:spcBef>
              <a:spcAft>
                <a:spcPts val="0"/>
              </a:spcAft>
              <a:buClr>
                <a:srgbClr val="324158"/>
              </a:buClr>
              <a:buSzPct val="100000"/>
              <a:buFont typeface="Arial"/>
              <a:buChar char="•"/>
            </a:pPr>
            <a:r>
              <a:t>Likely question: "Why not show the agent more tests?" Answer: then they are visible tests too and become a target; held-out checks measure only while they stay held out.</a:t>
            </a:r>
          </a:p>
          <a:p>
            <a:pPr marL="228600" indent="-182880" algn="l">
              <a:lnSpc>
                <a:spcPct val="100000"/>
              </a:lnSpc>
              <a:spcBef>
                <a:spcPts val="0"/>
              </a:spcBef>
              <a:spcAft>
                <a:spcPts val="0"/>
              </a:spcAft>
              <a:buClr>
                <a:srgbClr val="324158"/>
              </a:buClr>
              <a:buSzPct val="100000"/>
              <a:buFont typeface="Arial"/>
              <a:buChar char="•"/>
            </a:pPr>
            <a:r>
              <a:t>Misconception: "a smarter model fixes self-grading". Correction: Source 12 (https://arxiv.org/abs/2605.21384)'s gap showed up in every frontier agent it tested; the fix is structural.</a:t>
            </a:r>
          </a:p>
          <a:p>
            <a:pPr marL="228600" indent="-182880" algn="l">
              <a:lnSpc>
                <a:spcPct val="100000"/>
              </a:lnSpc>
              <a:spcBef>
                <a:spcPts val="0"/>
              </a:spcBef>
              <a:spcAft>
                <a:spcPts val="0"/>
              </a:spcAft>
              <a:buClr>
                <a:srgbClr val="324158"/>
              </a:buClr>
              <a:buSzPct val="100000"/>
              <a:buFont typeface="Arial"/>
              <a:buChar char="•"/>
            </a:pPr>
            <a:r>
              <a:t>Time: 3.5 minutes. Next: which generated tests do we keep?</a:t>
            </a:r>
          </a:p>
        </p:txBody>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3.5 min (3:09:30-3:13)</a:t>
            </a:r>
          </a:p>
          <a:p>
            <a:pPr marL="228600" indent="-182880" algn="l">
              <a:lnSpc>
                <a:spcPct val="100000"/>
              </a:lnSpc>
              <a:spcBef>
                <a:spcPts val="0"/>
              </a:spcBef>
              <a:spcAft>
                <a:spcPts val="0"/>
              </a:spcAft>
              <a:buClr>
                <a:srgbClr val="324158"/>
              </a:buClr>
              <a:buSzPct val="100000"/>
              <a:buFont typeface="Arial"/>
              <a:buChar char="•"/>
            </a:pPr>
            <a:r>
              <a:t>A generated test can fail on correct code, pass by luck, or pass without checking anything; each filter removes one of those.</a:t>
            </a:r>
          </a:p>
          <a:p>
            <a:pPr marL="228600" indent="-182880" algn="l">
              <a:lnSpc>
                <a:spcPct val="100000"/>
              </a:lnSpc>
              <a:spcBef>
                <a:spcPts val="0"/>
              </a:spcBef>
              <a:spcAft>
                <a:spcPts val="0"/>
              </a:spcAft>
              <a:buClr>
                <a:srgbClr val="324158"/>
              </a:buClr>
              <a:buSzPct val="100000"/>
              <a:buFont typeface="Arial"/>
              <a:buChar char="•"/>
            </a:pPr>
            <a:r>
              <a:t>The five: Filter 1: Builds and collects; Filter 2: Passes five runs; Filter 3: Adds coverage or catches a mutant; Filter 4: Real assertions (no mock of the code under test); Filter 5: No source changes.</a:t>
            </a:r>
          </a:p>
          <a:p>
            <a:pPr marL="228600" indent="-182880" algn="l">
              <a:lnSpc>
                <a:spcPct val="100000"/>
              </a:lnSpc>
              <a:spcBef>
                <a:spcPts val="0"/>
              </a:spcBef>
              <a:spcAft>
                <a:spcPts val="0"/>
              </a:spcAft>
              <a:buClr>
                <a:srgbClr val="324158"/>
              </a:buClr>
              <a:buSzPct val="100000"/>
              <a:buFont typeface="Arial"/>
              <a:buChar char="•"/>
            </a:pPr>
            <a:r>
              <a:t>Source 13: Automated Unit Test Improvement using Large Language Models at Meta (TestGen-LLM) (https://arxiv.org/abs/2402.09171) keeps a test only after "a series of progressively demanding semantic filters". Filter 2 quotes it: "a test that does not pass on every one of five executions is deemed flaky."</a:t>
            </a:r>
          </a:p>
          <a:p>
            <a:pPr marL="228600" indent="-182880" algn="l">
              <a:lnSpc>
                <a:spcPct val="100000"/>
              </a:lnSpc>
              <a:spcBef>
                <a:spcPts val="0"/>
              </a:spcBef>
              <a:spcAft>
                <a:spcPts val="0"/>
              </a:spcAft>
              <a:buClr>
                <a:srgbClr val="324158"/>
              </a:buClr>
              <a:buSzPct val="100000"/>
              <a:buFont typeface="Arial"/>
              <a:buChar char="•"/>
            </a:pPr>
            <a:r>
              <a:t>Filters 1 to 3 come from TestGen-LLM (https://arxiv.org/abs/2402.09171), Filter 3's mutant branch from Source 14: Mutation-Guided LLM-based Test Generation at Meta (ACH) (https://arxiv.org/abs/2501.12862). Filters 4 and 5 are the course's own, with no source sentence: they stop a test that asserts nothing or mocks the code it claims to test, and a test phase that edits code until its test passes.</a:t>
            </a:r>
          </a:p>
          <a:p>
            <a:pPr marL="228600" indent="-182880" algn="l">
              <a:lnSpc>
                <a:spcPct val="100000"/>
              </a:lnSpc>
              <a:spcBef>
                <a:spcPts val="0"/>
              </a:spcBef>
              <a:spcAft>
                <a:spcPts val="0"/>
              </a:spcAft>
              <a:buClr>
                <a:srgbClr val="324158"/>
              </a:buClr>
              <a:buSzPct val="100000"/>
              <a:buFont typeface="Arial"/>
              <a:buChar char="•"/>
            </a:pPr>
            <a:r>
              <a:t>Captured demo run: 4 proposed tests, 1 kept. One was discarded at Filter 2 with "failed on run 1 of 5: assert 422 == 412".</a:t>
            </a:r>
          </a:p>
          <a:p>
            <a:pPr marL="228600" indent="-182880" algn="l">
              <a:lnSpc>
                <a:spcPct val="100000"/>
              </a:lnSpc>
              <a:spcBef>
                <a:spcPts val="0"/>
              </a:spcBef>
              <a:spcAft>
                <a:spcPts val="0"/>
              </a:spcAft>
              <a:buClr>
                <a:srgbClr val="324158"/>
              </a:buClr>
              <a:buSzPct val="100000"/>
              <a:buFont typeface="Arial"/>
              <a:buChar char="•"/>
            </a:pPr>
            <a:r>
              <a:t>Analogy: CI gates on a pull request: lint, flaky-test quarantine, coverage diff, applied to tests the agent wrote.</a:t>
            </a:r>
          </a:p>
          <a:p>
            <a:pPr marL="228600" indent="-182880" algn="l">
              <a:lnSpc>
                <a:spcPct val="100000"/>
              </a:lnSpc>
              <a:spcBef>
                <a:spcPts val="0"/>
              </a:spcBef>
              <a:spcAft>
                <a:spcPts val="0"/>
              </a:spcAft>
              <a:buClr>
                <a:srgbClr val="324158"/>
              </a:buClr>
              <a:buSzPct val="100000"/>
              <a:buFont typeface="Arial"/>
              <a:buChar char="•"/>
            </a:pPr>
            <a:r>
              <a:t>Ask: "Why run the cheapest filter first?" Expected: most tests fail early, so you skip five runs and coverage on tests that do not even collect.</a:t>
            </a:r>
          </a:p>
          <a:p>
            <a:pPr marL="228600" indent="-182880" algn="l">
              <a:lnSpc>
                <a:spcPct val="100000"/>
              </a:lnSpc>
              <a:spcBef>
                <a:spcPts val="0"/>
              </a:spcBef>
              <a:spcAft>
                <a:spcPts val="0"/>
              </a:spcAft>
              <a:buClr>
                <a:srgbClr val="324158"/>
              </a:buClr>
              <a:buSzPct val="100000"/>
              <a:buFont typeface="Arial"/>
              <a:buChar char="•"/>
            </a:pPr>
            <a:r>
              <a:t>Likely question: "Does Filter 3 just reward coverage?" Answer: no; a test with no new coverage is still kept if it catches a mutant no existing test catches.</a:t>
            </a:r>
          </a:p>
          <a:p>
            <a:pPr marL="228600" indent="-182880" algn="l">
              <a:lnSpc>
                <a:spcPct val="100000"/>
              </a:lnSpc>
              <a:spcBef>
                <a:spcPts val="0"/>
              </a:spcBef>
              <a:spcAft>
                <a:spcPts val="0"/>
              </a:spcAft>
              <a:buClr>
                <a:srgbClr val="324158"/>
              </a:buClr>
              <a:buSzPct val="100000"/>
              <a:buFont typeface="Arial"/>
              <a:buChar char="•"/>
            </a:pPr>
            <a:r>
              <a:t>Misconception: "filtered tests prove the code is correct". Correction: filters treat the current code as correct; a failing test is discarded even when the test is right. Remember the 422.</a:t>
            </a:r>
          </a:p>
          <a:p>
            <a:pPr marL="228600" indent="-182880" algn="l">
              <a:lnSpc>
                <a:spcPct val="100000"/>
              </a:lnSpc>
              <a:spcBef>
                <a:spcPts val="0"/>
              </a:spcBef>
              <a:spcAft>
                <a:spcPts val="0"/>
              </a:spcAft>
              <a:buClr>
                <a:srgbClr val="324158"/>
              </a:buClr>
              <a:buSzPct val="100000"/>
              <a:buFont typeface="Arial"/>
              <a:buChar char="•"/>
            </a:pPr>
            <a:r>
              <a:t>Time: 3.5 minutes. Next: would the kept tests catch anything?</a:t>
            </a:r>
          </a:p>
        </p:txBody>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3.5 min (3:13-3:16:30)</a:t>
            </a:r>
          </a:p>
          <a:p>
            <a:pPr marL="228600" indent="-182880" algn="l">
              <a:lnSpc>
                <a:spcPct val="100000"/>
              </a:lnSpc>
              <a:spcBef>
                <a:spcPts val="0"/>
              </a:spcBef>
              <a:spcAft>
                <a:spcPts val="0"/>
              </a:spcAft>
              <a:buClr>
                <a:srgbClr val="324158"/>
              </a:buClr>
              <a:buSzPct val="100000"/>
              <a:buFont typeface="Arial"/>
              <a:buChar char="•"/>
            </a:pPr>
            <a:r>
              <a:t>Coverage says a line ran; a mutant asks whether a test would notice that line going wrong.</a:t>
            </a:r>
          </a:p>
          <a:p>
            <a:pPr marL="228600" indent="-182880" algn="l">
              <a:lnSpc>
                <a:spcPct val="100000"/>
              </a:lnSpc>
              <a:spcBef>
                <a:spcPts val="0"/>
              </a:spcBef>
              <a:spcAft>
                <a:spcPts val="0"/>
              </a:spcAft>
              <a:buClr>
                <a:srgbClr val="324158"/>
              </a:buClr>
              <a:buSzPct val="100000"/>
              <a:buFont typeface="Arial"/>
              <a:buChar char="•"/>
            </a:pPr>
            <a:r>
              <a:t>Source 14: Mutation-Guided LLM-based Test Generation at Meta (https://arxiv.org/abs/2501.12862): about half of tests that catch a new mutant add no line coverage; the paper's figure is 49%. That is why Filter 3: Adds coverage or catches a mutant has a mutant branch.</a:t>
            </a:r>
          </a:p>
          <a:p>
            <a:pPr marL="228600" indent="-182880" algn="l">
              <a:lnSpc>
                <a:spcPct val="100000"/>
              </a:lnSpc>
              <a:spcBef>
                <a:spcPts val="0"/>
              </a:spcBef>
              <a:spcAft>
                <a:spcPts val="0"/>
              </a:spcAft>
              <a:buClr>
                <a:srgbClr val="324158"/>
              </a:buClr>
              <a:buSzPct val="100000"/>
              <a:buFont typeface="Arial"/>
              <a:buChar char="•"/>
            </a:pPr>
            <a:r>
              <a:t>Example for Feature 4: Version checks on issue edits: a mutant that stops a write from moving the version brings lost updates back; a test catches it only if it checks that the ETag moves, or that a stale save gets 412.</a:t>
            </a:r>
          </a:p>
          <a:p>
            <a:pPr marL="228600" indent="-182880" algn="l">
              <a:lnSpc>
                <a:spcPct val="100000"/>
              </a:lnSpc>
              <a:spcBef>
                <a:spcPts val="0"/>
              </a:spcBef>
              <a:spcAft>
                <a:spcPts val="0"/>
              </a:spcAft>
              <a:buClr>
                <a:srgbClr val="324158"/>
              </a:buClr>
              <a:buSzPct val="100000"/>
              <a:buFont typeface="Arial"/>
              <a:buChar char="•"/>
            </a:pPr>
            <a:r>
              <a:t>Course design: hand-written mutants, not a mutation tool, so they target chosen lines. A filter set feeds Filter 3; a separate referee set scores the run; they share no mutation, and neither is in the agent's workspace.</a:t>
            </a:r>
          </a:p>
          <a:p>
            <a:pPr marL="228600" indent="-182880" algn="l">
              <a:lnSpc>
                <a:spcPct val="100000"/>
              </a:lnSpc>
              <a:spcBef>
                <a:spcPts val="0"/>
              </a:spcBef>
              <a:spcAft>
                <a:spcPts val="0"/>
              </a:spcAft>
              <a:buClr>
                <a:srgbClr val="324158"/>
              </a:buClr>
              <a:buSzPct val="100000"/>
              <a:buFont typeface="Arial"/>
              <a:buChar char="•"/>
            </a:pPr>
            <a:r>
              <a:t>Hidden tests: 69 for Feature 4, never shown to the agent. Source 12: SpecBench: Measuring Reward Hacking in Long-Horizon Coding Agents (https://arxiv.org/abs/2605.21384) uses held-out tests "never shown to the agent" and "used solely for evaluation"; the course does the same.</a:t>
            </a:r>
          </a:p>
          <a:p>
            <a:pPr marL="228600" indent="-182880" algn="l">
              <a:lnSpc>
                <a:spcPct val="100000"/>
              </a:lnSpc>
              <a:spcBef>
                <a:spcPts val="0"/>
              </a:spcBef>
              <a:spcAft>
                <a:spcPts val="0"/>
              </a:spcAft>
              <a:buClr>
                <a:srgbClr val="324158"/>
              </a:buClr>
              <a:buSzPct val="100000"/>
              <a:buFont typeface="Arial"/>
              <a:buChar char="•"/>
            </a:pPr>
            <a:r>
              <a:t>Analogy: a fire drill: you test the alarm with a small, controlled fire, not by reading its manual.</a:t>
            </a:r>
          </a:p>
          <a:p>
            <a:pPr marL="228600" indent="-182880" algn="l">
              <a:lnSpc>
                <a:spcPct val="100000"/>
              </a:lnSpc>
              <a:spcBef>
                <a:spcPts val="0"/>
              </a:spcBef>
              <a:spcAft>
                <a:spcPts val="0"/>
              </a:spcAft>
              <a:buClr>
                <a:srgbClr val="324158"/>
              </a:buClr>
              <a:buSzPct val="100000"/>
              <a:buFont typeface="Arial"/>
              <a:buChar char="•"/>
            </a:pPr>
            <a:r>
              <a:t>Ask: "Why does a test that fails everywhere not count as catching a mutant?" Expected: it proves nothing; the referee counts a catch only with shipped tests that pass on the unmutated build.</a:t>
            </a:r>
          </a:p>
          <a:p>
            <a:pPr marL="228600" indent="-182880" algn="l">
              <a:lnSpc>
                <a:spcPct val="100000"/>
              </a:lnSpc>
              <a:spcBef>
                <a:spcPts val="0"/>
              </a:spcBef>
              <a:spcAft>
                <a:spcPts val="0"/>
              </a:spcAft>
              <a:buClr>
                <a:srgbClr val="324158"/>
              </a:buClr>
              <a:buSzPct val="100000"/>
              <a:buFont typeface="Arial"/>
              <a:buChar char="•"/>
            </a:pPr>
            <a:r>
              <a:t>Likely question: "Can I do this without a tool?" Answer: yes; plant one fault on your riskiest line by hand, run the suite, and if nothing fails you found a test to write.</a:t>
            </a:r>
          </a:p>
          <a:p>
            <a:pPr marL="228600" indent="-182880" algn="l">
              <a:lnSpc>
                <a:spcPct val="100000"/>
              </a:lnSpc>
              <a:spcBef>
                <a:spcPts val="0"/>
              </a:spcBef>
              <a:spcAft>
                <a:spcPts val="0"/>
              </a:spcAft>
              <a:buClr>
                <a:srgbClr val="324158"/>
              </a:buClr>
              <a:buSzPct val="100000"/>
              <a:buFont typeface="Arial"/>
              <a:buChar char="•"/>
            </a:pPr>
            <a:r>
              <a:t>Misconception: "mutation testing finds existing bugs". Correction: Source 14 (https://arxiv.org/abs/2501.12862): it "cannot detect existing faults residing in the code base"; it protects against regressions.</a:t>
            </a:r>
          </a:p>
          <a:p>
            <a:pPr marL="228600" indent="-182880" algn="l">
              <a:lnSpc>
                <a:spcPct val="100000"/>
              </a:lnSpc>
              <a:spcBef>
                <a:spcPts val="0"/>
              </a:spcBef>
              <a:spcAft>
                <a:spcPts val="0"/>
              </a:spcAft>
              <a:buClr>
                <a:srgbClr val="324158"/>
              </a:buClr>
              <a:buSzPct val="100000"/>
              <a:buFont typeface="Arial"/>
              <a:buChar char="•"/>
            </a:pPr>
            <a:r>
              <a:t>Time: 3.5 minutes. Next: who decides the claim.</a:t>
            </a:r>
          </a:p>
        </p:txBody>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3.5 min (3:16:30-3:20)</a:t>
            </a:r>
          </a:p>
          <a:p>
            <a:pPr marL="228600" indent="-182880" algn="l">
              <a:lnSpc>
                <a:spcPct val="100000"/>
              </a:lnSpc>
              <a:spcBef>
                <a:spcPts val="0"/>
              </a:spcBef>
              <a:spcAft>
                <a:spcPts val="0"/>
              </a:spcAft>
              <a:buClr>
                <a:srgbClr val="324158"/>
              </a:buClr>
              <a:buSzPct val="100000"/>
              <a:buFont typeface="Arial"/>
              <a:buChar char="•"/>
            </a:pPr>
            <a:r>
              <a:t>The gate runs visible and existing tests, all seven house rules, a board check, and clean state (committed, lint, one migration head). If any item fails, finish returns "Not accepted." plus up to three failure lines and "Fix these, commit your work, and call finish again." The phase goes on.</a:t>
            </a:r>
          </a:p>
          <a:p>
            <a:pPr marL="228600" indent="-182880" algn="l">
              <a:lnSpc>
                <a:spcPct val="100000"/>
              </a:lnSpc>
              <a:spcBef>
                <a:spcPts val="0"/>
              </a:spcBef>
              <a:spcAft>
                <a:spcPts val="0"/>
              </a:spcAft>
              <a:buClr>
                <a:srgbClr val="324158"/>
              </a:buClr>
              <a:buSzPct val="100000"/>
              <a:buFont typeface="Arial"/>
              <a:buChar char="•"/>
            </a:pPr>
            <a:r>
              <a:t>Only a passed gate lets the scope layer set passes in feature_list.json; the agent cannot mark its own feature done.</a:t>
            </a:r>
          </a:p>
          <a:p>
            <a:pPr marL="228600" indent="-182880" algn="l">
              <a:lnSpc>
                <a:spcPct val="100000"/>
              </a:lnSpc>
              <a:spcBef>
                <a:spcPts val="0"/>
              </a:spcBef>
              <a:spcAft>
                <a:spcPts val="0"/>
              </a:spcAft>
              <a:buClr>
                <a:srgbClr val="324158"/>
              </a:buClr>
              <a:buSzPct val="100000"/>
              <a:buFont typeface="Arial"/>
              <a:buChar char="•"/>
            </a:pPr>
            <a:r>
              <a:t>Sources: Source 3: Harness design for long-running application development (https://www.anthropic.com/engineering/harness-design-long-running-apps): "Separating the agent doing the work from the agent judging it proves to be a strong lever"; Source 4: Building a C compiler with a team of parallel Claudes (https://www.anthropic.com/engineering/building-c-compiler): "it’s important that the task verifier is nearly perfect, otherwise Claude will solve the wrong problem"; clean state from Source 2: Effective harnesses for long-running agents (https://www.anthropic.com/engineering/effective-harnesses-for-long-running-agents), code "appropriate for merging to a main branch". Combining them into one gate is course design.</a:t>
            </a:r>
          </a:p>
          <a:p>
            <a:pPr marL="228600" indent="-182880" algn="l">
              <a:lnSpc>
                <a:spcPct val="100000"/>
              </a:lnSpc>
              <a:spcBef>
                <a:spcPts val="0"/>
              </a:spcBef>
              <a:spcAft>
                <a:spcPts val="0"/>
              </a:spcAft>
              <a:buClr>
                <a:srgbClr val="324158"/>
              </a:buClr>
              <a:buSzPct val="100000"/>
              <a:buFont typeface="Arial"/>
              <a:buChar char="•"/>
            </a:pPr>
            <a:r>
              <a:t>The code, platform/src/shipharness/harness/verify/gate.py lines 176-181. Key line: passed = not any(i.status == "fail" for i in items): one fail fails the gate, no weighting; an item marked "skipped" does not fail it.</a:t>
            </a:r>
          </a:p>
          <a:p>
            <a:pPr marL="228600" indent="-182880" algn="l">
              <a:lnSpc>
                <a:spcPct val="100000"/>
              </a:lnSpc>
              <a:spcBef>
                <a:spcPts val="0"/>
              </a:spcBef>
              <a:spcAft>
                <a:spcPts val="0"/>
              </a:spcAft>
              <a:buClr>
                <a:srgbClr val="324158"/>
              </a:buClr>
              <a:buSzPct val="100000"/>
              <a:buFont typeface="Arial"/>
              <a:buChar char="•"/>
            </a:pPr>
            <a:r>
              <a:t>_feedback (lines 191-200) writes one summary line, the first three failure lines, and the next step; Source 4 (https://www.anthropic.com/engineering/building-c-compiler) says a harness "should not print thousands of useless bytes". The runner turns a failed gate into the "Not accepted." result (runner/loop.py, lines 291-300).</a:t>
            </a:r>
          </a:p>
          <a:p>
            <a:pPr marL="228600" indent="-182880" algn="l">
              <a:lnSpc>
                <a:spcPct val="100000"/>
              </a:lnSpc>
              <a:spcBef>
                <a:spcPts val="0"/>
              </a:spcBef>
              <a:spcAft>
                <a:spcPts val="0"/>
              </a:spcAft>
              <a:buClr>
                <a:srgbClr val="324158"/>
              </a:buClr>
              <a:buSzPct val="100000"/>
              <a:buFont typeface="Arial"/>
              <a:buChar char="•"/>
            </a:pPr>
            <a:r>
              <a:t>Earlier in run_gate (lines 155-162) pending pills go out first, then the workspace is copied to /tmp so checks cannot change the agent's files. GATE_CHECKS (lines 33-43) lists the seven house rules, regression, board: no hidden tests, no referee mutants, so those stay held out.</a:t>
            </a:r>
          </a:p>
          <a:p>
            <a:pPr marL="228600" indent="-182880" algn="l">
              <a:lnSpc>
                <a:spcPct val="100000"/>
              </a:lnSpc>
              <a:spcBef>
                <a:spcPts val="0"/>
              </a:spcBef>
              <a:spcAft>
                <a:spcPts val="0"/>
              </a:spcAft>
              <a:buClr>
                <a:srgbClr val="324158"/>
              </a:buClr>
              <a:buSzPct val="100000"/>
              <a:buFont typeface="Arial"/>
              <a:buChar char="•"/>
            </a:pPr>
            <a:r>
              <a:t>The separate referee: a different program, its own container, after the agent stops; a blinded model reviewer reads both final diffs as a secondary measure.</a:t>
            </a:r>
          </a:p>
          <a:p>
            <a:pPr marL="228600" indent="-182880" algn="l">
              <a:lnSpc>
                <a:spcPct val="100000"/>
              </a:lnSpc>
              <a:spcBef>
                <a:spcPts val="0"/>
              </a:spcBef>
              <a:spcAft>
                <a:spcPts val="0"/>
              </a:spcAft>
              <a:buClr>
                <a:srgbClr val="324158"/>
              </a:buClr>
              <a:buSzPct val="100000"/>
              <a:buFont typeface="Arial"/>
              <a:buChar char="•"/>
            </a:pPr>
            <a:r>
              <a:t>Analogy: CI as a required status check plus separate QA sign-off; a pre-merge hook that tells you exactly which three things to fix.</a:t>
            </a:r>
          </a:p>
          <a:p>
            <a:pPr marL="228600" indent="-182880" algn="l">
              <a:lnSpc>
                <a:spcPct val="100000"/>
              </a:lnSpc>
              <a:spcBef>
                <a:spcPts val="0"/>
              </a:spcBef>
              <a:spcAft>
                <a:spcPts val="0"/>
              </a:spcAft>
              <a:buClr>
                <a:srgbClr val="324158"/>
              </a:buClr>
              <a:buSzPct val="100000"/>
              <a:buFont typeface="Arial"/>
              <a:buChar char="•"/>
            </a:pPr>
            <a:r>
              <a:t>Ask: "Why not put the hidden tests in the gate?" Expected: once the agent gets feedback from a check, it becomes a target and stops measuring held-out behaviour.</a:t>
            </a:r>
          </a:p>
          <a:p>
            <a:pPr marL="228600" indent="-182880" algn="l">
              <a:lnSpc>
                <a:spcPct val="100000"/>
              </a:lnSpc>
              <a:spcBef>
                <a:spcPts val="0"/>
              </a:spcBef>
              <a:spcAft>
                <a:spcPts val="0"/>
              </a:spcAft>
              <a:buClr>
                <a:srgbClr val="324158"/>
              </a:buClr>
              <a:buSzPct val="100000"/>
              <a:buFont typeface="Arial"/>
              <a:buChar char="•"/>
            </a:pPr>
            <a:r>
              <a:t>Likely question: "Gate and referee both run the house rule checks; fair?" Answer: a disclosed overlap; the harness arm should do better on house rules by construction, so the primary measure uses hidden tests and mutants only.</a:t>
            </a:r>
          </a:p>
          <a:p>
            <a:pPr marL="228600" indent="-182880" algn="l">
              <a:lnSpc>
                <a:spcPct val="100000"/>
              </a:lnSpc>
              <a:spcBef>
                <a:spcPts val="0"/>
              </a:spcBef>
              <a:spcAft>
                <a:spcPts val="0"/>
              </a:spcAft>
              <a:buClr>
                <a:srgbClr val="324158"/>
              </a:buClr>
              <a:buSzPct val="100000"/>
              <a:buFont typeface="Arial"/>
              <a:buChar char="•"/>
            </a:pPr>
            <a:r>
              <a:t>Misconception: "the gate makes the agent correct". Correction: it makes the claim checked; a gate on wrong checks makes the agent solve the wrong problem faster. Flaky gate checks burn turns, so fix them first.</a:t>
            </a:r>
          </a:p>
          <a:p>
            <a:pPr marL="228600" indent="-182880" algn="l">
              <a:lnSpc>
                <a:spcPct val="100000"/>
              </a:lnSpc>
              <a:spcBef>
                <a:spcPts val="0"/>
              </a:spcBef>
              <a:spcAft>
                <a:spcPts val="0"/>
              </a:spcAft>
              <a:buClr>
                <a:srgbClr val="324158"/>
              </a:buClr>
              <a:buSzPct val="100000"/>
              <a:buFont typeface="Arial"/>
              <a:buChar char="•"/>
            </a:pPr>
            <a:r>
              <a:t>Time: 3.5 minutes. Next: all four on one sheet.</a:t>
            </a:r>
          </a:p>
        </p:txBody>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 min (3:20-3:22)</a:t>
            </a:r>
          </a:p>
          <a:p>
            <a:pPr marL="228600" indent="-182880" algn="l">
              <a:lnSpc>
                <a:spcPct val="100000"/>
              </a:lnSpc>
              <a:spcBef>
                <a:spcPts val="0"/>
              </a:spcBef>
              <a:spcAft>
                <a:spcPts val="0"/>
              </a:spcAft>
              <a:buClr>
                <a:srgbClr val="324158"/>
              </a:buClr>
              <a:buSzPct val="100000"/>
              <a:buFont typeface="Arial"/>
              <a:buChar char="•"/>
            </a:pPr>
            <a:r>
              <a:t>Four checks, each owned by someone other than the agent. Gate and filters give feedback; hidden tests and mutants never do.</a:t>
            </a:r>
          </a:p>
          <a:p>
            <a:pPr marL="228600" indent="-182880" algn="l">
              <a:lnSpc>
                <a:spcPct val="100000"/>
              </a:lnSpc>
              <a:spcBef>
                <a:spcPts val="0"/>
              </a:spcBef>
              <a:spcAft>
                <a:spcPts val="0"/>
              </a:spcAft>
              <a:buClr>
                <a:srgbClr val="324158"/>
              </a:buClr>
              <a:buSzPct val="100000"/>
              <a:buFont typeface="Arial"/>
              <a:buChar char="•"/>
            </a:pPr>
            <a:r>
              <a:t>Feedback checks shape behaviour; held-out checks measure it. You need both, and you must not mix them.</a:t>
            </a:r>
          </a:p>
          <a:p>
            <a:pPr marL="228600" indent="-182880" algn="l">
              <a:lnSpc>
                <a:spcPct val="100000"/>
              </a:lnSpc>
              <a:spcBef>
                <a:spcPts val="0"/>
              </a:spcBef>
              <a:spcAft>
                <a:spcPts val="0"/>
              </a:spcAft>
              <a:buClr>
                <a:srgbClr val="324158"/>
              </a:buClr>
              <a:buSzPct val="100000"/>
              <a:buFont typeface="Arial"/>
              <a:buChar char="•"/>
            </a:pPr>
            <a:r>
              <a:t>Map to your stack: gate = a pre-merge hook the agent triggers; filters = rules for accepting generated tests; hidden tests = a contract suite in a separate repo; mutants = a few planted faults on your riskiest lines.</a:t>
            </a:r>
          </a:p>
          <a:p>
            <a:pPr marL="228600" indent="-182880" algn="l">
              <a:lnSpc>
                <a:spcPct val="100000"/>
              </a:lnSpc>
              <a:spcBef>
                <a:spcPts val="0"/>
              </a:spcBef>
              <a:spcAft>
                <a:spcPts val="0"/>
              </a:spcAft>
              <a:buClr>
                <a:srgbClr val="324158"/>
              </a:buClr>
              <a:buSzPct val="100000"/>
              <a:buFont typeface="Arial"/>
              <a:buChar char="•"/>
            </a:pPr>
            <a:r>
              <a:t>Analogy: a kitchen: the cook tastes while cooking (gate, filters); the inspector arrives with their own checklist (hidden tests, mutants).</a:t>
            </a:r>
          </a:p>
          <a:p>
            <a:pPr marL="228600" indent="-182880" algn="l">
              <a:lnSpc>
                <a:spcPct val="100000"/>
              </a:lnSpc>
              <a:spcBef>
                <a:spcPts val="0"/>
              </a:spcBef>
              <a:spcAft>
                <a:spcPts val="0"/>
              </a:spcAft>
              <a:buClr>
                <a:srgbClr val="324158"/>
              </a:buClr>
              <a:buSzPct val="100000"/>
              <a:buFont typeface="Arial"/>
              <a:buChar char="•"/>
            </a:pPr>
            <a:r>
              <a:t>Point at "When": one at the claim, one after the test phase, two after the agent stops.</a:t>
            </a:r>
          </a:p>
          <a:p>
            <a:pPr marL="228600" indent="-182880" algn="l">
              <a:lnSpc>
                <a:spcPct val="100000"/>
              </a:lnSpc>
              <a:spcBef>
                <a:spcPts val="0"/>
              </a:spcBef>
              <a:spcAft>
                <a:spcPts val="0"/>
              </a:spcAft>
              <a:buClr>
                <a:srgbClr val="324158"/>
              </a:buClr>
              <a:buSzPct val="100000"/>
              <a:buFont typeface="Arial"/>
              <a:buChar char="•"/>
            </a:pPr>
            <a:r>
              <a:t>Ask: "Which of these four could your agent see or edit today?" Expected: the CI config, often; a held-out suite usually does not exist.</a:t>
            </a:r>
          </a:p>
          <a:p>
            <a:pPr marL="228600" indent="-182880" algn="l">
              <a:lnSpc>
                <a:spcPct val="100000"/>
              </a:lnSpc>
              <a:spcBef>
                <a:spcPts val="0"/>
              </a:spcBef>
              <a:spcAft>
                <a:spcPts val="0"/>
              </a:spcAft>
              <a:buClr>
                <a:srgbClr val="324158"/>
              </a:buClr>
              <a:buSzPct val="100000"/>
              <a:buFont typeface="Arial"/>
              <a:buChar char="•"/>
            </a:pPr>
            <a:r>
              <a:t>Likely question: "Which is cheapest to add?" Answer: the gate, because it reuses checks you already run; hand-written mutants cost minutes per risky line.</a:t>
            </a:r>
          </a:p>
          <a:p>
            <a:pPr marL="228600" indent="-182880" algn="l">
              <a:lnSpc>
                <a:spcPct val="100000"/>
              </a:lnSpc>
              <a:spcBef>
                <a:spcPts val="0"/>
              </a:spcBef>
              <a:spcAft>
                <a:spcPts val="0"/>
              </a:spcAft>
              <a:buClr>
                <a:srgbClr val="324158"/>
              </a:buClr>
              <a:buSzPct val="100000"/>
              <a:buFont typeface="Arial"/>
              <a:buChar char="•"/>
            </a:pPr>
            <a:r>
              <a:t>Misconception: "held-out checks are only for research". Correction: a contract suite the agent's repo cannot see is one; many teams already have it.</a:t>
            </a:r>
          </a:p>
          <a:p>
            <a:pPr marL="228600" indent="-182880" algn="l">
              <a:lnSpc>
                <a:spcPct val="100000"/>
              </a:lnSpc>
              <a:spcBef>
                <a:spcPts val="0"/>
              </a:spcBef>
              <a:spcAft>
                <a:spcPts val="0"/>
              </a:spcAft>
              <a:buClr>
                <a:srgbClr val="324158"/>
              </a:buClr>
              <a:buSzPct val="100000"/>
              <a:buFont typeface="Arial"/>
              <a:buChar char="•"/>
            </a:pPr>
            <a:r>
              <a:t>Instructor cue: check terminal B for the show-4 Cost: line and terminal C for the final's first feature.</a:t>
            </a:r>
          </a:p>
          <a:p>
            <a:pPr marL="228600" indent="-182880" algn="l">
              <a:lnSpc>
                <a:spcPct val="100000"/>
              </a:lnSpc>
              <a:spcBef>
                <a:spcPts val="0"/>
              </a:spcBef>
              <a:spcAft>
                <a:spcPts val="0"/>
              </a:spcAft>
              <a:buClr>
                <a:srgbClr val="324158"/>
              </a:buClr>
              <a:buSzPct val="100000"/>
              <a:buFont typeface="Arial"/>
              <a:buChar char="•"/>
            </a:pPr>
            <a:r>
              <a:t>Time: 2 minutes. Next: the finished run.</a:t>
            </a:r>
          </a:p>
        </p:txBody>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9 min (3:22-3:31)</a:t>
            </a:r>
          </a:p>
          <a:p>
            <a:pPr marL="228600" indent="-182880" algn="l">
              <a:lnSpc>
                <a:spcPct val="100000"/>
              </a:lnSpc>
              <a:spcBef>
                <a:spcPts val="0"/>
              </a:spcBef>
              <a:spcAft>
                <a:spcPts val="0"/>
              </a:spcAft>
              <a:buClr>
                <a:srgbClr val="324158"/>
              </a:buClr>
              <a:buSzPct val="100000"/>
              <a:buFont typeface="Arial"/>
              <a:buChar char="•"/>
            </a:pPr>
            <a:r>
              <a:t>Files for this demo: section-4-verification/demo/run.sh, section-4-verification/demo/walkthrough.md, section-4-verification/demo/harness/ (the gate and filter settings), section-4-verification/demo/expected/ (the captured run, the fallback), docs/evidence/s4.md, console http://127.0.0.1:8765.</a:t>
            </a:r>
          </a:p>
          <a:p>
            <a:pPr marL="228600" indent="-182880" algn="l">
              <a:lnSpc>
                <a:spcPct val="100000"/>
              </a:lnSpc>
              <a:spcBef>
                <a:spcPts val="0"/>
              </a:spcBef>
              <a:spcAft>
                <a:spcPts val="0"/>
              </a:spcAft>
              <a:buClr>
                <a:srgbClr val="324158"/>
              </a:buClr>
              <a:buSzPct val="100000"/>
              <a:buFont typeface="Arial"/>
              <a:buChar char="•"/>
            </a:pPr>
            <a:r>
              <a:t>Switch to browser tab 2, the run of make show-4 launched at 2:57 (tab 3 holds the final). It should have finished by about 3:06. Walk screens 1, 3, 2, 5, 4.</a:t>
            </a:r>
          </a:p>
          <a:p>
            <a:pPr marL="228600" indent="-182880" algn="l">
              <a:lnSpc>
                <a:spcPct val="100000"/>
              </a:lnSpc>
              <a:spcBef>
                <a:spcPts val="0"/>
              </a:spcBef>
              <a:spcAft>
                <a:spcPts val="0"/>
              </a:spcAft>
              <a:buClr>
                <a:srgbClr val="324158"/>
              </a:buClr>
              <a:buSzPct val="100000"/>
              <a:buFont typeface="Arial"/>
              <a:buChar char="•"/>
            </a:pPr>
            <a:r>
              <a:t>Screen 1 (1), Live, top to bottom: harness notes from all four layers, then the blocked write (turn 1.15 in the capture). Say: "Section 3: Scope and sandbox's layer, still on duty."</a:t>
            </a:r>
          </a:p>
          <a:p>
            <a:pPr marL="228600" indent="-182880" algn="l">
              <a:lnSpc>
                <a:spcPct val="100000"/>
              </a:lnSpc>
              <a:spcBef>
                <a:spcPts val="0"/>
              </a:spcBef>
              <a:spcAft>
                <a:spcPts val="0"/>
              </a:spcAft>
              <a:buClr>
                <a:srgbClr val="324158"/>
              </a:buClr>
              <a:buSzPct val="100000"/>
              <a:buFont typeface="Arial"/>
              <a:buChar char="•"/>
            </a:pPr>
            <a:r>
              <a:t>Screen 1, the claim: "Agent said done". Say: "That is the claim." Then the 11 gate pills of the build phase (visible tests, existing tests, the seven house rules, board, clean state), all green. Say: "The gate passed every item it can see."</a:t>
            </a:r>
          </a:p>
          <a:p>
            <a:pPr marL="228600" indent="-182880" algn="l">
              <a:lnSpc>
                <a:spcPct val="100000"/>
              </a:lnSpc>
              <a:spcBef>
                <a:spcPts val="0"/>
              </a:spcBef>
              <a:spcAft>
                <a:spcPts val="0"/>
              </a:spcAft>
              <a:buClr>
                <a:srgbClr val="324158"/>
              </a:buClr>
              <a:buSzPct val="100000"/>
              <a:buFont typeface="Arial"/>
              <a:buChar char="•"/>
            </a:pPr>
            <a:r>
              <a:t>Screen 1, the referee line, capture: "primary verdict ready: FAIL, hidden tests passed 68, mutants killed 0". Pass today: "Every hidden test and every mutant. The work is done." Fail: "The agent said done. The hidden tests and mutants say no."</a:t>
            </a:r>
          </a:p>
          <a:p>
            <a:pPr marL="228600" indent="-182880" algn="l">
              <a:lnSpc>
                <a:spcPct val="100000"/>
              </a:lnSpc>
              <a:spcBef>
                <a:spcPts val="0"/>
              </a:spcBef>
              <a:spcAft>
                <a:spcPts val="0"/>
              </a:spcAft>
              <a:buClr>
                <a:srgbClr val="324158"/>
              </a:buClr>
              <a:buSzPct val="100000"/>
              <a:buFont typeface="Arial"/>
              <a:buChar char="•"/>
            </a:pPr>
            <a:r>
              <a:t>Run captured on 2026-10-17 (300 s agent limit): 0:55 scope layer blocks app/services/errors.py; 2:18 finish done, gate pills pending; 3:24 gate passes every item, 190 visible tests, passes set, test phase starts; 5:51-8:34 filters, 4 proposed, 1 kept; 8:34 run ends ABORTED: timeout after 43 turns; 9:19 primary verdict FAIL; 10:55 full verdict, hidden 68 of 69, mutants 0 of 4; cost $0.026511, finished 11:06.</a:t>
            </a:r>
          </a:p>
          <a:p>
            <a:pPr marL="228600" indent="-182880" algn="l">
              <a:lnSpc>
                <a:spcPct val="100000"/>
              </a:lnSpc>
              <a:spcBef>
                <a:spcPts val="0"/>
              </a:spcBef>
              <a:spcAft>
                <a:spcPts val="0"/>
              </a:spcAft>
              <a:buClr>
                <a:srgbClr val="324158"/>
              </a:buClr>
              <a:buSzPct val="100000"/>
              <a:buFont typeface="Arial"/>
              <a:buChar char="•"/>
            </a:pPr>
            <a:r>
              <a:t>The moment to teach, 5:51-8:34: the kept test was test_stale_or_malformed_if_match_refuses_without_mutation. The discarded test_precondition_order_history_order_and_isolation asserted a stale If-Match with an invalid body gives 412 and got 422: the test was right, the code wrong, and Filter 2: Passes five runs discarded it because it failed.</a:t>
            </a:r>
          </a:p>
          <a:p>
            <a:pPr marL="228600" indent="-182880" algn="l">
              <a:lnSpc>
                <a:spcPct val="100000"/>
              </a:lnSpc>
              <a:spcBef>
                <a:spcPts val="0"/>
              </a:spcBef>
              <a:spcAft>
                <a:spcPts val="0"/>
              </a:spcAft>
              <a:buClr>
                <a:srgbClr val="324158"/>
              </a:buClr>
              <a:buSzPct val="100000"/>
              <a:buFont typeface="Arial"/>
              <a:buChar char="•"/>
            </a:pPr>
            <a:r>
              <a:t>At 9:19 the failing hidden test is the same case, test_invalid_body_with_a_stale_version_is_412. The kept test caught 0 of 4 referee mutants (3 survived, 1 ended in an error).</a:t>
            </a:r>
          </a:p>
          <a:p>
            <a:pPr marL="228600" indent="-182880" algn="l">
              <a:lnSpc>
                <a:spcPct val="100000"/>
              </a:lnSpc>
              <a:spcBef>
                <a:spcPts val="0"/>
              </a:spcBef>
              <a:spcAft>
                <a:spcPts val="0"/>
              </a:spcAft>
              <a:buClr>
                <a:srgbClr val="324158"/>
              </a:buClr>
              <a:buSzPct val="100000"/>
              <a:buFont typeface="Arial"/>
              <a:buChar char="•"/>
            </a:pPr>
            <a:r>
              <a:t>Say: "The gate said yes at 3:24, the referee said no at 9:19, same run. The gate did its job; its job does not include held-out checks." Ask: "Was the agent's 422 test wrong?" Expected: no; filters assume the current code is correct, so read every discard reason.</a:t>
            </a:r>
          </a:p>
          <a:p>
            <a:pPr marL="228600" indent="-182880" algn="l">
              <a:lnSpc>
                <a:spcPct val="100000"/>
              </a:lnSpc>
              <a:spcBef>
                <a:spcPts val="0"/>
              </a:spcBef>
              <a:spcAft>
                <a:spcPts val="0"/>
              </a:spcAft>
              <a:buClr>
                <a:srgbClr val="324158"/>
              </a:buClr>
              <a:buSzPct val="100000"/>
              <a:buFont typeface="Arial"/>
              <a:buChar char="•"/>
            </a:pPr>
            <a:r>
              <a:t>Screen 3 (3), Evidence: the Verification panel's filter table, one row per proposed test, a mark per filter, the reason per discard; read "assert 422 == 412" aloud.</a:t>
            </a:r>
          </a:p>
          <a:p>
            <a:pPr marL="228600" indent="-182880" algn="l">
              <a:lnSpc>
                <a:spcPct val="100000"/>
              </a:lnSpc>
              <a:spcBef>
                <a:spcPts val="0"/>
              </a:spcBef>
              <a:spcAft>
                <a:spcPts val="0"/>
              </a:spcAft>
              <a:buClr>
                <a:srgbClr val="324158"/>
              </a:buClr>
              <a:buSzPct val="100000"/>
              <a:buFont typeface="Arial"/>
              <a:buChar char="•"/>
            </a:pPr>
            <a:r>
              <a:t>Screen 2 (2), Boards: the two-tab conflict panel: tab A saves, tab B saves from a stale form and gets HTTP 409 and a "changed by someone else" page. Say: "The board stops the lost update; one hidden test still fails."</a:t>
            </a:r>
          </a:p>
          <a:p>
            <a:pPr marL="228600" indent="-182880" algn="l">
              <a:lnSpc>
                <a:spcPct val="100000"/>
              </a:lnSpc>
              <a:spcBef>
                <a:spcPts val="0"/>
              </a:spcBef>
              <a:spcAft>
                <a:spcPts val="0"/>
              </a:spcAft>
              <a:buClr>
                <a:srgbClr val="324158"/>
              </a:buClr>
              <a:buSzPct val="100000"/>
              <a:buFont typeface="Arial"/>
              <a:buChar char="•"/>
            </a:pPr>
            <a:r>
              <a:t>Screen 5 (5), Traces: the first wrong turn and the LangSmith links for agent and referee. Screen 4 (4), A/B Report: Feature 4: Version checks on issue edits rows, empty dots for both arms. Say: "Today's run is not a dot in the comparison."</a:t>
            </a:r>
          </a:p>
          <a:p>
            <a:pPr marL="228600" indent="-182880" algn="l">
              <a:lnSpc>
                <a:spcPct val="100000"/>
              </a:lnSpc>
              <a:spcBef>
                <a:spcPts val="0"/>
              </a:spcBef>
              <a:spcAft>
                <a:spcPts val="0"/>
              </a:spcAft>
              <a:buClr>
                <a:srgbClr val="324158"/>
              </a:buClr>
              <a:buSzPct val="100000"/>
              <a:buFont typeface="Arial"/>
              <a:buChar char="•"/>
            </a:pPr>
            <a:r>
              <a:t>If the screen differs: no gate pills means the agent never claimed done; show the filter table and referee counts instead. Every pill failing with check runner failed means the harness time limit ran out during the gate; keep the run and say so.</a:t>
            </a:r>
          </a:p>
          <a:p>
            <a:pPr marL="228600" indent="-182880" algn="l">
              <a:lnSpc>
                <a:spcPct val="100000"/>
              </a:lnSpc>
              <a:spcBef>
                <a:spcPts val="0"/>
              </a:spcBef>
              <a:spcAft>
                <a:spcPts val="0"/>
              </a:spcAft>
              <a:buClr>
                <a:srgbClr val="324158"/>
              </a:buClr>
              <a:buSzPct val="100000"/>
              <a:buFont typeface="Arial"/>
              <a:buChar char="•"/>
            </a:pPr>
            <a:r>
              <a:t>If the run broke for a reason outside the experiment: make replay RUN=&lt;id&gt; with the fallback id recorded the day before, or walk section-4-verification/demo/expected/ (the screen-1 frames in minute order, then screens 3, 2, 5, 4, and the arm line in terminal.txt), saying "recorded before class".</a:t>
            </a:r>
          </a:p>
          <a:p>
            <a:pPr marL="228600" indent="-182880" algn="l">
              <a:lnSpc>
                <a:spcPct val="100000"/>
              </a:lnSpc>
              <a:spcBef>
                <a:spcPts val="0"/>
              </a:spcBef>
              <a:spcAft>
                <a:spcPts val="0"/>
              </a:spcAft>
              <a:buClr>
                <a:srgbClr val="324158"/>
              </a:buClr>
              <a:buSzPct val="100000"/>
              <a:buFont typeface="Arial"/>
              <a:buChar char="•"/>
            </a:pPr>
            <a:r>
              <a:t>Time: 9 minutes. Next: what we measured.</a:t>
            </a:r>
          </a:p>
        </p:txBody>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6 min (3:31-3:37)</a:t>
            </a:r>
          </a:p>
          <a:p>
            <a:pPr marL="228600" indent="-182880" algn="l">
              <a:lnSpc>
                <a:spcPct val="100000"/>
              </a:lnSpc>
              <a:spcBef>
                <a:spcPts val="0"/>
              </a:spcBef>
              <a:spcAft>
                <a:spcPts val="0"/>
              </a:spcAft>
              <a:buClr>
                <a:srgbClr val="324158"/>
              </a:buClr>
              <a:buSzPct val="100000"/>
              <a:buFont typeface="Arial"/>
              <a:buChar char="•"/>
            </a:pPr>
            <a:r>
              <a:t>Neither arm passed once in 7 A/Bs (medium effort round 1: 3 of 3 failing per arm; round 2: 3 of 3; class settings: 1 of 1). No measurable difference on this task with this model.</a:t>
            </a:r>
          </a:p>
          <a:p>
            <a:pPr marL="228600" indent="-182880" algn="l">
              <a:lnSpc>
                <a:spcPct val="100000"/>
              </a:lnSpc>
              <a:spcBef>
                <a:spcPts val="0"/>
              </a:spcBef>
              <a:spcAft>
                <a:spcPts val="0"/>
              </a:spcAft>
              <a:buClr>
                <a:srgbClr val="324158"/>
              </a:buClr>
              <a:buSzPct val="100000"/>
              <a:buFont typeface="Arial"/>
              <a:buChar char="•"/>
            </a:pPr>
            <a:r>
              <a:t>The registered gate for larger batches needed the harness ahead in 3 of 4 sections; it was ahead in none, so the batches of 10 runs per arm and the leave-one-out ablation were not run.</a:t>
            </a:r>
          </a:p>
          <a:p>
            <a:pPr marL="228600" indent="-182880" algn="l">
              <a:lnSpc>
                <a:spcPct val="100000"/>
              </a:lnSpc>
              <a:spcBef>
                <a:spcPts val="0"/>
              </a:spcBef>
              <a:spcAft>
                <a:spcPts val="0"/>
              </a:spcAft>
              <a:buClr>
                <a:srgbClr val="324158"/>
              </a:buClr>
              <a:buSzPct val="100000"/>
              <a:buFont typeface="Arial"/>
              <a:buChar char="•"/>
            </a:pPr>
            <a:r>
              <a:t>Why the gate barely mattered: no harness arm on Feature 4: Version checks on issue edits claimed done in those 7 A/Bs; six used all their build turns, one stopped not_done. A gate on the claim never ran.</a:t>
            </a:r>
          </a:p>
          <a:p>
            <a:pPr marL="228600" indent="-182880" algn="l">
              <a:lnSpc>
                <a:spcPct val="100000"/>
              </a:lnSpc>
              <a:spcBef>
                <a:spcPts val="0"/>
              </a:spcBef>
              <a:spcAft>
                <a:spcPts val="0"/>
              </a:spcAft>
              <a:buClr>
                <a:srgbClr val="324158"/>
              </a:buClr>
              <a:buSzPct val="100000"/>
              <a:buFont typeface="Arial"/>
              <a:buChar char="•"/>
            </a:pPr>
            <a:r>
              <a:t>Two bare arms claimed done and the referee failed both (one with 69 of 69 hidden tests and a surviving mutant, one with 68 of 69). The reviewer rejected all 14 arms and agreed with the referee each time.</a:t>
            </a:r>
          </a:p>
          <a:p>
            <a:pPr marL="228600" indent="-182880" algn="l">
              <a:lnSpc>
                <a:spcPct val="100000"/>
              </a:lnSpc>
              <a:spcBef>
                <a:spcPts val="0"/>
              </a:spcBef>
              <a:spcAft>
                <a:spcPts val="0"/>
              </a:spcAft>
              <a:buClr>
                <a:srgbClr val="324158"/>
              </a:buClr>
              <a:buSzPct val="100000"/>
              <a:buFont typeface="Arial"/>
              <a:buChar char="•"/>
            </a:pPr>
            <a:r>
              <a:t>Post hoc, descriptive only: harness arms shipped fewer tests (median 0 against 15.5 on Feature 4); both arms hit the agent time limit in 4 of 6 Feature 4 runs; across all sections harness arms claimed done in 10 of 34 runs, bare in 19 of 34.</a:t>
            </a:r>
          </a:p>
          <a:p>
            <a:pPr marL="228600" indent="-182880" algn="l">
              <a:lnSpc>
                <a:spcPct val="100000"/>
              </a:lnSpc>
              <a:spcBef>
                <a:spcPts val="0"/>
              </a:spcBef>
              <a:spcAft>
                <a:spcPts val="0"/>
              </a:spcAft>
              <a:buClr>
                <a:srgbClr val="324158"/>
              </a:buClr>
              <a:buSzPct val="100000"/>
              <a:buFont typeface="Arial"/>
              <a:buChar char="•"/>
            </a:pPr>
            <a:r>
              <a:t>When it does not earn its place: the agent never claims done; the bug is in the code and the test is right (Filter 2: Passes five runs discards it); few tests are proposed; the checks are wrong.</a:t>
            </a:r>
          </a:p>
          <a:p>
            <a:pPr marL="228600" indent="-182880" algn="l">
              <a:lnSpc>
                <a:spcPct val="100000"/>
              </a:lnSpc>
              <a:spcBef>
                <a:spcPts val="0"/>
              </a:spcBef>
              <a:spcAft>
                <a:spcPts val="0"/>
              </a:spcAft>
              <a:buClr>
                <a:srgbClr val="324158"/>
              </a:buClr>
              <a:buSzPct val="100000"/>
              <a:buFont typeface="Arial"/>
              <a:buChar char="•"/>
            </a:pPr>
            <a:r>
              <a:t>Monday: hook test, lint, and migration checks to the agent's done (a stop hook, a wrapper script, or the CI job it must trigger); return a one-line summary and the first few failures; run on a copy, in a container, or in CI; keep a small held-out suite and never feed its output back.</a:t>
            </a:r>
          </a:p>
          <a:p>
            <a:pPr marL="228600" indent="-182880" algn="l">
              <a:lnSpc>
                <a:spcPct val="100000"/>
              </a:lnSpc>
              <a:spcBef>
                <a:spcPts val="0"/>
              </a:spcBef>
              <a:spcAft>
                <a:spcPts val="0"/>
              </a:spcAft>
              <a:buClr>
                <a:srgbClr val="324158"/>
              </a:buClr>
              <a:buSzPct val="100000"/>
              <a:buFont typeface="Arial"/>
              <a:buChar char="•"/>
            </a:pPr>
            <a:r>
              <a:t>Cheapest step: plant one fault on your riskiest line by hand, for example "do not increment version on write" for an If-Match feature; if no test fails, write the two-writer test. uv run shipharness testgen --help shows the course's test generator with the five filters.</a:t>
            </a:r>
          </a:p>
          <a:p>
            <a:pPr marL="228600" indent="-182880" algn="l">
              <a:lnSpc>
                <a:spcPct val="100000"/>
              </a:lnSpc>
              <a:spcBef>
                <a:spcPts val="0"/>
              </a:spcBef>
              <a:spcAft>
                <a:spcPts val="0"/>
              </a:spcAft>
              <a:buClr>
                <a:srgbClr val="324158"/>
              </a:buClr>
              <a:buSzPct val="100000"/>
              <a:buFont typeface="Arial"/>
              <a:buChar char="•"/>
            </a:pPr>
            <a:r>
              <a:t>Ask (discussion): "What would a gate need to catch to earn its turns on this model?" Expected: the bare arm's false done claims; a two-writer test; fewer turns spent before the claim.</a:t>
            </a:r>
          </a:p>
          <a:p>
            <a:pPr marL="228600" indent="-182880" algn="l">
              <a:lnSpc>
                <a:spcPct val="100000"/>
              </a:lnSpc>
              <a:spcBef>
                <a:spcPts val="0"/>
              </a:spcBef>
              <a:spcAft>
                <a:spcPts val="0"/>
              </a:spcAft>
              <a:buClr>
                <a:srgbClr val="324158"/>
              </a:buClr>
              <a:buSzPct val="100000"/>
              <a:buFont typeface="Arial"/>
              <a:buChar char="•"/>
            </a:pPr>
            <a:r>
              <a:t>Likely question: "Why not rerun with more turns so the harness reaches its gate?" Answer: that is a new registered experiment; changing settings after seeing the result is how a harness gets made to look good.</a:t>
            </a:r>
          </a:p>
          <a:p>
            <a:pPr marL="228600" indent="-182880" algn="l">
              <a:lnSpc>
                <a:spcPct val="100000"/>
              </a:lnSpc>
              <a:spcBef>
                <a:spcPts val="0"/>
              </a:spcBef>
              <a:spcAft>
                <a:spcPts val="0"/>
              </a:spcAft>
              <a:buClr>
                <a:srgbClr val="324158"/>
              </a:buClr>
              <a:buSzPct val="100000"/>
              <a:buFont typeface="Arial"/>
              <a:buChar char="•"/>
            </a:pPr>
            <a:r>
              <a:t>Misconception: "no difference means verification is useless". Correction: Source 3: Harness design for long-running application development (https://www.anthropic.com/engineering/harness-design-long-running-apps): a separate judge "is worth the cost when the task sits beyond what the current model does reliably solo"; this result is one ticket, one model, a few runs per arm.</a:t>
            </a:r>
          </a:p>
          <a:p>
            <a:pPr marL="228600" indent="-182880" algn="l">
              <a:lnSpc>
                <a:spcPct val="100000"/>
              </a:lnSpc>
              <a:spcBef>
                <a:spcPts val="0"/>
              </a:spcBef>
              <a:spcAft>
                <a:spcPts val="0"/>
              </a:spcAft>
              <a:buClr>
                <a:srgbClr val="324158"/>
              </a:buClr>
              <a:buSzPct val="100000"/>
              <a:buFont typeface="Arial"/>
              <a:buChar char="•"/>
            </a:pPr>
            <a:r>
              <a:t>Time: 6 minutes. Next: questions.</a:t>
            </a:r>
          </a:p>
        </p:txBody>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 min (3:37-3:40)</a:t>
            </a:r>
          </a:p>
          <a:p>
            <a:pPr marL="228600" indent="-182880" algn="l">
              <a:lnSpc>
                <a:spcPct val="100000"/>
              </a:lnSpc>
              <a:spcBef>
                <a:spcPts val="0"/>
              </a:spcBef>
              <a:spcAft>
                <a:spcPts val="0"/>
              </a:spcAft>
              <a:buClr>
                <a:srgbClr val="324158"/>
              </a:buClr>
              <a:buSzPct val="100000"/>
              <a:buFont typeface="Arial"/>
              <a:buChar char="•"/>
            </a:pPr>
            <a:r>
              <a:t>Likely: "The harness did not win. Was verification useless?" Answer: on Feature 4: Version checks on issue edits the runs barely tested it: the gate never ran in an A/B and the filters saw few tests.</a:t>
            </a:r>
          </a:p>
          <a:p>
            <a:pPr marL="228600" indent="-182880" algn="l">
              <a:lnSpc>
                <a:spcPct val="100000"/>
              </a:lnSpc>
              <a:spcBef>
                <a:spcPts val="0"/>
              </a:spcBef>
              <a:spcAft>
                <a:spcPts val="0"/>
              </a:spcAft>
              <a:buClr>
                <a:srgbClr val="324158"/>
              </a:buClr>
              <a:buSzPct val="100000"/>
              <a:buFont typeface="Arial"/>
              <a:buChar char="•"/>
            </a:pPr>
            <a:r>
              <a:t>Likely: "The bare arm caught more mutants. Do the filters hurt?" Answer: the bare arm shipped more tests (median 15.5 against 0); a test nobody writes cannot catch a mutant.</a:t>
            </a:r>
          </a:p>
          <a:p>
            <a:pPr marL="228600" indent="-182880" algn="l">
              <a:lnSpc>
                <a:spcPct val="100000"/>
              </a:lnSpc>
              <a:spcBef>
                <a:spcPts val="0"/>
              </a:spcBef>
              <a:spcAft>
                <a:spcPts val="0"/>
              </a:spcAft>
              <a:buClr>
                <a:srgbClr val="324158"/>
              </a:buClr>
              <a:buSzPct val="100000"/>
              <a:buFont typeface="Arial"/>
              <a:buChar char="•"/>
            </a:pPr>
            <a:r>
              <a:t>Likely: "Why does the gate not run the hidden tests?" Answer: they would stop being held out.</a:t>
            </a:r>
          </a:p>
          <a:p>
            <a:pPr marL="228600" indent="-182880" algn="l">
              <a:lnSpc>
                <a:spcPct val="100000"/>
              </a:lnSpc>
              <a:spcBef>
                <a:spcPts val="0"/>
              </a:spcBef>
              <a:spcAft>
                <a:spcPts val="0"/>
              </a:spcAft>
              <a:buClr>
                <a:srgbClr val="324158"/>
              </a:buClr>
              <a:buSzPct val="100000"/>
              <a:buFont typeface="Arial"/>
              <a:buChar char="•"/>
            </a:pPr>
            <a:r>
              <a:t>Likely: "Why are Filter 4: Real assertions and Filter 5: No source changes not from a paper?" Answer: no source states them; they guard against a test that mocks the code it tests and a test phase that edits code until its test passes.</a:t>
            </a:r>
          </a:p>
          <a:p>
            <a:pPr marL="228600" indent="-182880" algn="l">
              <a:lnSpc>
                <a:spcPct val="100000"/>
              </a:lnSpc>
              <a:spcBef>
                <a:spcPts val="0"/>
              </a:spcBef>
              <a:spcAft>
                <a:spcPts val="0"/>
              </a:spcAft>
              <a:buClr>
                <a:srgbClr val="324158"/>
              </a:buClr>
              <a:buSzPct val="100000"/>
              <a:buFont typeface="Arial"/>
              <a:buChar char="•"/>
            </a:pPr>
            <a:r>
              <a:t>Likely: "Is the model reviewer worth it?" Answer: as a secondary measure; Source 3: Harness design for long-running application development (https://www.anthropic.com/engineering/harness-design-long-running-apps) warns it is "inclined to be generous towards LLM-generated outputs". On Feature 4 it rejected all 14 arms and agreed with the referee.</a:t>
            </a:r>
          </a:p>
          <a:p>
            <a:pPr marL="228600" indent="-182880" algn="l">
              <a:lnSpc>
                <a:spcPct val="100000"/>
              </a:lnSpc>
              <a:spcBef>
                <a:spcPts val="0"/>
              </a:spcBef>
              <a:spcAft>
                <a:spcPts val="0"/>
              </a:spcAft>
              <a:buClr>
                <a:srgbClr val="324158"/>
              </a:buClr>
              <a:buSzPct val="100000"/>
              <a:buFont typeface="Arial"/>
              <a:buChar char="•"/>
            </a:pPr>
            <a:r>
              <a:t>Likely: "How do I read the gate in the repo?" Answer: uv run python platform/scripts/anchors.py extract S4:gate, then S4:filters (S4 is the code for Section 4: Verification).</a:t>
            </a:r>
          </a:p>
          <a:p>
            <a:pPr marL="228600" indent="-182880" algn="l">
              <a:lnSpc>
                <a:spcPct val="100000"/>
              </a:lnSpc>
              <a:spcBef>
                <a:spcPts val="0"/>
              </a:spcBef>
              <a:spcAft>
                <a:spcPts val="0"/>
              </a:spcAft>
              <a:buClr>
                <a:srgbClr val="324158"/>
              </a:buClr>
              <a:buSzPct val="100000"/>
              <a:buFont typeface="Arial"/>
              <a:buChar char="•"/>
            </a:pPr>
            <a:r>
              <a:t>Keep an eye on terminal C: if the final has finished its first feature, say so; we read it next.</a:t>
            </a:r>
          </a:p>
          <a:p>
            <a:pPr marL="228600" indent="-182880" algn="l">
              <a:lnSpc>
                <a:spcPct val="100000"/>
              </a:lnSpc>
              <a:spcBef>
                <a:spcPts val="0"/>
              </a:spcBef>
              <a:spcAft>
                <a:spcPts val="0"/>
              </a:spcAft>
              <a:buClr>
                <a:srgbClr val="324158"/>
              </a:buClr>
              <a:buSzPct val="100000"/>
              <a:buFont typeface="Arial"/>
              <a:buChar char="•"/>
            </a:pPr>
            <a:r>
              <a:t>Point learners to section-4-verification/session-notes.md and the post-class readings.</a:t>
            </a:r>
          </a:p>
          <a:p>
            <a:pPr marL="228600" indent="-182880" algn="l">
              <a:lnSpc>
                <a:spcPct val="100000"/>
              </a:lnSpc>
              <a:spcBef>
                <a:spcPts val="0"/>
              </a:spcBef>
              <a:spcAft>
                <a:spcPts val="0"/>
              </a:spcAft>
              <a:buClr>
                <a:srgbClr val="324158"/>
              </a:buClr>
              <a:buSzPct val="100000"/>
              <a:buFont typeface="Arial"/>
              <a:buChar char="•"/>
            </a:pPr>
            <a:r>
              <a:t>Time: 3 minutes; stop at 3:40 and collect the rest in chat. Next: the final A/B, running since 2:57.</a:t>
            </a:r>
          </a:p>
        </p:txBody>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5 min (3:40-3:45)</a:t>
            </a:r>
          </a:p>
          <a:p>
            <a:pPr marL="228600" indent="-182880" algn="l">
              <a:lnSpc>
                <a:spcPct val="100000"/>
              </a:lnSpc>
              <a:spcBef>
                <a:spcPts val="0"/>
              </a:spcBef>
              <a:spcAft>
                <a:spcPts val="0"/>
              </a:spcAft>
              <a:buClr>
                <a:srgbClr val="324158"/>
              </a:buClr>
              <a:buSzPct val="100000"/>
              <a:buFont typeface="Arial"/>
              <a:buChar char="•"/>
            </a:pPr>
            <a:r>
              <a:t>Terminal C: read today's lines aloud, one feature at a time, then the session figure on the Cost: line. The first line names the feature by its code: F5 is Feature 5: Bulk close, F6 Feature 6: Watchers, F7 Feature 7: Labels.</a:t>
            </a:r>
          </a:p>
          <a:p>
            <a:pPr marL="228600" indent="-182880" algn="l">
              <a:lnSpc>
                <a:spcPct val="100000"/>
              </a:lnSpc>
              <a:spcBef>
                <a:spcPts val="0"/>
              </a:spcBef>
              <a:spcAft>
                <a:spcPts val="0"/>
              </a:spcAft>
              <a:buClr>
                <a:srgbClr val="324158"/>
              </a:buClr>
              <a:buSzPct val="100000"/>
              <a:buFont typeface="Arial"/>
              <a:buChar char="•"/>
            </a:pPr>
            <a:r>
              <a:t>The three final tickets set primary_measure = "", so the referee marks every run passed: passed=True and "primary verdict ready: PASS" say nothing about the feature. Compare hidden tests, mutants, and claims instead.</a:t>
            </a:r>
          </a:p>
          <a:p>
            <a:pPr marL="228600" indent="-182880" algn="l">
              <a:lnSpc>
                <a:spcPct val="100000"/>
              </a:lnSpc>
              <a:spcBef>
                <a:spcPts val="0"/>
              </a:spcBef>
              <a:spcAft>
                <a:spcPts val="0"/>
              </a:spcAft>
              <a:buClr>
                <a:srgbClr val="324158"/>
              </a:buClr>
              <a:buSzPct val="100000"/>
              <a:buFont typeface="Arial"/>
              <a:buChar char="•"/>
            </a:pPr>
            <a:r>
              <a:t>The captured Feature 5 run of 2026-10-17 (420 s limit, busy machine; final-project/README.md): both arms 46 of 46 hidden tests and both said done; mutants killed 3 of 3 (bare) against 1 of 3 (harness); the reviewer accepted bare and rejected harness. Bare completed in 42 turns.</a:t>
            </a:r>
          </a:p>
          <a:p>
            <a:pPr marL="228600" indent="-182880" algn="l">
              <a:lnSpc>
                <a:spcPct val="100000"/>
              </a:lnSpc>
              <a:spcBef>
                <a:spcPts val="0"/>
              </a:spcBef>
              <a:spcAft>
                <a:spcPts val="0"/>
              </a:spcAft>
              <a:buClr>
                <a:srgbClr val="324158"/>
              </a:buClr>
              <a:buSzPct val="100000"/>
              <a:buFont typeface="Arial"/>
              <a:buChar char="•"/>
            </a:pPr>
            <a:r>
              <a:t>Its harness arm said done after 20 turns, two gate commands timed out on the busy machine, and the 120 s harness limit ended the arm before a test phase (ABORTED: timeout), a known open item. Reading: bare ahead on mutants, one dot, with a cause in machine time rather than in the layers.</a:t>
            </a:r>
          </a:p>
          <a:p>
            <a:pPr marL="228600" indent="-182880" algn="l">
              <a:lnSpc>
                <a:spcPct val="100000"/>
              </a:lnSpc>
              <a:spcBef>
                <a:spcPts val="0"/>
              </a:spcBef>
              <a:spcAft>
                <a:spcPts val="0"/>
              </a:spcAft>
              <a:buClr>
                <a:srgbClr val="324158"/>
              </a:buClr>
              <a:buSzPct val="100000"/>
              <a:buFont typeface="Arial"/>
              <a:buChar char="•"/>
            </a:pPr>
            <a:r>
              <a:t>An earlier Feature 5 run (2026-10-17, quiet machine, 300 s agent limit) split differently: mutants 2 of 3 in each arm, hidden 46 of 46 in both. Same feature, same harness, a different split.</a:t>
            </a:r>
          </a:p>
          <a:p>
            <a:pPr marL="228600" indent="-182880" algn="l">
              <a:lnSpc>
                <a:spcPct val="100000"/>
              </a:lnSpc>
              <a:spcBef>
                <a:spcPts val="0"/>
              </a:spcBef>
              <a:spcAft>
                <a:spcPts val="0"/>
              </a:spcAft>
              <a:buClr>
                <a:srgbClr val="324158"/>
              </a:buClr>
              <a:buSzPct val="100000"/>
              <a:buFont typeface="Arial"/>
              <a:buChar char="•"/>
            </a:pPr>
            <a:r>
              <a:t>Exit 2 means an arm was aborted on time or cost; it is still judged.</a:t>
            </a:r>
          </a:p>
          <a:p>
            <a:pPr marL="228600" indent="-182880" algn="l">
              <a:lnSpc>
                <a:spcPct val="100000"/>
              </a:lnSpc>
              <a:spcBef>
                <a:spcPts val="0"/>
              </a:spcBef>
              <a:spcAft>
                <a:spcPts val="0"/>
              </a:spcAft>
              <a:buClr>
                <a:srgbClr val="324158"/>
              </a:buClr>
              <a:buSzPct val="100000"/>
              <a:buFont typeface="Arial"/>
              <a:buChar char="•"/>
            </a:pPr>
            <a:r>
              <a:t>Console, browser tab 3, press 1: both arms side by side: status and turns, harness decisions (map placed, handoff written), the gate, "Agent said", the referee line. Capture: bare primary at 4:27, full at 11:39; harness primary at 5:46, full at 11:41; the harness gate pills red on time limits, not on the code.</a:t>
            </a:r>
          </a:p>
          <a:p>
            <a:pPr marL="228600" indent="-182880" algn="l">
              <a:lnSpc>
                <a:spcPct val="100000"/>
              </a:lnSpc>
              <a:spcBef>
                <a:spcPts val="0"/>
              </a:spcBef>
              <a:spcAft>
                <a:spcPts val="0"/>
              </a:spcAft>
              <a:buClr>
                <a:srgbClr val="324158"/>
              </a:buClr>
              <a:buSzPct val="100000"/>
              <a:buFont typeface="Arial"/>
              <a:buChar char="•"/>
            </a:pPr>
            <a:r>
              <a:t>Press 3: files read, diff maps (any ⊘ blocked or out-of-scope file?), referee checks per rule, the filter and mutant tables. In the Feature 5 capture both arms changed only allowed files; the harness arm's two sandbox denials are the gate's timed-out commands.</a:t>
            </a:r>
          </a:p>
          <a:p>
            <a:pPr marL="228600" indent="-182880" algn="l">
              <a:lnSpc>
                <a:spcPct val="100000"/>
              </a:lnSpc>
              <a:spcBef>
                <a:spcPts val="0"/>
              </a:spcBef>
              <a:spcAft>
                <a:spcPts val="0"/>
              </a:spcAft>
              <a:buClr>
                <a:srgbClr val="324158"/>
              </a:buClr>
              <a:buSzPct val="100000"/>
              <a:buFont typeface="Arial"/>
              <a:buChar char="•"/>
            </a:pPr>
            <a:r>
              <a:t>Press 2: each arm's board as an Acme user. The "✓ only own-org cards, no duplicates" badge comes from trusted data attributes, not from anything the agent wrote. Feature 5 changes no board pixels; for watchers or labels look at the issue pages and for a Globex card (a tenant leak). No run before class leaked, so there is no leak screenshot.</a:t>
            </a:r>
          </a:p>
          <a:p>
            <a:pPr marL="228600" indent="-182880" algn="l">
              <a:lnSpc>
                <a:spcPct val="100000"/>
              </a:lnSpc>
              <a:spcBef>
                <a:spcPts val="0"/>
              </a:spcBef>
              <a:spcAft>
                <a:spcPts val="0"/>
              </a:spcAft>
              <a:buClr>
                <a:srgbClr val="324158"/>
              </a:buClr>
              <a:buSzPct val="100000"/>
              <a:buFont typeface="Arial"/>
              <a:buChar char="•"/>
            </a:pPr>
            <a:r>
              <a:t>Press 5: the first wrong turn per arm and the LangSmith links; that turn is where you start debugging, like the first failing span in a trace. For watchers or labels, also look for the session stop and the handoff on screen 1.</a:t>
            </a:r>
          </a:p>
          <a:p>
            <a:pPr marL="228600" indent="-182880" algn="l">
              <a:lnSpc>
                <a:spcPct val="100000"/>
              </a:lnSpc>
              <a:spcBef>
                <a:spcPts val="0"/>
              </a:spcBef>
              <a:spcAft>
                <a:spcPts val="0"/>
              </a:spcAft>
              <a:buClr>
                <a:srgbClr val="324158"/>
              </a:buClr>
              <a:buSzPct val="100000"/>
              <a:buFont typeface="Arial"/>
              <a:buChar char="•"/>
            </a:pPr>
            <a:r>
              <a:t>Ask: "Both arms said done, but the harness arm killed fewer mutants. Did the layers make it worse?" Expected: not on this evidence; its time limit ended it before a test phase; one run cannot say more.</a:t>
            </a:r>
          </a:p>
          <a:p>
            <a:pPr marL="228600" indent="-182880" algn="l">
              <a:lnSpc>
                <a:spcPct val="100000"/>
              </a:lnSpc>
              <a:spcBef>
                <a:spcPts val="0"/>
              </a:spcBef>
              <a:spcAft>
                <a:spcPts val="0"/>
              </a:spcAft>
              <a:buClr>
                <a:srgbClr val="324158"/>
              </a:buClr>
              <a:buSzPct val="100000"/>
              <a:buFont typeface="Arial"/>
              <a:buChar char="•"/>
            </a:pPr>
            <a:r>
              <a:t>Misconception: "the arm with passed=True won" or "the slower arm is worse". Correction: both say passed=True because there is no primary measure; time is a cost to weigh, not a quality measure.</a:t>
            </a:r>
          </a:p>
          <a:p>
            <a:pPr marL="228600" indent="-182880" algn="l">
              <a:lnSpc>
                <a:spcPct val="100000"/>
              </a:lnSpc>
              <a:spcBef>
                <a:spcPts val="0"/>
              </a:spcBef>
              <a:spcAft>
                <a:spcPts val="0"/>
              </a:spcAft>
              <a:buClr>
                <a:srgbClr val="324158"/>
              </a:buClr>
              <a:buSzPct val="100000"/>
              <a:buFont typeface="Arial"/>
              <a:buChar char="•"/>
            </a:pPr>
            <a:r>
              <a:t>If the final has not finished or broke: read whatever screen 1 shows, or walk final-project/expected/ (screens 1 to 5, terminal.txt), saying "recorded before class".</a:t>
            </a:r>
          </a:p>
          <a:p>
            <a:pPr marL="228600" indent="-182880" algn="l">
              <a:lnSpc>
                <a:spcPct val="100000"/>
              </a:lnSpc>
              <a:spcBef>
                <a:spcPts val="0"/>
              </a:spcBef>
              <a:spcAft>
                <a:spcPts val="0"/>
              </a:spcAft>
              <a:buClr>
                <a:srgbClr val="324158"/>
              </a:buClr>
              <a:buSzPct val="100000"/>
              <a:buFont typeface="Arial"/>
              <a:buChar char="•"/>
            </a:pPr>
            <a:r>
              <a:t>Time: 5 minutes. Next: today's run next to everything from before class.</a:t>
            </a:r>
          </a:p>
        </p:txBody>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 min (3:45-3:48)</a:t>
            </a:r>
          </a:p>
          <a:p>
            <a:pPr marL="228600" indent="-182880" algn="l">
              <a:lnSpc>
                <a:spcPct val="100000"/>
              </a:lnSpc>
              <a:spcBef>
                <a:spcPts val="0"/>
              </a:spcBef>
              <a:spcAft>
                <a:spcPts val="0"/>
              </a:spcAft>
              <a:buClr>
                <a:srgbClr val="324158"/>
              </a:buClr>
              <a:buSzPct val="100000"/>
              <a:buFont typeface="Arial"/>
              <a:buChar char="•"/>
            </a:pPr>
            <a:r>
              <a:t>Press 4 on the console first: one dot per recorded run; today's final adds one dot per arm. Say: "One A/B is one dot. Read it next to the runs from before class, never alone."</a:t>
            </a:r>
          </a:p>
          <a:p>
            <a:pPr marL="228600" indent="-182880" algn="l">
              <a:lnSpc>
                <a:spcPct val="100000"/>
              </a:lnSpc>
              <a:spcBef>
                <a:spcPts val="0"/>
              </a:spcBef>
              <a:spcAft>
                <a:spcPts val="0"/>
              </a:spcAft>
              <a:buClr>
                <a:srgbClr val="324158"/>
              </a:buClr>
              <a:buSzPct val="100000"/>
              <a:buFont typeface="Arial"/>
              <a:buChar char="•"/>
            </a:pPr>
            <a:r>
              <a:t>Section 1: Instructions, no new tenant leak on Feature 1: Org-wide issue search: 7 of 7 passing per arm. Section 2: State and sessions, no continuity failure on Feature 2: Comments on issues: 7 of 7 each. Section 3: Scope and sandbox on Feature 3: Safe retries for issue creation: 7 of 7 each. No measurable difference.</a:t>
            </a:r>
          </a:p>
          <a:p>
            <a:pPr marL="228600" indent="-182880" algn="l">
              <a:lnSpc>
                <a:spcPct val="100000"/>
              </a:lnSpc>
              <a:spcBef>
                <a:spcPts val="0"/>
              </a:spcBef>
              <a:spcAft>
                <a:spcPts val="0"/>
              </a:spcAft>
              <a:buClr>
                <a:srgbClr val="324158"/>
              </a:buClr>
              <a:buSzPct val="100000"/>
              <a:buFont typeface="Arial"/>
              <a:buChar char="•"/>
            </a:pPr>
            <a:r>
              <a:t>Section 3 confirmation on Feature 4: Version checks on issue edits, registered before its runs: bare 0 of 3 in scope, harness 3 of 3. Every bare arm changed app/services/errors.py; the scope layer blocked it in every harness arm. Harness ahead, the one gap.</a:t>
            </a:r>
          </a:p>
          <a:p>
            <a:pPr marL="228600" indent="-182880" algn="l">
              <a:lnSpc>
                <a:spcPct val="100000"/>
              </a:lnSpc>
              <a:spcBef>
                <a:spcPts val="0"/>
              </a:spcBef>
              <a:spcAft>
                <a:spcPts val="0"/>
              </a:spcAft>
              <a:buClr>
                <a:srgbClr val="324158"/>
              </a:buClr>
              <a:buSzPct val="100000"/>
              <a:buFont typeface="Arial"/>
              <a:buChar char="•"/>
            </a:pPr>
            <a:r>
              <a:t>Section 4: Verification, all hidden tests and mutants on Feature 4: bare 0 of 4, harness 0 of 4 in run 3 and the class round (and 0 of 3 each in the earlier medium round). Both fail; no measurable difference.</a:t>
            </a:r>
          </a:p>
          <a:p>
            <a:pPr marL="228600" indent="-182880" algn="l">
              <a:lnSpc>
                <a:spcPct val="100000"/>
              </a:lnSpc>
              <a:spcBef>
                <a:spcPts val="0"/>
              </a:spcBef>
              <a:spcAft>
                <a:spcPts val="0"/>
              </a:spcAft>
              <a:buClr>
                <a:srgbClr val="324158"/>
              </a:buClr>
              <a:buSzPct val="100000"/>
              <a:buFont typeface="Arial"/>
              <a:buChar char="•"/>
            </a:pPr>
            <a:r>
              <a:t>The registered gate for larger batches needed the harness ahead in 3 of 4 sections; it was ahead in 0, so the batches of 10 runs per arm and the ablation were not run.</a:t>
            </a:r>
          </a:p>
          <a:p>
            <a:pPr marL="228600" indent="-182880" algn="l">
              <a:lnSpc>
                <a:spcPct val="100000"/>
              </a:lnSpc>
              <a:spcBef>
                <a:spcPts val="0"/>
              </a:spcBef>
              <a:spcAft>
                <a:spcPts val="0"/>
              </a:spcAft>
              <a:buClr>
                <a:srgbClr val="324158"/>
              </a:buClr>
              <a:buSzPct val="100000"/>
              <a:buFont typeface="Arial"/>
              <a:buChar char="•"/>
            </a:pPr>
            <a:r>
              <a:t>Post hoc over 34 runs per arm, descriptive only: files outside the allowed paths in 9 bare runs and 0 harness runs; done claimed in 19 against 10, none with failing hidden tests; median cost per arm $0.0103 bare, $0.0123 harness.</a:t>
            </a:r>
          </a:p>
          <a:p>
            <a:pPr marL="228600" indent="-182880" algn="l">
              <a:lnSpc>
                <a:spcPct val="100000"/>
              </a:lnSpc>
              <a:spcBef>
                <a:spcPts val="0"/>
              </a:spcBef>
              <a:spcAft>
                <a:spcPts val="0"/>
              </a:spcAft>
              <a:buClr>
                <a:srgbClr val="324158"/>
              </a:buClr>
              <a:buSzPct val="100000"/>
              <a:buFont typeface="Arial"/>
              <a:buChar char="•"/>
            </a:pPr>
            <a:r>
              <a:t>Analogy: a release dashboard with error bars: one good run does not move a decision.</a:t>
            </a:r>
          </a:p>
          <a:p>
            <a:pPr marL="228600" indent="-182880" algn="l">
              <a:lnSpc>
                <a:spcPct val="100000"/>
              </a:lnSpc>
              <a:spcBef>
                <a:spcPts val="0"/>
              </a:spcBef>
              <a:spcAft>
                <a:spcPts val="0"/>
              </a:spcAft>
              <a:buClr>
                <a:srgbClr val="324158"/>
              </a:buClr>
              <a:buSzPct val="100000"/>
              <a:buFont typeface="Arial"/>
              <a:buChar char="•"/>
            </a:pPr>
            <a:r>
              <a:t>Ask: "Why did the one gap show up on scope?" Expected: the scope layer blocks the edit by construction; the other layers only change what the agent reads or how it ends.</a:t>
            </a:r>
          </a:p>
          <a:p>
            <a:pPr marL="228600" indent="-182880" algn="l">
              <a:lnSpc>
                <a:spcPct val="100000"/>
              </a:lnSpc>
              <a:spcBef>
                <a:spcPts val="0"/>
              </a:spcBef>
              <a:spcAft>
                <a:spcPts val="0"/>
              </a:spcAft>
              <a:buClr>
                <a:srgbClr val="324158"/>
              </a:buClr>
              <a:buSzPct val="100000"/>
              <a:buFont typeface="Arial"/>
              <a:buChar char="•"/>
            </a:pPr>
            <a:r>
              <a:t>Likely question: "So should I skip the other layers?" Answer: measure them on your own failures. Source 1: Harness engineering (https://openai.com/index/harness-engineering/): its results "should not be assumed to generalize without similar investment—at least, not yet." The same holds here: one model, one ticket per section, a few runs per arm.</a:t>
            </a:r>
          </a:p>
          <a:p>
            <a:pPr marL="228600" indent="-182880" algn="l">
              <a:lnSpc>
                <a:spcPct val="100000"/>
              </a:lnSpc>
              <a:spcBef>
                <a:spcPts val="0"/>
              </a:spcBef>
              <a:spcAft>
                <a:spcPts val="0"/>
              </a:spcAft>
              <a:buClr>
                <a:srgbClr val="324158"/>
              </a:buClr>
              <a:buSzPct val="100000"/>
              <a:buFont typeface="Arial"/>
              <a:buChar char="•"/>
            </a:pPr>
            <a:r>
              <a:t>Misconception: "no measurable difference means no difference". Correction: these few runs cannot show one; a smaller effect needs more runs.</a:t>
            </a:r>
          </a:p>
          <a:p>
            <a:pPr marL="228600" indent="-182880" algn="l">
              <a:lnSpc>
                <a:spcPct val="100000"/>
              </a:lnSpc>
              <a:spcBef>
                <a:spcPts val="0"/>
              </a:spcBef>
              <a:spcAft>
                <a:spcPts val="0"/>
              </a:spcAft>
              <a:buClr>
                <a:srgbClr val="324158"/>
              </a:buClr>
              <a:buSzPct val="100000"/>
              <a:buFont typeface="Arial"/>
              <a:buChar char="•"/>
            </a:pPr>
            <a:r>
              <a:t>Time: 3 minutes. Next: which layer when.</a:t>
            </a:r>
          </a:p>
        </p:txBody>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2.5 min (3:48-3:50:30)</a:t>
            </a:r>
          </a:p>
          <a:p>
            <a:pPr marL="228600" indent="-182880" algn="l">
              <a:lnSpc>
                <a:spcPct val="100000"/>
              </a:lnSpc>
              <a:spcBef>
                <a:spcPts val="0"/>
              </a:spcBef>
              <a:spcAft>
                <a:spcPts val="0"/>
              </a:spcAft>
              <a:buClr>
                <a:srgbClr val="324158"/>
              </a:buClr>
              <a:buSzPct val="100000"/>
              <a:buFont typeface="Arial"/>
              <a:buChar char="•"/>
            </a:pPr>
            <a:r>
              <a:t>Source 3: Harness design for long-running application development (https://www.anthropic.com/engineering/harness-design-long-running-apps): "every component in a harness encodes an assumption about what the model can't do on its own, and those assumptions are worth stress testing."</a:t>
            </a:r>
          </a:p>
          <a:p>
            <a:pPr marL="228600" indent="-182880" algn="l">
              <a:lnSpc>
                <a:spcPct val="100000"/>
              </a:lnSpc>
              <a:spcBef>
                <a:spcPts val="0"/>
              </a:spcBef>
              <a:spcAft>
                <a:spcPts val="0"/>
              </a:spcAft>
              <a:buClr>
                <a:srgbClr val="324158"/>
              </a:buClr>
              <a:buSzPct val="100000"/>
              <a:buFont typeface="Arial"/>
              <a:buChar char="•"/>
            </a:pPr>
            <a:r>
              <a:t>Instructions: add a map when the agent breaks rules that live in a wiki or copies legacy patterns. Cost: keeping the docs true.</a:t>
            </a:r>
          </a:p>
          <a:p>
            <a:pPr marL="228600" indent="-182880" algn="l">
              <a:lnSpc>
                <a:spcPct val="100000"/>
              </a:lnSpc>
              <a:spcBef>
                <a:spcPts val="0"/>
              </a:spcBef>
              <a:spcAft>
                <a:spcPts val="0"/>
              </a:spcAft>
              <a:buClr>
                <a:srgbClr val="324158"/>
              </a:buClr>
              <a:buSzPct val="100000"/>
              <a:buFont typeface="Arial"/>
              <a:buChar char="•"/>
            </a:pPr>
            <a:r>
              <a:t>State: progress files and a handoff when work spans sessions. Cost: a few turns per stop.</a:t>
            </a:r>
          </a:p>
          <a:p>
            <a:pPr marL="228600" indent="-182880" algn="l">
              <a:lnSpc>
                <a:spcPct val="100000"/>
              </a:lnSpc>
              <a:spcBef>
                <a:spcPts val="0"/>
              </a:spcBef>
              <a:spcAft>
                <a:spcPts val="0"/>
              </a:spcAft>
              <a:buClr>
                <a:srgbClr val="324158"/>
              </a:buClr>
              <a:buSzPct val="100000"/>
              <a:buFont typeface="Arial"/>
              <a:buChar char="•"/>
            </a:pPr>
            <a:r>
              <a:t>Scope: allowed paths and a sandbox when agents edit outside the ticket. The only measured gap here: bare 0 of 3 in scope, harness 3 of 3, on Feature 4: Version checks on issue edits, partly by construction.</a:t>
            </a:r>
          </a:p>
          <a:p>
            <a:pPr marL="228600" indent="-182880" algn="l">
              <a:lnSpc>
                <a:spcPct val="100000"/>
              </a:lnSpc>
              <a:spcBef>
                <a:spcPts val="0"/>
              </a:spcBef>
              <a:spcAft>
                <a:spcPts val="0"/>
              </a:spcAft>
              <a:buClr>
                <a:srgbClr val="324158"/>
              </a:buClr>
              <a:buSzPct val="100000"/>
              <a:buFont typeface="Arial"/>
              <a:buChar char="•"/>
            </a:pPr>
            <a:r>
              <a:t>Verification: a gate when the agent can claim done early and your checks are cheap and exact; keep some checks held out.</a:t>
            </a:r>
          </a:p>
          <a:p>
            <a:pPr marL="228600" indent="-182880" algn="l">
              <a:lnSpc>
                <a:spcPct val="100000"/>
              </a:lnSpc>
              <a:spcBef>
                <a:spcPts val="0"/>
              </a:spcBef>
              <a:spcAft>
                <a:spcPts val="0"/>
              </a:spcAft>
              <a:buClr>
                <a:srgbClr val="324158"/>
              </a:buClr>
              <a:buSzPct val="100000"/>
              <a:buFont typeface="Arial"/>
              <a:buChar char="•"/>
            </a:pPr>
            <a:r>
              <a:t>How to decide in your repo, from Source 3 (https://www.anthropic.com/engineering/harness-design-long-running-apps): "removing one component at a time and reviewing what impact it had on the final result". On TeamTrack, make final FEATURES=bulk-close LAYERS=-scope removes one layer from the harness arm.</a:t>
            </a:r>
          </a:p>
          <a:p>
            <a:pPr marL="228600" indent="-182880" algn="l">
              <a:lnSpc>
                <a:spcPct val="100000"/>
              </a:lnSpc>
              <a:spcBef>
                <a:spcPts val="0"/>
              </a:spcBef>
              <a:spcAft>
                <a:spcPts val="0"/>
              </a:spcAft>
              <a:buClr>
                <a:srgbClr val="324158"/>
              </a:buClr>
              <a:buSzPct val="100000"/>
              <a:buFont typeface="Arial"/>
              <a:buChar char="•"/>
            </a:pPr>
            <a:r>
              <a:t>Analogy: a security review that picks controls from the incidents you have had, not a vendor's full catalogue.</a:t>
            </a:r>
          </a:p>
          <a:p>
            <a:pPr marL="228600" indent="-182880" algn="l">
              <a:lnSpc>
                <a:spcPct val="100000"/>
              </a:lnSpc>
              <a:spcBef>
                <a:spcPts val="0"/>
              </a:spcBef>
              <a:spcAft>
                <a:spcPts val="0"/>
              </a:spcAft>
              <a:buClr>
                <a:srgbClr val="324158"/>
              </a:buClr>
              <a:buSzPct val="100000"/>
              <a:buFont typeface="Arial"/>
              <a:buChar char="•"/>
            </a:pPr>
            <a:r>
              <a:t>Ask: "Which failure do you see most in your repo?" Expected: varied; map each answer to a row.</a:t>
            </a:r>
          </a:p>
          <a:p>
            <a:pPr marL="228600" indent="-182880" algn="l">
              <a:lnSpc>
                <a:spcPct val="100000"/>
              </a:lnSpc>
              <a:spcBef>
                <a:spcPts val="0"/>
              </a:spcBef>
              <a:spcAft>
                <a:spcPts val="0"/>
              </a:spcAft>
              <a:buClr>
                <a:srgbClr val="324158"/>
              </a:buClr>
              <a:buSzPct val="100000"/>
              <a:buFont typeface="Arial"/>
              <a:buChar char="•"/>
            </a:pPr>
            <a:r>
              <a:t>Likely question: "Is there a layer you would never skip?" Answer: not on this evidence; the sandbox is the one to keep without a measurement, because it limits damage on the run that goes wrong, which no A/B here measures.</a:t>
            </a:r>
          </a:p>
          <a:p>
            <a:pPr marL="228600" indent="-182880" algn="l">
              <a:lnSpc>
                <a:spcPct val="100000"/>
              </a:lnSpc>
              <a:spcBef>
                <a:spcPts val="0"/>
              </a:spcBef>
              <a:spcAft>
                <a:spcPts val="0"/>
              </a:spcAft>
              <a:buClr>
                <a:srgbClr val="324158"/>
              </a:buClr>
              <a:buSzPct val="100000"/>
              <a:buFont typeface="Arial"/>
              <a:buChar char="•"/>
            </a:pPr>
            <a:r>
              <a:t>Misconception: "all four layers or nothing". Correction: the kit's worked example kept every layer but cut instructions down for a small library; decide per layer and write it down.</a:t>
            </a:r>
          </a:p>
          <a:p>
            <a:pPr marL="228600" indent="-182880" algn="l">
              <a:lnSpc>
                <a:spcPct val="100000"/>
              </a:lnSpc>
              <a:spcBef>
                <a:spcPts val="0"/>
              </a:spcBef>
              <a:spcAft>
                <a:spcPts val="0"/>
              </a:spcAft>
              <a:buClr>
                <a:srgbClr val="324158"/>
              </a:buClr>
              <a:buSzPct val="100000"/>
              <a:buFont typeface="Arial"/>
              <a:buChar char="•"/>
            </a:pPr>
            <a:r>
              <a:t>Time: 2.5 minutes. Next: take it home.</a:t>
            </a:r>
          </a:p>
        </p:txBody>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1.5 min (3:50:30-3:52)</a:t>
            </a:r>
          </a:p>
          <a:p>
            <a:pPr marL="228600" indent="-182880" algn="l">
              <a:lnSpc>
                <a:spcPct val="100000"/>
              </a:lnSpc>
              <a:spcBef>
                <a:spcPts val="0"/>
              </a:spcBef>
              <a:spcAft>
                <a:spcPts val="0"/>
              </a:spcAft>
              <a:buClr>
                <a:srgbClr val="324158"/>
              </a:buClr>
              <a:buSzPct val="100000"/>
              <a:buFont typeface="Arial"/>
              <a:buChar char="•"/>
            </a:pPr>
            <a:r>
              <a:t>shipharness init copies the starter kit (map, state files, feature list, house-rule checks, sandbox policy, CI) with no model calls. Every template holds TeamTrack's real values with a REPLACE marker next to each; --check lists the markers still to fill.</a:t>
            </a:r>
          </a:p>
          <a:p>
            <a:pPr marL="228600" indent="-182880" algn="l">
              <a:lnSpc>
                <a:spcPct val="100000"/>
              </a:lnSpc>
              <a:spcBef>
                <a:spcPts val="0"/>
              </a:spcBef>
              <a:spcAft>
                <a:spcPts val="0"/>
              </a:spcAft>
              <a:buClr>
                <a:srgbClr val="324158"/>
              </a:buClr>
              <a:buSzPct val="100000"/>
              <a:buFont typeface="Arial"/>
              <a:buChar char="•"/>
            </a:pPr>
            <a:r>
              <a:t>It never overwrites your files: an existing AGENTS.md is skipped and reported; --force replaces it only if you ask.</a:t>
            </a:r>
          </a:p>
          <a:p>
            <a:pPr marL="228600" indent="-182880" algn="l">
              <a:lnSpc>
                <a:spcPct val="100000"/>
              </a:lnSpc>
              <a:spcBef>
                <a:spcPts val="0"/>
              </a:spcBef>
              <a:spcAft>
                <a:spcPts val="0"/>
              </a:spcAft>
              <a:buClr>
                <a:srgbClr val="324158"/>
              </a:buClr>
              <a:buSzPct val="100000"/>
              <a:buFont typeface="Arial"/>
              <a:buChar char="•"/>
            </a:pPr>
            <a:r>
              <a:t>The skills install to .claude/skills/ (Claude Code, Cursor) and .agents/skills/ (Codex, Cursor), in the format of Source 6: Agent Skills Specification (https://agentskills.io/specification): a folder with a SKILL.md.</a:t>
            </a:r>
          </a:p>
          <a:p>
            <a:pPr marL="228600" indent="-182880" algn="l">
              <a:lnSpc>
                <a:spcPct val="100000"/>
              </a:lnSpc>
              <a:spcBef>
                <a:spcPts val="0"/>
              </a:spcBef>
              <a:spcAft>
                <a:spcPts val="0"/>
              </a:spcAft>
              <a:buClr>
                <a:srgbClr val="324158"/>
              </a:buClr>
              <a:buSzPct val="100000"/>
              <a:buFont typeface="Arial"/>
              <a:buChar char="•"/>
            </a:pPr>
            <a:r>
              <a:t>The guide is use-in-your-repo/apply-to-your-repo.md: seven steps: install, copy, fill, check, run, read, decide. Steps 1 to 4 make no model calls.</a:t>
            </a:r>
          </a:p>
          <a:p>
            <a:pPr marL="228600" indent="-182880" algn="l">
              <a:lnSpc>
                <a:spcPct val="100000"/>
              </a:lnSpc>
              <a:spcBef>
                <a:spcPts val="0"/>
              </a:spcBef>
              <a:spcAft>
                <a:spcPts val="0"/>
              </a:spcAft>
              <a:buClr>
                <a:srgbClr val="324158"/>
              </a:buClr>
              <a:buSzPct val="100000"/>
              <a:buFont typeface="Arial"/>
              <a:buChar char="•"/>
            </a:pPr>
            <a:r>
              <a:t>Example from the guide: testgen on the boltons queue module kept 3 of 3 proposed tests for $0.002031; the assured-tests example on TeamTrack kept 1 of 5 for $0.003287, the other four failed Filter 3: Adds coverage or catches a mutant.</a:t>
            </a:r>
          </a:p>
          <a:p>
            <a:pPr marL="228600" indent="-182880" algn="l">
              <a:lnSpc>
                <a:spcPct val="100000"/>
              </a:lnSpc>
              <a:spcBef>
                <a:spcPts val="0"/>
              </a:spcBef>
              <a:spcAft>
                <a:spcPts val="0"/>
              </a:spcAft>
              <a:buClr>
                <a:srgbClr val="324158"/>
              </a:buClr>
              <a:buSzPct val="100000"/>
              <a:buFont typeface="Arial"/>
              <a:buChar char="•"/>
            </a:pPr>
            <a:r>
              <a:t>Analogy: a cookiecutter template with real defaults and a marker on every value you must change.</a:t>
            </a:r>
          </a:p>
          <a:p>
            <a:pPr marL="228600" indent="-182880" algn="l">
              <a:lnSpc>
                <a:spcPct val="100000"/>
              </a:lnSpc>
              <a:spcBef>
                <a:spcPts val="0"/>
              </a:spcBef>
              <a:spcAft>
                <a:spcPts val="0"/>
              </a:spcAft>
              <a:buClr>
                <a:srgbClr val="324158"/>
              </a:buClr>
              <a:buSzPct val="100000"/>
              <a:buFont typeface="Arial"/>
              <a:buChar char="•"/>
            </a:pPr>
            <a:r>
              <a:t>Ask: "Which skill would you install first?" Expected: house-rules (turns a repeated review comment into a check) or assured-tests.</a:t>
            </a:r>
          </a:p>
          <a:p>
            <a:pPr marL="228600" indent="-182880" algn="l">
              <a:lnSpc>
                <a:spcPct val="100000"/>
              </a:lnSpc>
              <a:spcBef>
                <a:spcPts val="0"/>
              </a:spcBef>
              <a:spcAft>
                <a:spcPts val="0"/>
              </a:spcAft>
              <a:buClr>
                <a:srgbClr val="324158"/>
              </a:buClr>
              <a:buSzPct val="100000"/>
              <a:buFont typeface="Arial"/>
              <a:buChar char="•"/>
            </a:pPr>
            <a:r>
              <a:t>Likely question: "Does testgen run my tests on my machine?" Answer: with --sandbox local, yes, and it prints UNSANDBOXED; for code you do not trust use --sandbox docker --image.</a:t>
            </a:r>
          </a:p>
          <a:p>
            <a:pPr marL="228600" indent="-182880" algn="l">
              <a:lnSpc>
                <a:spcPct val="100000"/>
              </a:lnSpc>
              <a:spcBef>
                <a:spcPts val="0"/>
              </a:spcBef>
              <a:spcAft>
                <a:spcPts val="0"/>
              </a:spcAft>
              <a:buClr>
                <a:srgbClr val="324158"/>
              </a:buClr>
              <a:buSzPct val="100000"/>
              <a:buFont typeface="Arial"/>
              <a:buChar char="•"/>
            </a:pPr>
            <a:r>
              <a:t>Misconception: "install the kit and you are done". Correction: step 7 is deciding which layers earn their place; measure before you keep a piece.</a:t>
            </a:r>
          </a:p>
          <a:p>
            <a:pPr marL="228600" indent="-182880" algn="l">
              <a:lnSpc>
                <a:spcPct val="100000"/>
              </a:lnSpc>
              <a:spcBef>
                <a:spcPts val="0"/>
              </a:spcBef>
              <a:spcAft>
                <a:spcPts val="0"/>
              </a:spcAft>
              <a:buClr>
                <a:srgbClr val="324158"/>
              </a:buClr>
              <a:buSzPct val="100000"/>
              <a:buFont typeface="Arial"/>
              <a:buChar char="•"/>
            </a:pPr>
            <a:r>
              <a:t>Time: 1.5 minutes. Next: the assignments.</a:t>
            </a:r>
          </a:p>
        </p:txBody>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1.5 min (3:52-3:53:30)</a:t>
            </a:r>
          </a:p>
          <a:p>
            <a:pPr marL="228600" indent="-182880" algn="l">
              <a:lnSpc>
                <a:spcPct val="100000"/>
              </a:lnSpc>
              <a:spcBef>
                <a:spcPts val="0"/>
              </a:spcBef>
              <a:spcAft>
                <a:spcPts val="0"/>
              </a:spcAft>
              <a:buClr>
                <a:srgbClr val="324158"/>
              </a:buClr>
              <a:buSzPct val="100000"/>
              <a:buFont typeface="Arial"/>
              <a:buChar char="•"/>
            </a:pPr>
            <a:r>
              <a:t>Same shape for all four: a starter folder, make check-assignment-N that runs offline with no keys, one live step, grading criteria out of 100 points, and a full solution with a walkthrough in solution/. Try first.</a:t>
            </a:r>
          </a:p>
          <a:p>
            <a:pPr marL="228600" indent="-182880" algn="l">
              <a:lnSpc>
                <a:spcPct val="100000"/>
              </a:lnSpc>
              <a:spcBef>
                <a:spcPts val="0"/>
              </a:spcBef>
              <a:spcAft>
                <a:spcPts val="0"/>
              </a:spcAft>
              <a:buClr>
                <a:srgbClr val="324158"/>
              </a:buClr>
              <a:buSzPct val="100000"/>
              <a:buFont typeface="Arial"/>
              <a:buChar char="•"/>
            </a:pPr>
            <a:r>
              <a:t>Assignment 1: Instructions: split a long single AGENTS.md with tagged rules into a short map, focused docs, and one Agent Skill; write checker/check_docs.py that fails when a link breaks or a rule goes missing; one live A/B and ab-report.md with House rule 1: Tenant isolation and House rule 3: API conventions violations as counts.</a:t>
            </a:r>
          </a:p>
          <a:p>
            <a:pPr marL="228600" indent="-182880" algn="l">
              <a:lnSpc>
                <a:spcPct val="100000"/>
              </a:lnSpc>
              <a:spcBef>
                <a:spcPts val="0"/>
              </a:spcBef>
              <a:spcAft>
                <a:spcPts val="0"/>
              </a:spcAft>
              <a:buClr>
                <a:srgbClr val="324158"/>
              </a:buClr>
              <a:buSzPct val="100000"/>
              <a:buFont typeface="Arial"/>
              <a:buChar char="•"/>
            </a:pPr>
            <a:r>
              <a:t>Assignment 2: State and sessions: complete ResumableStateLayer, which writes what the next session needs from git and the files on disk; a deterministic stand-in agent drives the real runner across three forced stops, offline, then one live run. Its failure is the classic second migration for a table that exists; the step ledger prevents it.</a:t>
            </a:r>
          </a:p>
          <a:p>
            <a:pPr marL="228600" indent="-182880" algn="l">
              <a:lnSpc>
                <a:spcPct val="100000"/>
              </a:lnSpc>
              <a:spcBef>
                <a:spcPts val="0"/>
              </a:spcBef>
              <a:spcAft>
                <a:spcPts val="0"/>
              </a:spcAft>
              <a:buClr>
                <a:srgbClr val="324158"/>
              </a:buClr>
              <a:buSzPct val="100000"/>
              <a:buFont typeface="Arial"/>
              <a:buChar char="•"/>
            </a:pPr>
            <a:r>
              <a:t>Assignment 3: Scope and sandbox: a diff parser that finds every changed path (renames, quoted names, ../ paths, empty new files), a per-phase policy, an evidence-gated update of passes, and a sandbox rule that refuses git history rewrites. Grading multiplies both sides, so a policy that refuses or allows everything earns nothing there.</a:t>
            </a:r>
          </a:p>
          <a:p>
            <a:pPr marL="228600" indent="-182880" algn="l">
              <a:lnSpc>
                <a:spcPct val="100000"/>
              </a:lnSpc>
              <a:spcBef>
                <a:spcPts val="0"/>
              </a:spcBef>
              <a:spcAft>
                <a:spcPts val="0"/>
              </a:spcAft>
              <a:buClr>
                <a:srgbClr val="324158"/>
              </a:buClr>
              <a:buSzPct val="100000"/>
              <a:buFont typeface="Arial"/>
              <a:buChar char="•"/>
            </a:pPr>
            <a:r>
              <a:t>Assignment 4: Verification: turn the soft-delete rule into House rule 8: Deleted issues stay hidden (on unchanged TeamTrack it finds one violation, at GET /v1/issues); add Filter 6: No duplicate tests; a testgen run, one live Feature 4: Version checks on issue edits A/B, and a portfolio (evidence report, LangSmith link, one-page case study, your own skill).</a:t>
            </a:r>
          </a:p>
          <a:p>
            <a:pPr marL="228600" indent="-182880" algn="l">
              <a:lnSpc>
                <a:spcPct val="100000"/>
              </a:lnSpc>
              <a:spcBef>
                <a:spcPts val="0"/>
              </a:spcBef>
              <a:spcAft>
                <a:spcPts val="0"/>
              </a:spcAft>
              <a:buClr>
                <a:srgbClr val="324158"/>
              </a:buClr>
              <a:buSzPct val="100000"/>
              <a:buFont typeface="Arial"/>
              <a:buChar char="•"/>
            </a:pPr>
            <a:r>
              <a:t>Assignment 4's reference solution passes its self-check 23 of 23; the unchanged starter passes 2 of 23, by design. Each FAIL line names what to build.</a:t>
            </a:r>
          </a:p>
          <a:p>
            <a:pPr marL="228600" indent="-182880" algn="l">
              <a:lnSpc>
                <a:spcPct val="100000"/>
              </a:lnSpc>
              <a:spcBef>
                <a:spcPts val="0"/>
              </a:spcBef>
              <a:spcAft>
                <a:spcPts val="0"/>
              </a:spcAft>
              <a:buClr>
                <a:srgbClr val="324158"/>
              </a:buClr>
              <a:buSzPct val="100000"/>
              <a:buFont typeface="Arial"/>
              <a:buChar char="•"/>
            </a:pPr>
            <a:r>
              <a:t>Ask: "Why must Assignment 2's facts come from git?" Expected: the agent's account is a claim, the same lesson as today's done claim.</a:t>
            </a:r>
          </a:p>
          <a:p>
            <a:pPr marL="228600" indent="-182880" algn="l">
              <a:lnSpc>
                <a:spcPct val="100000"/>
              </a:lnSpc>
              <a:spcBef>
                <a:spcPts val="0"/>
              </a:spcBef>
              <a:spcAft>
                <a:spcPts val="0"/>
              </a:spcAft>
              <a:buClr>
                <a:srgbClr val="324158"/>
              </a:buClr>
              <a:buSzPct val="100000"/>
              <a:buFont typeface="Arial"/>
              <a:buChar char="•"/>
            </a:pPr>
            <a:r>
              <a:t>Likely question: "Is the grader in the repo?" Answer: no; the self-check runs the visible checks, the instructor's grader adds hidden cases, like today's hidden tests.</a:t>
            </a:r>
          </a:p>
          <a:p>
            <a:pPr marL="228600" indent="-182880" algn="l">
              <a:lnSpc>
                <a:spcPct val="100000"/>
              </a:lnSpc>
              <a:spcBef>
                <a:spcPts val="0"/>
              </a:spcBef>
              <a:spcAft>
                <a:spcPts val="0"/>
              </a:spcAft>
              <a:buClr>
                <a:srgbClr val="324158"/>
              </a:buClr>
              <a:buSzPct val="100000"/>
              <a:buFont typeface="Arial"/>
              <a:buChar char="•"/>
            </a:pPr>
            <a:r>
              <a:t>Misconception: "the live step must show the harness winning". Correction: report counts; a tie is a valid result. In Assignment 4's reference run neither arm passed the primary measure.</a:t>
            </a:r>
          </a:p>
          <a:p>
            <a:pPr marL="228600" indent="-182880" algn="l">
              <a:lnSpc>
                <a:spcPct val="100000"/>
              </a:lnSpc>
              <a:spcBef>
                <a:spcPts val="0"/>
              </a:spcBef>
              <a:spcAft>
                <a:spcPts val="0"/>
              </a:spcAft>
              <a:buClr>
                <a:srgbClr val="324158"/>
              </a:buClr>
              <a:buSzPct val="100000"/>
              <a:buFont typeface="Arial"/>
              <a:buChar char="•"/>
            </a:pPr>
            <a:r>
              <a:t>Time: 1.5 minutes; the review session gives each about 25 minutes. Next: the final project.</a:t>
            </a:r>
          </a:p>
        </p:txBody>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 min (3:53:30-3:54:30)</a:t>
            </a:r>
          </a:p>
          <a:p>
            <a:pPr marL="228600" indent="-182880" algn="l">
              <a:lnSpc>
                <a:spcPct val="100000"/>
              </a:lnSpc>
              <a:spcBef>
                <a:spcPts val="0"/>
              </a:spcBef>
              <a:spcAft>
                <a:spcPts val="0"/>
              </a:spcAft>
              <a:buClr>
                <a:srgbClr val="324158"/>
              </a:buClr>
              <a:buSzPct val="100000"/>
              <a:buFont typeface="Arial"/>
              <a:buChar char="•"/>
            </a:pPr>
            <a:r>
              <a:t>Run make final FEATURES=bulk-close, with PURPOSE=pilot outside class. At the caps one feature costs at most $0.58.</a:t>
            </a:r>
          </a:p>
          <a:p>
            <a:pPr marL="228600" indent="-182880" algn="l">
              <a:lnSpc>
                <a:spcPct val="100000"/>
              </a:lnSpc>
              <a:spcBef>
                <a:spcPts val="0"/>
              </a:spcBef>
              <a:spcAft>
                <a:spcPts val="0"/>
              </a:spcAft>
              <a:buClr>
                <a:srgbClr val="324158"/>
              </a:buClr>
              <a:buSzPct val="100000"/>
              <a:buFont typeface="Arial"/>
              <a:buChar char="•"/>
            </a:pPr>
            <a:r>
              <a:t>Leave-one-out: make final FEATURES=bulk-close LAYERS=-scope removes one layer from the harness arm, the method of Source 3: Harness design for long-running application development (https://www.anthropic.com/engineering/harness-design-long-running-apps), one feature at a time.</a:t>
            </a:r>
          </a:p>
          <a:p>
            <a:pPr marL="228600" indent="-182880" algn="l">
              <a:lnSpc>
                <a:spcPct val="100000"/>
              </a:lnSpc>
              <a:spcBef>
                <a:spcPts val="0"/>
              </a:spcBef>
              <a:spcAft>
                <a:spcPts val="0"/>
              </a:spcAft>
              <a:buClr>
                <a:srgbClr val="324158"/>
              </a:buClr>
              <a:buSzPct val="100000"/>
              <a:buFont typeface="Arial"/>
              <a:buChar char="•"/>
            </a:pPr>
            <a:r>
              <a:t>uv run shipharness report makes no model calls and writes exports/report.html: one dot per run, filled for passed, hollow for failed.</a:t>
            </a:r>
          </a:p>
          <a:p>
            <a:pPr marL="228600" indent="-182880" algn="l">
              <a:lnSpc>
                <a:spcPct val="100000"/>
              </a:lnSpc>
              <a:spcBef>
                <a:spcPts val="0"/>
              </a:spcBef>
              <a:spcAft>
                <a:spcPts val="0"/>
              </a:spcAft>
              <a:buClr>
                <a:srgbClr val="324158"/>
              </a:buClr>
              <a:buSzPct val="100000"/>
              <a:buFont typeface="Arial"/>
              <a:buChar char="•"/>
            </a:pPr>
            <a:r>
              <a:t>The portfolio for Assignment 4: Verification: the A/B's score records and trace links, the kit's check and testgen output on a repository you choose, a one-page case study, and a skill of your own.</a:t>
            </a:r>
          </a:p>
          <a:p>
            <a:pPr marL="228600" indent="-182880" algn="l">
              <a:lnSpc>
                <a:spcPct val="100000"/>
              </a:lnSpc>
              <a:spcBef>
                <a:spcPts val="0"/>
              </a:spcBef>
              <a:spcAft>
                <a:spcPts val="0"/>
              </a:spcAft>
              <a:buClr>
                <a:srgbClr val="324158"/>
              </a:buClr>
              <a:buSzPct val="100000"/>
              <a:buFont typeface="Arial"/>
              <a:buChar char="•"/>
            </a:pPr>
            <a:r>
              <a:t>Why "one dot": the course ran Feature 5: Bulk close more than once before class and the A/Bs split differently on mutants: 2 of 3 each in an earlier run, then 3 of 3 (bare) against 1 of 3 (harness).</a:t>
            </a:r>
          </a:p>
          <a:p>
            <a:pPr marL="228600" indent="-182880" algn="l">
              <a:lnSpc>
                <a:spcPct val="100000"/>
              </a:lnSpc>
              <a:spcBef>
                <a:spcPts val="0"/>
              </a:spcBef>
              <a:spcAft>
                <a:spcPts val="0"/>
              </a:spcAft>
              <a:buClr>
                <a:srgbClr val="324158"/>
              </a:buClr>
              <a:buSzPct val="100000"/>
              <a:buFont typeface="Arial"/>
              <a:buChar char="•"/>
            </a:pPr>
            <a:r>
              <a:t>Analogy: a benchmark result published with its run count and variance, not a single best run.</a:t>
            </a:r>
          </a:p>
          <a:p>
            <a:pPr marL="228600" indent="-182880" algn="l">
              <a:lnSpc>
                <a:spcPct val="100000"/>
              </a:lnSpc>
              <a:spcBef>
                <a:spcPts val="0"/>
              </a:spcBef>
              <a:spcAft>
                <a:spcPts val="0"/>
              </a:spcAft>
              <a:buClr>
                <a:srgbClr val="324158"/>
              </a:buClr>
              <a:buSzPct val="100000"/>
              <a:buFont typeface="Arial"/>
              <a:buChar char="•"/>
            </a:pPr>
            <a:r>
              <a:t>Ask: "How many runs before you believe a gap?" Expected: more than one per arm; the course planned 10 per arm for its larger batches.</a:t>
            </a:r>
          </a:p>
          <a:p>
            <a:pPr marL="228600" indent="-182880" algn="l">
              <a:lnSpc>
                <a:spcPct val="100000"/>
              </a:lnSpc>
              <a:spcBef>
                <a:spcPts val="0"/>
              </a:spcBef>
              <a:spcAft>
                <a:spcPts val="0"/>
              </a:spcAft>
              <a:buClr>
                <a:srgbClr val="324158"/>
              </a:buClr>
              <a:buSzPct val="100000"/>
              <a:buFont typeface="Arial"/>
              <a:buChar char="•"/>
            </a:pPr>
            <a:r>
              <a:t>Likely question: "Can I run it without Docker?" Answer: not for results; SANDBOX_MODE=none is not allowed for results, because both arms must run in the same kind of container.</a:t>
            </a:r>
          </a:p>
          <a:p>
            <a:pPr marL="228600" indent="-182880" algn="l">
              <a:lnSpc>
                <a:spcPct val="100000"/>
              </a:lnSpc>
              <a:spcBef>
                <a:spcPts val="0"/>
              </a:spcBef>
              <a:spcAft>
                <a:spcPts val="0"/>
              </a:spcAft>
              <a:buClr>
                <a:srgbClr val="324158"/>
              </a:buClr>
              <a:buSzPct val="100000"/>
              <a:buFont typeface="Arial"/>
              <a:buChar char="•"/>
            </a:pPr>
            <a:r>
              <a:t>Misconception: "my one A/B shows the harness works on my repo". Correction: it shows one dot; report counts and say what more runs would need to show. The guide is final-project/README.md.</a:t>
            </a:r>
          </a:p>
          <a:p>
            <a:pPr marL="228600" indent="-182880" algn="l">
              <a:lnSpc>
                <a:spcPct val="100000"/>
              </a:lnSpc>
              <a:spcBef>
                <a:spcPts val="0"/>
              </a:spcBef>
              <a:spcAft>
                <a:spcPts val="0"/>
              </a:spcAft>
              <a:buClr>
                <a:srgbClr val="324158"/>
              </a:buClr>
              <a:buSzPct val="100000"/>
              <a:buFont typeface="Arial"/>
              <a:buChar char="•"/>
            </a:pPr>
            <a:r>
              <a:t>Time: 1 minute. Next: one picture of everything.</a:t>
            </a:r>
          </a:p>
        </p:txBody>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 min (3:54:30-3:55:30)</a:t>
            </a:r>
          </a:p>
          <a:p>
            <a:pPr marL="228600" indent="-182880" algn="l">
              <a:lnSpc>
                <a:spcPct val="100000"/>
              </a:lnSpc>
              <a:spcBef>
                <a:spcPts val="0"/>
              </a:spcBef>
              <a:spcAft>
                <a:spcPts val="0"/>
              </a:spcAft>
              <a:buClr>
                <a:srgbClr val="324158"/>
              </a:buClr>
              <a:buSzPct val="100000"/>
              <a:buFont typeface="Arial"/>
              <a:buChar char="•"/>
            </a:pPr>
            <a:r>
              <a:t>Instructions: a map of about 100 lines in context, details on disk, skills that load in tiers. It informs; it never blocks.</a:t>
            </a:r>
          </a:p>
          <a:p>
            <a:pPr marL="228600" indent="-182880" algn="l">
              <a:lnSpc>
                <a:spcPct val="100000"/>
              </a:lnSpc>
              <a:spcBef>
                <a:spcPts val="0"/>
              </a:spcBef>
              <a:spcAft>
                <a:spcPts val="0"/>
              </a:spcAft>
              <a:buClr>
                <a:srgbClr val="324158"/>
              </a:buClr>
              <a:buSzPct val="100000"/>
              <a:buFont typeface="Arial"/>
              <a:buChar char="•"/>
            </a:pPr>
            <a:r>
              <a:t>State: a progress file, an exec plan, and a two-owner handoff; the harness writes the facts from git at every stop.</a:t>
            </a:r>
          </a:p>
          <a:p>
            <a:pPr marL="228600" indent="-182880" algn="l">
              <a:lnSpc>
                <a:spcPct val="100000"/>
              </a:lnSpc>
              <a:spcBef>
                <a:spcPts val="0"/>
              </a:spcBef>
              <a:spcAft>
                <a:spcPts val="0"/>
              </a:spcAft>
              <a:buClr>
                <a:srgbClr val="324158"/>
              </a:buClr>
              <a:buSzPct val="100000"/>
              <a:buFont typeface="Arial"/>
              <a:buChar char="•"/>
            </a:pPr>
            <a:r>
              <a:t>Scope: one feature at a time, allowed paths per phase checked on every tool call, passes set only by the harness.</a:t>
            </a:r>
          </a:p>
          <a:p>
            <a:pPr marL="228600" indent="-182880" algn="l">
              <a:lnSpc>
                <a:spcPct val="100000"/>
              </a:lnSpc>
              <a:spcBef>
                <a:spcPts val="0"/>
              </a:spcBef>
              <a:spcAft>
                <a:spcPts val="0"/>
              </a:spcAft>
              <a:buClr>
                <a:srgbClr val="324158"/>
              </a:buClr>
              <a:buSzPct val="100000"/>
              <a:buFont typeface="Arial"/>
              <a:buChar char="•"/>
            </a:pPr>
            <a:r>
              <a:t>Verification: a gate on "done", five test filters, and held-out hidden tests and mutants the agent never sees.</a:t>
            </a:r>
          </a:p>
          <a:p>
            <a:pPr marL="228600" indent="-182880" algn="l">
              <a:lnSpc>
                <a:spcPct val="100000"/>
              </a:lnSpc>
              <a:spcBef>
                <a:spcPts val="0"/>
              </a:spcBef>
              <a:spcAft>
                <a:spcPts val="0"/>
              </a:spcAft>
              <a:buClr>
                <a:srgbClr val="324158"/>
              </a:buClr>
              <a:buSzPct val="100000"/>
              <a:buFont typeface="Arial"/>
              <a:buChar char="•"/>
            </a:pPr>
            <a:r>
              <a:t>The sandbox: one container per arm, no network, keys on the host; the same for both arms, so no A/B here measures it.</a:t>
            </a:r>
          </a:p>
          <a:p>
            <a:pPr marL="228600" indent="-182880" algn="l">
              <a:lnSpc>
                <a:spcPct val="100000"/>
              </a:lnSpc>
              <a:spcBef>
                <a:spcPts val="0"/>
              </a:spcBef>
              <a:spcAft>
                <a:spcPts val="0"/>
              </a:spcAft>
              <a:buClr>
                <a:srgbClr val="324158"/>
              </a:buClr>
              <a:buSzPct val="100000"/>
              <a:buFont typeface="Arial"/>
              <a:buChar char="•"/>
            </a:pPr>
            <a:r>
              <a:t>The referee sits outside the harness and scores what shipped, the same way for both arms.</a:t>
            </a:r>
          </a:p>
          <a:p>
            <a:pPr marL="228600" indent="-182880" algn="l">
              <a:lnSpc>
                <a:spcPct val="100000"/>
              </a:lnSpc>
              <a:spcBef>
                <a:spcPts val="0"/>
              </a:spcBef>
              <a:spcAft>
                <a:spcPts val="0"/>
              </a:spcAft>
              <a:buClr>
                <a:srgbClr val="324158"/>
              </a:buClr>
              <a:buSzPct val="100000"/>
              <a:buFont typeface="Arial"/>
              <a:buChar char="•"/>
            </a:pPr>
            <a:r>
              <a:t>Analogy: onboarding docs, a shift handover, least privilege, and CI gates: four practices your team trusts for humans, applied to an agent.</a:t>
            </a:r>
          </a:p>
          <a:p>
            <a:pPr marL="228600" indent="-182880" algn="l">
              <a:lnSpc>
                <a:spcPct val="100000"/>
              </a:lnSpc>
              <a:spcBef>
                <a:spcPts val="0"/>
              </a:spcBef>
              <a:spcAft>
                <a:spcPts val="0"/>
              </a:spcAft>
              <a:buClr>
                <a:srgbClr val="324158"/>
              </a:buClr>
              <a:buSzPct val="100000"/>
              <a:buFont typeface="Arial"/>
              <a:buChar char="•"/>
            </a:pPr>
            <a:r>
              <a:t>Point at the scope ring: the one layer with a measured gap, on Feature 4: Version checks on issue edits, partly by construction.</a:t>
            </a:r>
          </a:p>
          <a:p>
            <a:pPr marL="228600" indent="-182880" algn="l">
              <a:lnSpc>
                <a:spcPct val="100000"/>
              </a:lnSpc>
              <a:spcBef>
                <a:spcPts val="0"/>
              </a:spcBef>
              <a:spcAft>
                <a:spcPts val="0"/>
              </a:spcAft>
              <a:buClr>
                <a:srgbClr val="324158"/>
              </a:buClr>
              <a:buSzPct val="100000"/>
              <a:buFont typeface="Arial"/>
              <a:buChar char="•"/>
            </a:pPr>
            <a:r>
              <a:t>Ask: "Which ring would you add first?" Expected: the one that matches a failure you have seen.</a:t>
            </a:r>
          </a:p>
          <a:p>
            <a:pPr marL="228600" indent="-182880" algn="l">
              <a:lnSpc>
                <a:spcPct val="100000"/>
              </a:lnSpc>
              <a:spcBef>
                <a:spcPts val="0"/>
              </a:spcBef>
              <a:spcAft>
                <a:spcPts val="0"/>
              </a:spcAft>
              <a:buClr>
                <a:srgbClr val="324158"/>
              </a:buClr>
              <a:buSzPct val="100000"/>
              <a:buFont typeface="Arial"/>
              <a:buChar char="•"/>
            </a:pPr>
            <a:r>
              <a:t>Misconception: "more rings means a safer agent". Correction: each ring costs turns and time; harness arms ran longer than bare arms before class.</a:t>
            </a:r>
          </a:p>
          <a:p>
            <a:pPr marL="228600" indent="-182880" algn="l">
              <a:lnSpc>
                <a:spcPct val="100000"/>
              </a:lnSpc>
              <a:spcBef>
                <a:spcPts val="0"/>
              </a:spcBef>
              <a:spcAft>
                <a:spcPts val="0"/>
              </a:spcAft>
              <a:buClr>
                <a:srgbClr val="324158"/>
              </a:buClr>
              <a:buSzPct val="100000"/>
              <a:buFont typeface="Arial"/>
              <a:buChar char="•"/>
            </a:pPr>
            <a:r>
              <a:t>Time: 1 minute. Next: the summary.</a:t>
            </a:r>
          </a:p>
        </p:txBody>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1.5 min (3:55:30-3:57)</a:t>
            </a:r>
          </a:p>
          <a:p>
            <a:pPr marL="228600" indent="-182880" algn="l">
              <a:lnSpc>
                <a:spcPct val="100000"/>
              </a:lnSpc>
              <a:spcBef>
                <a:spcPts val="0"/>
              </a:spcBef>
              <a:spcAft>
                <a:spcPts val="0"/>
              </a:spcAft>
              <a:buClr>
                <a:srgbClr val="324158"/>
              </a:buClr>
              <a:buSzPct val="100000"/>
              <a:buFont typeface="Arial"/>
              <a:buChar char="•"/>
            </a:pPr>
            <a:r>
              <a:t>Takeaway 1, instructions = a short map in context, details on disk, checked by a script. On Feature 1: Org-wide issue search: no measurable difference; the model already scoped its query.</a:t>
            </a:r>
          </a:p>
          <a:p>
            <a:pPr marL="228600" indent="-182880" algn="l">
              <a:lnSpc>
                <a:spcPct val="100000"/>
              </a:lnSpc>
              <a:spcBef>
                <a:spcPts val="0"/>
              </a:spcBef>
              <a:spcAft>
                <a:spcPts val="0"/>
              </a:spcAft>
              <a:buClr>
                <a:srgbClr val="324158"/>
              </a:buClr>
              <a:buSzPct val="100000"/>
              <a:buFont typeface="Arial"/>
              <a:buChar char="•"/>
            </a:pPr>
            <a:r>
              <a:t>Takeaway 2, state = facts from git at every stop, notes from the agent. On Feature 2: Comments on issues: no measurable difference; the repository was enough state for this model.</a:t>
            </a:r>
          </a:p>
          <a:p>
            <a:pPr marL="228600" indent="-182880" algn="l">
              <a:lnSpc>
                <a:spcPct val="100000"/>
              </a:lnSpc>
              <a:spcBef>
                <a:spcPts val="0"/>
              </a:spcBef>
              <a:spcAft>
                <a:spcPts val="0"/>
              </a:spcAft>
              <a:buClr>
                <a:srgbClr val="324158"/>
              </a:buClr>
              <a:buSzPct val="100000"/>
              <a:buFont typeface="Arial"/>
              <a:buChar char="•"/>
            </a:pPr>
            <a:r>
              <a:t>Takeaway 3, scope = allowed paths checked by code, a sandbox for both arms. On Feature 4: Version checks on issue edits: bare 0 of 3 in scope, harness 3 of 3, partly by construction; on Feature 3: Safe retries for issue creation, no measurable difference.</a:t>
            </a:r>
          </a:p>
          <a:p>
            <a:pPr marL="228600" indent="-182880" algn="l">
              <a:lnSpc>
                <a:spcPct val="100000"/>
              </a:lnSpc>
              <a:spcBef>
                <a:spcPts val="0"/>
              </a:spcBef>
              <a:spcAft>
                <a:spcPts val="0"/>
              </a:spcAft>
              <a:buClr>
                <a:srgbClr val="324158"/>
              </a:buClr>
              <a:buSzPct val="100000"/>
              <a:buFont typeface="Arial"/>
              <a:buChar char="•"/>
            </a:pPr>
            <a:r>
              <a:t>Takeaway 4, verification = checks the agent does not own: a gate, filters, hidden tests, mutants. On Feature 4: both arms failed every run; no measurable difference.</a:t>
            </a:r>
          </a:p>
          <a:p>
            <a:pPr marL="228600" indent="-182880" algn="l">
              <a:lnSpc>
                <a:spcPct val="100000"/>
              </a:lnSpc>
              <a:spcBef>
                <a:spcPts val="0"/>
              </a:spcBef>
              <a:spcAft>
                <a:spcPts val="0"/>
              </a:spcAft>
              <a:buClr>
                <a:srgbClr val="324158"/>
              </a:buClr>
              <a:buSzPct val="100000"/>
              <a:buFont typeface="Arial"/>
              <a:buChar char="•"/>
            </a:pPr>
            <a:r>
              <a:t>Takeaway 5, every layer = a bet on what the model cannot do on its own: same ticket, model, and referee, counts per arm, never one run.</a:t>
            </a:r>
          </a:p>
          <a:p>
            <a:pPr marL="228600" indent="-182880" algn="l">
              <a:lnSpc>
                <a:spcPct val="100000"/>
              </a:lnSpc>
              <a:spcBef>
                <a:spcPts val="0"/>
              </a:spcBef>
              <a:spcAft>
                <a:spcPts val="0"/>
              </a:spcAft>
              <a:buClr>
                <a:srgbClr val="324158"/>
              </a:buClr>
              <a:buSzPct val="100000"/>
              <a:buFont typeface="Arial"/>
              <a:buChar char="•"/>
            </a:pPr>
            <a:r>
              <a:t>Concrete next step: count your agent's out-of-scope files with git diff --name-only before you enforce anything; it is the cheapest measurement in the module.</a:t>
            </a:r>
          </a:p>
          <a:p>
            <a:pPr marL="228600" indent="-182880" algn="l">
              <a:lnSpc>
                <a:spcPct val="100000"/>
              </a:lnSpc>
              <a:spcBef>
                <a:spcPts val="0"/>
              </a:spcBef>
              <a:spcAft>
                <a:spcPts val="0"/>
              </a:spcAft>
              <a:buClr>
                <a:srgbClr val="324158"/>
              </a:buClr>
              <a:buSzPct val="100000"/>
              <a:buFont typeface="Arial"/>
              <a:buChar char="•"/>
            </a:pPr>
            <a:r>
              <a:t>Analogy: a post-incident review: keep the controls that would have caught a failure you actually had.</a:t>
            </a:r>
          </a:p>
          <a:p>
            <a:pPr marL="228600" indent="-182880" algn="l">
              <a:lnSpc>
                <a:spcPct val="100000"/>
              </a:lnSpc>
              <a:spcBef>
                <a:spcPts val="0"/>
              </a:spcBef>
              <a:spcAft>
                <a:spcPts val="0"/>
              </a:spcAft>
              <a:buClr>
                <a:srgbClr val="324158"/>
              </a:buClr>
              <a:buSzPct val="100000"/>
              <a:buFont typeface="Arial"/>
              <a:buChar char="•"/>
            </a:pPr>
            <a:r>
              <a:t>Ask: "Which takeaway surprised you?" Expected: that three of four layers showed no measurable difference on this model.</a:t>
            </a:r>
          </a:p>
          <a:p>
            <a:pPr marL="228600" indent="-182880" algn="l">
              <a:lnSpc>
                <a:spcPct val="100000"/>
              </a:lnSpc>
              <a:spcBef>
                <a:spcPts val="0"/>
              </a:spcBef>
              <a:spcAft>
                <a:spcPts val="0"/>
              </a:spcAft>
              <a:buClr>
                <a:srgbClr val="324158"/>
              </a:buClr>
              <a:buSzPct val="100000"/>
              <a:buFont typeface="Arial"/>
              <a:buChar char="•"/>
            </a:pPr>
            <a:r>
              <a:t>Likely question: "Will these results hold for my model?" Answer: unknown; re-measure when the model changes.</a:t>
            </a:r>
          </a:p>
          <a:p>
            <a:pPr marL="228600" indent="-182880" algn="l">
              <a:lnSpc>
                <a:spcPct val="100000"/>
              </a:lnSpc>
              <a:spcBef>
                <a:spcPts val="0"/>
              </a:spcBef>
              <a:spcAft>
                <a:spcPts val="0"/>
              </a:spcAft>
              <a:buClr>
                <a:srgbClr val="324158"/>
              </a:buClr>
              <a:buSzPct val="100000"/>
              <a:buFont typeface="Arial"/>
              <a:buChar char="•"/>
            </a:pPr>
            <a:r>
              <a:t>Misconception: "no measurable difference means the layer is useless". Correction: these few runs on one ticket per section cannot show a smaller effect.</a:t>
            </a:r>
          </a:p>
          <a:p>
            <a:pPr marL="228600" indent="-182880" algn="l">
              <a:lnSpc>
                <a:spcPct val="100000"/>
              </a:lnSpc>
              <a:spcBef>
                <a:spcPts val="0"/>
              </a:spcBef>
              <a:spcAft>
                <a:spcPts val="0"/>
              </a:spcAft>
              <a:buClr>
                <a:srgbClr val="324158"/>
              </a:buClr>
              <a:buSzPct val="100000"/>
              <a:buFont typeface="Arial"/>
              <a:buChar char="•"/>
            </a:pPr>
            <a:r>
              <a:t>Time: 1.5 minutes. Next: a glimpse of Module 2.</a:t>
            </a:r>
          </a:p>
        </p:txBody>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 min (3:57-3:58)</a:t>
            </a:r>
          </a:p>
          <a:p>
            <a:pPr marL="228600" indent="-182880" algn="l">
              <a:lnSpc>
                <a:spcPct val="100000"/>
              </a:lnSpc>
              <a:spcBef>
                <a:spcPts val="0"/>
              </a:spcBef>
              <a:spcAft>
                <a:spcPts val="0"/>
              </a:spcAft>
              <a:buClr>
                <a:srgbClr val="324158"/>
              </a:buClr>
              <a:buSzPct val="100000"/>
              <a:buFont typeface="Arial"/>
              <a:buChar char="•"/>
            </a:pPr>
            <a:r>
              <a:t>Background and event-driven runs: the agent starts from an event (a new ticket, a failing check) instead of a person at a terminal.</a:t>
            </a:r>
          </a:p>
          <a:p>
            <a:pPr marL="228600" indent="-182880" algn="l">
              <a:lnSpc>
                <a:spcPct val="100000"/>
              </a:lnSpc>
              <a:spcBef>
                <a:spcPts val="0"/>
              </a:spcBef>
              <a:spcAft>
                <a:spcPts val="0"/>
              </a:spcAft>
              <a:buClr>
                <a:srgbClr val="324158"/>
              </a:buClr>
              <a:buSzPct val="100000"/>
              <a:buFont typeface="Arial"/>
              <a:buChar char="•"/>
            </a:pPr>
            <a:r>
              <a:t>Hill climbing: change one piece of the harness, re-measure, keep it only if the measure improves; it reuses today's referee and A/B.</a:t>
            </a:r>
          </a:p>
          <a:p>
            <a:pPr marL="228600" indent="-182880" algn="l">
              <a:lnSpc>
                <a:spcPct val="100000"/>
              </a:lnSpc>
              <a:spcBef>
                <a:spcPts val="0"/>
              </a:spcBef>
              <a:spcAft>
                <a:spcPts val="0"/>
              </a:spcAft>
              <a:buClr>
                <a:srgbClr val="324158"/>
              </a:buClr>
              <a:buSzPct val="100000"/>
              <a:buFont typeface="Arial"/>
              <a:buChar char="•"/>
            </a:pPr>
            <a:r>
              <a:t>Gaming defenses: today no run showed deliberate gaming; Module 2 covers agents that actively work around checks, building on today's held-out tests and mutants.</a:t>
            </a:r>
          </a:p>
          <a:p>
            <a:pPr marL="228600" indent="-182880" algn="l">
              <a:lnSpc>
                <a:spcPct val="100000"/>
              </a:lnSpc>
              <a:spcBef>
                <a:spcPts val="0"/>
              </a:spcBef>
              <a:spcAft>
                <a:spcPts val="0"/>
              </a:spcAft>
              <a:buClr>
                <a:srgbClr val="324158"/>
              </a:buClr>
              <a:buSzPct val="100000"/>
              <a:buFont typeface="Arial"/>
              <a:buChar char="•"/>
            </a:pPr>
            <a:r>
              <a:t>pass^k: one passing run is one dot; pass^k asks whether all k tries pass, a stricter reading of reliability.</a:t>
            </a:r>
          </a:p>
          <a:p>
            <a:pPr marL="228600" indent="-182880" algn="l">
              <a:lnSpc>
                <a:spcPct val="100000"/>
              </a:lnSpc>
              <a:spcBef>
                <a:spcPts val="0"/>
              </a:spcBef>
              <a:spcAft>
                <a:spcPts val="0"/>
              </a:spcAft>
              <a:buClr>
                <a:srgbClr val="324158"/>
              </a:buClr>
              <a:buSzPct val="100000"/>
              <a:buFont typeface="Arial"/>
              <a:buChar char="•"/>
            </a:pPr>
            <a:r>
              <a:t>Sandbox design in detail: today's container flags were the same for both arms; Module 2 designs the boundary itself.</a:t>
            </a:r>
          </a:p>
          <a:p>
            <a:pPr marL="228600" indent="-182880" algn="l">
              <a:lnSpc>
                <a:spcPct val="100000"/>
              </a:lnSpc>
              <a:spcBef>
                <a:spcPts val="0"/>
              </a:spcBef>
              <a:spcAft>
                <a:spcPts val="0"/>
              </a:spcAft>
              <a:buClr>
                <a:srgbClr val="324158"/>
              </a:buClr>
              <a:buSzPct val="100000"/>
              <a:buFont typeface="Arial"/>
              <a:buChar char="•"/>
            </a:pPr>
            <a:r>
              <a:t>Ask: "Which would you want for your own agent first?" Expected: varied; event-driven runs are common in CI.</a:t>
            </a:r>
          </a:p>
          <a:p>
            <a:pPr marL="228600" indent="-182880" algn="l">
              <a:lnSpc>
                <a:spcPct val="100000"/>
              </a:lnSpc>
              <a:spcBef>
                <a:spcPts val="0"/>
              </a:spcBef>
              <a:spcAft>
                <a:spcPts val="0"/>
              </a:spcAft>
              <a:buClr>
                <a:srgbClr val="324158"/>
              </a:buClr>
              <a:buSzPct val="100000"/>
              <a:buFont typeface="Arial"/>
              <a:buChar char="•"/>
            </a:pPr>
            <a:r>
              <a:t>Analogy: Module 1 was one well-instrumented build; Module 2 is the CI system that runs many of them and learns from the results.</a:t>
            </a:r>
          </a:p>
          <a:p>
            <a:pPr marL="228600" indent="-182880" algn="l">
              <a:lnSpc>
                <a:spcPct val="100000"/>
              </a:lnSpc>
              <a:spcBef>
                <a:spcPts val="0"/>
              </a:spcBef>
              <a:spcAft>
                <a:spcPts val="0"/>
              </a:spcAft>
              <a:buClr>
                <a:srgbClr val="324158"/>
              </a:buClr>
              <a:buSzPct val="100000"/>
              <a:buFont typeface="Arial"/>
              <a:buChar char="•"/>
            </a:pPr>
            <a:r>
              <a:t>Misconception: "Module 2 replaces the harness". Correction: every Module 2 topic runs on today's harness, referee, and A/B.</a:t>
            </a:r>
          </a:p>
          <a:p>
            <a:pPr marL="228600" indent="-182880" algn="l">
              <a:lnSpc>
                <a:spcPct val="100000"/>
              </a:lnSpc>
              <a:spcBef>
                <a:spcPts val="0"/>
              </a:spcBef>
              <a:spcAft>
                <a:spcPts val="0"/>
              </a:spcAft>
              <a:buClr>
                <a:srgbClr val="324158"/>
              </a:buClr>
              <a:buSzPct val="100000"/>
              <a:buFont typeface="Arial"/>
              <a:buChar char="•"/>
            </a:pPr>
            <a:r>
              <a:t>Time: 1 minute. Next: where every quote came from.</a:t>
            </a:r>
          </a:p>
        </p:txBody>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(3:58-3:58:15)</a:t>
            </a:r>
          </a:p>
          <a:p>
            <a:pPr marL="228600" indent="-182880" algn="l">
              <a:lnSpc>
                <a:spcPct val="100000"/>
              </a:lnSpc>
              <a:spcBef>
                <a:spcPts val="0"/>
              </a:spcBef>
              <a:spcAft>
                <a:spcPts val="0"/>
              </a:spcAft>
              <a:buClr>
                <a:srgbClr val="324158"/>
              </a:buClr>
              <a:buSzPct val="100000"/>
              <a:buFont typeface="Arial"/>
              <a:buChar char="•"/>
            </a:pPr>
            <a:r>
              <a:t>These are the sources behind the four causes and the four layers, numbered in the order the slides first cite them, with exact titles and links from the course's evidence pages.</a:t>
            </a:r>
          </a:p>
          <a:p>
            <a:pPr marL="228600" indent="-182880" algn="l">
              <a:lnSpc>
                <a:spcPct val="100000"/>
              </a:lnSpc>
              <a:spcBef>
                <a:spcPts val="0"/>
              </a:spcBef>
              <a:spcAft>
                <a:spcPts val="0"/>
              </a:spcAft>
              <a:buClr>
                <a:srgbClr val="324158"/>
              </a:buClr>
              <a:buSzPct val="100000"/>
              <a:buFont typeface="Arial"/>
              <a:buChar char="•"/>
            </a:pPr>
            <a:r>
              <a:t>Source 1 (https://openai.com/index/harness-engineering/): the map instead of a giant instruction file, the house rules, and the warning that results should not be assumed to generalize.</a:t>
            </a:r>
          </a:p>
          <a:p>
            <a:pPr marL="228600" indent="-182880" algn="l">
              <a:lnSpc>
                <a:spcPct val="100000"/>
              </a:lnSpc>
              <a:spcBef>
                <a:spcPts val="0"/>
              </a:spcBef>
              <a:spcAft>
                <a:spcPts val="0"/>
              </a:spcAft>
              <a:buClr>
                <a:srgbClr val="324158"/>
              </a:buClr>
              <a:buSzPct val="100000"/>
              <a:buFont typeface="Arial"/>
              <a:buChar char="•"/>
            </a:pPr>
            <a:r>
              <a:t>Source 2 (https://www.anthropic.com/engineering/effective-harnesses-for-long-running-agents): sessions start with no memory; clean state; progress files and the feature list. Source 3 (https://www.anthropic.com/engineering/harness-design-long-running-apps): self-grading skews positive; separating doer and judge; removing one component at a time. Source 4 (https://www.anthropic.com/engineering/building-c-compiler): a nearly perfect verifier, short test output, run it in a container.</a:t>
            </a:r>
          </a:p>
          <a:p>
            <a:pPr marL="228600" indent="-182880" algn="l">
              <a:lnSpc>
                <a:spcPct val="100000"/>
              </a:lnSpc>
              <a:spcBef>
                <a:spcPts val="0"/>
              </a:spcBef>
              <a:spcAft>
                <a:spcPts val="0"/>
              </a:spcAft>
              <a:buClr>
                <a:srgbClr val="324158"/>
              </a:buClr>
              <a:buSzPct val="100000"/>
              <a:buFont typeface="Arial"/>
              <a:buChar char="•"/>
            </a:pPr>
            <a:r>
              <a:t>The skills pages say where each client looks for skills; the starter kit installs into .claude/skills/ and .agents/skills/ for that reason, and post-class reading 03 in section-1-instructions/ summarises them.</a:t>
            </a:r>
          </a:p>
          <a:p>
            <a:pPr marL="228600" indent="-182880" algn="l">
              <a:lnSpc>
                <a:spcPct val="100000"/>
              </a:lnSpc>
              <a:spcBef>
                <a:spcPts val="0"/>
              </a:spcBef>
              <a:spcAft>
                <a:spcPts val="0"/>
              </a:spcAft>
              <a:buClr>
                <a:srgbClr val="324158"/>
              </a:buClr>
              <a:buSzPct val="100000"/>
              <a:buFont typeface="Arial"/>
              <a:buChar char="•"/>
            </a:pPr>
            <a:r>
              <a:t>Where the links come from: the Sources sections of docs/evidence/s1.md to docs/evidence/s4.md and docs/evidence/final.md, which also list every quote.</a:t>
            </a:r>
          </a:p>
          <a:p>
            <a:pPr marL="228600" indent="-182880" algn="l">
              <a:lnSpc>
                <a:spcPct val="100000"/>
              </a:lnSpc>
              <a:spcBef>
                <a:spcPts val="0"/>
              </a:spcBef>
              <a:spcAft>
                <a:spcPts val="0"/>
              </a:spcAft>
              <a:buClr>
                <a:srgbClr val="324158"/>
              </a:buClr>
              <a:buSzPct val="100000"/>
              <a:buFont typeface="Arial"/>
              <a:buChar char="•"/>
            </a:pPr>
            <a:r>
              <a:t>Likely question: "Which one should I read first?" Answer: Source 3 (https://www.anthropic.com/engineering/harness-design-long-running-apps), then Source 1 (https://openai.com/index/harness-engineering/).</a:t>
            </a:r>
          </a:p>
          <a:p>
            <a:pPr marL="228600" indent="-182880" algn="l">
              <a:lnSpc>
                <a:spcPct val="100000"/>
              </a:lnSpc>
              <a:spcBef>
                <a:spcPts val="0"/>
              </a:spcBef>
              <a:spcAft>
                <a:spcPts val="0"/>
              </a:spcAft>
              <a:buClr>
                <a:srgbClr val="324158"/>
              </a:buClr>
              <a:buSzPct val="100000"/>
              <a:buFont typeface="Arial"/>
              <a:buChar char="•"/>
            </a:pPr>
            <a:r>
              <a:t>Each entry gives the title, the link, the author, and the date; living documentation pages carry no date, so they say so.</a:t>
            </a:r>
          </a:p>
          <a:p>
            <a:pPr marL="228600" indent="-182880" algn="l">
              <a:lnSpc>
                <a:spcPct val="100000"/>
              </a:lnSpc>
              <a:spcBef>
                <a:spcPts val="0"/>
              </a:spcBef>
              <a:spcAft>
                <a:spcPts val="0"/>
              </a:spcAft>
              <a:buClr>
                <a:srgbClr val="324158"/>
              </a:buClr>
              <a:buSzPct val="100000"/>
              <a:buFont typeface="Arial"/>
              <a:buChar char="•"/>
            </a:pPr>
            <a:r>
              <a:t>Ask: "Which source would you send to your team lead first?" Expected: the one about the failure your team has seen.</a:t>
            </a:r>
          </a:p>
          <a:p>
            <a:pPr marL="228600" indent="-182880" algn="l">
              <a:lnSpc>
                <a:spcPct val="100000"/>
              </a:lnSpc>
              <a:spcBef>
                <a:spcPts val="0"/>
              </a:spcBef>
              <a:spcAft>
                <a:spcPts val="0"/>
              </a:spcAft>
              <a:buClr>
                <a:srgbClr val="324158"/>
              </a:buClr>
              <a:buSzPct val="100000"/>
              <a:buFont typeface="Arial"/>
              <a:buChar char="•"/>
            </a:pPr>
            <a:r>
              <a:t>Time: 15 seconds. Next: the rest.</a:t>
            </a:r>
          </a:p>
        </p:txBody>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(3:58:15-3:58:30)</a:t>
            </a:r>
          </a:p>
          <a:p>
            <a:pPr marL="228600" indent="-182880" algn="l">
              <a:lnSpc>
                <a:spcPct val="100000"/>
              </a:lnSpc>
              <a:spcBef>
                <a:spcPts val="0"/>
              </a:spcBef>
              <a:spcAft>
                <a:spcPts val="0"/>
              </a:spcAft>
              <a:buClr>
                <a:srgbClr val="324158"/>
              </a:buClr>
              <a:buSzPct val="100000"/>
              <a:buFont typeface="Arial"/>
              <a:buChar char="•"/>
            </a:pPr>
            <a:r>
              <a:t>The Meta papers: Source 13 (TestGen-LLM (https://arxiv.org/abs/2402.09171)) gives Filters 1 to 3 and the five-run flakiness check; Source 14 (ACH (https://arxiv.org/abs/2501.12862)) gives targeted mutants, the mutant branch of Filter 3: Adds coverage or catches a mutant, and the limit that it cannot find existing faults.</a:t>
            </a:r>
          </a:p>
          <a:p>
            <a:pPr marL="228600" indent="-182880" algn="l">
              <a:lnSpc>
                <a:spcPct val="100000"/>
              </a:lnSpc>
              <a:spcBef>
                <a:spcPts val="0"/>
              </a:spcBef>
              <a:spcAft>
                <a:spcPts val="0"/>
              </a:spcAft>
              <a:buClr>
                <a:srgbClr val="324158"/>
              </a:buClr>
              <a:buSzPct val="100000"/>
              <a:buFont typeface="Arial"/>
              <a:buChar char="•"/>
            </a:pPr>
            <a:r>
              <a:t>Source 12 (https://arxiv.org/abs/2605.21384) and its repository: visible against held-out suites, and compositional failures. Not the unrelated Spec-Bench paper.</a:t>
            </a:r>
          </a:p>
          <a:p>
            <a:pPr marL="228600" indent="-182880" algn="l">
              <a:lnSpc>
                <a:spcPct val="100000"/>
              </a:lnSpc>
              <a:spcBef>
                <a:spcPts val="0"/>
              </a:spcBef>
              <a:spcAft>
                <a:spcPts val="0"/>
              </a:spcAft>
              <a:buClr>
                <a:srgbClr val="324158"/>
              </a:buClr>
              <a:buSzPct val="100000"/>
              <a:buFont typeface="Arial"/>
              <a:buChar char="•"/>
            </a:pPr>
            <a:r>
              <a:t>Source 11 (https://docs.docker.com/engine/network/drivers/none/): what --network none leaves inside the container. Source 5: LangSmith billing (https://docs.langchain.com/langsmith/billing): ordinary traces are kept 14 days. Source 10 (https://cookbook.openai.com/articles/codex_exec_plans): the exec plan of Section 2: State and sessions; Source 15 (https://github.com/anthropics/claude-quickstarts/tree/main/autonomous-coding): the feature list and init.sh pattern.</a:t>
            </a:r>
          </a:p>
          <a:p>
            <a:pPr marL="228600" indent="-182880" algn="l">
              <a:lnSpc>
                <a:spcPct val="100000"/>
              </a:lnSpc>
              <a:spcBef>
                <a:spcPts val="0"/>
              </a:spcBef>
              <a:spcAft>
                <a:spcPts val="0"/>
              </a:spcAft>
              <a:buClr>
                <a:srgbClr val="324158"/>
              </a:buClr>
              <a:buSzPct val="100000"/>
              <a:buFont typeface="Arial"/>
              <a:buChar char="•"/>
            </a:pPr>
            <a:r>
              <a:t>Post-class readings in section-4-verification/post-class-reading/ summarise the three papers in about 20 minutes.</a:t>
            </a:r>
          </a:p>
          <a:p>
            <a:pPr marL="228600" indent="-182880" algn="l">
              <a:lnSpc>
                <a:spcPct val="100000"/>
              </a:lnSpc>
              <a:spcBef>
                <a:spcPts val="0"/>
              </a:spcBef>
              <a:spcAft>
                <a:spcPts val="0"/>
              </a:spcAft>
              <a:buClr>
                <a:srgbClr val="324158"/>
              </a:buClr>
              <a:buSzPct val="100000"/>
              <a:buFont typeface="Arial"/>
              <a:buChar char="•"/>
            </a:pPr>
            <a:r>
              <a:t>Likely question: "Are the quotes checked?" Answer: yes; each was checked against the source text, and the evidence pages list them.</a:t>
            </a:r>
          </a:p>
          <a:p>
            <a:pPr marL="228600" indent="-182880" algn="l">
              <a:lnSpc>
                <a:spcPct val="100000"/>
              </a:lnSpc>
              <a:spcBef>
                <a:spcPts val="0"/>
              </a:spcBef>
              <a:spcAft>
                <a:spcPts val="0"/>
              </a:spcAft>
              <a:buClr>
                <a:srgbClr val="324158"/>
              </a:buClr>
              <a:buSzPct val="100000"/>
              <a:buFont typeface="Arial"/>
              <a:buChar char="•"/>
            </a:pPr>
            <a:r>
              <a:t>The same numbered list sits in the Sources section at the end of the slide file, so every "Source N" in the notes resolves to one entry.</a:t>
            </a:r>
          </a:p>
          <a:p>
            <a:pPr marL="228600" indent="-182880" algn="l">
              <a:lnSpc>
                <a:spcPct val="100000"/>
              </a:lnSpc>
              <a:spcBef>
                <a:spcPts val="0"/>
              </a:spcBef>
              <a:spcAft>
                <a:spcPts val="0"/>
              </a:spcAft>
              <a:buClr>
                <a:srgbClr val="324158"/>
              </a:buClr>
              <a:buSzPct val="100000"/>
              <a:buFont typeface="Arial"/>
              <a:buChar char="•"/>
            </a:pPr>
            <a:r>
              <a:t>Time check: the close should be at about 3:58:30 here; keep the last Q&amp;A short.</a:t>
            </a:r>
          </a:p>
          <a:p>
            <a:pPr marL="228600" indent="-182880" algn="l">
              <a:lnSpc>
                <a:spcPct val="100000"/>
              </a:lnSpc>
              <a:spcBef>
                <a:spcPts val="0"/>
              </a:spcBef>
              <a:spcAft>
                <a:spcPts val="0"/>
              </a:spcAft>
              <a:buClr>
                <a:srgbClr val="324158"/>
              </a:buClr>
              <a:buSzPct val="100000"/>
              <a:buFont typeface="Arial"/>
              <a:buChar char="•"/>
            </a:pPr>
            <a:r>
              <a:t>Misconception: "Filter 4: Real assertions and Filter 5: No source changes are from TestGen-LLM (https://arxiv.org/abs/2402.09171)". Correction: they are the course's own; the evidence page says so.</a:t>
            </a:r>
          </a:p>
          <a:p>
            <a:pPr marL="228600" indent="-182880" algn="l">
              <a:lnSpc>
                <a:spcPct val="100000"/>
              </a:lnSpc>
              <a:spcBef>
                <a:spcPts val="0"/>
              </a:spcBef>
              <a:spcAft>
                <a:spcPts val="0"/>
              </a:spcAft>
              <a:buClr>
                <a:srgbClr val="324158"/>
              </a:buClr>
              <a:buSzPct val="100000"/>
              <a:buFont typeface="Arial"/>
              <a:buChar char="•"/>
            </a:pPr>
            <a:r>
              <a:t>Time: 15 seconds. Next: last questions.</a:t>
            </a:r>
          </a:p>
        </p:txBody>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1.25 min (3:58:30-3:59:45)</a:t>
            </a:r>
          </a:p>
          <a:p>
            <a:pPr marL="228600" indent="-182880" algn="l">
              <a:lnSpc>
                <a:spcPct val="100000"/>
              </a:lnSpc>
              <a:spcBef>
                <a:spcPts val="0"/>
              </a:spcBef>
              <a:spcAft>
                <a:spcPts val="0"/>
              </a:spcAft>
              <a:buClr>
                <a:srgbClr val="324158"/>
              </a:buClr>
              <a:buSzPct val="100000"/>
              <a:buFont typeface="Arial"/>
              <a:buChar char="•"/>
            </a:pPr>
            <a:r>
              <a:t>Take the questions collected in chat during Section 4: Verification first.</a:t>
            </a:r>
          </a:p>
          <a:p>
            <a:pPr marL="228600" indent="-182880" algn="l">
              <a:lnSpc>
                <a:spcPct val="100000"/>
              </a:lnSpc>
              <a:spcBef>
                <a:spcPts val="0"/>
              </a:spcBef>
              <a:spcAft>
                <a:spcPts val="0"/>
              </a:spcAft>
              <a:buClr>
                <a:srgbClr val="324158"/>
              </a:buClr>
              <a:buSzPct val="100000"/>
              <a:buFont typeface="Arial"/>
              <a:buChar char="•"/>
            </a:pPr>
            <a:r>
              <a:t>Likely: "Which layer should I add first at work?" Answer: the one that matches a failure you have seen; scope is the only one with a measured gap here, on one ticket and partly by construction; count out-of-scope files before you enforce anything.</a:t>
            </a:r>
          </a:p>
          <a:p>
            <a:pPr marL="228600" indent="-182880" algn="l">
              <a:lnSpc>
                <a:spcPct val="100000"/>
              </a:lnSpc>
              <a:spcBef>
                <a:spcPts val="0"/>
              </a:spcBef>
              <a:spcAft>
                <a:spcPts val="0"/>
              </a:spcAft>
              <a:buClr>
                <a:srgbClr val="324158"/>
              </a:buClr>
              <a:buSzPct val="100000"/>
              <a:buFont typeface="Arial"/>
              <a:buChar char="•"/>
            </a:pPr>
            <a:r>
              <a:t>Likely: "Will these results hold for a stronger model?" Answer: unknown; each layer encodes an assumption about the model, and Source 3: Harness design for long-running application development (https://www.anthropic.com/engineering/harness-design-long-running-apps) dropped context resets for a newer model. Re-measure when the model changes.</a:t>
            </a:r>
          </a:p>
          <a:p>
            <a:pPr marL="228600" indent="-182880" algn="l">
              <a:lnSpc>
                <a:spcPct val="100000"/>
              </a:lnSpc>
              <a:spcBef>
                <a:spcPts val="0"/>
              </a:spcBef>
              <a:spcAft>
                <a:spcPts val="0"/>
              </a:spcAft>
              <a:buClr>
                <a:srgbClr val="324158"/>
              </a:buClr>
              <a:buSzPct val="100000"/>
              <a:buFont typeface="Arial"/>
              <a:buChar char="•"/>
            </a:pPr>
            <a:r>
              <a:t>Likely: "How much did this session cost?" Answer: read the session figure from the last Cost: line in terminal C; the cap was $2.50.</a:t>
            </a:r>
          </a:p>
          <a:p>
            <a:pPr marL="228600" indent="-182880" algn="l">
              <a:lnSpc>
                <a:spcPct val="100000"/>
              </a:lnSpc>
              <a:spcBef>
                <a:spcPts val="0"/>
              </a:spcBef>
              <a:spcAft>
                <a:spcPts val="0"/>
              </a:spcAft>
              <a:buClr>
                <a:srgbClr val="324158"/>
              </a:buClr>
              <a:buSzPct val="100000"/>
              <a:buFont typeface="Arial"/>
              <a:buChar char="•"/>
            </a:pPr>
            <a:r>
              <a:t>Likely: "Where do I start tomorrow?" Answer: use-in-your-repo/apply-to-your-repo.md, step 1, or Assignment 1: Instructions.</a:t>
            </a:r>
          </a:p>
          <a:p>
            <a:pPr marL="228600" indent="-182880" algn="l">
              <a:lnSpc>
                <a:spcPct val="100000"/>
              </a:lnSpc>
              <a:spcBef>
                <a:spcPts val="0"/>
              </a:spcBef>
              <a:spcAft>
                <a:spcPts val="0"/>
              </a:spcAft>
              <a:buClr>
                <a:srgbClr val="324158"/>
              </a:buClr>
              <a:buSzPct val="100000"/>
              <a:buFont typeface="Arial"/>
              <a:buChar char="•"/>
            </a:pPr>
            <a:r>
              <a:t>Remind: the review session covers each assignment, about 25 minutes each.</a:t>
            </a:r>
          </a:p>
          <a:p>
            <a:pPr marL="228600" indent="-182880" algn="l">
              <a:lnSpc>
                <a:spcPct val="100000"/>
              </a:lnSpc>
              <a:spcBef>
                <a:spcPts val="0"/>
              </a:spcBef>
              <a:spcAft>
                <a:spcPts val="0"/>
              </a:spcAft>
              <a:buClr>
                <a:srgbClr val="324158"/>
              </a:buClr>
              <a:buSzPct val="100000"/>
              <a:buFont typeface="Arial"/>
              <a:buChar char="•"/>
            </a:pPr>
            <a:r>
              <a:t>After class (instructor): uv run shipharness report, back up .shipharness/runs/ and exports/, note each command's Cost: line.</a:t>
            </a:r>
          </a:p>
          <a:p>
            <a:pPr marL="228600" indent="-182880" algn="l">
              <a:lnSpc>
                <a:spcPct val="100000"/>
              </a:lnSpc>
              <a:spcBef>
                <a:spcPts val="0"/>
              </a:spcBef>
              <a:spcAft>
                <a:spcPts val="0"/>
              </a:spcAft>
              <a:buClr>
                <a:srgbClr val="324158"/>
              </a:buClr>
              <a:buSzPct val="100000"/>
              <a:buFont typeface="Arial"/>
              <a:buChar char="•"/>
            </a:pPr>
            <a:r>
              <a:t>Time: 1 minute 15 seconds; collect the rest in chat. Next: thank you.</a:t>
            </a:r>
          </a:p>
        </p:txBody>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0.25 min (3:59:45-4:00)</a:t>
            </a:r>
          </a:p>
          <a:p>
            <a:pPr marL="228600" indent="-182880" algn="l">
              <a:lnSpc>
                <a:spcPct val="100000"/>
              </a:lnSpc>
              <a:spcBef>
                <a:spcPts val="0"/>
              </a:spcBef>
              <a:spcAft>
                <a:spcPts val="0"/>
              </a:spcAft>
              <a:buClr>
                <a:srgbClr val="324158"/>
              </a:buClr>
              <a:buSzPct val="100000"/>
              <a:buFont typeface="Arial"/>
              <a:buChar char="•"/>
            </a:pPr>
            <a:r>
              <a:t>Thank the room for the poll and the questions.</a:t>
            </a:r>
          </a:p>
          <a:p>
            <a:pPr marL="228600" indent="-182880" algn="l">
              <a:lnSpc>
                <a:spcPct val="100000"/>
              </a:lnSpc>
              <a:spcBef>
                <a:spcPts val="0"/>
              </a:spcBef>
              <a:spcAft>
                <a:spcPts val="0"/>
              </a:spcAft>
              <a:buClr>
                <a:srgbClr val="324158"/>
              </a:buClr>
              <a:buSzPct val="100000"/>
              <a:buFont typeface="Arial"/>
              <a:buChar char="•"/>
            </a:pPr>
            <a:r>
              <a:t>Repeat the one line of the session: each harness piece is a bet on what the model cannot do; measure it before you keep it.</a:t>
            </a:r>
          </a:p>
          <a:p>
            <a:pPr marL="228600" indent="-182880" algn="l">
              <a:lnSpc>
                <a:spcPct val="100000"/>
              </a:lnSpc>
              <a:spcBef>
                <a:spcPts val="0"/>
              </a:spcBef>
              <a:spcAft>
                <a:spcPts val="0"/>
              </a:spcAft>
              <a:buClr>
                <a:srgbClr val="324158"/>
              </a:buClr>
              <a:buSzPct val="100000"/>
              <a:buFont typeface="Arial"/>
              <a:buChar char="•"/>
            </a:pPr>
            <a:r>
              <a:t>Point to the repository: section folders, use-in-your-repo/, and final-project/; the four assignments and their offline self-checks.</a:t>
            </a:r>
          </a:p>
          <a:p>
            <a:pPr marL="228600" indent="-182880" algn="l">
              <a:lnSpc>
                <a:spcPct val="100000"/>
              </a:lnSpc>
              <a:spcBef>
                <a:spcPts val="0"/>
              </a:spcBef>
              <a:spcAft>
                <a:spcPts val="0"/>
              </a:spcAft>
              <a:buClr>
                <a:srgbClr val="324158"/>
              </a:buClr>
              <a:buSzPct val="100000"/>
              <a:buFont typeface="Arial"/>
              <a:buChar char="•"/>
            </a:pPr>
            <a:r>
              <a:t>Class run records stay on the instructor's machine; captured runs are in each demo/expected/ folder.</a:t>
            </a:r>
          </a:p>
          <a:p>
            <a:pPr marL="228600" indent="-182880" algn="l">
              <a:lnSpc>
                <a:spcPct val="100000"/>
              </a:lnSpc>
              <a:spcBef>
                <a:spcPts val="0"/>
              </a:spcBef>
              <a:spcAft>
                <a:spcPts val="0"/>
              </a:spcAft>
              <a:buClr>
                <a:srgbClr val="324158"/>
              </a:buClr>
              <a:buSzPct val="100000"/>
              <a:buFont typeface="Arial"/>
              <a:buChar char="•"/>
            </a:pPr>
            <a:r>
              <a:t>Invite results from their own repos, reported as counts.</a:t>
            </a:r>
          </a:p>
          <a:p>
            <a:pPr marL="228600" indent="-182880" algn="l">
              <a:lnSpc>
                <a:spcPct val="100000"/>
              </a:lnSpc>
              <a:spcBef>
                <a:spcPts val="0"/>
              </a:spcBef>
              <a:spcAft>
                <a:spcPts val="0"/>
              </a:spcAft>
              <a:buClr>
                <a:srgbClr val="324158"/>
              </a:buClr>
              <a:buSzPct val="100000"/>
              <a:buFont typeface="Arial"/>
              <a:buChar char="•"/>
            </a:pPr>
            <a:r>
              <a:t>Stop the console (Ctrl+C in terminal A) only after the last screen is closed. End at 4:00.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0" name="Shape 10"/>
        <p:cNvGrpSpPr/>
        <p:nvPr/>
      </p:nvGrpSpPr>
      <p:grpSpPr>
        <a:xfrm>
          <a:off x="0" y="0"/>
          <a:ext cx="0" cy="0"/>
          <a:chOff x="0" y="0"/>
          <a:chExt cx="0" cy="0"/>
        </a:xfrm>
      </p:grpSpPr>
      <p:sp>
        <p:nvSpPr>
          <p:cNvPr id="11" name="Google Shape;11;g3b9776985b8_0_13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2" name="Google Shape;12;g3b9776985b8_0_13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2100"/>
              </a:spcAft>
              <a:buClr>
                <a:schemeClr val="dk1"/>
              </a:buClr>
              <a:buSzPts val="1600"/>
              <a:buNone/>
              <a:defRPr sz="1600"/>
            </a:lvl9pPr>
          </a:lstStyle>
          <a:p/>
        </p:txBody>
      </p:sp>
      <p:sp>
        <p:nvSpPr>
          <p:cNvPr id="13" name="Google Shape;13;g3b9776985b8_0_1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g3b9776985b8_0_1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g3b9776985b8_0_134"/>
          <p:cNvSpPr txBox="1"/>
          <p:nvPr>
            <p:ph idx="12" type="sldNum"/>
          </p:nvPr>
        </p:nvSpPr>
        <p:spPr>
          <a:xfrm>
            <a:off x="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6" name="Shape 16"/>
        <p:cNvGrpSpPr/>
        <p:nvPr/>
      </p:nvGrpSpPr>
      <p:grpSpPr>
        <a:xfrm>
          <a:off x="0" y="0"/>
          <a:ext cx="0" cy="0"/>
          <a:chOff x="0" y="0"/>
          <a:chExt cx="0" cy="0"/>
        </a:xfrm>
      </p:grpSpPr>
      <p:sp>
        <p:nvSpPr>
          <p:cNvPr id="17" name="Google Shape;17;g3b9776985b8_0_1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8" name="Google Shape;18;g3b9776985b8_0_14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2100"/>
              </a:spcAft>
              <a:buClr>
                <a:schemeClr val="dk1"/>
              </a:buClr>
              <a:buSzPts val="1800"/>
              <a:buChar char="■"/>
              <a:defRPr/>
            </a:lvl9pPr>
          </a:lstStyle>
          <a:p/>
        </p:txBody>
      </p:sp>
      <p:sp>
        <p:nvSpPr>
          <p:cNvPr id="19" name="Google Shape;19;g3b9776985b8_0_1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g3b9776985b8_0_1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g3b9776985b8_0_1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24158"/>
        </a:solidFill>
      </p:bgPr>
    </p:bg>
    <p:spTree>
      <p:nvGrpSpPr>
        <p:cNvPr id="22" name="Shape 22"/>
        <p:cNvGrpSpPr/>
        <p:nvPr/>
      </p:nvGrpSpPr>
      <p:grpSpPr>
        <a:xfrm>
          <a:off x="0" y="0"/>
          <a:ext cx="0" cy="0"/>
          <a:chOff x="0" y="0"/>
          <a:chExt cx="0" cy="0"/>
        </a:xfrm>
      </p:grpSpPr>
      <p:sp>
        <p:nvSpPr>
          <p:cNvPr id="23" name="Google Shape;23;g3b9776985b8_0_5"/>
          <p:cNvSpPr txBox="1"/>
          <p:nvPr>
            <p:ph type="ctrTitle"/>
          </p:nvPr>
        </p:nvSpPr>
        <p:spPr>
          <a:xfrm>
            <a:off x="942200" y="548567"/>
            <a:ext cx="10307700" cy="17163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Clr>
                <a:schemeClr val="lt1"/>
              </a:buClr>
              <a:buSzPts val="8000"/>
              <a:buFont typeface="Fira Sans"/>
              <a:buNone/>
              <a:defRPr b="1" sz="8000">
                <a:solidFill>
                  <a:schemeClr val="lt1"/>
                </a:solidFill>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pic>
        <p:nvPicPr>
          <p:cNvPr id="24" name="Google Shape;24;g3b9776985b8_0_5"/>
          <p:cNvPicPr preferRelativeResize="0"/>
          <p:nvPr/>
        </p:nvPicPr>
        <p:blipFill rotWithShape="1">
          <a:blip r:embed="rId2">
            <a:alphaModFix/>
          </a:blip>
          <a:srcRect b="0" l="0" r="0" t="0"/>
          <a:stretch/>
        </p:blipFill>
        <p:spPr>
          <a:xfrm>
            <a:off x="1734133" y="2478600"/>
            <a:ext cx="8723733" cy="1900800"/>
          </a:xfrm>
          <a:prstGeom prst="rect">
            <a:avLst/>
          </a:prstGeom>
          <a:noFill/>
          <a:ln>
            <a:noFill/>
          </a:ln>
        </p:spPr>
      </p:pic>
      <p:sp>
        <p:nvSpPr>
          <p:cNvPr id="25" name="Google Shape;25;g3b9776985b8_0_5"/>
          <p:cNvSpPr txBox="1"/>
          <p:nvPr/>
        </p:nvSpPr>
        <p:spPr>
          <a:xfrm>
            <a:off x="2017267" y="5007733"/>
            <a:ext cx="8440500" cy="1209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6" name="Google Shape;26;g3b9776985b8_0_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27" name="Shape 27"/>
        <p:cNvGrpSpPr/>
        <p:nvPr/>
      </p:nvGrpSpPr>
      <p:grpSpPr>
        <a:xfrm>
          <a:off x="0" y="0"/>
          <a:ext cx="0" cy="0"/>
          <a:chOff x="0" y="0"/>
          <a:chExt cx="0" cy="0"/>
        </a:xfrm>
      </p:grpSpPr>
      <p:sp>
        <p:nvSpPr>
          <p:cNvPr id="28" name="Google Shape;28;g3b9776985b8_0_1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Font typeface="Fira Sans"/>
              <a:buNone/>
              <a:defRPr>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9" name="Google Shape;29;g3b9776985b8_0_1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Font typeface="Fira Sans"/>
              <a:buChar char="●"/>
              <a:defRPr>
                <a:latin typeface="Fira Sans"/>
                <a:ea typeface="Fira Sans"/>
                <a:cs typeface="Fira Sans"/>
                <a:sym typeface="Fira Sans"/>
              </a:defRPr>
            </a:lvl1pPr>
            <a:lvl2pPr indent="-349250" lvl="1" marL="914400" algn="l">
              <a:lnSpc>
                <a:spcPct val="115000"/>
              </a:lnSpc>
              <a:spcBef>
                <a:spcPts val="2100"/>
              </a:spcBef>
              <a:spcAft>
                <a:spcPts val="0"/>
              </a:spcAft>
              <a:buSzPts val="1900"/>
              <a:buFont typeface="Fira Sans"/>
              <a:buChar char="○"/>
              <a:defRPr>
                <a:latin typeface="Fira Sans"/>
                <a:ea typeface="Fira Sans"/>
                <a:cs typeface="Fira Sans"/>
                <a:sym typeface="Fira Sans"/>
              </a:defRPr>
            </a:lvl2pPr>
            <a:lvl3pPr indent="-349250" lvl="2" marL="1371600" algn="l">
              <a:lnSpc>
                <a:spcPct val="115000"/>
              </a:lnSpc>
              <a:spcBef>
                <a:spcPts val="2100"/>
              </a:spcBef>
              <a:spcAft>
                <a:spcPts val="0"/>
              </a:spcAft>
              <a:buSzPts val="1900"/>
              <a:buFont typeface="Fira Sans"/>
              <a:buChar char="■"/>
              <a:defRPr>
                <a:latin typeface="Fira Sans"/>
                <a:ea typeface="Fira Sans"/>
                <a:cs typeface="Fira Sans"/>
                <a:sym typeface="Fira Sans"/>
              </a:defRPr>
            </a:lvl3pPr>
            <a:lvl4pPr indent="-349250" lvl="3" marL="1828800" algn="l">
              <a:lnSpc>
                <a:spcPct val="115000"/>
              </a:lnSpc>
              <a:spcBef>
                <a:spcPts val="2100"/>
              </a:spcBef>
              <a:spcAft>
                <a:spcPts val="0"/>
              </a:spcAft>
              <a:buSzPts val="1900"/>
              <a:buFont typeface="Fira Sans"/>
              <a:buChar char="●"/>
              <a:defRPr>
                <a:latin typeface="Fira Sans"/>
                <a:ea typeface="Fira Sans"/>
                <a:cs typeface="Fira Sans"/>
                <a:sym typeface="Fira Sans"/>
              </a:defRPr>
            </a:lvl4pPr>
            <a:lvl5pPr indent="-349250" lvl="4" marL="2286000" algn="l">
              <a:lnSpc>
                <a:spcPct val="115000"/>
              </a:lnSpc>
              <a:spcBef>
                <a:spcPts val="2100"/>
              </a:spcBef>
              <a:spcAft>
                <a:spcPts val="0"/>
              </a:spcAft>
              <a:buSzPts val="1900"/>
              <a:buFont typeface="Fira Sans"/>
              <a:buChar char="○"/>
              <a:defRPr>
                <a:latin typeface="Fira Sans"/>
                <a:ea typeface="Fira Sans"/>
                <a:cs typeface="Fira Sans"/>
                <a:sym typeface="Fira Sans"/>
              </a:defRPr>
            </a:lvl5pPr>
            <a:lvl6pPr indent="-349250" lvl="5" marL="2743200" algn="l">
              <a:lnSpc>
                <a:spcPct val="115000"/>
              </a:lnSpc>
              <a:spcBef>
                <a:spcPts val="2100"/>
              </a:spcBef>
              <a:spcAft>
                <a:spcPts val="0"/>
              </a:spcAft>
              <a:buSzPts val="1900"/>
              <a:buFont typeface="Fira Sans"/>
              <a:buChar char="■"/>
              <a:defRPr>
                <a:latin typeface="Fira Sans"/>
                <a:ea typeface="Fira Sans"/>
                <a:cs typeface="Fira Sans"/>
                <a:sym typeface="Fira Sans"/>
              </a:defRPr>
            </a:lvl6pPr>
            <a:lvl7pPr indent="-349250" lvl="6" marL="3200400" algn="l">
              <a:lnSpc>
                <a:spcPct val="115000"/>
              </a:lnSpc>
              <a:spcBef>
                <a:spcPts val="2100"/>
              </a:spcBef>
              <a:spcAft>
                <a:spcPts val="0"/>
              </a:spcAft>
              <a:buSzPts val="1900"/>
              <a:buFont typeface="Fira Sans"/>
              <a:buChar char="●"/>
              <a:defRPr>
                <a:latin typeface="Fira Sans"/>
                <a:ea typeface="Fira Sans"/>
                <a:cs typeface="Fira Sans"/>
                <a:sym typeface="Fira Sans"/>
              </a:defRPr>
            </a:lvl7pPr>
            <a:lvl8pPr indent="-349250" lvl="7" marL="3657600" algn="l">
              <a:lnSpc>
                <a:spcPct val="115000"/>
              </a:lnSpc>
              <a:spcBef>
                <a:spcPts val="2100"/>
              </a:spcBef>
              <a:spcAft>
                <a:spcPts val="0"/>
              </a:spcAft>
              <a:buSzPts val="1900"/>
              <a:buFont typeface="Fira Sans"/>
              <a:buChar char="○"/>
              <a:defRPr>
                <a:latin typeface="Fira Sans"/>
                <a:ea typeface="Fira Sans"/>
                <a:cs typeface="Fira Sans"/>
                <a:sym typeface="Fira Sans"/>
              </a:defRPr>
            </a:lvl8pPr>
            <a:lvl9pPr indent="-349250" lvl="8" marL="4114800" algn="l">
              <a:lnSpc>
                <a:spcPct val="115000"/>
              </a:lnSpc>
              <a:spcBef>
                <a:spcPts val="2100"/>
              </a:spcBef>
              <a:spcAft>
                <a:spcPts val="2100"/>
              </a:spcAft>
              <a:buSzPts val="1900"/>
              <a:buFont typeface="Fira Sans"/>
              <a:buChar char="■"/>
              <a:defRPr>
                <a:latin typeface="Fira Sans"/>
                <a:ea typeface="Fira Sans"/>
                <a:cs typeface="Fira Sans"/>
                <a:sym typeface="Fira Sans"/>
              </a:defRPr>
            </a:lvl9pPr>
          </a:lstStyle>
          <a:p/>
        </p:txBody>
      </p:sp>
      <p:sp>
        <p:nvSpPr>
          <p:cNvPr id="30" name="Google Shape;30;g3b9776985b8_0_10"/>
          <p:cNvSpPr txBox="1"/>
          <p:nvPr>
            <p:ph idx="12" type="sldNum"/>
          </p:nvPr>
        </p:nvSpPr>
        <p:spPr>
          <a:xfrm>
            <a:off x="85244" y="6271489"/>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type="tx">
  <p:cSld name="TITLE_AND_BODY">
    <p:spTree>
      <p:nvGrpSpPr>
        <p:cNvPr id="31" name="Shape 31"/>
        <p:cNvGrpSpPr/>
        <p:nvPr/>
      </p:nvGrpSpPr>
      <p:grpSpPr>
        <a:xfrm>
          <a:off x="0" y="0"/>
          <a:ext cx="0" cy="0"/>
          <a:chOff x="0" y="0"/>
          <a:chExt cx="0" cy="0"/>
        </a:xfrm>
      </p:grpSpPr>
      <p:sp>
        <p:nvSpPr>
          <p:cNvPr id="32" name="Google Shape;32;g3b9776985b8_0_14"/>
          <p:cNvSpPr/>
          <p:nvPr/>
        </p:nvSpPr>
        <p:spPr>
          <a:xfrm>
            <a:off x="0" y="0"/>
            <a:ext cx="3078900" cy="6858000"/>
          </a:xfrm>
          <a:prstGeom prst="rect">
            <a:avLst/>
          </a:prstGeom>
          <a:solidFill>
            <a:srgbClr val="3896D2"/>
          </a:solidFill>
          <a:ln>
            <a:noFill/>
          </a:ln>
          <a:effectLst>
            <a:outerShdw blurRad="38100" rotWithShape="0" dir="5400000" dist="25400">
              <a:srgbClr val="000000">
                <a:alpha val="40784"/>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33" name="Google Shape;33;g3b9776985b8_0_14"/>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34" name="Google Shape;34;g3b9776985b8_0_14"/>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35" name="Google Shape;35;g3b9776985b8_0_1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g3b9776985b8_0_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8" name="Google Shape;38;g3b9776985b8_0_1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9" name="Google Shape;39;g3b9776985b8_0_1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40" name="Google Shape;40;g3b9776985b8_0_1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41" name="Shape 41"/>
        <p:cNvGrpSpPr/>
        <p:nvPr/>
      </p:nvGrpSpPr>
      <p:grpSpPr>
        <a:xfrm>
          <a:off x="0" y="0"/>
          <a:ext cx="0" cy="0"/>
          <a:chOff x="0" y="0"/>
          <a:chExt cx="0" cy="0"/>
        </a:xfrm>
      </p:grpSpPr>
      <p:sp>
        <p:nvSpPr>
          <p:cNvPr id="42" name="Google Shape;42;g3b9776985b8_0_2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b="1"/>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3" name="Google Shape;43;g3b9776985b8_0_2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44" name="Google Shape;44;g3b9776985b8_0_2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45" name="Shape 45"/>
        <p:cNvGrpSpPr/>
        <p:nvPr/>
      </p:nvGrpSpPr>
      <p:grpSpPr>
        <a:xfrm>
          <a:off x="0" y="0"/>
          <a:ext cx="0" cy="0"/>
          <a:chOff x="0" y="0"/>
          <a:chExt cx="0" cy="0"/>
        </a:xfrm>
      </p:grpSpPr>
      <p:sp>
        <p:nvSpPr>
          <p:cNvPr id="46" name="Google Shape;46;g3b9776985b8_0_2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bg>
      <p:bgPr>
        <a:solidFill>
          <a:srgbClr val="324158"/>
        </a:solidFill>
      </p:bgPr>
    </p:bg>
    <p:spTree>
      <p:nvGrpSpPr>
        <p:cNvPr id="47" name="Shape 47"/>
        <p:cNvGrpSpPr/>
        <p:nvPr/>
      </p:nvGrpSpPr>
      <p:grpSpPr>
        <a:xfrm>
          <a:off x="0" y="0"/>
          <a:ext cx="0" cy="0"/>
          <a:chOff x="0" y="0"/>
          <a:chExt cx="0" cy="0"/>
        </a:xfrm>
      </p:grpSpPr>
      <p:sp>
        <p:nvSpPr>
          <p:cNvPr id="48" name="Google Shape;48;g3b9776985b8_0_30"/>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9" name="Google Shape;49;g3b9776985b8_0_3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g3b9776985b8_0_33"/>
          <p:cNvSpPr txBox="1"/>
          <p:nvPr>
            <p:ph type="title"/>
          </p:nvPr>
        </p:nvSpPr>
        <p:spPr>
          <a:xfrm>
            <a:off x="961232" y="123899"/>
            <a:ext cx="10269600" cy="345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000"/>
              <a:buNone/>
              <a:defRPr b="0" i="0" sz="2100">
                <a:solidFill>
                  <a:schemeClr val="dk1"/>
                </a:solidFill>
                <a:latin typeface="Verdana"/>
                <a:ea typeface="Verdana"/>
                <a:cs typeface="Verdana"/>
                <a:sym typeface="Verdana"/>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52" name="Google Shape;52;g3b9776985b8_0_33"/>
          <p:cNvSpPr txBox="1"/>
          <p:nvPr>
            <p:ph idx="1" type="body"/>
          </p:nvPr>
        </p:nvSpPr>
        <p:spPr>
          <a:xfrm>
            <a:off x="1182979" y="1374478"/>
            <a:ext cx="9825900" cy="3865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2400"/>
              <a:buNone/>
              <a:defRPr b="0" i="0">
                <a:solidFill>
                  <a:schemeClr val="dk1"/>
                </a:solidFill>
              </a:defRPr>
            </a:lvl1pPr>
            <a:lvl2pPr indent="-228600" lvl="1" marL="914400" algn="l">
              <a:lnSpc>
                <a:spcPct val="115000"/>
              </a:lnSpc>
              <a:spcBef>
                <a:spcPts val="1600"/>
              </a:spcBef>
              <a:spcAft>
                <a:spcPts val="0"/>
              </a:spcAft>
              <a:buSzPts val="1900"/>
              <a:buNone/>
              <a:defRPr/>
            </a:lvl2pPr>
            <a:lvl3pPr indent="-228600" lvl="2" marL="1371600" algn="l">
              <a:lnSpc>
                <a:spcPct val="115000"/>
              </a:lnSpc>
              <a:spcBef>
                <a:spcPts val="1600"/>
              </a:spcBef>
              <a:spcAft>
                <a:spcPts val="0"/>
              </a:spcAft>
              <a:buSzPts val="1900"/>
              <a:buNone/>
              <a:defRPr/>
            </a:lvl3pPr>
            <a:lvl4pPr indent="-228600" lvl="3" marL="1828800" algn="l">
              <a:lnSpc>
                <a:spcPct val="115000"/>
              </a:lnSpc>
              <a:spcBef>
                <a:spcPts val="1600"/>
              </a:spcBef>
              <a:spcAft>
                <a:spcPts val="0"/>
              </a:spcAft>
              <a:buSzPts val="1900"/>
              <a:buNone/>
              <a:defRPr/>
            </a:lvl4pPr>
            <a:lvl5pPr indent="-228600" lvl="4" marL="2286000" algn="l">
              <a:lnSpc>
                <a:spcPct val="115000"/>
              </a:lnSpc>
              <a:spcBef>
                <a:spcPts val="1600"/>
              </a:spcBef>
              <a:spcAft>
                <a:spcPts val="0"/>
              </a:spcAft>
              <a:buSzPts val="1900"/>
              <a:buNone/>
              <a:defRPr/>
            </a:lvl5pPr>
            <a:lvl6pPr indent="-228600" lvl="5" marL="2743200" algn="l">
              <a:lnSpc>
                <a:spcPct val="115000"/>
              </a:lnSpc>
              <a:spcBef>
                <a:spcPts val="1600"/>
              </a:spcBef>
              <a:spcAft>
                <a:spcPts val="0"/>
              </a:spcAft>
              <a:buSzPts val="1900"/>
              <a:buNone/>
              <a:defRPr/>
            </a:lvl6pPr>
            <a:lvl7pPr indent="-228600" lvl="6" marL="3200400" algn="l">
              <a:lnSpc>
                <a:spcPct val="115000"/>
              </a:lnSpc>
              <a:spcBef>
                <a:spcPts val="1600"/>
              </a:spcBef>
              <a:spcAft>
                <a:spcPts val="0"/>
              </a:spcAft>
              <a:buSzPts val="1900"/>
              <a:buNone/>
              <a:defRPr/>
            </a:lvl7pPr>
            <a:lvl8pPr indent="-228600" lvl="7" marL="3657600" algn="l">
              <a:lnSpc>
                <a:spcPct val="115000"/>
              </a:lnSpc>
              <a:spcBef>
                <a:spcPts val="1600"/>
              </a:spcBef>
              <a:spcAft>
                <a:spcPts val="0"/>
              </a:spcAft>
              <a:buSzPts val="1900"/>
              <a:buNone/>
              <a:defRPr/>
            </a:lvl8pPr>
            <a:lvl9pPr indent="-228600" lvl="8" marL="4114800" algn="l">
              <a:lnSpc>
                <a:spcPct val="115000"/>
              </a:lnSpc>
              <a:spcBef>
                <a:spcPts val="1600"/>
              </a:spcBef>
              <a:spcAft>
                <a:spcPts val="1600"/>
              </a:spcAft>
              <a:buSzPts val="1900"/>
              <a:buNone/>
              <a:defRPr/>
            </a:lvl9pPr>
          </a:lstStyle>
          <a:p/>
        </p:txBody>
      </p:sp>
      <p:sp>
        <p:nvSpPr>
          <p:cNvPr id="53" name="Google Shape;53;g3b9776985b8_0_33"/>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g3b9776985b8_0_33"/>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g3b9776985b8_0_33"/>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56" name="Shape 56"/>
        <p:cNvGrpSpPr/>
        <p:nvPr/>
      </p:nvGrpSpPr>
      <p:grpSpPr>
        <a:xfrm>
          <a:off x="0" y="0"/>
          <a:ext cx="0" cy="0"/>
          <a:chOff x="0" y="0"/>
          <a:chExt cx="0" cy="0"/>
        </a:xfrm>
      </p:grpSpPr>
      <p:sp>
        <p:nvSpPr>
          <p:cNvPr id="57" name="Google Shape;57;g3b9776985b8_0_39"/>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g3b9776985b8_0_39"/>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9" name="Google Shape;59;g3b9776985b8_0_39"/>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bg>
      <p:bgPr>
        <a:solidFill>
          <a:srgbClr val="3896D2"/>
        </a:solidFill>
      </p:bgPr>
    </p:bg>
    <p:spTree>
      <p:nvGrpSpPr>
        <p:cNvPr id="60" name="Shape 60"/>
        <p:cNvGrpSpPr/>
        <p:nvPr/>
      </p:nvGrpSpPr>
      <p:grpSpPr>
        <a:xfrm>
          <a:off x="0" y="0"/>
          <a:ext cx="0" cy="0"/>
          <a:chOff x="0" y="0"/>
          <a:chExt cx="0" cy="0"/>
        </a:xfrm>
      </p:grpSpPr>
      <p:sp>
        <p:nvSpPr>
          <p:cNvPr id="61" name="Google Shape;61;g3b9776985b8_0_43"/>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bg>
      <p:bgPr>
        <a:solidFill>
          <a:srgbClr val="324158"/>
        </a:solidFill>
      </p:bgPr>
    </p:bg>
    <p:spTree>
      <p:nvGrpSpPr>
        <p:cNvPr id="62" name="Shape 62"/>
        <p:cNvGrpSpPr/>
        <p:nvPr/>
      </p:nvGrpSpPr>
      <p:grpSpPr>
        <a:xfrm>
          <a:off x="0" y="0"/>
          <a:ext cx="0" cy="0"/>
          <a:chOff x="0" y="0"/>
          <a:chExt cx="0" cy="0"/>
        </a:xfrm>
      </p:grpSpPr>
      <p:sp>
        <p:nvSpPr>
          <p:cNvPr id="63" name="Google Shape;63;g3b9776985b8_0_45"/>
          <p:cNvSpPr txBox="1"/>
          <p:nvPr/>
        </p:nvSpPr>
        <p:spPr>
          <a:xfrm>
            <a:off x="1509800" y="2748300"/>
            <a:ext cx="9172500" cy="12933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Fira Sans"/>
                <a:ea typeface="Fira Sans"/>
                <a:cs typeface="Fira Sans"/>
                <a:sym typeface="Fira Sans"/>
              </a:rPr>
              <a:t>Thank You!</a:t>
            </a:r>
            <a:endParaRPr b="1" i="0" sz="8000" u="none" cap="none" strike="noStrike">
              <a:solidFill>
                <a:schemeClr val="lt1"/>
              </a:solidFill>
              <a:latin typeface="Fira Sans"/>
              <a:ea typeface="Fira Sans"/>
              <a:cs typeface="Fira Sans"/>
              <a:sym typeface="Fira Sans"/>
            </a:endParaRPr>
          </a:p>
        </p:txBody>
      </p:sp>
      <p:sp>
        <p:nvSpPr>
          <p:cNvPr id="64" name="Google Shape;64;g3b9776985b8_0_4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bg>
      <p:bgPr>
        <a:solidFill>
          <a:schemeClr val="lt1"/>
        </a:solidFill>
      </p:bgPr>
    </p:bg>
    <p:spTree>
      <p:nvGrpSpPr>
        <p:cNvPr id="65" name="Shape 65"/>
        <p:cNvGrpSpPr/>
        <p:nvPr/>
      </p:nvGrpSpPr>
      <p:grpSpPr>
        <a:xfrm>
          <a:off x="0" y="0"/>
          <a:ext cx="0" cy="0"/>
          <a:chOff x="0" y="0"/>
          <a:chExt cx="0" cy="0"/>
        </a:xfrm>
      </p:grpSpPr>
      <p:sp>
        <p:nvSpPr>
          <p:cNvPr id="66" name="Google Shape;66;g3b9776985b8_0_48"/>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7" name="Google Shape;67;g3b9776985b8_0_4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bg>
      <p:bgPr>
        <a:solidFill>
          <a:schemeClr val="lt1"/>
        </a:solidFill>
      </p:bgPr>
    </p:bg>
    <p:spTree>
      <p:nvGrpSpPr>
        <p:cNvPr id="68" name="Shape 68"/>
        <p:cNvGrpSpPr/>
        <p:nvPr/>
      </p:nvGrpSpPr>
      <p:grpSpPr>
        <a:xfrm>
          <a:off x="0" y="0"/>
          <a:ext cx="0" cy="0"/>
          <a:chOff x="0" y="0"/>
          <a:chExt cx="0" cy="0"/>
        </a:xfrm>
      </p:grpSpPr>
      <p:sp>
        <p:nvSpPr>
          <p:cNvPr id="69" name="Google Shape;69;g3b9776985b8_0_51"/>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0" name="Google Shape;70;g3b9776985b8_0_51"/>
          <p:cNvSpPr txBox="1"/>
          <p:nvPr>
            <p:ph idx="1" type="subTitle"/>
          </p:nvPr>
        </p:nvSpPr>
        <p:spPr>
          <a:xfrm>
            <a:off x="2795833" y="4866167"/>
            <a:ext cx="6564900" cy="6324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sz="3200">
                <a:solidFill>
                  <a:srgbClr val="000000"/>
                </a:solidFill>
                <a:latin typeface="Fira Sans"/>
                <a:ea typeface="Fira Sans"/>
                <a:cs typeface="Fira Sans"/>
                <a:sym typeface="Fira Sans"/>
              </a:defRPr>
            </a:lvl1pPr>
            <a:lvl2pPr lvl="1" algn="l">
              <a:lnSpc>
                <a:spcPct val="115000"/>
              </a:lnSpc>
              <a:spcBef>
                <a:spcPts val="2100"/>
              </a:spcBef>
              <a:spcAft>
                <a:spcPts val="0"/>
              </a:spcAft>
              <a:buSzPts val="1900"/>
              <a:buNone/>
              <a:defRPr/>
            </a:lvl2pPr>
            <a:lvl3pPr lvl="2" algn="l">
              <a:lnSpc>
                <a:spcPct val="115000"/>
              </a:lnSpc>
              <a:spcBef>
                <a:spcPts val="2100"/>
              </a:spcBef>
              <a:spcAft>
                <a:spcPts val="0"/>
              </a:spcAft>
              <a:buSzPts val="1900"/>
              <a:buNone/>
              <a:defRPr/>
            </a:lvl3pPr>
            <a:lvl4pPr lvl="3" algn="l">
              <a:lnSpc>
                <a:spcPct val="115000"/>
              </a:lnSpc>
              <a:spcBef>
                <a:spcPts val="2100"/>
              </a:spcBef>
              <a:spcAft>
                <a:spcPts val="0"/>
              </a:spcAft>
              <a:buSzPts val="1900"/>
              <a:buNone/>
              <a:defRPr/>
            </a:lvl4pPr>
            <a:lvl5pPr lvl="4" algn="l">
              <a:lnSpc>
                <a:spcPct val="115000"/>
              </a:lnSpc>
              <a:spcBef>
                <a:spcPts val="2100"/>
              </a:spcBef>
              <a:spcAft>
                <a:spcPts val="0"/>
              </a:spcAft>
              <a:buSzPts val="1900"/>
              <a:buNone/>
              <a:defRPr/>
            </a:lvl5pPr>
            <a:lvl6pPr lvl="5" algn="l">
              <a:lnSpc>
                <a:spcPct val="115000"/>
              </a:lnSpc>
              <a:spcBef>
                <a:spcPts val="2100"/>
              </a:spcBef>
              <a:spcAft>
                <a:spcPts val="0"/>
              </a:spcAft>
              <a:buSzPts val="1900"/>
              <a:buNone/>
              <a:defRPr/>
            </a:lvl6pPr>
            <a:lvl7pPr lvl="6" algn="l">
              <a:lnSpc>
                <a:spcPct val="115000"/>
              </a:lnSpc>
              <a:spcBef>
                <a:spcPts val="2100"/>
              </a:spcBef>
              <a:spcAft>
                <a:spcPts val="0"/>
              </a:spcAft>
              <a:buSzPts val="1900"/>
              <a:buNone/>
              <a:defRPr/>
            </a:lvl7pPr>
            <a:lvl8pPr lvl="7" algn="l">
              <a:lnSpc>
                <a:spcPct val="115000"/>
              </a:lnSpc>
              <a:spcBef>
                <a:spcPts val="2100"/>
              </a:spcBef>
              <a:spcAft>
                <a:spcPts val="0"/>
              </a:spcAft>
              <a:buSzPts val="1900"/>
              <a:buNone/>
              <a:defRPr/>
            </a:lvl8pPr>
            <a:lvl9pPr lvl="8" algn="l">
              <a:lnSpc>
                <a:spcPct val="115000"/>
              </a:lnSpc>
              <a:spcBef>
                <a:spcPts val="2100"/>
              </a:spcBef>
              <a:spcAft>
                <a:spcPts val="2100"/>
              </a:spcAft>
              <a:buSzPts val="1900"/>
              <a:buNone/>
              <a:defRPr/>
            </a:lvl9pPr>
          </a:lstStyle>
          <a:p/>
        </p:txBody>
      </p:sp>
      <p:sp>
        <p:nvSpPr>
          <p:cNvPr id="71" name="Google Shape;71;g3b9776985b8_0_5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bg>
      <p:bgPr>
        <a:solidFill>
          <a:srgbClr val="324158"/>
        </a:solidFill>
      </p:bgPr>
    </p:bg>
    <p:spTree>
      <p:nvGrpSpPr>
        <p:cNvPr id="72" name="Shape 72"/>
        <p:cNvGrpSpPr/>
        <p:nvPr/>
      </p:nvGrpSpPr>
      <p:grpSpPr>
        <a:xfrm>
          <a:off x="0" y="0"/>
          <a:ext cx="0" cy="0"/>
          <a:chOff x="0" y="0"/>
          <a:chExt cx="0" cy="0"/>
        </a:xfrm>
      </p:grpSpPr>
      <p:sp>
        <p:nvSpPr>
          <p:cNvPr id="73" name="Google Shape;73;g3b9776985b8_0_55"/>
          <p:cNvSpPr txBox="1"/>
          <p:nvPr>
            <p:ph type="title"/>
          </p:nvPr>
        </p:nvSpPr>
        <p:spPr>
          <a:xfrm>
            <a:off x="415600" y="531033"/>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4" name="Google Shape;74;g3b9776985b8_0_5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75" name="Shape 75"/>
        <p:cNvGrpSpPr/>
        <p:nvPr/>
      </p:nvGrpSpPr>
      <p:grpSpPr>
        <a:xfrm>
          <a:off x="0" y="0"/>
          <a:ext cx="0" cy="0"/>
          <a:chOff x="0" y="0"/>
          <a:chExt cx="0" cy="0"/>
        </a:xfrm>
      </p:grpSpPr>
      <p:sp>
        <p:nvSpPr>
          <p:cNvPr id="76" name="Google Shape;76;g3b9776985b8_0_58"/>
          <p:cNvSpPr/>
          <p:nvPr/>
        </p:nvSpPr>
        <p:spPr>
          <a:xfrm>
            <a:off x="0" y="0"/>
            <a:ext cx="3078900" cy="6858000"/>
          </a:xfrm>
          <a:prstGeom prst="rect">
            <a:avLst/>
          </a:prstGeom>
          <a:solidFill>
            <a:srgbClr val="3896D2"/>
          </a:solidFill>
          <a:ln>
            <a:noFill/>
          </a:ln>
          <a:effectLst>
            <a:outerShdw blurRad="38100" rotWithShape="0" dir="5400000" dist="25400">
              <a:srgbClr val="000000">
                <a:alpha val="40784"/>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77" name="Google Shape;77;g3b9776985b8_0_58"/>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78" name="Google Shape;78;g3b9776985b8_0_5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79" name="Shape 79"/>
        <p:cNvGrpSpPr/>
        <p:nvPr/>
      </p:nvGrpSpPr>
      <p:grpSpPr>
        <a:xfrm>
          <a:off x="0" y="0"/>
          <a:ext cx="0" cy="0"/>
          <a:chOff x="0" y="0"/>
          <a:chExt cx="0" cy="0"/>
        </a:xfrm>
      </p:grpSpPr>
      <p:sp>
        <p:nvSpPr>
          <p:cNvPr id="80" name="Google Shape;80;g3b9776985b8_0_62"/>
          <p:cNvSpPr/>
          <p:nvPr/>
        </p:nvSpPr>
        <p:spPr>
          <a:xfrm>
            <a:off x="0" y="0"/>
            <a:ext cx="3078900" cy="6858000"/>
          </a:xfrm>
          <a:prstGeom prst="rect">
            <a:avLst/>
          </a:prstGeom>
          <a:solidFill>
            <a:srgbClr val="3896D2"/>
          </a:solidFill>
          <a:ln>
            <a:noFill/>
          </a:ln>
          <a:effectLst>
            <a:outerShdw blurRad="38100" rotWithShape="0" dir="5400000" dist="25400">
              <a:srgbClr val="000000">
                <a:alpha val="40784"/>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81" name="Google Shape;81;g3b9776985b8_0_62"/>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82" name="Google Shape;82;g3b9776985b8_0_62"/>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83" name="Google Shape;83;g3b9776985b8_0_62"/>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bg>
      <p:bgPr>
        <a:solidFill>
          <a:schemeClr val="lt1"/>
        </a:solidFill>
      </p:bgPr>
    </p:bg>
    <p:spTree>
      <p:nvGrpSpPr>
        <p:cNvPr id="84" name="Shape 84"/>
        <p:cNvGrpSpPr/>
        <p:nvPr/>
      </p:nvGrpSpPr>
      <p:grpSpPr>
        <a:xfrm>
          <a:off x="0" y="0"/>
          <a:ext cx="0" cy="0"/>
          <a:chOff x="0" y="0"/>
          <a:chExt cx="0" cy="0"/>
        </a:xfrm>
      </p:grpSpPr>
      <p:sp>
        <p:nvSpPr>
          <p:cNvPr id="85" name="Google Shape;85;g3b9776985b8_0_67"/>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6" name="Google Shape;86;g3b9776985b8_0_67"/>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87" name="Google Shape;87;g3b9776985b8_0_67"/>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88" name="Google Shape;88;g3b9776985b8_0_67"/>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89" name="Google Shape;89;g3b9776985b8_0_67"/>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90" name="Google Shape;90;g3b9776985b8_0_6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bg>
      <p:bgPr>
        <a:solidFill>
          <a:schemeClr val="lt1"/>
        </a:solidFill>
      </p:bgPr>
    </p:bg>
    <p:spTree>
      <p:nvGrpSpPr>
        <p:cNvPr id="91" name="Shape 91"/>
        <p:cNvGrpSpPr/>
        <p:nvPr/>
      </p:nvGrpSpPr>
      <p:grpSpPr>
        <a:xfrm>
          <a:off x="0" y="0"/>
          <a:ext cx="0" cy="0"/>
          <a:chOff x="0" y="0"/>
          <a:chExt cx="0" cy="0"/>
        </a:xfrm>
      </p:grpSpPr>
      <p:sp>
        <p:nvSpPr>
          <p:cNvPr id="92" name="Google Shape;92;g3b9776985b8_0_74"/>
          <p:cNvSpPr/>
          <p:nvPr/>
        </p:nvSpPr>
        <p:spPr>
          <a:xfrm>
            <a:off x="6113200" y="0"/>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b9776985b8_0_74"/>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94" name="Google Shape;94;g3b9776985b8_0_7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95" name="Google Shape;95;g3b9776985b8_0_7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lt1"/>
              </a:buClr>
              <a:buSzPts val="3500"/>
              <a:buFont typeface="Fira Sans"/>
              <a:buChar char="■"/>
              <a:defRPr sz="3500">
                <a:solidFill>
                  <a:schemeClr val="lt1"/>
                </a:solidFill>
                <a:latin typeface="Fira Sans"/>
                <a:ea typeface="Fira Sans"/>
                <a:cs typeface="Fira Sans"/>
                <a:sym typeface="Fira Sans"/>
              </a:defRPr>
            </a:lvl9pPr>
          </a:lstStyle>
          <a:p/>
        </p:txBody>
      </p:sp>
      <p:sp>
        <p:nvSpPr>
          <p:cNvPr id="96" name="Google Shape;96;g3b9776985b8_0_74"/>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9pPr>
          </a:lstStyle>
          <a:p/>
        </p:txBody>
      </p:sp>
      <p:sp>
        <p:nvSpPr>
          <p:cNvPr id="97" name="Google Shape;97;g3b9776985b8_0_7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bg>
      <p:bgPr>
        <a:solidFill>
          <a:schemeClr val="lt1"/>
        </a:solidFill>
      </p:bgPr>
    </p:bg>
    <p:spTree>
      <p:nvGrpSpPr>
        <p:cNvPr id="98" name="Shape 98"/>
        <p:cNvGrpSpPr/>
        <p:nvPr/>
      </p:nvGrpSpPr>
      <p:grpSpPr>
        <a:xfrm>
          <a:off x="0" y="0"/>
          <a:ext cx="0" cy="0"/>
          <a:chOff x="0" y="0"/>
          <a:chExt cx="0" cy="0"/>
        </a:xfrm>
      </p:grpSpPr>
      <p:sp>
        <p:nvSpPr>
          <p:cNvPr id="99" name="Google Shape;99;g3b9776985b8_0_81"/>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0" name="Google Shape;100;g3b9776985b8_0_81"/>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000000"/>
              </a:buClr>
              <a:buSzPts val="4300"/>
              <a:buFont typeface="Fira Sans"/>
              <a:buNone/>
              <a:defRPr sz="4300">
                <a:solidFill>
                  <a:srgbClr val="000000"/>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1" name="Google Shape;101;g3b9776985b8_0_81"/>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1pPr>
            <a:lvl2pPr indent="-450850" lvl="1" marL="914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2pPr>
            <a:lvl3pPr indent="-450850" lvl="2" marL="1371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3pPr>
            <a:lvl4pPr indent="-450850" lvl="3" marL="18288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4pPr>
            <a:lvl5pPr indent="-450850" lvl="4" marL="22860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5pPr>
            <a:lvl6pPr indent="-450850" lvl="5" marL="27432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6pPr>
            <a:lvl7pPr indent="-450850" lvl="6" marL="3200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7pPr>
            <a:lvl8pPr indent="-450850" lvl="7" marL="3657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000000"/>
              </a:buClr>
              <a:buSzPts val="3500"/>
              <a:buFont typeface="Fira Sans"/>
              <a:buChar char="■"/>
              <a:defRPr sz="3500">
                <a:solidFill>
                  <a:srgbClr val="000000"/>
                </a:solidFill>
                <a:latin typeface="Fira Sans"/>
                <a:ea typeface="Fira Sans"/>
                <a:cs typeface="Fira Sans"/>
                <a:sym typeface="Fira Sans"/>
              </a:defRPr>
            </a:lvl9pPr>
          </a:lstStyle>
          <a:p/>
        </p:txBody>
      </p:sp>
      <p:sp>
        <p:nvSpPr>
          <p:cNvPr id="102" name="Google Shape;102;g3b9776985b8_0_81"/>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dk1"/>
              </a:buClr>
              <a:buSzPts val="3500"/>
              <a:buFont typeface="Fira Sans"/>
              <a:buChar char="■"/>
              <a:defRPr sz="3500">
                <a:solidFill>
                  <a:schemeClr val="dk1"/>
                </a:solidFill>
                <a:latin typeface="Fira Sans"/>
                <a:ea typeface="Fira Sans"/>
                <a:cs typeface="Fira Sans"/>
                <a:sym typeface="Fira Sans"/>
              </a:defRPr>
            </a:lvl9pPr>
          </a:lstStyle>
          <a:p/>
        </p:txBody>
      </p:sp>
      <p:sp>
        <p:nvSpPr>
          <p:cNvPr id="103" name="Google Shape;103;g3b9776985b8_0_81"/>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300"/>
              <a:buFont typeface="Fira Sans"/>
              <a:buNone/>
              <a:defRPr sz="4300">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4" name="Google Shape;104;g3b9776985b8_0_8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bg>
      <p:bgPr>
        <a:solidFill>
          <a:schemeClr val="lt1"/>
        </a:solidFill>
      </p:bgPr>
    </p:bg>
    <p:spTree>
      <p:nvGrpSpPr>
        <p:cNvPr id="105" name="Shape 105"/>
        <p:cNvGrpSpPr/>
        <p:nvPr/>
      </p:nvGrpSpPr>
      <p:grpSpPr>
        <a:xfrm>
          <a:off x="0" y="0"/>
          <a:ext cx="0" cy="0"/>
          <a:chOff x="0" y="0"/>
          <a:chExt cx="0" cy="0"/>
        </a:xfrm>
      </p:grpSpPr>
      <p:sp>
        <p:nvSpPr>
          <p:cNvPr id="106" name="Google Shape;106;g3b9776985b8_0_88"/>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7" name="Google Shape;107;g3b9776985b8_0_88"/>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8" name="Google Shape;108;g3b9776985b8_0_88"/>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9" name="Google Shape;109;g3b9776985b8_0_8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bg>
      <p:bgPr>
        <a:solidFill>
          <a:schemeClr val="lt1"/>
        </a:solidFill>
      </p:bgPr>
    </p:bg>
    <p:spTree>
      <p:nvGrpSpPr>
        <p:cNvPr id="110" name="Shape 110"/>
        <p:cNvGrpSpPr/>
        <p:nvPr/>
      </p:nvGrpSpPr>
      <p:grpSpPr>
        <a:xfrm>
          <a:off x="0" y="0"/>
          <a:ext cx="0" cy="0"/>
          <a:chOff x="0" y="0"/>
          <a:chExt cx="0" cy="0"/>
        </a:xfrm>
      </p:grpSpPr>
      <p:sp>
        <p:nvSpPr>
          <p:cNvPr id="111" name="Google Shape;111;g3b9776985b8_0_93"/>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g3b9776985b8_0_93"/>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3700"/>
              <a:buNone/>
              <a:defRPr>
                <a:solidFill>
                  <a:srgbClr val="3896D2"/>
                </a:solidFill>
              </a:defRPr>
            </a:lvl2pPr>
            <a:lvl3pPr lvl="2" algn="l">
              <a:lnSpc>
                <a:spcPct val="100000"/>
              </a:lnSpc>
              <a:spcBef>
                <a:spcPts val="0"/>
              </a:spcBef>
              <a:spcAft>
                <a:spcPts val="0"/>
              </a:spcAft>
              <a:buClr>
                <a:srgbClr val="3896D2"/>
              </a:buClr>
              <a:buSzPts val="3700"/>
              <a:buNone/>
              <a:defRPr>
                <a:solidFill>
                  <a:srgbClr val="3896D2"/>
                </a:solidFill>
              </a:defRPr>
            </a:lvl3pPr>
            <a:lvl4pPr lvl="3" algn="l">
              <a:lnSpc>
                <a:spcPct val="100000"/>
              </a:lnSpc>
              <a:spcBef>
                <a:spcPts val="0"/>
              </a:spcBef>
              <a:spcAft>
                <a:spcPts val="0"/>
              </a:spcAft>
              <a:buClr>
                <a:srgbClr val="3896D2"/>
              </a:buClr>
              <a:buSzPts val="3700"/>
              <a:buNone/>
              <a:defRPr>
                <a:solidFill>
                  <a:srgbClr val="3896D2"/>
                </a:solidFill>
              </a:defRPr>
            </a:lvl4pPr>
            <a:lvl5pPr lvl="4" algn="l">
              <a:lnSpc>
                <a:spcPct val="100000"/>
              </a:lnSpc>
              <a:spcBef>
                <a:spcPts val="0"/>
              </a:spcBef>
              <a:spcAft>
                <a:spcPts val="0"/>
              </a:spcAft>
              <a:buClr>
                <a:srgbClr val="3896D2"/>
              </a:buClr>
              <a:buSzPts val="3700"/>
              <a:buNone/>
              <a:defRPr>
                <a:solidFill>
                  <a:srgbClr val="3896D2"/>
                </a:solidFill>
              </a:defRPr>
            </a:lvl5pPr>
            <a:lvl6pPr lvl="5" algn="l">
              <a:lnSpc>
                <a:spcPct val="100000"/>
              </a:lnSpc>
              <a:spcBef>
                <a:spcPts val="0"/>
              </a:spcBef>
              <a:spcAft>
                <a:spcPts val="0"/>
              </a:spcAft>
              <a:buClr>
                <a:srgbClr val="3896D2"/>
              </a:buClr>
              <a:buSzPts val="3700"/>
              <a:buNone/>
              <a:defRPr>
                <a:solidFill>
                  <a:srgbClr val="3896D2"/>
                </a:solidFill>
              </a:defRPr>
            </a:lvl6pPr>
            <a:lvl7pPr lvl="6" algn="l">
              <a:lnSpc>
                <a:spcPct val="100000"/>
              </a:lnSpc>
              <a:spcBef>
                <a:spcPts val="0"/>
              </a:spcBef>
              <a:spcAft>
                <a:spcPts val="0"/>
              </a:spcAft>
              <a:buClr>
                <a:srgbClr val="3896D2"/>
              </a:buClr>
              <a:buSzPts val="3700"/>
              <a:buNone/>
              <a:defRPr>
                <a:solidFill>
                  <a:srgbClr val="3896D2"/>
                </a:solidFill>
              </a:defRPr>
            </a:lvl7pPr>
            <a:lvl8pPr lvl="7" algn="l">
              <a:lnSpc>
                <a:spcPct val="100000"/>
              </a:lnSpc>
              <a:spcBef>
                <a:spcPts val="0"/>
              </a:spcBef>
              <a:spcAft>
                <a:spcPts val="0"/>
              </a:spcAft>
              <a:buClr>
                <a:srgbClr val="3896D2"/>
              </a:buClr>
              <a:buSzPts val="3700"/>
              <a:buNone/>
              <a:defRPr>
                <a:solidFill>
                  <a:srgbClr val="3896D2"/>
                </a:solidFill>
              </a:defRPr>
            </a:lvl8pPr>
            <a:lvl9pPr lvl="8" algn="l">
              <a:lnSpc>
                <a:spcPct val="100000"/>
              </a:lnSpc>
              <a:spcBef>
                <a:spcPts val="0"/>
              </a:spcBef>
              <a:spcAft>
                <a:spcPts val="0"/>
              </a:spcAft>
              <a:buClr>
                <a:srgbClr val="3896D2"/>
              </a:buClr>
              <a:buSzPts val="3700"/>
              <a:buNone/>
              <a:defRPr>
                <a:solidFill>
                  <a:srgbClr val="3896D2"/>
                </a:solidFill>
              </a:defRPr>
            </a:lvl9pPr>
          </a:lstStyle>
          <a:p/>
        </p:txBody>
      </p:sp>
      <p:sp>
        <p:nvSpPr>
          <p:cNvPr id="113" name="Google Shape;113;g3b9776985b8_0_93"/>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3b9776985b8_0_93"/>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bg>
      <p:bgPr>
        <a:solidFill>
          <a:srgbClr val="F0F3F6"/>
        </a:solidFill>
      </p:bgPr>
    </p:bg>
    <p:spTree>
      <p:nvGrpSpPr>
        <p:cNvPr id="115" name="Shape 115"/>
        <p:cNvGrpSpPr/>
        <p:nvPr/>
      </p:nvGrpSpPr>
      <p:grpSpPr>
        <a:xfrm>
          <a:off x="0" y="0"/>
          <a:ext cx="0" cy="0"/>
          <a:chOff x="0" y="0"/>
          <a:chExt cx="0" cy="0"/>
        </a:xfrm>
      </p:grpSpPr>
      <p:sp>
        <p:nvSpPr>
          <p:cNvPr id="116" name="Google Shape;116;g3b9776985b8_0_9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bg>
      <p:bgPr>
        <a:solidFill>
          <a:srgbClr val="324158"/>
        </a:solidFill>
      </p:bgPr>
    </p:bg>
    <p:spTree>
      <p:nvGrpSpPr>
        <p:cNvPr id="117" name="Shape 117"/>
        <p:cNvGrpSpPr/>
        <p:nvPr/>
      </p:nvGrpSpPr>
      <p:grpSpPr>
        <a:xfrm>
          <a:off x="0" y="0"/>
          <a:ext cx="0" cy="0"/>
          <a:chOff x="0" y="0"/>
          <a:chExt cx="0" cy="0"/>
        </a:xfrm>
      </p:grpSpPr>
      <p:sp>
        <p:nvSpPr>
          <p:cNvPr id="118" name="Google Shape;118;g3b9776985b8_0_10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9" name="Shape 119"/>
        <p:cNvGrpSpPr/>
        <p:nvPr/>
      </p:nvGrpSpPr>
      <p:grpSpPr>
        <a:xfrm>
          <a:off x="0" y="0"/>
          <a:ext cx="0" cy="0"/>
          <a:chOff x="0" y="0"/>
          <a:chExt cx="0" cy="0"/>
        </a:xfrm>
      </p:grpSpPr>
      <p:sp>
        <p:nvSpPr>
          <p:cNvPr id="120" name="Google Shape;120;g3b9776985b8_0_10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Font typeface="Fira Sans"/>
              <a:buNone/>
              <a:defRPr sz="6900">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21" name="Google Shape;121;g3b9776985b8_0_10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Font typeface="Fira Sans"/>
              <a:buNone/>
              <a:defRPr sz="3700">
                <a:latin typeface="Fira Sans"/>
                <a:ea typeface="Fira Sans"/>
                <a:cs typeface="Fira Sans"/>
                <a:sym typeface="Fira Sans"/>
              </a:defRPr>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2" name="Google Shape;122;g3b9776985b8_0_10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23" name="Shape 123"/>
        <p:cNvGrpSpPr/>
        <p:nvPr/>
      </p:nvGrpSpPr>
      <p:grpSpPr>
        <a:xfrm>
          <a:off x="0" y="0"/>
          <a:ext cx="0" cy="0"/>
          <a:chOff x="0" y="0"/>
          <a:chExt cx="0" cy="0"/>
        </a:xfrm>
      </p:grpSpPr>
      <p:sp>
        <p:nvSpPr>
          <p:cNvPr id="124" name="Google Shape;124;g3b9776985b8_0_106"/>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25" name="Google Shape;125;g3b9776985b8_0_106"/>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126" name="Google Shape;126;g3b9776985b8_0_106"/>
          <p:cNvSpPr txBox="1"/>
          <p:nvPr>
            <p:ph idx="12" type="sldNum"/>
          </p:nvPr>
        </p:nvSpPr>
        <p:spPr>
          <a:xfrm>
            <a:off x="11296611" y="621762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5">
    <p:spTree>
      <p:nvGrpSpPr>
        <p:cNvPr id="127" name="Shape 127"/>
        <p:cNvGrpSpPr/>
        <p:nvPr/>
      </p:nvGrpSpPr>
      <p:grpSpPr>
        <a:xfrm>
          <a:off x="0" y="0"/>
          <a:ext cx="0" cy="0"/>
          <a:chOff x="0" y="0"/>
          <a:chExt cx="0" cy="0"/>
        </a:xfrm>
      </p:grpSpPr>
      <p:sp>
        <p:nvSpPr>
          <p:cNvPr id="128" name="Google Shape;128;g3b9776985b8_0_11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29" name="Google Shape;129;g3b9776985b8_0_11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0" name="Google Shape;130;g3b9776985b8_0_110"/>
          <p:cNvSpPr txBox="1"/>
          <p:nvPr>
            <p:ph idx="12" type="sldNum"/>
          </p:nvPr>
        </p:nvSpPr>
        <p:spPr>
          <a:xfrm>
            <a:off x="-2" y="6271500"/>
            <a:ext cx="6060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6">
    <p:spTree>
      <p:nvGrpSpPr>
        <p:cNvPr id="131" name="Shape 131"/>
        <p:cNvGrpSpPr/>
        <p:nvPr/>
      </p:nvGrpSpPr>
      <p:grpSpPr>
        <a:xfrm>
          <a:off x="0" y="0"/>
          <a:ext cx="0" cy="0"/>
          <a:chOff x="0" y="0"/>
          <a:chExt cx="0" cy="0"/>
        </a:xfrm>
      </p:grpSpPr>
      <p:sp>
        <p:nvSpPr>
          <p:cNvPr id="132" name="Google Shape;132;g3b9776985b8_0_114"/>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133" name="Google Shape;133;g3b9776985b8_0_114"/>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134" name="Google Shape;134;g3b9776985b8_0_114"/>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a:bodyPr>
          <a:lstStyle>
            <a:lvl1pPr indent="0" lvl="0"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7">
    <p:spTree>
      <p:nvGrpSpPr>
        <p:cNvPr id="135" name="Shape 135"/>
        <p:cNvGrpSpPr/>
        <p:nvPr/>
      </p:nvGrpSpPr>
      <p:grpSpPr>
        <a:xfrm>
          <a:off x="0" y="0"/>
          <a:ext cx="0" cy="0"/>
          <a:chOff x="0" y="0"/>
          <a:chExt cx="0" cy="0"/>
        </a:xfrm>
      </p:grpSpPr>
      <p:sp>
        <p:nvSpPr>
          <p:cNvPr id="136" name="Google Shape;136;g3b9776985b8_0_118"/>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137" name="Google Shape;137;g3b9776985b8_0_118"/>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138" name="Google Shape;138;g3b9776985b8_0_118"/>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a:bodyPr>
          <a:lstStyle>
            <a:lvl1pPr indent="0" lvl="0"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8">
    <p:spTree>
      <p:nvGrpSpPr>
        <p:cNvPr id="139" name="Shape 139"/>
        <p:cNvGrpSpPr/>
        <p:nvPr/>
      </p:nvGrpSpPr>
      <p:grpSpPr>
        <a:xfrm>
          <a:off x="0" y="0"/>
          <a:ext cx="0" cy="0"/>
          <a:chOff x="0" y="0"/>
          <a:chExt cx="0" cy="0"/>
        </a:xfrm>
      </p:grpSpPr>
      <p:sp>
        <p:nvSpPr>
          <p:cNvPr id="140" name="Google Shape;140;g3b9776985b8_0_12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300"/>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41" name="Google Shape;141;g3b9776985b8_0_122"/>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50000"/>
              </a:lnSpc>
              <a:spcBef>
                <a:spcPts val="0"/>
              </a:spcBef>
              <a:spcAft>
                <a:spcPts val="0"/>
              </a:spcAft>
              <a:buClr>
                <a:schemeClr val="dk1"/>
              </a:buClr>
              <a:buSzPts val="2400"/>
              <a:buFont typeface="Fira Sans"/>
              <a:buAutoNum type="arabicPeriod"/>
              <a:defRPr sz="2700">
                <a:solidFill>
                  <a:schemeClr val="dk1"/>
                </a:solidFill>
                <a:latin typeface="Fira Sans"/>
                <a:ea typeface="Fira Sans"/>
                <a:cs typeface="Fira Sans"/>
                <a:sym typeface="Fira Sans"/>
              </a:defRPr>
            </a:lvl1pPr>
            <a:lvl2pPr indent="-349250" lvl="1" marL="9144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2pPr>
            <a:lvl3pPr indent="-349250" lvl="2" marL="13716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3pPr>
            <a:lvl4pPr indent="-349250" lvl="3" marL="18288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4pPr>
            <a:lvl5pPr indent="-349250" lvl="4" marL="22860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5pPr>
            <a:lvl6pPr indent="-349250" lvl="5" marL="27432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6pPr>
            <a:lvl7pPr indent="-349250" lvl="6" marL="32004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7pPr>
            <a:lvl8pPr indent="-349250" lvl="7" marL="36576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8pPr>
            <a:lvl9pPr indent="-349250" lvl="8" marL="4114800" algn="l">
              <a:lnSpc>
                <a:spcPct val="115000"/>
              </a:lnSpc>
              <a:spcBef>
                <a:spcPts val="2100"/>
              </a:spcBef>
              <a:spcAft>
                <a:spcPts val="2100"/>
              </a:spcAft>
              <a:buClr>
                <a:schemeClr val="dk1"/>
              </a:buClr>
              <a:buSzPts val="1900"/>
              <a:buFont typeface="Fira Sans"/>
              <a:buAutoNum type="romanLcPeriod"/>
              <a:defRPr>
                <a:solidFill>
                  <a:schemeClr val="dk1"/>
                </a:solidFill>
                <a:latin typeface="Fira Sans"/>
                <a:ea typeface="Fira Sans"/>
                <a:cs typeface="Fira Sans"/>
                <a:sym typeface="Fira Sans"/>
              </a:defRPr>
            </a:lvl9pPr>
          </a:lstStyle>
          <a:p/>
        </p:txBody>
      </p:sp>
      <p:sp>
        <p:nvSpPr>
          <p:cNvPr id="142" name="Google Shape;142;g3b9776985b8_0_122"/>
          <p:cNvSpPr txBox="1"/>
          <p:nvPr>
            <p:ph idx="12" type="sldNum"/>
          </p:nvPr>
        </p:nvSpPr>
        <p:spPr>
          <a:xfrm>
            <a:off x="11460400" y="1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9">
    <p:spTree>
      <p:nvGrpSpPr>
        <p:cNvPr id="143" name="Shape 143"/>
        <p:cNvGrpSpPr/>
        <p:nvPr/>
      </p:nvGrpSpPr>
      <p:grpSpPr>
        <a:xfrm>
          <a:off x="0" y="0"/>
          <a:ext cx="0" cy="0"/>
          <a:chOff x="0" y="0"/>
          <a:chExt cx="0" cy="0"/>
        </a:xfrm>
      </p:grpSpPr>
      <p:sp>
        <p:nvSpPr>
          <p:cNvPr id="144" name="Google Shape;144;g3b9776985b8_0_12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45" name="Google Shape;145;g3b9776985b8_0_12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46" name="Google Shape;146;g3b9776985b8_0_12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47" name="Shape 147"/>
        <p:cNvGrpSpPr/>
        <p:nvPr/>
      </p:nvGrpSpPr>
      <p:grpSpPr>
        <a:xfrm>
          <a:off x="0" y="0"/>
          <a:ext cx="0" cy="0"/>
          <a:chOff x="0" y="0"/>
          <a:chExt cx="0" cy="0"/>
        </a:xfrm>
      </p:grpSpPr>
      <p:sp>
        <p:nvSpPr>
          <p:cNvPr id="148" name="Google Shape;148;g3b9776985b8_0_130"/>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g3b9776985b8_0_130"/>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150" name="Google Shape;150;g3b9776985b8_0_130"/>
          <p:cNvSpPr txBox="1"/>
          <p:nvPr>
            <p:ph idx="12" type="sldNum"/>
          </p:nvPr>
        </p:nvSpPr>
        <p:spPr>
          <a:xfrm>
            <a:off x="11296610" y="6217622"/>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1">
  <p:cSld name="SECTION_HEADER_1_1_1_1_1">
    <p:bg>
      <p:bgPr>
        <a:blipFill>
          <a:blip r:embed="rId2">
            <a:alphaModFix/>
          </a:blip>
          <a:stretch>
            <a:fillRect/>
          </a:stretch>
        </a:blipFill>
      </p:bgPr>
    </p:bg>
    <p:spTree>
      <p:nvGrpSpPr>
        <p:cNvPr id="151" name="Shape 151"/>
        <p:cNvGrpSpPr/>
        <p:nvPr/>
      </p:nvGrpSpPr>
      <p:grpSpPr>
        <a:xfrm>
          <a:off x="0" y="0"/>
          <a:ext cx="0" cy="0"/>
          <a:chOff x="0" y="0"/>
          <a:chExt cx="0" cy="0"/>
        </a:xfrm>
      </p:grpSpPr>
      <p:pic>
        <p:nvPicPr>
          <p:cNvPr id="152" name="Google Shape;152;g3be33ba0345_0_447" title="logo.png"/>
          <p:cNvPicPr preferRelativeResize="0"/>
          <p:nvPr/>
        </p:nvPicPr>
        <p:blipFill rotWithShape="1">
          <a:blip r:embed="rId3">
            <a:alphaModFix/>
          </a:blip>
          <a:srcRect b="0" l="0" r="0" t="0"/>
          <a:stretch/>
        </p:blipFill>
        <p:spPr>
          <a:xfrm>
            <a:off x="5489070" y="5971023"/>
            <a:ext cx="1213866" cy="277433"/>
          </a:xfrm>
          <a:prstGeom prst="rect">
            <a:avLst/>
          </a:prstGeom>
          <a:noFill/>
          <a:ln>
            <a:noFill/>
          </a:ln>
        </p:spPr>
      </p:pic>
    </p:spTree>
  </p:cSld>
  <p:clrMapOvr>
    <a:masterClrMapping/>
  </p:clrMapOvr>
  <p:extLst>
    <p:ext uri="{DCECCB84-F9BA-43D5-87BE-67443E8EF086}">
      <p15:sldGuideLst>
        <p15:guide id="1" pos="241">
          <p15:clr>
            <a:srgbClr val="E46962"/>
          </p15:clr>
        </p15:guide>
        <p15:guide id="2" orient="horz" pos="235">
          <p15:clr>
            <a:srgbClr val="E46962"/>
          </p15:clr>
        </p15:guide>
        <p15:guide id="3" pos="7439">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8" name="Shape 158"/>
        <p:cNvGrpSpPr/>
        <p:nvPr/>
      </p:nvGrpSpPr>
      <p:grpSpPr>
        <a:xfrm>
          <a:off x="0" y="0"/>
          <a:ext cx="0" cy="0"/>
          <a:chOff x="0" y="0"/>
          <a:chExt cx="0" cy="0"/>
        </a:xfrm>
      </p:grpSpPr>
      <p:sp>
        <p:nvSpPr>
          <p:cNvPr id="159" name="Google Shape;159;g3bd810f5e04_0_484"/>
          <p:cNvSpPr txBox="1"/>
          <p:nvPr>
            <p:ph type="ctrTitle"/>
          </p:nvPr>
        </p:nvSpPr>
        <p:spPr>
          <a:xfrm>
            <a:off x="942200" y="548567"/>
            <a:ext cx="10307700" cy="17163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Clr>
                <a:schemeClr val="lt1"/>
              </a:buClr>
              <a:buSzPts val="8000"/>
              <a:buFont typeface="Fira Sans"/>
              <a:buNone/>
              <a:defRPr b="1" sz="8000">
                <a:solidFill>
                  <a:schemeClr val="lt1"/>
                </a:solidFill>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pic>
        <p:nvPicPr>
          <p:cNvPr id="160" name="Google Shape;160;g3bd810f5e04_0_484"/>
          <p:cNvPicPr preferRelativeResize="0"/>
          <p:nvPr/>
        </p:nvPicPr>
        <p:blipFill rotWithShape="1">
          <a:blip r:embed="rId2">
            <a:alphaModFix/>
          </a:blip>
          <a:srcRect b="0" l="0" r="0" t="0"/>
          <a:stretch/>
        </p:blipFill>
        <p:spPr>
          <a:xfrm>
            <a:off x="1734133" y="2478600"/>
            <a:ext cx="8723733" cy="1900800"/>
          </a:xfrm>
          <a:prstGeom prst="rect">
            <a:avLst/>
          </a:prstGeom>
          <a:noFill/>
          <a:ln>
            <a:noFill/>
          </a:ln>
        </p:spPr>
      </p:pic>
      <p:sp>
        <p:nvSpPr>
          <p:cNvPr id="161" name="Google Shape;161;g3bd810f5e04_0_484"/>
          <p:cNvSpPr txBox="1"/>
          <p:nvPr/>
        </p:nvSpPr>
        <p:spPr>
          <a:xfrm>
            <a:off x="2017267" y="5007733"/>
            <a:ext cx="8440500" cy="1209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2" name="Google Shape;162;g3bd810f5e04_0_48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163" name="Shape 163"/>
        <p:cNvGrpSpPr/>
        <p:nvPr/>
      </p:nvGrpSpPr>
      <p:grpSpPr>
        <a:xfrm>
          <a:off x="0" y="0"/>
          <a:ext cx="0" cy="0"/>
          <a:chOff x="0" y="0"/>
          <a:chExt cx="0" cy="0"/>
        </a:xfrm>
      </p:grpSpPr>
      <p:sp>
        <p:nvSpPr>
          <p:cNvPr id="164" name="Google Shape;164;g3bd810f5e04_0_4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Font typeface="Fira Sans"/>
              <a:buNone/>
              <a:defRPr>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5" name="Google Shape;165;g3bd810f5e04_0_48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Font typeface="Fira Sans"/>
              <a:buChar char="●"/>
              <a:defRPr>
                <a:latin typeface="Fira Sans"/>
                <a:ea typeface="Fira Sans"/>
                <a:cs typeface="Fira Sans"/>
                <a:sym typeface="Fira Sans"/>
              </a:defRPr>
            </a:lvl1pPr>
            <a:lvl2pPr indent="-349250" lvl="1" marL="914400" algn="l">
              <a:lnSpc>
                <a:spcPct val="115000"/>
              </a:lnSpc>
              <a:spcBef>
                <a:spcPts val="2100"/>
              </a:spcBef>
              <a:spcAft>
                <a:spcPts val="0"/>
              </a:spcAft>
              <a:buSzPts val="1900"/>
              <a:buFont typeface="Fira Sans"/>
              <a:buChar char="○"/>
              <a:defRPr>
                <a:latin typeface="Fira Sans"/>
                <a:ea typeface="Fira Sans"/>
                <a:cs typeface="Fira Sans"/>
                <a:sym typeface="Fira Sans"/>
              </a:defRPr>
            </a:lvl2pPr>
            <a:lvl3pPr indent="-349250" lvl="2" marL="1371600" algn="l">
              <a:lnSpc>
                <a:spcPct val="115000"/>
              </a:lnSpc>
              <a:spcBef>
                <a:spcPts val="2100"/>
              </a:spcBef>
              <a:spcAft>
                <a:spcPts val="0"/>
              </a:spcAft>
              <a:buSzPts val="1900"/>
              <a:buFont typeface="Fira Sans"/>
              <a:buChar char="■"/>
              <a:defRPr>
                <a:latin typeface="Fira Sans"/>
                <a:ea typeface="Fira Sans"/>
                <a:cs typeface="Fira Sans"/>
                <a:sym typeface="Fira Sans"/>
              </a:defRPr>
            </a:lvl3pPr>
            <a:lvl4pPr indent="-349250" lvl="3" marL="1828800" algn="l">
              <a:lnSpc>
                <a:spcPct val="115000"/>
              </a:lnSpc>
              <a:spcBef>
                <a:spcPts val="2100"/>
              </a:spcBef>
              <a:spcAft>
                <a:spcPts val="0"/>
              </a:spcAft>
              <a:buSzPts val="1900"/>
              <a:buFont typeface="Fira Sans"/>
              <a:buChar char="●"/>
              <a:defRPr>
                <a:latin typeface="Fira Sans"/>
                <a:ea typeface="Fira Sans"/>
                <a:cs typeface="Fira Sans"/>
                <a:sym typeface="Fira Sans"/>
              </a:defRPr>
            </a:lvl4pPr>
            <a:lvl5pPr indent="-349250" lvl="4" marL="2286000" algn="l">
              <a:lnSpc>
                <a:spcPct val="115000"/>
              </a:lnSpc>
              <a:spcBef>
                <a:spcPts val="2100"/>
              </a:spcBef>
              <a:spcAft>
                <a:spcPts val="0"/>
              </a:spcAft>
              <a:buSzPts val="1900"/>
              <a:buFont typeface="Fira Sans"/>
              <a:buChar char="○"/>
              <a:defRPr>
                <a:latin typeface="Fira Sans"/>
                <a:ea typeface="Fira Sans"/>
                <a:cs typeface="Fira Sans"/>
                <a:sym typeface="Fira Sans"/>
              </a:defRPr>
            </a:lvl5pPr>
            <a:lvl6pPr indent="-349250" lvl="5" marL="2743200" algn="l">
              <a:lnSpc>
                <a:spcPct val="115000"/>
              </a:lnSpc>
              <a:spcBef>
                <a:spcPts val="2100"/>
              </a:spcBef>
              <a:spcAft>
                <a:spcPts val="0"/>
              </a:spcAft>
              <a:buSzPts val="1900"/>
              <a:buFont typeface="Fira Sans"/>
              <a:buChar char="■"/>
              <a:defRPr>
                <a:latin typeface="Fira Sans"/>
                <a:ea typeface="Fira Sans"/>
                <a:cs typeface="Fira Sans"/>
                <a:sym typeface="Fira Sans"/>
              </a:defRPr>
            </a:lvl6pPr>
            <a:lvl7pPr indent="-349250" lvl="6" marL="3200400" algn="l">
              <a:lnSpc>
                <a:spcPct val="115000"/>
              </a:lnSpc>
              <a:spcBef>
                <a:spcPts val="2100"/>
              </a:spcBef>
              <a:spcAft>
                <a:spcPts val="0"/>
              </a:spcAft>
              <a:buSzPts val="1900"/>
              <a:buFont typeface="Fira Sans"/>
              <a:buChar char="●"/>
              <a:defRPr>
                <a:latin typeface="Fira Sans"/>
                <a:ea typeface="Fira Sans"/>
                <a:cs typeface="Fira Sans"/>
                <a:sym typeface="Fira Sans"/>
              </a:defRPr>
            </a:lvl7pPr>
            <a:lvl8pPr indent="-349250" lvl="7" marL="3657600" algn="l">
              <a:lnSpc>
                <a:spcPct val="115000"/>
              </a:lnSpc>
              <a:spcBef>
                <a:spcPts val="2100"/>
              </a:spcBef>
              <a:spcAft>
                <a:spcPts val="0"/>
              </a:spcAft>
              <a:buSzPts val="1900"/>
              <a:buFont typeface="Fira Sans"/>
              <a:buChar char="○"/>
              <a:defRPr>
                <a:latin typeface="Fira Sans"/>
                <a:ea typeface="Fira Sans"/>
                <a:cs typeface="Fira Sans"/>
                <a:sym typeface="Fira Sans"/>
              </a:defRPr>
            </a:lvl8pPr>
            <a:lvl9pPr indent="-349250" lvl="8" marL="4114800" algn="l">
              <a:lnSpc>
                <a:spcPct val="115000"/>
              </a:lnSpc>
              <a:spcBef>
                <a:spcPts val="2100"/>
              </a:spcBef>
              <a:spcAft>
                <a:spcPts val="2100"/>
              </a:spcAft>
              <a:buSzPts val="1900"/>
              <a:buFont typeface="Fira Sans"/>
              <a:buChar char="■"/>
              <a:defRPr>
                <a:latin typeface="Fira Sans"/>
                <a:ea typeface="Fira Sans"/>
                <a:cs typeface="Fira Sans"/>
                <a:sym typeface="Fira Sans"/>
              </a:defRPr>
            </a:lvl9pPr>
          </a:lstStyle>
          <a:p/>
        </p:txBody>
      </p:sp>
      <p:sp>
        <p:nvSpPr>
          <p:cNvPr id="166" name="Google Shape;166;g3bd810f5e04_0_489"/>
          <p:cNvSpPr txBox="1"/>
          <p:nvPr>
            <p:ph idx="12" type="sldNum"/>
          </p:nvPr>
        </p:nvSpPr>
        <p:spPr>
          <a:xfrm>
            <a:off x="85244" y="6271489"/>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type="tx">
  <p:cSld name="TITLE_AND_BODY">
    <p:spTree>
      <p:nvGrpSpPr>
        <p:cNvPr id="167" name="Shape 167"/>
        <p:cNvGrpSpPr/>
        <p:nvPr/>
      </p:nvGrpSpPr>
      <p:grpSpPr>
        <a:xfrm>
          <a:off x="0" y="0"/>
          <a:ext cx="0" cy="0"/>
          <a:chOff x="0" y="0"/>
          <a:chExt cx="0" cy="0"/>
        </a:xfrm>
      </p:grpSpPr>
      <p:sp>
        <p:nvSpPr>
          <p:cNvPr id="168" name="Google Shape;168;g3bd810f5e04_0_493"/>
          <p:cNvSpPr/>
          <p:nvPr/>
        </p:nvSpPr>
        <p:spPr>
          <a:xfrm>
            <a:off x="0" y="0"/>
            <a:ext cx="3078900" cy="6858000"/>
          </a:xfrm>
          <a:prstGeom prst="rect">
            <a:avLst/>
          </a:prstGeom>
          <a:solidFill>
            <a:srgbClr val="3896D2"/>
          </a:solidFill>
          <a:ln>
            <a:noFill/>
          </a:ln>
          <a:effectLst>
            <a:outerShdw blurRad="38100" rotWithShape="0" dir="5400000" dist="25400">
              <a:srgbClr val="000000">
                <a:alpha val="411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169" name="Google Shape;169;g3bd810f5e04_0_493"/>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170" name="Google Shape;170;g3bd810f5e04_0_493"/>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171" name="Google Shape;171;g3bd810f5e04_0_493"/>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2" name="Shape 172"/>
        <p:cNvGrpSpPr/>
        <p:nvPr/>
      </p:nvGrpSpPr>
      <p:grpSpPr>
        <a:xfrm>
          <a:off x="0" y="0"/>
          <a:ext cx="0" cy="0"/>
          <a:chOff x="0" y="0"/>
          <a:chExt cx="0" cy="0"/>
        </a:xfrm>
      </p:grpSpPr>
      <p:sp>
        <p:nvSpPr>
          <p:cNvPr id="173" name="Google Shape;173;g3bd810f5e04_0_49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74" name="Google Shape;174;g3bd810f5e04_0_498"/>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75" name="Google Shape;175;g3bd810f5e04_0_498"/>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76" name="Google Shape;176;g3bd810f5e04_0_498"/>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177" name="Shape 177"/>
        <p:cNvGrpSpPr/>
        <p:nvPr/>
      </p:nvGrpSpPr>
      <p:grpSpPr>
        <a:xfrm>
          <a:off x="0" y="0"/>
          <a:ext cx="0" cy="0"/>
          <a:chOff x="0" y="0"/>
          <a:chExt cx="0" cy="0"/>
        </a:xfrm>
      </p:grpSpPr>
      <p:sp>
        <p:nvSpPr>
          <p:cNvPr id="178" name="Google Shape;178;g3bd810f5e04_0_50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b="1"/>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79" name="Google Shape;179;g3bd810f5e04_0_50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80" name="Google Shape;180;g3bd810f5e04_0_50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181" name="Shape 181"/>
        <p:cNvGrpSpPr/>
        <p:nvPr/>
      </p:nvGrpSpPr>
      <p:grpSpPr>
        <a:xfrm>
          <a:off x="0" y="0"/>
          <a:ext cx="0" cy="0"/>
          <a:chOff x="0" y="0"/>
          <a:chExt cx="0" cy="0"/>
        </a:xfrm>
      </p:grpSpPr>
      <p:sp>
        <p:nvSpPr>
          <p:cNvPr id="182" name="Google Shape;182;g3bd810f5e04_0_50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spTree>
      <p:nvGrpSpPr>
        <p:cNvPr id="183" name="Shape 183"/>
        <p:cNvGrpSpPr/>
        <p:nvPr/>
      </p:nvGrpSpPr>
      <p:grpSpPr>
        <a:xfrm>
          <a:off x="0" y="0"/>
          <a:ext cx="0" cy="0"/>
          <a:chOff x="0" y="0"/>
          <a:chExt cx="0" cy="0"/>
        </a:xfrm>
      </p:grpSpPr>
      <p:sp>
        <p:nvSpPr>
          <p:cNvPr id="184" name="Google Shape;184;g3bd810f5e04_0_509"/>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85" name="Google Shape;185;g3bd810f5e04_0_50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6" name="Shape 186"/>
        <p:cNvGrpSpPr/>
        <p:nvPr/>
      </p:nvGrpSpPr>
      <p:grpSpPr>
        <a:xfrm>
          <a:off x="0" y="0"/>
          <a:ext cx="0" cy="0"/>
          <a:chOff x="0" y="0"/>
          <a:chExt cx="0" cy="0"/>
        </a:xfrm>
      </p:grpSpPr>
      <p:sp>
        <p:nvSpPr>
          <p:cNvPr id="187" name="Google Shape;187;g3bd810f5e04_0_512"/>
          <p:cNvSpPr txBox="1"/>
          <p:nvPr>
            <p:ph type="title"/>
          </p:nvPr>
        </p:nvSpPr>
        <p:spPr>
          <a:xfrm>
            <a:off x="961232" y="123899"/>
            <a:ext cx="10269600" cy="345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000"/>
              <a:buNone/>
              <a:defRPr b="0" i="0" sz="2100">
                <a:solidFill>
                  <a:schemeClr val="dk1"/>
                </a:solidFill>
                <a:latin typeface="Verdana"/>
                <a:ea typeface="Verdana"/>
                <a:cs typeface="Verdana"/>
                <a:sym typeface="Verdana"/>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88" name="Google Shape;188;g3bd810f5e04_0_512"/>
          <p:cNvSpPr txBox="1"/>
          <p:nvPr>
            <p:ph idx="1" type="body"/>
          </p:nvPr>
        </p:nvSpPr>
        <p:spPr>
          <a:xfrm>
            <a:off x="1182979" y="1374478"/>
            <a:ext cx="9825900" cy="38661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2400"/>
              <a:buNone/>
              <a:defRPr b="0" i="0">
                <a:solidFill>
                  <a:schemeClr val="dk1"/>
                </a:solidFill>
              </a:defRPr>
            </a:lvl1pPr>
            <a:lvl2pPr indent="-228600" lvl="1" marL="914400" algn="l">
              <a:lnSpc>
                <a:spcPct val="115000"/>
              </a:lnSpc>
              <a:spcBef>
                <a:spcPts val="1600"/>
              </a:spcBef>
              <a:spcAft>
                <a:spcPts val="0"/>
              </a:spcAft>
              <a:buSzPts val="1900"/>
              <a:buNone/>
              <a:defRPr/>
            </a:lvl2pPr>
            <a:lvl3pPr indent="-228600" lvl="2" marL="1371600" algn="l">
              <a:lnSpc>
                <a:spcPct val="115000"/>
              </a:lnSpc>
              <a:spcBef>
                <a:spcPts val="1600"/>
              </a:spcBef>
              <a:spcAft>
                <a:spcPts val="0"/>
              </a:spcAft>
              <a:buSzPts val="1900"/>
              <a:buNone/>
              <a:defRPr/>
            </a:lvl3pPr>
            <a:lvl4pPr indent="-228600" lvl="3" marL="1828800" algn="l">
              <a:lnSpc>
                <a:spcPct val="115000"/>
              </a:lnSpc>
              <a:spcBef>
                <a:spcPts val="1600"/>
              </a:spcBef>
              <a:spcAft>
                <a:spcPts val="0"/>
              </a:spcAft>
              <a:buSzPts val="1900"/>
              <a:buNone/>
              <a:defRPr/>
            </a:lvl4pPr>
            <a:lvl5pPr indent="-228600" lvl="4" marL="2286000" algn="l">
              <a:lnSpc>
                <a:spcPct val="115000"/>
              </a:lnSpc>
              <a:spcBef>
                <a:spcPts val="1600"/>
              </a:spcBef>
              <a:spcAft>
                <a:spcPts val="0"/>
              </a:spcAft>
              <a:buSzPts val="1900"/>
              <a:buNone/>
              <a:defRPr/>
            </a:lvl5pPr>
            <a:lvl6pPr indent="-228600" lvl="5" marL="2743200" algn="l">
              <a:lnSpc>
                <a:spcPct val="115000"/>
              </a:lnSpc>
              <a:spcBef>
                <a:spcPts val="1600"/>
              </a:spcBef>
              <a:spcAft>
                <a:spcPts val="0"/>
              </a:spcAft>
              <a:buSzPts val="1900"/>
              <a:buNone/>
              <a:defRPr/>
            </a:lvl6pPr>
            <a:lvl7pPr indent="-228600" lvl="6" marL="3200400" algn="l">
              <a:lnSpc>
                <a:spcPct val="115000"/>
              </a:lnSpc>
              <a:spcBef>
                <a:spcPts val="1600"/>
              </a:spcBef>
              <a:spcAft>
                <a:spcPts val="0"/>
              </a:spcAft>
              <a:buSzPts val="1900"/>
              <a:buNone/>
              <a:defRPr/>
            </a:lvl7pPr>
            <a:lvl8pPr indent="-228600" lvl="7" marL="3657600" algn="l">
              <a:lnSpc>
                <a:spcPct val="115000"/>
              </a:lnSpc>
              <a:spcBef>
                <a:spcPts val="1600"/>
              </a:spcBef>
              <a:spcAft>
                <a:spcPts val="0"/>
              </a:spcAft>
              <a:buSzPts val="1900"/>
              <a:buNone/>
              <a:defRPr/>
            </a:lvl8pPr>
            <a:lvl9pPr indent="-228600" lvl="8" marL="4114800" algn="l">
              <a:lnSpc>
                <a:spcPct val="115000"/>
              </a:lnSpc>
              <a:spcBef>
                <a:spcPts val="1600"/>
              </a:spcBef>
              <a:spcAft>
                <a:spcPts val="1600"/>
              </a:spcAft>
              <a:buSzPts val="1900"/>
              <a:buNone/>
              <a:defRPr/>
            </a:lvl9pPr>
          </a:lstStyle>
          <a:p/>
        </p:txBody>
      </p:sp>
      <p:sp>
        <p:nvSpPr>
          <p:cNvPr id="189" name="Google Shape;189;g3bd810f5e04_0_51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0" name="Google Shape;190;g3bd810f5e04_0_51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1" name="Google Shape;191;g3bd810f5e04_0_512"/>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900">
              <a:latin typeface="Calibri"/>
              <a:ea typeface="Calibri"/>
              <a:cs typeface="Calibri"/>
              <a:sym typeface="Calibri"/>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92" name="Shape 192"/>
        <p:cNvGrpSpPr/>
        <p:nvPr/>
      </p:nvGrpSpPr>
      <p:grpSpPr>
        <a:xfrm>
          <a:off x="0" y="0"/>
          <a:ext cx="0" cy="0"/>
          <a:chOff x="0" y="0"/>
          <a:chExt cx="0" cy="0"/>
        </a:xfrm>
      </p:grpSpPr>
      <p:sp>
        <p:nvSpPr>
          <p:cNvPr id="193" name="Google Shape;193;g3bd810f5e04_0_518"/>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4" name="Google Shape;194;g3bd810f5e04_0_518"/>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5" name="Google Shape;195;g3bd810f5e04_0_518"/>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900">
              <a:latin typeface="Calibri"/>
              <a:ea typeface="Calibri"/>
              <a:cs typeface="Calibri"/>
              <a:sym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spTree>
      <p:nvGrpSpPr>
        <p:cNvPr id="196" name="Shape 196"/>
        <p:cNvGrpSpPr/>
        <p:nvPr/>
      </p:nvGrpSpPr>
      <p:grpSpPr>
        <a:xfrm>
          <a:off x="0" y="0"/>
          <a:ext cx="0" cy="0"/>
          <a:chOff x="0" y="0"/>
          <a:chExt cx="0" cy="0"/>
        </a:xfrm>
      </p:grpSpPr>
      <p:sp>
        <p:nvSpPr>
          <p:cNvPr id="197" name="Google Shape;197;g3bd810f5e04_0_522"/>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spTree>
      <p:nvGrpSpPr>
        <p:cNvPr id="198" name="Shape 198"/>
        <p:cNvGrpSpPr/>
        <p:nvPr/>
      </p:nvGrpSpPr>
      <p:grpSpPr>
        <a:xfrm>
          <a:off x="0" y="0"/>
          <a:ext cx="0" cy="0"/>
          <a:chOff x="0" y="0"/>
          <a:chExt cx="0" cy="0"/>
        </a:xfrm>
      </p:grpSpPr>
      <p:sp>
        <p:nvSpPr>
          <p:cNvPr id="199" name="Google Shape;199;g3bd810f5e04_0_524"/>
          <p:cNvSpPr txBox="1"/>
          <p:nvPr/>
        </p:nvSpPr>
        <p:spPr>
          <a:xfrm>
            <a:off x="1509800" y="2748300"/>
            <a:ext cx="9172500" cy="12933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Fira Sans"/>
                <a:ea typeface="Fira Sans"/>
                <a:cs typeface="Fira Sans"/>
                <a:sym typeface="Fira Sans"/>
              </a:rPr>
              <a:t>Thank You!</a:t>
            </a:r>
            <a:endParaRPr b="1" i="0" sz="8000" u="none" cap="none" strike="noStrike">
              <a:solidFill>
                <a:schemeClr val="lt1"/>
              </a:solidFill>
              <a:latin typeface="Fira Sans"/>
              <a:ea typeface="Fira Sans"/>
              <a:cs typeface="Fira Sans"/>
              <a:sym typeface="Fira Sans"/>
            </a:endParaRPr>
          </a:p>
        </p:txBody>
      </p:sp>
      <p:sp>
        <p:nvSpPr>
          <p:cNvPr id="200" name="Google Shape;200;g3bd810f5e04_0_52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spTree>
      <p:nvGrpSpPr>
        <p:cNvPr id="201" name="Shape 201"/>
        <p:cNvGrpSpPr/>
        <p:nvPr/>
      </p:nvGrpSpPr>
      <p:grpSpPr>
        <a:xfrm>
          <a:off x="0" y="0"/>
          <a:ext cx="0" cy="0"/>
          <a:chOff x="0" y="0"/>
          <a:chExt cx="0" cy="0"/>
        </a:xfrm>
      </p:grpSpPr>
      <p:sp>
        <p:nvSpPr>
          <p:cNvPr id="202" name="Google Shape;202;g3bd810f5e04_0_527"/>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03" name="Google Shape;203;g3bd810f5e04_0_52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spTree>
      <p:nvGrpSpPr>
        <p:cNvPr id="204" name="Shape 204"/>
        <p:cNvGrpSpPr/>
        <p:nvPr/>
      </p:nvGrpSpPr>
      <p:grpSpPr>
        <a:xfrm>
          <a:off x="0" y="0"/>
          <a:ext cx="0" cy="0"/>
          <a:chOff x="0" y="0"/>
          <a:chExt cx="0" cy="0"/>
        </a:xfrm>
      </p:grpSpPr>
      <p:sp>
        <p:nvSpPr>
          <p:cNvPr id="205" name="Google Shape;205;g3bd810f5e04_0_530"/>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06" name="Google Shape;206;g3bd810f5e04_0_530"/>
          <p:cNvSpPr txBox="1"/>
          <p:nvPr>
            <p:ph idx="1" type="subTitle"/>
          </p:nvPr>
        </p:nvSpPr>
        <p:spPr>
          <a:xfrm>
            <a:off x="2795833" y="4866167"/>
            <a:ext cx="6564900" cy="6324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sz="3200">
                <a:solidFill>
                  <a:srgbClr val="000000"/>
                </a:solidFill>
                <a:latin typeface="Fira Sans"/>
                <a:ea typeface="Fira Sans"/>
                <a:cs typeface="Fira Sans"/>
                <a:sym typeface="Fira Sans"/>
              </a:defRPr>
            </a:lvl1pPr>
            <a:lvl2pPr lvl="1" algn="l">
              <a:lnSpc>
                <a:spcPct val="115000"/>
              </a:lnSpc>
              <a:spcBef>
                <a:spcPts val="2100"/>
              </a:spcBef>
              <a:spcAft>
                <a:spcPts val="0"/>
              </a:spcAft>
              <a:buSzPts val="1900"/>
              <a:buNone/>
              <a:defRPr/>
            </a:lvl2pPr>
            <a:lvl3pPr lvl="2" algn="l">
              <a:lnSpc>
                <a:spcPct val="115000"/>
              </a:lnSpc>
              <a:spcBef>
                <a:spcPts val="2100"/>
              </a:spcBef>
              <a:spcAft>
                <a:spcPts val="0"/>
              </a:spcAft>
              <a:buSzPts val="1900"/>
              <a:buNone/>
              <a:defRPr/>
            </a:lvl3pPr>
            <a:lvl4pPr lvl="3" algn="l">
              <a:lnSpc>
                <a:spcPct val="115000"/>
              </a:lnSpc>
              <a:spcBef>
                <a:spcPts val="2100"/>
              </a:spcBef>
              <a:spcAft>
                <a:spcPts val="0"/>
              </a:spcAft>
              <a:buSzPts val="1900"/>
              <a:buNone/>
              <a:defRPr/>
            </a:lvl4pPr>
            <a:lvl5pPr lvl="4" algn="l">
              <a:lnSpc>
                <a:spcPct val="115000"/>
              </a:lnSpc>
              <a:spcBef>
                <a:spcPts val="2100"/>
              </a:spcBef>
              <a:spcAft>
                <a:spcPts val="0"/>
              </a:spcAft>
              <a:buSzPts val="1900"/>
              <a:buNone/>
              <a:defRPr/>
            </a:lvl5pPr>
            <a:lvl6pPr lvl="5" algn="l">
              <a:lnSpc>
                <a:spcPct val="115000"/>
              </a:lnSpc>
              <a:spcBef>
                <a:spcPts val="2100"/>
              </a:spcBef>
              <a:spcAft>
                <a:spcPts val="0"/>
              </a:spcAft>
              <a:buSzPts val="1900"/>
              <a:buNone/>
              <a:defRPr/>
            </a:lvl6pPr>
            <a:lvl7pPr lvl="6" algn="l">
              <a:lnSpc>
                <a:spcPct val="115000"/>
              </a:lnSpc>
              <a:spcBef>
                <a:spcPts val="2100"/>
              </a:spcBef>
              <a:spcAft>
                <a:spcPts val="0"/>
              </a:spcAft>
              <a:buSzPts val="1900"/>
              <a:buNone/>
              <a:defRPr/>
            </a:lvl7pPr>
            <a:lvl8pPr lvl="7" algn="l">
              <a:lnSpc>
                <a:spcPct val="115000"/>
              </a:lnSpc>
              <a:spcBef>
                <a:spcPts val="2100"/>
              </a:spcBef>
              <a:spcAft>
                <a:spcPts val="0"/>
              </a:spcAft>
              <a:buSzPts val="1900"/>
              <a:buNone/>
              <a:defRPr/>
            </a:lvl8pPr>
            <a:lvl9pPr lvl="8" algn="l">
              <a:lnSpc>
                <a:spcPct val="115000"/>
              </a:lnSpc>
              <a:spcBef>
                <a:spcPts val="2100"/>
              </a:spcBef>
              <a:spcAft>
                <a:spcPts val="2100"/>
              </a:spcAft>
              <a:buSzPts val="1900"/>
              <a:buNone/>
              <a:defRPr/>
            </a:lvl9pPr>
          </a:lstStyle>
          <a:p/>
        </p:txBody>
      </p:sp>
      <p:sp>
        <p:nvSpPr>
          <p:cNvPr id="207" name="Google Shape;207;g3bd810f5e04_0_53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spTree>
      <p:nvGrpSpPr>
        <p:cNvPr id="208" name="Shape 208"/>
        <p:cNvGrpSpPr/>
        <p:nvPr/>
      </p:nvGrpSpPr>
      <p:grpSpPr>
        <a:xfrm>
          <a:off x="0" y="0"/>
          <a:ext cx="0" cy="0"/>
          <a:chOff x="0" y="0"/>
          <a:chExt cx="0" cy="0"/>
        </a:xfrm>
      </p:grpSpPr>
      <p:sp>
        <p:nvSpPr>
          <p:cNvPr id="209" name="Google Shape;209;g3bd810f5e04_0_534"/>
          <p:cNvSpPr txBox="1"/>
          <p:nvPr>
            <p:ph type="title"/>
          </p:nvPr>
        </p:nvSpPr>
        <p:spPr>
          <a:xfrm>
            <a:off x="415600" y="531033"/>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10" name="Google Shape;210;g3bd810f5e04_0_53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211" name="Shape 211"/>
        <p:cNvGrpSpPr/>
        <p:nvPr/>
      </p:nvGrpSpPr>
      <p:grpSpPr>
        <a:xfrm>
          <a:off x="0" y="0"/>
          <a:ext cx="0" cy="0"/>
          <a:chOff x="0" y="0"/>
          <a:chExt cx="0" cy="0"/>
        </a:xfrm>
      </p:grpSpPr>
      <p:sp>
        <p:nvSpPr>
          <p:cNvPr id="212" name="Google Shape;212;g3bd810f5e04_0_537"/>
          <p:cNvSpPr/>
          <p:nvPr/>
        </p:nvSpPr>
        <p:spPr>
          <a:xfrm>
            <a:off x="0" y="0"/>
            <a:ext cx="3078900" cy="6858000"/>
          </a:xfrm>
          <a:prstGeom prst="rect">
            <a:avLst/>
          </a:prstGeom>
          <a:solidFill>
            <a:srgbClr val="3896D2"/>
          </a:solidFill>
          <a:ln>
            <a:noFill/>
          </a:ln>
          <a:effectLst>
            <a:outerShdw blurRad="38100" rotWithShape="0" dir="5400000" dist="25400">
              <a:srgbClr val="000000">
                <a:alpha val="411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213" name="Google Shape;213;g3bd810f5e04_0_537"/>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214" name="Google Shape;214;g3bd810f5e04_0_53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215" name="Shape 215"/>
        <p:cNvGrpSpPr/>
        <p:nvPr/>
      </p:nvGrpSpPr>
      <p:grpSpPr>
        <a:xfrm>
          <a:off x="0" y="0"/>
          <a:ext cx="0" cy="0"/>
          <a:chOff x="0" y="0"/>
          <a:chExt cx="0" cy="0"/>
        </a:xfrm>
      </p:grpSpPr>
      <p:sp>
        <p:nvSpPr>
          <p:cNvPr id="216" name="Google Shape;216;g3bd810f5e04_0_541"/>
          <p:cNvSpPr/>
          <p:nvPr/>
        </p:nvSpPr>
        <p:spPr>
          <a:xfrm>
            <a:off x="0" y="0"/>
            <a:ext cx="3078900" cy="6858000"/>
          </a:xfrm>
          <a:prstGeom prst="rect">
            <a:avLst/>
          </a:prstGeom>
          <a:solidFill>
            <a:srgbClr val="3896D2"/>
          </a:solidFill>
          <a:ln>
            <a:noFill/>
          </a:ln>
          <a:effectLst>
            <a:outerShdw blurRad="38100" rotWithShape="0" dir="5400000" dist="25400">
              <a:srgbClr val="000000">
                <a:alpha val="411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217" name="Google Shape;217;g3bd810f5e04_0_541"/>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218" name="Google Shape;218;g3bd810f5e04_0_541"/>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219" name="Google Shape;219;g3bd810f5e04_0_54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spTree>
      <p:nvGrpSpPr>
        <p:cNvPr id="220" name="Shape 220"/>
        <p:cNvGrpSpPr/>
        <p:nvPr/>
      </p:nvGrpSpPr>
      <p:grpSpPr>
        <a:xfrm>
          <a:off x="0" y="0"/>
          <a:ext cx="0" cy="0"/>
          <a:chOff x="0" y="0"/>
          <a:chExt cx="0" cy="0"/>
        </a:xfrm>
      </p:grpSpPr>
      <p:sp>
        <p:nvSpPr>
          <p:cNvPr id="221" name="Google Shape;221;g3bd810f5e04_0_546"/>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22" name="Google Shape;222;g3bd810f5e04_0_546"/>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3" name="Google Shape;223;g3bd810f5e04_0_54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224" name="Google Shape;224;g3bd810f5e04_0_54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225" name="Google Shape;225;g3bd810f5e04_0_546"/>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6" name="Google Shape;226;g3bd810f5e04_0_546"/>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spTree>
      <p:nvGrpSpPr>
        <p:cNvPr id="227" name="Shape 227"/>
        <p:cNvGrpSpPr/>
        <p:nvPr/>
      </p:nvGrpSpPr>
      <p:grpSpPr>
        <a:xfrm>
          <a:off x="0" y="0"/>
          <a:ext cx="0" cy="0"/>
          <a:chOff x="0" y="0"/>
          <a:chExt cx="0" cy="0"/>
        </a:xfrm>
      </p:grpSpPr>
      <p:sp>
        <p:nvSpPr>
          <p:cNvPr id="228" name="Google Shape;228;g3bd810f5e04_0_553"/>
          <p:cNvSpPr/>
          <p:nvPr/>
        </p:nvSpPr>
        <p:spPr>
          <a:xfrm>
            <a:off x="6113200" y="0"/>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29" name="Google Shape;229;g3bd810f5e04_0_553"/>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0" name="Google Shape;230;g3bd810f5e04_0_55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231" name="Google Shape;231;g3bd810f5e04_0_553"/>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lt1"/>
              </a:buClr>
              <a:buSzPts val="3500"/>
              <a:buFont typeface="Fira Sans"/>
              <a:buChar char="■"/>
              <a:defRPr sz="3500">
                <a:solidFill>
                  <a:schemeClr val="lt1"/>
                </a:solidFill>
                <a:latin typeface="Fira Sans"/>
                <a:ea typeface="Fira Sans"/>
                <a:cs typeface="Fira Sans"/>
                <a:sym typeface="Fira Sans"/>
              </a:defRPr>
            </a:lvl9pPr>
          </a:lstStyle>
          <a:p/>
        </p:txBody>
      </p:sp>
      <p:sp>
        <p:nvSpPr>
          <p:cNvPr id="232" name="Google Shape;232;g3bd810f5e04_0_553"/>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9pPr>
          </a:lstStyle>
          <a:p/>
        </p:txBody>
      </p:sp>
      <p:sp>
        <p:nvSpPr>
          <p:cNvPr id="233" name="Google Shape;233;g3bd810f5e04_0_553"/>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spTree>
      <p:nvGrpSpPr>
        <p:cNvPr id="234" name="Shape 234"/>
        <p:cNvGrpSpPr/>
        <p:nvPr/>
      </p:nvGrpSpPr>
      <p:grpSpPr>
        <a:xfrm>
          <a:off x="0" y="0"/>
          <a:ext cx="0" cy="0"/>
          <a:chOff x="0" y="0"/>
          <a:chExt cx="0" cy="0"/>
        </a:xfrm>
      </p:grpSpPr>
      <p:sp>
        <p:nvSpPr>
          <p:cNvPr id="235" name="Google Shape;235;g3bd810f5e04_0_560"/>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6" name="Google Shape;236;g3bd810f5e04_0_560"/>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000000"/>
              </a:buClr>
              <a:buSzPts val="4300"/>
              <a:buFont typeface="Fira Sans"/>
              <a:buNone/>
              <a:defRPr sz="4300">
                <a:solidFill>
                  <a:srgbClr val="000000"/>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7" name="Google Shape;237;g3bd810f5e04_0_56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1pPr>
            <a:lvl2pPr indent="-450850" lvl="1" marL="914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2pPr>
            <a:lvl3pPr indent="-450850" lvl="2" marL="1371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3pPr>
            <a:lvl4pPr indent="-450850" lvl="3" marL="18288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4pPr>
            <a:lvl5pPr indent="-450850" lvl="4" marL="22860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5pPr>
            <a:lvl6pPr indent="-450850" lvl="5" marL="27432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6pPr>
            <a:lvl7pPr indent="-450850" lvl="6" marL="3200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7pPr>
            <a:lvl8pPr indent="-450850" lvl="7" marL="3657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000000"/>
              </a:buClr>
              <a:buSzPts val="3500"/>
              <a:buFont typeface="Fira Sans"/>
              <a:buChar char="■"/>
              <a:defRPr sz="3500">
                <a:solidFill>
                  <a:srgbClr val="000000"/>
                </a:solidFill>
                <a:latin typeface="Fira Sans"/>
                <a:ea typeface="Fira Sans"/>
                <a:cs typeface="Fira Sans"/>
                <a:sym typeface="Fira Sans"/>
              </a:defRPr>
            </a:lvl9pPr>
          </a:lstStyle>
          <a:p/>
        </p:txBody>
      </p:sp>
      <p:sp>
        <p:nvSpPr>
          <p:cNvPr id="238" name="Google Shape;238;g3bd810f5e04_0_56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dk1"/>
              </a:buClr>
              <a:buSzPts val="3500"/>
              <a:buFont typeface="Fira Sans"/>
              <a:buChar char="■"/>
              <a:defRPr sz="3500">
                <a:solidFill>
                  <a:schemeClr val="dk1"/>
                </a:solidFill>
                <a:latin typeface="Fira Sans"/>
                <a:ea typeface="Fira Sans"/>
                <a:cs typeface="Fira Sans"/>
                <a:sym typeface="Fira Sans"/>
              </a:defRPr>
            </a:lvl9pPr>
          </a:lstStyle>
          <a:p/>
        </p:txBody>
      </p:sp>
      <p:sp>
        <p:nvSpPr>
          <p:cNvPr id="239" name="Google Shape;239;g3bd810f5e04_0_560"/>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300"/>
              <a:buFont typeface="Fira Sans"/>
              <a:buNone/>
              <a:defRPr sz="4300">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40" name="Google Shape;240;g3bd810f5e04_0_56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spTree>
      <p:nvGrpSpPr>
        <p:cNvPr id="241" name="Shape 241"/>
        <p:cNvGrpSpPr/>
        <p:nvPr/>
      </p:nvGrpSpPr>
      <p:grpSpPr>
        <a:xfrm>
          <a:off x="0" y="0"/>
          <a:ext cx="0" cy="0"/>
          <a:chOff x="0" y="0"/>
          <a:chExt cx="0" cy="0"/>
        </a:xfrm>
      </p:grpSpPr>
      <p:sp>
        <p:nvSpPr>
          <p:cNvPr id="242" name="Google Shape;242;g3bd810f5e04_0_567"/>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43" name="Google Shape;243;g3bd810f5e04_0_567"/>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44" name="Google Shape;244;g3bd810f5e04_0_567"/>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45" name="Google Shape;245;g3bd810f5e04_0_56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spTree>
      <p:nvGrpSpPr>
        <p:cNvPr id="246" name="Shape 246"/>
        <p:cNvGrpSpPr/>
        <p:nvPr/>
      </p:nvGrpSpPr>
      <p:grpSpPr>
        <a:xfrm>
          <a:off x="0" y="0"/>
          <a:ext cx="0" cy="0"/>
          <a:chOff x="0" y="0"/>
          <a:chExt cx="0" cy="0"/>
        </a:xfrm>
      </p:grpSpPr>
      <p:sp>
        <p:nvSpPr>
          <p:cNvPr id="247" name="Google Shape;247;g3bd810f5e04_0_572"/>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48" name="Google Shape;248;g3bd810f5e04_0_572"/>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3700"/>
              <a:buNone/>
              <a:defRPr>
                <a:solidFill>
                  <a:srgbClr val="3896D2"/>
                </a:solidFill>
              </a:defRPr>
            </a:lvl2pPr>
            <a:lvl3pPr lvl="2" algn="l">
              <a:lnSpc>
                <a:spcPct val="100000"/>
              </a:lnSpc>
              <a:spcBef>
                <a:spcPts val="0"/>
              </a:spcBef>
              <a:spcAft>
                <a:spcPts val="0"/>
              </a:spcAft>
              <a:buClr>
                <a:srgbClr val="3896D2"/>
              </a:buClr>
              <a:buSzPts val="3700"/>
              <a:buNone/>
              <a:defRPr>
                <a:solidFill>
                  <a:srgbClr val="3896D2"/>
                </a:solidFill>
              </a:defRPr>
            </a:lvl3pPr>
            <a:lvl4pPr lvl="3" algn="l">
              <a:lnSpc>
                <a:spcPct val="100000"/>
              </a:lnSpc>
              <a:spcBef>
                <a:spcPts val="0"/>
              </a:spcBef>
              <a:spcAft>
                <a:spcPts val="0"/>
              </a:spcAft>
              <a:buClr>
                <a:srgbClr val="3896D2"/>
              </a:buClr>
              <a:buSzPts val="3700"/>
              <a:buNone/>
              <a:defRPr>
                <a:solidFill>
                  <a:srgbClr val="3896D2"/>
                </a:solidFill>
              </a:defRPr>
            </a:lvl4pPr>
            <a:lvl5pPr lvl="4" algn="l">
              <a:lnSpc>
                <a:spcPct val="100000"/>
              </a:lnSpc>
              <a:spcBef>
                <a:spcPts val="0"/>
              </a:spcBef>
              <a:spcAft>
                <a:spcPts val="0"/>
              </a:spcAft>
              <a:buClr>
                <a:srgbClr val="3896D2"/>
              </a:buClr>
              <a:buSzPts val="3700"/>
              <a:buNone/>
              <a:defRPr>
                <a:solidFill>
                  <a:srgbClr val="3896D2"/>
                </a:solidFill>
              </a:defRPr>
            </a:lvl5pPr>
            <a:lvl6pPr lvl="5" algn="l">
              <a:lnSpc>
                <a:spcPct val="100000"/>
              </a:lnSpc>
              <a:spcBef>
                <a:spcPts val="0"/>
              </a:spcBef>
              <a:spcAft>
                <a:spcPts val="0"/>
              </a:spcAft>
              <a:buClr>
                <a:srgbClr val="3896D2"/>
              </a:buClr>
              <a:buSzPts val="3700"/>
              <a:buNone/>
              <a:defRPr>
                <a:solidFill>
                  <a:srgbClr val="3896D2"/>
                </a:solidFill>
              </a:defRPr>
            </a:lvl6pPr>
            <a:lvl7pPr lvl="6" algn="l">
              <a:lnSpc>
                <a:spcPct val="100000"/>
              </a:lnSpc>
              <a:spcBef>
                <a:spcPts val="0"/>
              </a:spcBef>
              <a:spcAft>
                <a:spcPts val="0"/>
              </a:spcAft>
              <a:buClr>
                <a:srgbClr val="3896D2"/>
              </a:buClr>
              <a:buSzPts val="3700"/>
              <a:buNone/>
              <a:defRPr>
                <a:solidFill>
                  <a:srgbClr val="3896D2"/>
                </a:solidFill>
              </a:defRPr>
            </a:lvl7pPr>
            <a:lvl8pPr lvl="7" algn="l">
              <a:lnSpc>
                <a:spcPct val="100000"/>
              </a:lnSpc>
              <a:spcBef>
                <a:spcPts val="0"/>
              </a:spcBef>
              <a:spcAft>
                <a:spcPts val="0"/>
              </a:spcAft>
              <a:buClr>
                <a:srgbClr val="3896D2"/>
              </a:buClr>
              <a:buSzPts val="3700"/>
              <a:buNone/>
              <a:defRPr>
                <a:solidFill>
                  <a:srgbClr val="3896D2"/>
                </a:solidFill>
              </a:defRPr>
            </a:lvl8pPr>
            <a:lvl9pPr lvl="8" algn="l">
              <a:lnSpc>
                <a:spcPct val="100000"/>
              </a:lnSpc>
              <a:spcBef>
                <a:spcPts val="0"/>
              </a:spcBef>
              <a:spcAft>
                <a:spcPts val="0"/>
              </a:spcAft>
              <a:buClr>
                <a:srgbClr val="3896D2"/>
              </a:buClr>
              <a:buSzPts val="3700"/>
              <a:buNone/>
              <a:defRPr>
                <a:solidFill>
                  <a:srgbClr val="3896D2"/>
                </a:solidFill>
              </a:defRPr>
            </a:lvl9pPr>
          </a:lstStyle>
          <a:p/>
        </p:txBody>
      </p:sp>
      <p:sp>
        <p:nvSpPr>
          <p:cNvPr id="249" name="Google Shape;249;g3bd810f5e04_0_572"/>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50" name="Google Shape;250;g3bd810f5e04_0_572"/>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spTree>
      <p:nvGrpSpPr>
        <p:cNvPr id="251" name="Shape 251"/>
        <p:cNvGrpSpPr/>
        <p:nvPr/>
      </p:nvGrpSpPr>
      <p:grpSpPr>
        <a:xfrm>
          <a:off x="0" y="0"/>
          <a:ext cx="0" cy="0"/>
          <a:chOff x="0" y="0"/>
          <a:chExt cx="0" cy="0"/>
        </a:xfrm>
      </p:grpSpPr>
      <p:sp>
        <p:nvSpPr>
          <p:cNvPr id="252" name="Google Shape;252;g3bd810f5e04_0_57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spTree>
      <p:nvGrpSpPr>
        <p:cNvPr id="253" name="Shape 253"/>
        <p:cNvGrpSpPr/>
        <p:nvPr/>
      </p:nvGrpSpPr>
      <p:grpSpPr>
        <a:xfrm>
          <a:off x="0" y="0"/>
          <a:ext cx="0" cy="0"/>
          <a:chOff x="0" y="0"/>
          <a:chExt cx="0" cy="0"/>
        </a:xfrm>
      </p:grpSpPr>
      <p:sp>
        <p:nvSpPr>
          <p:cNvPr id="254" name="Google Shape;254;g3bd810f5e04_0_57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5" name="Shape 255"/>
        <p:cNvGrpSpPr/>
        <p:nvPr/>
      </p:nvGrpSpPr>
      <p:grpSpPr>
        <a:xfrm>
          <a:off x="0" y="0"/>
          <a:ext cx="0" cy="0"/>
          <a:chOff x="0" y="0"/>
          <a:chExt cx="0" cy="0"/>
        </a:xfrm>
      </p:grpSpPr>
      <p:sp>
        <p:nvSpPr>
          <p:cNvPr id="256" name="Google Shape;256;g3bd810f5e04_0_581"/>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Font typeface="Fira Sans"/>
              <a:buNone/>
              <a:defRPr sz="6900">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57" name="Google Shape;257;g3bd810f5e04_0_581"/>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Font typeface="Fira Sans"/>
              <a:buNone/>
              <a:defRPr sz="3700">
                <a:latin typeface="Fira Sans"/>
                <a:ea typeface="Fira Sans"/>
                <a:cs typeface="Fira Sans"/>
                <a:sym typeface="Fira Sans"/>
              </a:defRPr>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58" name="Google Shape;258;g3bd810f5e04_0_58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259" name="Shape 259"/>
        <p:cNvGrpSpPr/>
        <p:nvPr/>
      </p:nvGrpSpPr>
      <p:grpSpPr>
        <a:xfrm>
          <a:off x="0" y="0"/>
          <a:ext cx="0" cy="0"/>
          <a:chOff x="0" y="0"/>
          <a:chExt cx="0" cy="0"/>
        </a:xfrm>
      </p:grpSpPr>
      <p:sp>
        <p:nvSpPr>
          <p:cNvPr id="260" name="Google Shape;260;g3bd810f5e04_0_58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61" name="Google Shape;261;g3bd810f5e04_0_58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262" name="Google Shape;262;g3bd810f5e04_0_585"/>
          <p:cNvSpPr txBox="1"/>
          <p:nvPr>
            <p:ph idx="12" type="sldNum"/>
          </p:nvPr>
        </p:nvSpPr>
        <p:spPr>
          <a:xfrm>
            <a:off x="11296611" y="621762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5">
    <p:spTree>
      <p:nvGrpSpPr>
        <p:cNvPr id="263" name="Shape 263"/>
        <p:cNvGrpSpPr/>
        <p:nvPr/>
      </p:nvGrpSpPr>
      <p:grpSpPr>
        <a:xfrm>
          <a:off x="0" y="0"/>
          <a:ext cx="0" cy="0"/>
          <a:chOff x="0" y="0"/>
          <a:chExt cx="0" cy="0"/>
        </a:xfrm>
      </p:grpSpPr>
      <p:sp>
        <p:nvSpPr>
          <p:cNvPr id="264" name="Google Shape;264;g3bd810f5e04_0_5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5" name="Google Shape;265;g3bd810f5e04_0_58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66" name="Google Shape;266;g3bd810f5e04_0_589"/>
          <p:cNvSpPr txBox="1"/>
          <p:nvPr>
            <p:ph idx="12" type="sldNum"/>
          </p:nvPr>
        </p:nvSpPr>
        <p:spPr>
          <a:xfrm>
            <a:off x="-2" y="6271500"/>
            <a:ext cx="6060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6">
    <p:spTree>
      <p:nvGrpSpPr>
        <p:cNvPr id="267" name="Shape 267"/>
        <p:cNvGrpSpPr/>
        <p:nvPr/>
      </p:nvGrpSpPr>
      <p:grpSpPr>
        <a:xfrm>
          <a:off x="0" y="0"/>
          <a:ext cx="0" cy="0"/>
          <a:chOff x="0" y="0"/>
          <a:chExt cx="0" cy="0"/>
        </a:xfrm>
      </p:grpSpPr>
      <p:sp>
        <p:nvSpPr>
          <p:cNvPr id="268" name="Google Shape;268;g3bd810f5e04_0_593"/>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269" name="Google Shape;269;g3bd810f5e04_0_593"/>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270" name="Google Shape;270;g3bd810f5e04_0_593"/>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fontScale="92500" lnSpcReduction="20000"/>
          </a:bodyPr>
          <a:lstStyle>
            <a:lvl1pPr indent="0" lvl="0"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7">
    <p:spTree>
      <p:nvGrpSpPr>
        <p:cNvPr id="271" name="Shape 271"/>
        <p:cNvGrpSpPr/>
        <p:nvPr/>
      </p:nvGrpSpPr>
      <p:grpSpPr>
        <a:xfrm>
          <a:off x="0" y="0"/>
          <a:ext cx="0" cy="0"/>
          <a:chOff x="0" y="0"/>
          <a:chExt cx="0" cy="0"/>
        </a:xfrm>
      </p:grpSpPr>
      <p:sp>
        <p:nvSpPr>
          <p:cNvPr id="272" name="Google Shape;272;g3bd810f5e04_0_597"/>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273" name="Google Shape;273;g3bd810f5e04_0_597"/>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274" name="Google Shape;274;g3bd810f5e04_0_597"/>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fontScale="92500" lnSpcReduction="20000"/>
          </a:bodyPr>
          <a:lstStyle>
            <a:lvl1pPr indent="0" lvl="0"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1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8">
    <p:spTree>
      <p:nvGrpSpPr>
        <p:cNvPr id="275" name="Shape 275"/>
        <p:cNvGrpSpPr/>
        <p:nvPr/>
      </p:nvGrpSpPr>
      <p:grpSpPr>
        <a:xfrm>
          <a:off x="0" y="0"/>
          <a:ext cx="0" cy="0"/>
          <a:chOff x="0" y="0"/>
          <a:chExt cx="0" cy="0"/>
        </a:xfrm>
      </p:grpSpPr>
      <p:sp>
        <p:nvSpPr>
          <p:cNvPr id="276" name="Google Shape;276;g3bd810f5e04_0_60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300"/>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77" name="Google Shape;277;g3bd810f5e04_0_60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50000"/>
              </a:lnSpc>
              <a:spcBef>
                <a:spcPts val="0"/>
              </a:spcBef>
              <a:spcAft>
                <a:spcPts val="0"/>
              </a:spcAft>
              <a:buClr>
                <a:schemeClr val="dk1"/>
              </a:buClr>
              <a:buSzPts val="2400"/>
              <a:buFont typeface="Fira Sans"/>
              <a:buAutoNum type="arabicPeriod"/>
              <a:defRPr sz="2700">
                <a:solidFill>
                  <a:schemeClr val="dk1"/>
                </a:solidFill>
                <a:latin typeface="Fira Sans"/>
                <a:ea typeface="Fira Sans"/>
                <a:cs typeface="Fira Sans"/>
                <a:sym typeface="Fira Sans"/>
              </a:defRPr>
            </a:lvl1pPr>
            <a:lvl2pPr indent="-349250" lvl="1" marL="9144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2pPr>
            <a:lvl3pPr indent="-349250" lvl="2" marL="13716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3pPr>
            <a:lvl4pPr indent="-349250" lvl="3" marL="18288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4pPr>
            <a:lvl5pPr indent="-349250" lvl="4" marL="22860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5pPr>
            <a:lvl6pPr indent="-349250" lvl="5" marL="27432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6pPr>
            <a:lvl7pPr indent="-349250" lvl="6" marL="32004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7pPr>
            <a:lvl8pPr indent="-349250" lvl="7" marL="36576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8pPr>
            <a:lvl9pPr indent="-349250" lvl="8" marL="4114800" algn="l">
              <a:lnSpc>
                <a:spcPct val="115000"/>
              </a:lnSpc>
              <a:spcBef>
                <a:spcPts val="2100"/>
              </a:spcBef>
              <a:spcAft>
                <a:spcPts val="2100"/>
              </a:spcAft>
              <a:buClr>
                <a:schemeClr val="dk1"/>
              </a:buClr>
              <a:buSzPts val="1900"/>
              <a:buFont typeface="Fira Sans"/>
              <a:buAutoNum type="romanLcPeriod"/>
              <a:defRPr>
                <a:solidFill>
                  <a:schemeClr val="dk1"/>
                </a:solidFill>
                <a:latin typeface="Fira Sans"/>
                <a:ea typeface="Fira Sans"/>
                <a:cs typeface="Fira Sans"/>
                <a:sym typeface="Fira Sans"/>
              </a:defRPr>
            </a:lvl9pPr>
          </a:lstStyle>
          <a:p/>
        </p:txBody>
      </p:sp>
      <p:sp>
        <p:nvSpPr>
          <p:cNvPr id="278" name="Google Shape;278;g3bd810f5e04_0_601"/>
          <p:cNvSpPr txBox="1"/>
          <p:nvPr>
            <p:ph idx="12" type="sldNum"/>
          </p:nvPr>
        </p:nvSpPr>
        <p:spPr>
          <a:xfrm>
            <a:off x="11460400" y="1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9">
    <p:spTree>
      <p:nvGrpSpPr>
        <p:cNvPr id="279" name="Shape 279"/>
        <p:cNvGrpSpPr/>
        <p:nvPr/>
      </p:nvGrpSpPr>
      <p:grpSpPr>
        <a:xfrm>
          <a:off x="0" y="0"/>
          <a:ext cx="0" cy="0"/>
          <a:chOff x="0" y="0"/>
          <a:chExt cx="0" cy="0"/>
        </a:xfrm>
      </p:grpSpPr>
      <p:sp>
        <p:nvSpPr>
          <p:cNvPr id="280" name="Google Shape;280;g3bd810f5e04_0_60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81" name="Google Shape;281;g3bd810f5e04_0_60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82" name="Google Shape;282;g3bd810f5e04_0_60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283" name="Shape 283"/>
        <p:cNvGrpSpPr/>
        <p:nvPr/>
      </p:nvGrpSpPr>
      <p:grpSpPr>
        <a:xfrm>
          <a:off x="0" y="0"/>
          <a:ext cx="0" cy="0"/>
          <a:chOff x="0" y="0"/>
          <a:chExt cx="0" cy="0"/>
        </a:xfrm>
      </p:grpSpPr>
      <p:sp>
        <p:nvSpPr>
          <p:cNvPr id="284" name="Google Shape;284;g3bd810f5e04_0_60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85" name="Google Shape;285;g3bd810f5e04_0_60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286" name="Google Shape;286;g3bd810f5e04_0_609"/>
          <p:cNvSpPr txBox="1"/>
          <p:nvPr>
            <p:ph idx="12" type="sldNum"/>
          </p:nvPr>
        </p:nvSpPr>
        <p:spPr>
          <a:xfrm>
            <a:off x="11296610" y="6217622"/>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87" name="Shape 287"/>
        <p:cNvGrpSpPr/>
        <p:nvPr/>
      </p:nvGrpSpPr>
      <p:grpSpPr>
        <a:xfrm>
          <a:off x="0" y="0"/>
          <a:ext cx="0" cy="0"/>
          <a:chOff x="0" y="0"/>
          <a:chExt cx="0" cy="0"/>
        </a:xfrm>
      </p:grpSpPr>
      <p:sp>
        <p:nvSpPr>
          <p:cNvPr id="288" name="Google Shape;288;g3bd810f5e04_0_613"/>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89" name="Google Shape;289;g3bd810f5e04_0_613"/>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2100"/>
              </a:spcAft>
              <a:buClr>
                <a:schemeClr val="dk1"/>
              </a:buClr>
              <a:buSzPts val="1600"/>
              <a:buNone/>
              <a:defRPr sz="1600"/>
            </a:lvl9pPr>
          </a:lstStyle>
          <a:p/>
        </p:txBody>
      </p:sp>
      <p:sp>
        <p:nvSpPr>
          <p:cNvPr id="290" name="Google Shape;290;g3bd810f5e04_0_6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500"/>
              <a:buNone/>
              <a:defRPr sz="1500"/>
            </a:lvl1pPr>
            <a:lvl2pPr lvl="1" algn="l">
              <a:spcBef>
                <a:spcPts val="0"/>
              </a:spcBef>
              <a:spcAft>
                <a:spcPts val="0"/>
              </a:spcAft>
              <a:buSzPts val="1500"/>
              <a:buNone/>
              <a:defRPr sz="1500"/>
            </a:lvl2pPr>
            <a:lvl3pPr lvl="2" algn="l">
              <a:spcBef>
                <a:spcPts val="0"/>
              </a:spcBef>
              <a:spcAft>
                <a:spcPts val="0"/>
              </a:spcAft>
              <a:buSzPts val="1500"/>
              <a:buNone/>
              <a:defRPr sz="1500"/>
            </a:lvl3pPr>
            <a:lvl4pPr lvl="3" algn="l">
              <a:spcBef>
                <a:spcPts val="0"/>
              </a:spcBef>
              <a:spcAft>
                <a:spcPts val="0"/>
              </a:spcAft>
              <a:buSzPts val="1500"/>
              <a:buNone/>
              <a:defRPr sz="1500"/>
            </a:lvl4pPr>
            <a:lvl5pPr lvl="4" algn="l">
              <a:spcBef>
                <a:spcPts val="0"/>
              </a:spcBef>
              <a:spcAft>
                <a:spcPts val="0"/>
              </a:spcAft>
              <a:buSzPts val="1500"/>
              <a:buNone/>
              <a:defRPr sz="1500"/>
            </a:lvl5pPr>
            <a:lvl6pPr lvl="5" algn="l">
              <a:spcBef>
                <a:spcPts val="0"/>
              </a:spcBef>
              <a:spcAft>
                <a:spcPts val="0"/>
              </a:spcAft>
              <a:buSzPts val="1500"/>
              <a:buNone/>
              <a:defRPr sz="1500"/>
            </a:lvl6pPr>
            <a:lvl7pPr lvl="6" algn="l">
              <a:spcBef>
                <a:spcPts val="0"/>
              </a:spcBef>
              <a:spcAft>
                <a:spcPts val="0"/>
              </a:spcAft>
              <a:buSzPts val="1500"/>
              <a:buNone/>
              <a:defRPr sz="1500"/>
            </a:lvl7pPr>
            <a:lvl8pPr lvl="7" algn="l">
              <a:spcBef>
                <a:spcPts val="0"/>
              </a:spcBef>
              <a:spcAft>
                <a:spcPts val="0"/>
              </a:spcAft>
              <a:buSzPts val="1500"/>
              <a:buNone/>
              <a:defRPr sz="1500"/>
            </a:lvl8pPr>
            <a:lvl9pPr lvl="8" algn="l">
              <a:spcBef>
                <a:spcPts val="0"/>
              </a:spcBef>
              <a:spcAft>
                <a:spcPts val="0"/>
              </a:spcAft>
              <a:buSzPts val="1500"/>
              <a:buNone/>
              <a:defRPr sz="1500"/>
            </a:lvl9pPr>
          </a:lstStyle>
          <a:p/>
        </p:txBody>
      </p:sp>
      <p:sp>
        <p:nvSpPr>
          <p:cNvPr id="291" name="Google Shape;291;g3bd810f5e04_0_6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500"/>
              <a:buNone/>
              <a:defRPr sz="1500"/>
            </a:lvl1pPr>
            <a:lvl2pPr lvl="1" algn="l">
              <a:spcBef>
                <a:spcPts val="0"/>
              </a:spcBef>
              <a:spcAft>
                <a:spcPts val="0"/>
              </a:spcAft>
              <a:buSzPts val="1500"/>
              <a:buNone/>
              <a:defRPr sz="1500"/>
            </a:lvl2pPr>
            <a:lvl3pPr lvl="2" algn="l">
              <a:spcBef>
                <a:spcPts val="0"/>
              </a:spcBef>
              <a:spcAft>
                <a:spcPts val="0"/>
              </a:spcAft>
              <a:buSzPts val="1500"/>
              <a:buNone/>
              <a:defRPr sz="1500"/>
            </a:lvl3pPr>
            <a:lvl4pPr lvl="3" algn="l">
              <a:spcBef>
                <a:spcPts val="0"/>
              </a:spcBef>
              <a:spcAft>
                <a:spcPts val="0"/>
              </a:spcAft>
              <a:buSzPts val="1500"/>
              <a:buNone/>
              <a:defRPr sz="1500"/>
            </a:lvl4pPr>
            <a:lvl5pPr lvl="4" algn="l">
              <a:spcBef>
                <a:spcPts val="0"/>
              </a:spcBef>
              <a:spcAft>
                <a:spcPts val="0"/>
              </a:spcAft>
              <a:buSzPts val="1500"/>
              <a:buNone/>
              <a:defRPr sz="1500"/>
            </a:lvl5pPr>
            <a:lvl6pPr lvl="5" algn="l">
              <a:spcBef>
                <a:spcPts val="0"/>
              </a:spcBef>
              <a:spcAft>
                <a:spcPts val="0"/>
              </a:spcAft>
              <a:buSzPts val="1500"/>
              <a:buNone/>
              <a:defRPr sz="1500"/>
            </a:lvl6pPr>
            <a:lvl7pPr lvl="6" algn="l">
              <a:spcBef>
                <a:spcPts val="0"/>
              </a:spcBef>
              <a:spcAft>
                <a:spcPts val="0"/>
              </a:spcAft>
              <a:buSzPts val="1500"/>
              <a:buNone/>
              <a:defRPr sz="1500"/>
            </a:lvl7pPr>
            <a:lvl8pPr lvl="7" algn="l">
              <a:spcBef>
                <a:spcPts val="0"/>
              </a:spcBef>
              <a:spcAft>
                <a:spcPts val="0"/>
              </a:spcAft>
              <a:buSzPts val="1500"/>
              <a:buNone/>
              <a:defRPr sz="1500"/>
            </a:lvl8pPr>
            <a:lvl9pPr lvl="8" algn="l">
              <a:spcBef>
                <a:spcPts val="0"/>
              </a:spcBef>
              <a:spcAft>
                <a:spcPts val="0"/>
              </a:spcAft>
              <a:buSzPts val="1500"/>
              <a:buNone/>
              <a:defRPr sz="1500"/>
            </a:lvl9pPr>
          </a:lstStyle>
          <a:p/>
        </p:txBody>
      </p:sp>
      <p:sp>
        <p:nvSpPr>
          <p:cNvPr id="292" name="Google Shape;292;g3bd810f5e04_0_6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93" name="Shape 293"/>
        <p:cNvGrpSpPr/>
        <p:nvPr/>
      </p:nvGrpSpPr>
      <p:grpSpPr>
        <a:xfrm>
          <a:off x="0" y="0"/>
          <a:ext cx="0" cy="0"/>
          <a:chOff x="0" y="0"/>
          <a:chExt cx="0" cy="0"/>
        </a:xfrm>
      </p:grpSpPr>
      <p:sp>
        <p:nvSpPr>
          <p:cNvPr id="294" name="Google Shape;294;g3bd810f5e04_0_6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95" name="Google Shape;295;g3bd810f5e04_0_6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2100"/>
              </a:spcAft>
              <a:buClr>
                <a:schemeClr val="dk1"/>
              </a:buClr>
              <a:buSzPts val="1900"/>
              <a:buChar char="■"/>
              <a:defRPr/>
            </a:lvl9pPr>
          </a:lstStyle>
          <a:p/>
        </p:txBody>
      </p:sp>
      <p:sp>
        <p:nvSpPr>
          <p:cNvPr id="296" name="Google Shape;296;g3bd810f5e04_0_6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500"/>
              <a:buNone/>
              <a:defRPr sz="1500"/>
            </a:lvl1pPr>
            <a:lvl2pPr lvl="1" algn="l">
              <a:spcBef>
                <a:spcPts val="0"/>
              </a:spcBef>
              <a:spcAft>
                <a:spcPts val="0"/>
              </a:spcAft>
              <a:buSzPts val="1500"/>
              <a:buNone/>
              <a:defRPr sz="1500"/>
            </a:lvl2pPr>
            <a:lvl3pPr lvl="2" algn="l">
              <a:spcBef>
                <a:spcPts val="0"/>
              </a:spcBef>
              <a:spcAft>
                <a:spcPts val="0"/>
              </a:spcAft>
              <a:buSzPts val="1500"/>
              <a:buNone/>
              <a:defRPr sz="1500"/>
            </a:lvl3pPr>
            <a:lvl4pPr lvl="3" algn="l">
              <a:spcBef>
                <a:spcPts val="0"/>
              </a:spcBef>
              <a:spcAft>
                <a:spcPts val="0"/>
              </a:spcAft>
              <a:buSzPts val="1500"/>
              <a:buNone/>
              <a:defRPr sz="1500"/>
            </a:lvl4pPr>
            <a:lvl5pPr lvl="4" algn="l">
              <a:spcBef>
                <a:spcPts val="0"/>
              </a:spcBef>
              <a:spcAft>
                <a:spcPts val="0"/>
              </a:spcAft>
              <a:buSzPts val="1500"/>
              <a:buNone/>
              <a:defRPr sz="1500"/>
            </a:lvl5pPr>
            <a:lvl6pPr lvl="5" algn="l">
              <a:spcBef>
                <a:spcPts val="0"/>
              </a:spcBef>
              <a:spcAft>
                <a:spcPts val="0"/>
              </a:spcAft>
              <a:buSzPts val="1500"/>
              <a:buNone/>
              <a:defRPr sz="1500"/>
            </a:lvl6pPr>
            <a:lvl7pPr lvl="6" algn="l">
              <a:spcBef>
                <a:spcPts val="0"/>
              </a:spcBef>
              <a:spcAft>
                <a:spcPts val="0"/>
              </a:spcAft>
              <a:buSzPts val="1500"/>
              <a:buNone/>
              <a:defRPr sz="1500"/>
            </a:lvl7pPr>
            <a:lvl8pPr lvl="7" algn="l">
              <a:spcBef>
                <a:spcPts val="0"/>
              </a:spcBef>
              <a:spcAft>
                <a:spcPts val="0"/>
              </a:spcAft>
              <a:buSzPts val="1500"/>
              <a:buNone/>
              <a:defRPr sz="1500"/>
            </a:lvl8pPr>
            <a:lvl9pPr lvl="8" algn="l">
              <a:spcBef>
                <a:spcPts val="0"/>
              </a:spcBef>
              <a:spcAft>
                <a:spcPts val="0"/>
              </a:spcAft>
              <a:buSzPts val="1500"/>
              <a:buNone/>
              <a:defRPr sz="1500"/>
            </a:lvl9pPr>
          </a:lstStyle>
          <a:p/>
        </p:txBody>
      </p:sp>
      <p:sp>
        <p:nvSpPr>
          <p:cNvPr id="297" name="Google Shape;297;g3bd810f5e04_0_6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500"/>
              <a:buNone/>
              <a:defRPr sz="1500"/>
            </a:lvl1pPr>
            <a:lvl2pPr lvl="1" algn="l">
              <a:spcBef>
                <a:spcPts val="0"/>
              </a:spcBef>
              <a:spcAft>
                <a:spcPts val="0"/>
              </a:spcAft>
              <a:buSzPts val="1500"/>
              <a:buNone/>
              <a:defRPr sz="1500"/>
            </a:lvl2pPr>
            <a:lvl3pPr lvl="2" algn="l">
              <a:spcBef>
                <a:spcPts val="0"/>
              </a:spcBef>
              <a:spcAft>
                <a:spcPts val="0"/>
              </a:spcAft>
              <a:buSzPts val="1500"/>
              <a:buNone/>
              <a:defRPr sz="1500"/>
            </a:lvl3pPr>
            <a:lvl4pPr lvl="3" algn="l">
              <a:spcBef>
                <a:spcPts val="0"/>
              </a:spcBef>
              <a:spcAft>
                <a:spcPts val="0"/>
              </a:spcAft>
              <a:buSzPts val="1500"/>
              <a:buNone/>
              <a:defRPr sz="1500"/>
            </a:lvl4pPr>
            <a:lvl5pPr lvl="4" algn="l">
              <a:spcBef>
                <a:spcPts val="0"/>
              </a:spcBef>
              <a:spcAft>
                <a:spcPts val="0"/>
              </a:spcAft>
              <a:buSzPts val="1500"/>
              <a:buNone/>
              <a:defRPr sz="1500"/>
            </a:lvl5pPr>
            <a:lvl6pPr lvl="5" algn="l">
              <a:spcBef>
                <a:spcPts val="0"/>
              </a:spcBef>
              <a:spcAft>
                <a:spcPts val="0"/>
              </a:spcAft>
              <a:buSzPts val="1500"/>
              <a:buNone/>
              <a:defRPr sz="1500"/>
            </a:lvl6pPr>
            <a:lvl7pPr lvl="6" algn="l">
              <a:spcBef>
                <a:spcPts val="0"/>
              </a:spcBef>
              <a:spcAft>
                <a:spcPts val="0"/>
              </a:spcAft>
              <a:buSzPts val="1500"/>
              <a:buNone/>
              <a:defRPr sz="1500"/>
            </a:lvl7pPr>
            <a:lvl8pPr lvl="7" algn="l">
              <a:spcBef>
                <a:spcPts val="0"/>
              </a:spcBef>
              <a:spcAft>
                <a:spcPts val="0"/>
              </a:spcAft>
              <a:buSzPts val="1500"/>
              <a:buNone/>
              <a:defRPr sz="1500"/>
            </a:lvl8pPr>
            <a:lvl9pPr lvl="8" algn="l">
              <a:spcBef>
                <a:spcPts val="0"/>
              </a:spcBef>
              <a:spcAft>
                <a:spcPts val="0"/>
              </a:spcAft>
              <a:buSzPts val="1500"/>
              <a:buNone/>
              <a:defRPr sz="1500"/>
            </a:lvl9pPr>
          </a:lstStyle>
          <a:p/>
        </p:txBody>
      </p:sp>
      <p:sp>
        <p:nvSpPr>
          <p:cNvPr id="298" name="Google Shape;298;g3bd810f5e04_0_6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1">
  <p:cSld name="SECTION_HEADER_1_1_1_1_1">
    <p:spTree>
      <p:nvGrpSpPr>
        <p:cNvPr id="299" name="Shape 299"/>
        <p:cNvGrpSpPr/>
        <p:nvPr/>
      </p:nvGrpSpPr>
      <p:grpSpPr>
        <a:xfrm>
          <a:off x="0" y="0"/>
          <a:ext cx="0" cy="0"/>
          <a:chOff x="0" y="0"/>
          <a:chExt cx="0" cy="0"/>
        </a:xfrm>
      </p:grpSpPr>
      <p:pic>
        <p:nvPicPr>
          <p:cNvPr id="300" name="Google Shape;300;g3bd810f5e04_0_625" title="logo.png"/>
          <p:cNvPicPr preferRelativeResize="0"/>
          <p:nvPr/>
        </p:nvPicPr>
        <p:blipFill rotWithShape="1">
          <a:blip r:embed="rId2">
            <a:alphaModFix/>
          </a:blip>
          <a:srcRect b="0" l="0" r="0" t="0"/>
          <a:stretch/>
        </p:blipFill>
        <p:spPr>
          <a:xfrm>
            <a:off x="5489070" y="5971023"/>
            <a:ext cx="1213866" cy="277433"/>
          </a:xfrm>
          <a:prstGeom prst="rect">
            <a:avLst/>
          </a:prstGeom>
          <a:noFill/>
          <a:ln>
            <a:noFill/>
          </a:ln>
        </p:spPr>
      </p:pic>
    </p:spTree>
  </p:cSld>
  <p:clrMapOvr>
    <a:masterClrMapping/>
  </p:clrMapOvr>
  <p:extLst>
    <p:ext uri="{DCECCB84-F9BA-43D5-87BE-67443E8EF086}">
      <p15:sldGuideLst>
        <p15:guide id="1" pos="241">
          <p15:clr>
            <a:srgbClr val="E46962"/>
          </p15:clr>
        </p15:guide>
        <p15:guide id="2" orient="horz" pos="235">
          <p15:clr>
            <a:srgbClr val="E46962"/>
          </p15:clr>
        </p15:guide>
        <p15:guide id="3" pos="7439">
          <p15:clr>
            <a:srgbClr val="E46962"/>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5">
    <p:spTree>
      <p:nvGrpSpPr>
        <p:cNvPr id="301" name="Shape 301"/>
        <p:cNvGrpSpPr/>
        <p:nvPr/>
      </p:nvGrpSpPr>
      <p:grpSpPr>
        <a:xfrm>
          <a:off x="0" y="0"/>
          <a:ext cx="0" cy="0"/>
          <a:chOff x="0" y="0"/>
          <a:chExt cx="0" cy="0"/>
        </a:xfrm>
      </p:grpSpPr>
      <p:sp>
        <p:nvSpPr>
          <p:cNvPr id="302" name="Google Shape;302;g3bd810f5e04_0_627"/>
          <p:cNvSpPr txBox="1"/>
          <p:nvPr>
            <p:ph type="ctrTitle"/>
          </p:nvPr>
        </p:nvSpPr>
        <p:spPr>
          <a:xfrm>
            <a:off x="942200" y="548567"/>
            <a:ext cx="10307700" cy="17163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Clr>
                <a:schemeClr val="lt1"/>
              </a:buClr>
              <a:buSzPts val="8000"/>
              <a:buFont typeface="Fira Sans"/>
              <a:buNone/>
              <a:defRPr b="1" sz="8000">
                <a:solidFill>
                  <a:schemeClr val="lt1"/>
                </a:solidFill>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pic>
        <p:nvPicPr>
          <p:cNvPr id="303" name="Google Shape;303;g3bd810f5e04_0_627"/>
          <p:cNvPicPr preferRelativeResize="0"/>
          <p:nvPr/>
        </p:nvPicPr>
        <p:blipFill rotWithShape="1">
          <a:blip r:embed="rId2">
            <a:alphaModFix/>
          </a:blip>
          <a:srcRect b="0" l="0" r="0" t="0"/>
          <a:stretch/>
        </p:blipFill>
        <p:spPr>
          <a:xfrm>
            <a:off x="1734133" y="2478600"/>
            <a:ext cx="8723733" cy="1900800"/>
          </a:xfrm>
          <a:prstGeom prst="rect">
            <a:avLst/>
          </a:prstGeom>
          <a:noFill/>
          <a:ln>
            <a:noFill/>
          </a:ln>
        </p:spPr>
      </p:pic>
      <p:sp>
        <p:nvSpPr>
          <p:cNvPr id="304" name="Google Shape;304;g3bd810f5e04_0_627"/>
          <p:cNvSpPr txBox="1"/>
          <p:nvPr/>
        </p:nvSpPr>
        <p:spPr>
          <a:xfrm>
            <a:off x="2017267" y="5007733"/>
            <a:ext cx="8440500" cy="1209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05" name="Google Shape;305;g3bd810f5e04_0_62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slideLayout" Target="../slideLayouts/slideLayout46.xml"/><Relationship Id="rId14" Type="http://schemas.openxmlformats.org/officeDocument/2006/relationships/slideLayout" Target="../slideLayouts/slideLayout47.xml"/><Relationship Id="rId15" Type="http://schemas.openxmlformats.org/officeDocument/2006/relationships/slideLayout" Target="../slideLayouts/slideLayout48.xml"/><Relationship Id="rId16" Type="http://schemas.openxmlformats.org/officeDocument/2006/relationships/slideLayout" Target="../slideLayouts/slideLayout49.xml"/><Relationship Id="rId17" Type="http://schemas.openxmlformats.org/officeDocument/2006/relationships/slideLayout" Target="../slideLayouts/slideLayout50.xml"/><Relationship Id="rId18" Type="http://schemas.openxmlformats.org/officeDocument/2006/relationships/slideLayout" Target="../slideLayouts/slideLayout51.xml"/><Relationship Id="rId19" Type="http://schemas.openxmlformats.org/officeDocument/2006/relationships/slideLayout" Target="../slideLayouts/slideLayout52.xml"/><Relationship Id="rId20" Type="http://schemas.openxmlformats.org/officeDocument/2006/relationships/slideLayout" Target="../slideLayouts/slideLayout53.xml"/><Relationship Id="rId21" Type="http://schemas.openxmlformats.org/officeDocument/2006/relationships/slideLayout" Target="../slideLayouts/slideLayout54.xml"/><Relationship Id="rId22" Type="http://schemas.openxmlformats.org/officeDocument/2006/relationships/slideLayout" Target="../slideLayouts/slideLayout55.xml"/><Relationship Id="rId23" Type="http://schemas.openxmlformats.org/officeDocument/2006/relationships/slideLayout" Target="../slideLayouts/slideLayout56.xml"/><Relationship Id="rId24" Type="http://schemas.openxmlformats.org/officeDocument/2006/relationships/slideLayout" Target="../slideLayouts/slideLayout57.xml"/><Relationship Id="rId25" Type="http://schemas.openxmlformats.org/officeDocument/2006/relationships/slideLayout" Target="../slideLayouts/slideLayout58.xml"/><Relationship Id="rId26" Type="http://schemas.openxmlformats.org/officeDocument/2006/relationships/slideLayout" Target="../slideLayouts/slideLayout59.xml"/><Relationship Id="rId27" Type="http://schemas.openxmlformats.org/officeDocument/2006/relationships/slideLayout" Target="../slideLayouts/slideLayout60.xml"/><Relationship Id="rId28" Type="http://schemas.openxmlformats.org/officeDocument/2006/relationships/slideLayout" Target="../slideLayouts/slideLayout61.xml"/><Relationship Id="rId29" Type="http://schemas.openxmlformats.org/officeDocument/2006/relationships/slideLayout" Target="../slideLayouts/slideLayout62.xml"/><Relationship Id="rId30" Type="http://schemas.openxmlformats.org/officeDocument/2006/relationships/slideLayout" Target="../slideLayouts/slideLayout63.xml"/><Relationship Id="rId31" Type="http://schemas.openxmlformats.org/officeDocument/2006/relationships/slideLayout" Target="../slideLayouts/slideLayout64.xml"/><Relationship Id="rId32" Type="http://schemas.openxmlformats.org/officeDocument/2006/relationships/slideLayout" Target="../slideLayouts/slideLayout65.xml"/><Relationship Id="rId33" Type="http://schemas.openxmlformats.org/officeDocument/2006/relationships/slideLayout" Target="../slideLayouts/slideLayout66.xml"/><Relationship Id="rId34" Type="http://schemas.openxmlformats.org/officeDocument/2006/relationships/slideLayout" Target="../slideLayouts/slideLayout67.xml"/><Relationship Id="rId35" Type="http://schemas.openxmlformats.org/officeDocument/2006/relationships/slideLayout" Target="../slideLayouts/slideLayout68.xml"/><Relationship Id="rId36" Type="http://schemas.openxmlformats.org/officeDocument/2006/relationships/slideLayout" Target="../slideLayouts/slideLayout69.xml"/><Relationship Id="rId3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5" name="Shape 5"/>
        <p:cNvGrpSpPr/>
        <p:nvPr/>
      </p:nvGrpSpPr>
      <p:grpSpPr>
        <a:xfrm>
          <a:off x="0" y="0"/>
          <a:ext cx="0" cy="0"/>
          <a:chOff x="0" y="0"/>
          <a:chExt cx="0" cy="0"/>
        </a:xfrm>
      </p:grpSpPr>
      <p:sp>
        <p:nvSpPr>
          <p:cNvPr id="6" name="Google Shape;6;g3b9776985b8_0_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3896D2"/>
              </a:buClr>
              <a:buSzPts val="3700"/>
              <a:buFont typeface="Fira Sans"/>
              <a:buNone/>
              <a:defRPr b="0" i="0" sz="3700" u="none" cap="none" strike="noStrike">
                <a:solidFill>
                  <a:srgbClr val="3896D2"/>
                </a:solidFill>
                <a:latin typeface="Fira Sans"/>
                <a:ea typeface="Fira Sans"/>
                <a:cs typeface="Fira Sans"/>
                <a:sym typeface="Fira Sans"/>
              </a:defRPr>
            </a:lvl1pPr>
            <a:lvl2pPr lvl="1"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2pPr>
            <a:lvl3pPr lvl="2"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3pPr>
            <a:lvl4pPr lvl="3"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4pPr>
            <a:lvl5pPr lvl="4"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5pPr>
            <a:lvl6pPr lvl="5"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6pPr>
            <a:lvl7pPr lvl="6"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7pPr>
            <a:lvl8pPr lvl="7"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8pPr>
            <a:lvl9pPr lvl="8"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9pPr>
          </a:lstStyle>
          <a:p/>
        </p:txBody>
      </p:sp>
      <p:sp>
        <p:nvSpPr>
          <p:cNvPr id="7" name="Google Shape;7;g3b9776985b8_0_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rgbClr val="FFFFFF"/>
              </a:buClr>
              <a:buSzPts val="2400"/>
              <a:buFont typeface="Fira Sans"/>
              <a:buChar char="●"/>
              <a:defRPr b="0" i="0" sz="2400" u="none" cap="none" strike="noStrike">
                <a:solidFill>
                  <a:srgbClr val="FFFFFF"/>
                </a:solidFill>
                <a:latin typeface="Fira Sans"/>
                <a:ea typeface="Fira Sans"/>
                <a:cs typeface="Fira Sans"/>
                <a:sym typeface="Fira Sans"/>
              </a:defRPr>
            </a:lvl1pPr>
            <a:lvl2pPr indent="-349250" lvl="1" marL="9144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2pPr>
            <a:lvl3pPr indent="-349250" lvl="2" marL="13716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3pPr>
            <a:lvl4pPr indent="-349250" lvl="3" marL="18288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4pPr>
            <a:lvl5pPr indent="-349250" lvl="4" marL="22860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5pPr>
            <a:lvl6pPr indent="-349250" lvl="5" marL="27432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6pPr>
            <a:lvl7pPr indent="-349250" lvl="6" marL="32004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7pPr>
            <a:lvl8pPr indent="-349250" lvl="7" marL="36576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8pPr>
            <a:lvl9pPr indent="-349250" lvl="8" marL="4114800" marR="0" rtl="0" algn="l">
              <a:lnSpc>
                <a:spcPct val="115000"/>
              </a:lnSpc>
              <a:spcBef>
                <a:spcPts val="2100"/>
              </a:spcBef>
              <a:spcAft>
                <a:spcPts val="210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9pPr>
          </a:lstStyle>
          <a:p/>
        </p:txBody>
      </p:sp>
      <p:sp>
        <p:nvSpPr>
          <p:cNvPr id="8" name="Google Shape;8;g3b9776985b8_0_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g3b9776985b8_0_0"/>
          <p:cNvPicPr preferRelativeResize="0"/>
          <p:nvPr/>
        </p:nvPicPr>
        <p:blipFill rotWithShape="1">
          <a:blip r:embed="rId1">
            <a:alphaModFix/>
          </a:blip>
          <a:srcRect b="-7261" l="-15064" r="-2072" t="-9875"/>
          <a:stretch/>
        </p:blipFill>
        <p:spPr>
          <a:xfrm>
            <a:off x="9164466" y="4628439"/>
            <a:ext cx="3451975" cy="34519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153" name="Shape 153"/>
        <p:cNvGrpSpPr/>
        <p:nvPr/>
      </p:nvGrpSpPr>
      <p:grpSpPr>
        <a:xfrm>
          <a:off x="0" y="0"/>
          <a:ext cx="0" cy="0"/>
          <a:chOff x="0" y="0"/>
          <a:chExt cx="0" cy="0"/>
        </a:xfrm>
      </p:grpSpPr>
      <p:sp>
        <p:nvSpPr>
          <p:cNvPr id="154" name="Google Shape;154;g3bd810f5e04_0_4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algn="l">
              <a:lnSpc>
                <a:spcPct val="100000"/>
              </a:lnSpc>
              <a:spcBef>
                <a:spcPts val="0"/>
              </a:spcBef>
              <a:spcAft>
                <a:spcPts val="0"/>
              </a:spcAft>
              <a:buClr>
                <a:srgbClr val="3896D2"/>
              </a:buClr>
              <a:buSzPts val="3700"/>
              <a:buFont typeface="Fira Sans"/>
              <a:buNone/>
              <a:defRPr b="0" i="0" sz="3700" u="none" cap="none" strike="noStrike">
                <a:solidFill>
                  <a:srgbClr val="3896D2"/>
                </a:solidFill>
                <a:latin typeface="Fira Sans"/>
                <a:ea typeface="Fira Sans"/>
                <a:cs typeface="Fira Sans"/>
                <a:sym typeface="Fira Sans"/>
              </a:defRPr>
            </a:lvl1pPr>
            <a:lvl2pPr lvl="1"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2pPr>
            <a:lvl3pPr lvl="2"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3pPr>
            <a:lvl4pPr lvl="3"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4pPr>
            <a:lvl5pPr lvl="4"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5pPr>
            <a:lvl6pPr lvl="5"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6pPr>
            <a:lvl7pPr lvl="6"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7pPr>
            <a:lvl8pPr lvl="7"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8pPr>
            <a:lvl9pPr lvl="8"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9pPr>
          </a:lstStyle>
          <a:p/>
        </p:txBody>
      </p:sp>
      <p:sp>
        <p:nvSpPr>
          <p:cNvPr id="155" name="Google Shape;155;g3bd810f5e04_0_4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algn="l">
              <a:lnSpc>
                <a:spcPct val="115000"/>
              </a:lnSpc>
              <a:spcBef>
                <a:spcPts val="0"/>
              </a:spcBef>
              <a:spcAft>
                <a:spcPts val="0"/>
              </a:spcAft>
              <a:buClr>
                <a:srgbClr val="FFFFFF"/>
              </a:buClr>
              <a:buSzPts val="2400"/>
              <a:buFont typeface="Fira Sans"/>
              <a:buChar char="●"/>
              <a:defRPr b="0" i="0" sz="2400" u="none" cap="none" strike="noStrike">
                <a:solidFill>
                  <a:srgbClr val="FFFFFF"/>
                </a:solidFill>
                <a:latin typeface="Fira Sans"/>
                <a:ea typeface="Fira Sans"/>
                <a:cs typeface="Fira Sans"/>
                <a:sym typeface="Fira Sans"/>
              </a:defRPr>
            </a:lvl1pPr>
            <a:lvl2pPr indent="-349250" lvl="1" marL="9144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2pPr>
            <a:lvl3pPr indent="-349250" lvl="2" marL="13716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3pPr>
            <a:lvl4pPr indent="-349250" lvl="3" marL="18288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4pPr>
            <a:lvl5pPr indent="-349250" lvl="4" marL="22860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5pPr>
            <a:lvl6pPr indent="-349250" lvl="5" marL="27432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6pPr>
            <a:lvl7pPr indent="-349250" lvl="6" marL="32004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7pPr>
            <a:lvl8pPr indent="-349250" lvl="7" marL="36576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8pPr>
            <a:lvl9pPr indent="-349250" lvl="8" marL="4114800" marR="0" algn="l">
              <a:lnSpc>
                <a:spcPct val="115000"/>
              </a:lnSpc>
              <a:spcBef>
                <a:spcPts val="2100"/>
              </a:spcBef>
              <a:spcAft>
                <a:spcPts val="210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9pPr>
          </a:lstStyle>
          <a:p/>
        </p:txBody>
      </p:sp>
      <p:sp>
        <p:nvSpPr>
          <p:cNvPr id="156" name="Google Shape;156;g3bd810f5e04_0_47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pic>
        <p:nvPicPr>
          <p:cNvPr id="157" name="Google Shape;157;g3bd810f5e04_0_479"/>
          <p:cNvPicPr preferRelativeResize="0"/>
          <p:nvPr/>
        </p:nvPicPr>
        <p:blipFill rotWithShape="1">
          <a:blip r:embed="rId1">
            <a:alphaModFix/>
          </a:blip>
          <a:srcRect b="-7263" l="-15064" r="-2073" t="-9875"/>
          <a:stretch/>
        </p:blipFill>
        <p:spPr>
          <a:xfrm>
            <a:off x="9164466" y="4628439"/>
            <a:ext cx="3451977" cy="345197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operations@interviewkickstart.com" TargetMode="External"/><Relationship Id="rId3" Type="http://schemas.openxmlformats.org/officeDocument/2006/relationships/image" Target="../media/image50.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ANI-IN/harness-engineering-session" TargetMode="Externa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openai.com/index/harness-engineering/" TargetMode="External"/><Relationship Id="rId3" Type="http://schemas.openxmlformats.org/officeDocument/2006/relationships/hyperlink" Target="https://www.anthropic.com/engineering/effective-harnesses-for-long-running-agents" TargetMode="External"/><Relationship Id="rId4" Type="http://schemas.openxmlformats.org/officeDocument/2006/relationships/hyperlink" Target="https://www.anthropic.com/engineering/harness-design-long-running-apps" TargetMode="Externa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hyperlink" Target="https://github.com/jeev1992/SupportDesk-RAG-Workshop/blob/master/modules/1_embeddings/notes.md" TargetMode="Externa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lMVv3qz-rHs" TargetMode="External"/><Relationship Id="rId3" Type="http://schemas.openxmlformats.org/officeDocument/2006/relationships/image" Target="../media/image35.jpg"/><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hyperlink" Target="https://github.com/jeev1992/SupportDesk-RAG-Workshop/blob/master/modules/1_embeddings/notes.md" TargetMode="Externa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hyperlink" Target="https://github.com/jeev1992/SupportDesk-RAG-Workshop/blob/master/modules/1_embeddings/notes.md" TargetMode="External"/><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qgnDbQ1aM54" TargetMode="External"/><Relationship Id="rId3" Type="http://schemas.openxmlformats.org/officeDocument/2006/relationships/image" Target="../media/image47.jpg"/><Relationship Id="rId4"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hyperlink" Target="https://github.com/jeev1992/SupportDesk-RAG-Workshop/blob/master/modules/1_embeddings/notes.md" TargetMode="Externa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openai.com/index/harness-engineering/" TargetMode="External"/><Relationship Id="rId3" Type="http://schemas.openxmlformats.org/officeDocument/2006/relationships/hyperlink" Target="https://www.anthropic.com/engineering/effective-harnesses-for-long-running-agents" TargetMode="External"/><Relationship Id="rId4" Type="http://schemas.openxmlformats.org/officeDocument/2006/relationships/hyperlink" Target="https://www.anthropic.com/engineering/harness-design-long-running-apps" TargetMode="External"/><Relationship Id="rId5" Type="http://schemas.openxmlformats.org/officeDocument/2006/relationships/hyperlink" Target="https://www.anthropic.com/engineering/building-c-compiler" TargetMode="External"/><Relationship Id="rId6" Type="http://schemas.openxmlformats.org/officeDocument/2006/relationships/hyperlink" Target="https://docs.langchain.com/langsmith/billing" TargetMode="External"/><Relationship Id="rId7" Type="http://schemas.openxmlformats.org/officeDocument/2006/relationships/hyperlink" Target="https://agentskills.io/specification" TargetMode="External"/><Relationship Id="rId8" Type="http://schemas.openxmlformats.org/officeDocument/2006/relationships/hyperlink" Target="https://code.claude.com/docs/en/skills" TargetMode="External"/><Relationship Id="rId9" Type="http://schemas.openxmlformats.org/officeDocument/2006/relationships/hyperlink" Target="https://learn.chatgpt.com/docs/build-skills" TargetMode="External"/><Relationship Id="rId10" Type="http://schemas.openxmlformats.org/officeDocument/2006/relationships/hyperlink" Target="https://cursor.com/docs/skills" TargetMode="External"/><Relationship Id="rId11"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okbook.openai.com/articles/codex_exec_plans" TargetMode="External"/><Relationship Id="rId3" Type="http://schemas.openxmlformats.org/officeDocument/2006/relationships/hyperlink" Target="https://docs.docker.com/engine/network/drivers/none/" TargetMode="External"/><Relationship Id="rId4" Type="http://schemas.openxmlformats.org/officeDocument/2006/relationships/hyperlink" Target="https://arxiv.org/abs/2605.21384" TargetMode="External"/><Relationship Id="rId5" Type="http://schemas.openxmlformats.org/officeDocument/2006/relationships/hyperlink" Target="https://github.com/WecoAI/SpecBench" TargetMode="External"/><Relationship Id="rId6" Type="http://schemas.openxmlformats.org/officeDocument/2006/relationships/hyperlink" Target="https://arxiv.org/abs/2402.09171" TargetMode="External"/><Relationship Id="rId7" Type="http://schemas.openxmlformats.org/officeDocument/2006/relationships/hyperlink" Target="https://arxiv.org/abs/2501.12862" TargetMode="External"/><Relationship Id="rId8" Type="http://schemas.openxmlformats.org/officeDocument/2006/relationships/hyperlink" Target="https://github.com/anthropics/claude-quickstarts/tree/main/autonomous-coding" TargetMode="External"/><Relationship Id="rId9" Type="http://schemas.openxmlformats.org/officeDocument/2006/relationships/hyperlink" Target="https://agentskills.io/home" TargetMode="External"/><Relationship Id="rId10" Type="http://schemas.openxmlformats.org/officeDocument/2006/relationships/hyperlink" Target="https://agentskills.io/client-implementation/adding-skills-support.md" TargetMode="External"/><Relationship Id="rId11"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notesSlide" Target="../notesSlides/notesSlide144.xml"/></Relationships>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21207" y="1371600"/>
            <a:ext cx="11155680" cy="2103120"/>
          </a:xfrm>
        </p:spPr>
        <p:txBody>
          <a:bodyPr wrap="square" anchor="b">
            <a:noAutofit/>
          </a:bodyPr>
          <a:lstStyle/>
          <a:p>
            <a:pPr marL="0" indent="0" algn="ctr">
              <a:lnSpc>
                <a:spcPct val="100000"/>
              </a:lnSpc>
              <a:spcBef>
                <a:spcPts val="0"/>
              </a:spcBef>
              <a:spcAft>
                <a:spcPts val="0"/>
              </a:spcAft>
              <a:buNone/>
            </a:pPr>
            <a:r>
              <a:rPr sz="4400" b="1" i="0">
                <a:solidFill>
                  <a:srgbClr val="3896D2"/>
                </a:solidFill>
                <a:latin typeface="Fira Sans"/>
              </a:rPr>
              <a:t>Module 1:</a:t>
            </a:r>
            <a:br/>
            <a:r>
              <a:rPr sz="4400" b="1" i="0">
                <a:solidFill>
                  <a:srgbClr val="FFFFFF"/>
                </a:solidFill>
                <a:latin typeface="Fira Sans"/>
              </a:rPr>
              <a:t>Harness Engineering for Coding Agents</a:t>
            </a:r>
          </a:p>
        </p:txBody>
      </p:sp>
      <p:sp>
        <p:nvSpPr>
          <p:cNvPr id="3" name="Subtitle 2"/>
          <p:cNvSpPr>
            <a:spLocks noGrp="1"/>
          </p:cNvSpPr>
          <p:nvPr>
            <p:ph type="subTitle" idx="1"/>
          </p:nvPr>
        </p:nvSpPr>
        <p:spPr>
          <a:xfrm>
            <a:off x="521207" y="3657600"/>
            <a:ext cx="11155680" cy="914400"/>
          </a:xfrm>
        </p:spPr>
        <p:txBody>
          <a:bodyPr wrap="square" anchor="t">
            <a:noAutofit/>
          </a:bodyPr>
          <a:lstStyle/>
          <a:p>
            <a:pPr marL="0" indent="0" algn="ctr">
              <a:lnSpc>
                <a:spcPct val="100000"/>
              </a:lnSpc>
              <a:spcBef>
                <a:spcPts val="0"/>
              </a:spcBef>
              <a:spcAft>
                <a:spcPts val="0"/>
              </a:spcAft>
              <a:buNone/>
            </a:pPr>
            <a:r>
              <a:rPr sz="2400" b="0" i="0">
                <a:solidFill>
                  <a:srgbClr val="FFFFFF"/>
                </a:solidFill>
                <a:latin typeface="Fira Sans"/>
              </a:rPr>
              <a:t>Instructions, state, scope, verification: build each layer, then measure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Introduction:</a:t>
            </a:r>
            <a:r>
              <a:rPr sz="3000" b="1" i="0">
                <a:solidFill>
                  <a:srgbClr val="FFFFFF"/>
                </a:solidFill>
                <a:latin typeface="Fira Sans"/>
              </a:rPr>
              <a:t> Who is teaching today</a:t>
            </a:r>
          </a:p>
        </p:txBody>
      </p:sp>
      <p:sp>
        <p:nvSpPr>
          <p:cNvPr id="3" name="TextBox 2"/>
          <p:cNvSpPr txBox="1"/>
          <p:nvPr/>
        </p:nvSpPr>
        <p:spPr>
          <a:xfrm>
            <a:off x="548640" y="749807"/>
            <a:ext cx="11094415" cy="41148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Your instructor, in 30 seconds:</a:t>
            </a:r>
          </a:p>
        </p:txBody>
      </p:sp>
      <p:sp>
        <p:nvSpPr>
          <p:cNvPr id="4" name="Rounded Rectangle 3"/>
          <p:cNvSpPr/>
          <p:nvPr/>
        </p:nvSpPr>
        <p:spPr>
          <a:xfrm>
            <a:off x="1316736" y="1869948"/>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Where they ship code with coding agents</a:t>
            </a:r>
          </a:p>
        </p:txBody>
      </p:sp>
      <p:sp>
        <p:nvSpPr>
          <p:cNvPr id="5" name="Oval 4"/>
          <p:cNvSpPr/>
          <p:nvPr/>
        </p:nvSpPr>
        <p:spPr>
          <a:xfrm>
            <a:off x="548640" y="1869948"/>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6" name="Rounded Rectangle 5"/>
          <p:cNvSpPr/>
          <p:nvPr/>
        </p:nvSpPr>
        <p:spPr>
          <a:xfrm>
            <a:off x="1316736" y="2848356"/>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One agent failure they had to debug</a:t>
            </a:r>
          </a:p>
        </p:txBody>
      </p:sp>
      <p:sp>
        <p:nvSpPr>
          <p:cNvPr id="7" name="Oval 6"/>
          <p:cNvSpPr/>
          <p:nvPr/>
        </p:nvSpPr>
        <p:spPr>
          <a:xfrm>
            <a:off x="548640" y="2848356"/>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8" name="Rounded Rectangle 7"/>
          <p:cNvSpPr/>
          <p:nvPr/>
        </p:nvSpPr>
        <p:spPr>
          <a:xfrm>
            <a:off x="1316736" y="3826764"/>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The harness layer they would add first</a:t>
            </a:r>
          </a:p>
        </p:txBody>
      </p:sp>
      <p:sp>
        <p:nvSpPr>
          <p:cNvPr id="9" name="Oval 8"/>
          <p:cNvSpPr/>
          <p:nvPr/>
        </p:nvSpPr>
        <p:spPr>
          <a:xfrm>
            <a:off x="548640" y="3826764"/>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0" name="Rounded Rectangle 9"/>
          <p:cNvSpPr/>
          <p:nvPr/>
        </p:nvSpPr>
        <p:spPr>
          <a:xfrm>
            <a:off x="1316736" y="4805172"/>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Where to reach them after class</a:t>
            </a:r>
          </a:p>
        </p:txBody>
      </p:sp>
      <p:sp>
        <p:nvSpPr>
          <p:cNvPr id="11" name="Oval 10"/>
          <p:cNvSpPr/>
          <p:nvPr/>
        </p:nvSpPr>
        <p:spPr>
          <a:xfrm>
            <a:off x="548640" y="4805172"/>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7" name="Google Shape;327;g3b9776985b8_2_142"/>
          <p:cNvSpPr txBox="1"/>
          <p:nvPr>
            <p:ph idx="12" type="sldNum"/>
          </p:nvPr>
        </p:nvSpPr>
        <p:spPr>
          <a:xfrm>
            <a:off x="113659" y="8361986"/>
            <a:ext cx="975600" cy="699600"/>
          </a:xfrm>
          <a:prstGeom prst="rect">
            <a:avLst/>
          </a:prstGeom>
          <a:noFill/>
          <a:ln>
            <a:noFill/>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Clr>
                <a:srgbClr val="000000"/>
              </a:buClr>
              <a:buSzPts val="1900"/>
              <a:buFont typeface="Arial"/>
              <a:buNone/>
            </a:pPr>
            <a:fld id="{00000000-1234-1234-1234-123412341234}" type="slidenum">
              <a:rPr lang="en-US"/>
              <a:t>‹#›</a:t>
            </a:fld>
            <a:endParaRPr/>
          </a:p>
        </p:txBody>
      </p:sp>
      <p:sp>
        <p:nvSpPr>
          <p:cNvPr id="328" name="Google Shape;328;g3b9776985b8_2_142"/>
          <p:cNvSpPr txBox="1"/>
          <p:nvPr>
            <p:ph idx="1" type="body"/>
          </p:nvPr>
        </p:nvSpPr>
        <p:spPr>
          <a:xfrm>
            <a:off x="1498525" y="2658421"/>
            <a:ext cx="2068500" cy="10179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700">
                <a:solidFill>
                  <a:schemeClr val="lt1"/>
                </a:solidFill>
              </a:rPr>
              <a:t>Name</a:t>
            </a:r>
            <a:endParaRPr b="1" sz="2700"/>
          </a:p>
        </p:txBody>
      </p:sp>
      <p:grpSp>
        <p:nvGrpSpPr>
          <p:cNvPr id="329" name="Google Shape;329;g3b9776985b8_2_142"/>
          <p:cNvGrpSpPr/>
          <p:nvPr/>
        </p:nvGrpSpPr>
        <p:grpSpPr>
          <a:xfrm>
            <a:off x="3744193" y="2530187"/>
            <a:ext cx="1902977" cy="1901777"/>
            <a:chOff x="3145150" y="1332175"/>
            <a:chExt cx="1427268" cy="1426368"/>
          </a:xfrm>
        </p:grpSpPr>
        <p:sp>
          <p:nvSpPr>
            <p:cNvPr id="330" name="Google Shape;330;g3b9776985b8_2_142"/>
            <p:cNvSpPr/>
            <p:nvPr/>
          </p:nvSpPr>
          <p:spPr>
            <a:xfrm>
              <a:off x="3145150" y="1332175"/>
              <a:ext cx="765000" cy="765000"/>
            </a:xfrm>
            <a:prstGeom prst="ellipse">
              <a:avLst/>
            </a:prstGeom>
            <a:solidFill>
              <a:srgbClr val="FBB831"/>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33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3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331" name="Google Shape;331;g3b9776985b8_2_142"/>
            <p:cNvCxnSpPr>
              <a:endCxn id="330" idx="5"/>
            </p:cNvCxnSpPr>
            <p:nvPr/>
          </p:nvCxnSpPr>
          <p:spPr>
            <a:xfrm rot="10800000">
              <a:off x="3798118" y="1985143"/>
              <a:ext cx="774300" cy="773400"/>
            </a:xfrm>
            <a:prstGeom prst="straightConnector1">
              <a:avLst/>
            </a:prstGeom>
            <a:noFill/>
            <a:ln cap="flat" cmpd="sng" w="19050">
              <a:solidFill>
                <a:srgbClr val="FBB831"/>
              </a:solidFill>
              <a:prstDash val="solid"/>
              <a:round/>
              <a:headEnd len="sm" w="sm" type="none"/>
              <a:tailEnd len="sm" w="sm" type="none"/>
            </a:ln>
          </p:spPr>
        </p:cxnSp>
      </p:grpSp>
      <p:grpSp>
        <p:nvGrpSpPr>
          <p:cNvPr id="332" name="Google Shape;332;g3b9776985b8_2_142"/>
          <p:cNvGrpSpPr/>
          <p:nvPr/>
        </p:nvGrpSpPr>
        <p:grpSpPr>
          <a:xfrm>
            <a:off x="5647052" y="2530187"/>
            <a:ext cx="1899777" cy="1904977"/>
            <a:chOff x="4572332" y="1332175"/>
            <a:chExt cx="1424868" cy="1428768"/>
          </a:xfrm>
        </p:grpSpPr>
        <p:sp>
          <p:nvSpPr>
            <p:cNvPr id="333" name="Google Shape;333;g3b9776985b8_2_142"/>
            <p:cNvSpPr/>
            <p:nvPr/>
          </p:nvSpPr>
          <p:spPr>
            <a:xfrm>
              <a:off x="5232200" y="1332175"/>
              <a:ext cx="765000" cy="765000"/>
            </a:xfrm>
            <a:prstGeom prst="ellipse">
              <a:avLst/>
            </a:prstGeom>
            <a:solidFill>
              <a:srgbClr val="FB8569"/>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33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3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334" name="Google Shape;334;g3b9776985b8_2_142"/>
            <p:cNvCxnSpPr>
              <a:endCxn id="333" idx="3"/>
            </p:cNvCxnSpPr>
            <p:nvPr/>
          </p:nvCxnSpPr>
          <p:spPr>
            <a:xfrm flipH="1" rot="10800000">
              <a:off x="4572332" y="1985143"/>
              <a:ext cx="771900" cy="775800"/>
            </a:xfrm>
            <a:prstGeom prst="straightConnector1">
              <a:avLst/>
            </a:prstGeom>
            <a:noFill/>
            <a:ln cap="flat" cmpd="sng" w="19050">
              <a:solidFill>
                <a:srgbClr val="FB8569"/>
              </a:solidFill>
              <a:prstDash val="solid"/>
              <a:round/>
              <a:headEnd len="sm" w="sm" type="none"/>
              <a:tailEnd len="sm" w="sm" type="none"/>
            </a:ln>
          </p:spPr>
        </p:cxnSp>
      </p:grpSp>
      <p:grpSp>
        <p:nvGrpSpPr>
          <p:cNvPr id="335" name="Google Shape;335;g3b9776985b8_2_142"/>
          <p:cNvGrpSpPr/>
          <p:nvPr/>
        </p:nvGrpSpPr>
        <p:grpSpPr>
          <a:xfrm>
            <a:off x="3744193" y="4225280"/>
            <a:ext cx="1906177" cy="1904977"/>
            <a:chOff x="3145150" y="2755932"/>
            <a:chExt cx="1429668" cy="1428768"/>
          </a:xfrm>
        </p:grpSpPr>
        <p:sp>
          <p:nvSpPr>
            <p:cNvPr id="336" name="Google Shape;336;g3b9776985b8_2_142"/>
            <p:cNvSpPr/>
            <p:nvPr/>
          </p:nvSpPr>
          <p:spPr>
            <a:xfrm>
              <a:off x="3145150" y="3419700"/>
              <a:ext cx="765000" cy="765000"/>
            </a:xfrm>
            <a:prstGeom prst="ellipse">
              <a:avLst/>
            </a:prstGeom>
            <a:solidFill>
              <a:srgbClr val="E850E0"/>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chemeClr val="dk1"/>
                </a:buClr>
                <a:buSzPts val="1500"/>
                <a:buFont typeface="Arial"/>
                <a:buNone/>
              </a:pPr>
              <a:r>
                <a:rPr b="0" i="0" lang="en-US" sz="3300" u="none" cap="none" strike="noStrike">
                  <a:solidFill>
                    <a:schemeClr val="lt1"/>
                  </a:solidFill>
                  <a:latin typeface="Fira Sans Extra Condensed Medium"/>
                  <a:ea typeface="Fira Sans Extra Condensed Medium"/>
                  <a:cs typeface="Fira Sans Extra Condensed Medium"/>
                  <a:sym typeface="Fira Sans Extra Condensed Medium"/>
                </a:rPr>
                <a:t>🏠</a:t>
              </a:r>
              <a:endParaRPr b="0" i="0" sz="4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337" name="Google Shape;337;g3b9776985b8_2_142"/>
            <p:cNvCxnSpPr>
              <a:endCxn id="336" idx="7"/>
            </p:cNvCxnSpPr>
            <p:nvPr/>
          </p:nvCxnSpPr>
          <p:spPr>
            <a:xfrm flipH="1">
              <a:off x="3798118" y="2755932"/>
              <a:ext cx="776700" cy="775800"/>
            </a:xfrm>
            <a:prstGeom prst="straightConnector1">
              <a:avLst/>
            </a:prstGeom>
            <a:noFill/>
            <a:ln cap="flat" cmpd="sng" w="19050">
              <a:solidFill>
                <a:srgbClr val="E850E0"/>
              </a:solidFill>
              <a:prstDash val="solid"/>
              <a:round/>
              <a:headEnd len="sm" w="sm" type="none"/>
              <a:tailEnd len="sm" w="sm" type="none"/>
            </a:ln>
          </p:spPr>
        </p:cxnSp>
      </p:grpSp>
      <p:grpSp>
        <p:nvGrpSpPr>
          <p:cNvPr id="338" name="Google Shape;338;g3b9776985b8_2_142"/>
          <p:cNvGrpSpPr/>
          <p:nvPr/>
        </p:nvGrpSpPr>
        <p:grpSpPr>
          <a:xfrm>
            <a:off x="5650252" y="4232082"/>
            <a:ext cx="1896577" cy="1898177"/>
            <a:chOff x="4574732" y="2761032"/>
            <a:chExt cx="1422468" cy="1423668"/>
          </a:xfrm>
        </p:grpSpPr>
        <p:sp>
          <p:nvSpPr>
            <p:cNvPr id="339" name="Google Shape;339;g3b9776985b8_2_142"/>
            <p:cNvSpPr/>
            <p:nvPr/>
          </p:nvSpPr>
          <p:spPr>
            <a:xfrm>
              <a:off x="5232200" y="3419700"/>
              <a:ext cx="765000" cy="765000"/>
            </a:xfrm>
            <a:prstGeom prst="ellipse">
              <a:avLst/>
            </a:prstGeom>
            <a:solidFill>
              <a:srgbClr val="FB569C"/>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33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3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340" name="Google Shape;340;g3b9776985b8_2_142"/>
            <p:cNvCxnSpPr>
              <a:endCxn id="339" idx="1"/>
            </p:cNvCxnSpPr>
            <p:nvPr/>
          </p:nvCxnSpPr>
          <p:spPr>
            <a:xfrm>
              <a:off x="4574732" y="2761032"/>
              <a:ext cx="769500" cy="770700"/>
            </a:xfrm>
            <a:prstGeom prst="straightConnector1">
              <a:avLst/>
            </a:prstGeom>
            <a:noFill/>
            <a:ln cap="flat" cmpd="sng" w="19050">
              <a:solidFill>
                <a:srgbClr val="FB569C"/>
              </a:solidFill>
              <a:prstDash val="solid"/>
              <a:round/>
              <a:headEnd len="sm" w="sm" type="none"/>
              <a:tailEnd len="sm" w="sm" type="none"/>
            </a:ln>
          </p:spPr>
        </p:cxnSp>
      </p:grpSp>
      <p:grpSp>
        <p:nvGrpSpPr>
          <p:cNvPr id="341" name="Google Shape;341;g3b9776985b8_2_142"/>
          <p:cNvGrpSpPr/>
          <p:nvPr/>
        </p:nvGrpSpPr>
        <p:grpSpPr>
          <a:xfrm>
            <a:off x="4864680" y="3549452"/>
            <a:ext cx="1561561" cy="1561561"/>
            <a:chOff x="5587975" y="1952850"/>
            <a:chExt cx="1171200" cy="1171200"/>
          </a:xfrm>
        </p:grpSpPr>
        <p:sp>
          <p:nvSpPr>
            <p:cNvPr id="342" name="Google Shape;342;g3b9776985b8_2_142"/>
            <p:cNvSpPr/>
            <p:nvPr/>
          </p:nvSpPr>
          <p:spPr>
            <a:xfrm>
              <a:off x="5587975" y="1952850"/>
              <a:ext cx="1171200" cy="11712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43" name="Google Shape;343;g3b9776985b8_2_142"/>
            <p:cNvSpPr/>
            <p:nvPr/>
          </p:nvSpPr>
          <p:spPr>
            <a:xfrm>
              <a:off x="5673875" y="2038750"/>
              <a:ext cx="999300" cy="999300"/>
            </a:xfrm>
            <a:prstGeom prst="ellipse">
              <a:avLst/>
            </a:prstGeom>
            <a:solidFill>
              <a:srgbClr val="EEEEEE"/>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6000" u="none" cap="none" strike="noStrike">
                  <a:solidFill>
                    <a:srgbClr val="000000"/>
                  </a:solidFill>
                  <a:latin typeface="Fira Sans Extra Condensed Medium"/>
                  <a:ea typeface="Fira Sans Extra Condensed Medium"/>
                  <a:cs typeface="Fira Sans Extra Condensed Medium"/>
                  <a:sym typeface="Fira Sans Extra Condensed Medium"/>
                </a:rPr>
                <a:t>👤</a:t>
              </a:r>
              <a:endParaRPr b="0" i="0" sz="5600" u="none" cap="none" strike="noStrike">
                <a:solidFill>
                  <a:srgbClr val="000000"/>
                </a:solidFill>
                <a:latin typeface="Arial"/>
                <a:ea typeface="Arial"/>
                <a:cs typeface="Arial"/>
                <a:sym typeface="Arial"/>
              </a:endParaRPr>
            </a:p>
          </p:txBody>
        </p:sp>
      </p:grpSp>
      <p:sp>
        <p:nvSpPr>
          <p:cNvPr id="344" name="Google Shape;344;g3b9776985b8_2_142"/>
          <p:cNvSpPr txBox="1"/>
          <p:nvPr>
            <p:ph idx="1" type="body"/>
          </p:nvPr>
        </p:nvSpPr>
        <p:spPr>
          <a:xfrm>
            <a:off x="7879200" y="2658425"/>
            <a:ext cx="2280000" cy="10179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700">
                <a:solidFill>
                  <a:schemeClr val="lt1"/>
                </a:solidFill>
              </a:rPr>
              <a:t>Role</a:t>
            </a:r>
            <a:endParaRPr b="1" sz="2700"/>
          </a:p>
        </p:txBody>
      </p:sp>
      <p:sp>
        <p:nvSpPr>
          <p:cNvPr id="345" name="Google Shape;345;g3b9776985b8_2_142"/>
          <p:cNvSpPr txBox="1"/>
          <p:nvPr>
            <p:ph idx="1" type="body"/>
          </p:nvPr>
        </p:nvSpPr>
        <p:spPr>
          <a:xfrm>
            <a:off x="1498533" y="5238600"/>
            <a:ext cx="1903200" cy="7635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700">
                <a:solidFill>
                  <a:schemeClr val="lt1"/>
                </a:solidFill>
              </a:rPr>
              <a:t>Location</a:t>
            </a:r>
            <a:endParaRPr b="1" sz="2700"/>
          </a:p>
        </p:txBody>
      </p:sp>
      <p:sp>
        <p:nvSpPr>
          <p:cNvPr id="346" name="Google Shape;346;g3b9776985b8_2_142"/>
          <p:cNvSpPr txBox="1"/>
          <p:nvPr>
            <p:ph idx="1" type="body"/>
          </p:nvPr>
        </p:nvSpPr>
        <p:spPr>
          <a:xfrm>
            <a:off x="7955279" y="5238600"/>
            <a:ext cx="4023360" cy="7635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400">
                <a:solidFill>
                  <a:schemeClr val="lt1"/>
                </a:solidFill>
              </a:rPr>
              <a:t>The coding agent you use</a:t>
            </a:r>
            <a:endParaRPr b="1" sz="2700"/>
          </a:p>
        </p:txBody>
      </p:sp>
      <p:sp>
        <p:nvSpPr>
          <p:cNvPr id="347" name="Google Shape;347;g3b9776985b8_2_142"/>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3000" u="none" cap="none" strike="noStrike">
                <a:solidFill>
                  <a:srgbClr val="3896D2"/>
                </a:solidFill>
                <a:latin typeface="Fira Sans"/>
                <a:ea typeface="Fira Sans"/>
                <a:cs typeface="Fira Sans"/>
                <a:sym typeface="Fira Sans"/>
              </a:rPr>
              <a:t>Welcome to today’s class, before we begin, </a:t>
            </a:r>
            <a:endParaRPr b="1" i="0" sz="3000" u="none" cap="none" strike="noStrike">
              <a:solidFill>
                <a:srgbClr val="3896D2"/>
              </a:solidFill>
              <a:latin typeface="Fira Sans"/>
              <a:ea typeface="Fira Sans"/>
              <a:cs typeface="Fira Sans"/>
              <a:sym typeface="Fira Sans"/>
            </a:endParaRPr>
          </a:p>
          <a:p>
            <a:pPr indent="0" lvl="0" marL="0" marR="0" rtl="0" algn="l">
              <a:lnSpc>
                <a:spcPct val="150000"/>
              </a:lnSpc>
              <a:spcBef>
                <a:spcPts val="0"/>
              </a:spcBef>
              <a:spcAft>
                <a:spcPts val="0"/>
              </a:spcAft>
              <a:buClr>
                <a:schemeClr val="dk1"/>
              </a:buClr>
              <a:buSzPts val="3700"/>
              <a:buFont typeface="Arial"/>
              <a:buNone/>
            </a:pPr>
            <a:r>
              <a:rPr b="1" i="0" lang="en-US" sz="3000" u="none" cap="none" strike="noStrike">
                <a:solidFill>
                  <a:srgbClr val="3896D2"/>
                </a:solidFill>
                <a:latin typeface="Fira Sans"/>
                <a:ea typeface="Fira Sans"/>
                <a:cs typeface="Fira Sans"/>
                <a:sym typeface="Fira Sans"/>
              </a:rPr>
              <a:t>pop into the chat:</a:t>
            </a:r>
            <a:endParaRPr b="1" i="0" sz="3000" u="none" cap="none" strike="noStrike">
              <a:solidFill>
                <a:srgbClr val="3896D2"/>
              </a:solidFill>
              <a:latin typeface="Fira Sans"/>
              <a:ea typeface="Fira Sans"/>
              <a:cs typeface="Fira Sans"/>
              <a:sym typeface="Fira Sans"/>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2" name="Google Shape;352;g3b9776985b8_2_166"/>
          <p:cNvSpPr txBox="1"/>
          <p:nvPr>
            <p:ph idx="1" type="subTitle"/>
          </p:nvPr>
        </p:nvSpPr>
        <p:spPr>
          <a:xfrm>
            <a:off x="424525" y="849325"/>
            <a:ext cx="2557800" cy="6996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a:t>Structure of Class</a:t>
            </a:r>
            <a:endParaRPr/>
          </a:p>
        </p:txBody>
      </p:sp>
      <p:sp>
        <p:nvSpPr>
          <p:cNvPr id="353" name="Google Shape;353;g3b9776985b8_2_166"/>
          <p:cNvSpPr txBox="1"/>
          <p:nvPr>
            <p:ph idx="2" type="body"/>
          </p:nvPr>
        </p:nvSpPr>
        <p:spPr>
          <a:xfrm>
            <a:off x="3505426" y="930525"/>
            <a:ext cx="8033400" cy="2858700"/>
          </a:xfrm>
          <a:prstGeom prst="rect">
            <a:avLst/>
          </a:prstGeom>
          <a:noFill/>
          <a:ln>
            <a:noFill/>
          </a:ln>
        </p:spPr>
        <p:txBody>
          <a:bodyPr anchorCtr="0" anchor="t" bIns="121900" lIns="121900" spcFirstLastPara="1" rIns="121900" wrap="square" tIns="121900">
            <a:noAutofit/>
          </a:bodyPr>
          <a:lstStyle/>
          <a:p>
            <a:pPr indent="-438150" lvl="0" marL="609600" rtl="0" algn="l">
              <a:lnSpc>
                <a:spcPct val="150000"/>
              </a:lnSpc>
              <a:spcBef>
                <a:spcPts val="0"/>
              </a:spcBef>
              <a:spcAft>
                <a:spcPts val="0"/>
              </a:spcAft>
              <a:buClr>
                <a:schemeClr val="lt1"/>
              </a:buClr>
              <a:buSzPts val="2100"/>
              <a:buAutoNum type="arabicPeriod"/>
            </a:pPr>
            <a:r>
              <a:rPr b="1" lang="en-US" sz="2100">
                <a:solidFill>
                  <a:srgbClr val="1FC2BA"/>
                </a:solidFill>
              </a:rPr>
              <a:t>Live class - </a:t>
            </a:r>
            <a:r>
              <a:rPr lang="en-US" sz="2100">
                <a:solidFill>
                  <a:schemeClr val="lt1"/>
                </a:solidFill>
              </a:rPr>
              <a:t>4 hr: four sections, two breaks, a final A/B</a:t>
            </a:r>
            <a:endParaRPr sz="2100"/>
          </a:p>
          <a:p>
            <a:pPr indent="-438150" lvl="0" marL="609600" rtl="0" algn="l">
              <a:lnSpc>
                <a:spcPct val="150000"/>
              </a:lnSpc>
              <a:spcBef>
                <a:spcPts val="0"/>
              </a:spcBef>
              <a:spcAft>
                <a:spcPts val="0"/>
              </a:spcAft>
              <a:buClr>
                <a:schemeClr val="lt1"/>
              </a:buClr>
              <a:buSzPts val="2100"/>
              <a:buAutoNum type="arabicPeriod"/>
            </a:pPr>
            <a:r>
              <a:rPr b="1" lang="en-US" sz="2100">
                <a:solidFill>
                  <a:schemeClr val="lt1"/>
                </a:solidFill>
              </a:rPr>
              <a:t>Live demos - </a:t>
            </a:r>
            <a:r>
              <a:rPr lang="en-US" sz="2100">
                <a:solidFill>
                  <a:schemeClr val="lt1"/>
                </a:solidFill>
              </a:rPr>
              <a:t>every demo is a real model run</a:t>
            </a:r>
            <a:endParaRPr sz="2100"/>
          </a:p>
          <a:p>
            <a:pPr indent="-438150" lvl="0" marL="609600" rtl="0" algn="l">
              <a:lnSpc>
                <a:spcPct val="150000"/>
              </a:lnSpc>
              <a:spcBef>
                <a:spcPts val="0"/>
              </a:spcBef>
              <a:spcAft>
                <a:spcPts val="0"/>
              </a:spcAft>
              <a:buClr>
                <a:schemeClr val="lt1"/>
              </a:buClr>
              <a:buSzPts val="2100"/>
              <a:buAutoNum type="arabicPeriod"/>
            </a:pPr>
            <a:r>
              <a:rPr b="1" lang="en-US" sz="2100">
                <a:solidFill>
                  <a:schemeClr val="lt1"/>
                </a:solidFill>
              </a:rPr>
              <a:t>Assignments - </a:t>
            </a:r>
            <a:r>
              <a:rPr lang="en-US" sz="2100">
                <a:solidFill>
                  <a:schemeClr val="lt1"/>
                </a:solidFill>
              </a:rPr>
              <a:t>four, one per section</a:t>
            </a:r>
            <a:endParaRPr sz="2100"/>
          </a:p>
          <a:p>
            <a:pPr indent="-438150" lvl="0" marL="609600" rtl="0" algn="l">
              <a:lnSpc>
                <a:spcPct val="150000"/>
              </a:lnSpc>
              <a:spcBef>
                <a:spcPts val="0"/>
              </a:spcBef>
              <a:spcAft>
                <a:spcPts val="0"/>
              </a:spcAft>
              <a:buClr>
                <a:schemeClr val="lt1"/>
              </a:buClr>
              <a:buSzPts val="2100"/>
              <a:buAutoNum type="arabicPeriod"/>
            </a:pPr>
            <a:r>
              <a:rPr b="1" lang="en-US" sz="2100">
                <a:solidFill>
                  <a:schemeClr val="lt1"/>
                </a:solidFill>
              </a:rPr>
              <a:t>Review session - </a:t>
            </a:r>
            <a:r>
              <a:rPr lang="en-US" sz="2100">
                <a:solidFill>
                  <a:schemeClr val="lt1"/>
                </a:solidFill>
              </a:rPr>
              <a:t>2 hr, one slot per assignment</a:t>
            </a:r>
            <a:endParaRPr sz="2100"/>
          </a:p>
        </p:txBody>
      </p:sp>
      <p:pic>
        <p:nvPicPr>
          <p:cNvPr id="354" name="Google Shape;354;g3b9776985b8_2_166" descr="Decorative illustration from the course template"/>
          <p:cNvPicPr preferRelativeResize="0"/>
          <p:nvPr/>
        </p:nvPicPr>
        <p:blipFill rotWithShape="1">
          <a:blip r:embed="rId2">
            <a:alphaModFix/>
          </a:blip>
          <a:srcRect b="0" l="0" r="0" t="0"/>
          <a:stretch/>
        </p:blipFill>
        <p:spPr>
          <a:xfrm>
            <a:off x="8359617" y="3398700"/>
            <a:ext cx="3049389" cy="2346600"/>
          </a:xfrm>
          <a:prstGeom prst="rect">
            <a:avLst/>
          </a:prstGeom>
          <a:noFill/>
          <a:ln>
            <a:noFill/>
          </a:ln>
        </p:spPr>
      </p:pic>
      <p:pic>
        <p:nvPicPr>
          <p:cNvPr id="355" name="Google Shape;355;g3b9776985b8_2_166" descr="Decorative illustration from the course template"/>
          <p:cNvPicPr preferRelativeResize="0"/>
          <p:nvPr/>
        </p:nvPicPr>
        <p:blipFill rotWithShape="1">
          <a:blip r:embed="rId3">
            <a:alphaModFix/>
          </a:blip>
          <a:srcRect b="0" l="0" r="0" t="0"/>
          <a:stretch/>
        </p:blipFill>
        <p:spPr>
          <a:xfrm>
            <a:off x="3505425" y="4004427"/>
            <a:ext cx="4043275" cy="2632475"/>
          </a:xfrm>
          <a:prstGeom prst="rect">
            <a:avLst/>
          </a:prstGeom>
          <a:noFill/>
          <a:ln>
            <a:noFill/>
          </a:ln>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60" name="Google Shape;360;g3b9776985b8_2_173" descr="Decorative illustration from the course template"/>
          <p:cNvPicPr preferRelativeResize="0"/>
          <p:nvPr/>
        </p:nvPicPr>
        <p:blipFill rotWithShape="1">
          <a:blip r:embed="rId2">
            <a:alphaModFix/>
          </a:blip>
          <a:srcRect b="0" l="0" r="0" t="0"/>
          <a:stretch/>
        </p:blipFill>
        <p:spPr>
          <a:xfrm>
            <a:off x="7841933" y="1054450"/>
            <a:ext cx="3018300" cy="3018300"/>
          </a:xfrm>
          <a:prstGeom prst="ellipse">
            <a:avLst/>
          </a:prstGeom>
          <a:noFill/>
          <a:ln>
            <a:noFill/>
          </a:ln>
        </p:spPr>
      </p:pic>
      <p:pic>
        <p:nvPicPr>
          <p:cNvPr id="361" name="Google Shape;361;g3b9776985b8_2_173" descr="Decorative illustration from the course template"/>
          <p:cNvPicPr preferRelativeResize="0"/>
          <p:nvPr/>
        </p:nvPicPr>
        <p:blipFill rotWithShape="1">
          <a:blip r:embed="rId3">
            <a:alphaModFix/>
          </a:blip>
          <a:srcRect b="0" l="0" r="0" t="0"/>
          <a:stretch/>
        </p:blipFill>
        <p:spPr>
          <a:xfrm>
            <a:off x="267767" y="3576000"/>
            <a:ext cx="2943600" cy="2943600"/>
          </a:xfrm>
          <a:prstGeom prst="ellipse">
            <a:avLst/>
          </a:prstGeom>
          <a:noFill/>
          <a:ln>
            <a:noFill/>
          </a:ln>
        </p:spPr>
      </p:pic>
      <p:sp>
        <p:nvSpPr>
          <p:cNvPr id="364" name="Google Shape;364;g3b9776985b8_2_173"/>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4000">
                <a:solidFill>
                  <a:srgbClr val="3896D2"/>
                </a:solidFill>
                <a:latin typeface="Fira Sans"/>
                <a:ea typeface="Fira Sans"/>
                <a:cs typeface="Fira Sans"/>
                <a:sym typeface="Fira Sans"/>
              </a:rPr>
              <a:t>Optimize Your Experience</a:t>
            </a:r>
            <a:endParaRPr b="1" sz="4000">
              <a:solidFill>
                <a:srgbClr val="3896D2"/>
              </a:solidFill>
              <a:latin typeface="Fira Sans"/>
              <a:ea typeface="Fira Sans"/>
              <a:cs typeface="Fira Sans"/>
              <a:sym typeface="Fira Sans"/>
            </a:endParaRPr>
          </a:p>
        </p:txBody>
      </p:sp>
      <p:sp>
        <p:nvSpPr>
          <p:cNvPr id="365" name="TextBox 364"/>
          <p:cNvSpPr txBox="1"/>
          <p:nvPr/>
        </p:nvSpPr>
        <p:spPr>
          <a:xfrm>
            <a:off x="612648" y="1143000"/>
            <a:ext cx="6949440" cy="252984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1" i="0">
                <a:solidFill>
                  <a:srgbClr val="FFFFFF"/>
                </a:solidFill>
                <a:latin typeface="Fira Sans"/>
              </a:rPr>
              <a:t>Ask, practise, and use your resources: what you put in is what you get out.</a:t>
            </a:r>
          </a:p>
          <a:p>
            <a:pPr marL="292608" indent="-292608" algn="l">
              <a:lnSpc>
                <a:spcPct val="100000"/>
              </a:lnSpc>
              <a:spcBef>
                <a:spcPts val="1200"/>
              </a:spcBef>
              <a:spcAft>
                <a:spcPts val="0"/>
              </a:spcAft>
              <a:buClr>
                <a:srgbClr val="FFFFFF"/>
              </a:buClr>
              <a:buSzPct val="100000"/>
              <a:buFont typeface="Arial"/>
              <a:buChar char="•"/>
            </a:pPr>
            <a:r>
              <a:rPr sz="1800" b="1" i="0">
                <a:solidFill>
                  <a:srgbClr val="FB569C"/>
                </a:solidFill>
                <a:latin typeface="Fira Sans"/>
              </a:rPr>
              <a:t>Uplevel</a:t>
            </a:r>
            <a:r>
              <a:rPr sz="1800" b="0" i="0">
                <a:solidFill>
                  <a:srgbClr val="FFFFFF"/>
                </a:solidFill>
                <a:latin typeface="Fira Sans"/>
              </a:rPr>
              <a:t> - recordings, resources, assignments</a:t>
            </a:r>
          </a:p>
          <a:p>
            <a:pPr marL="292608" indent="-292608" algn="l">
              <a:lnSpc>
                <a:spcPct val="100000"/>
              </a:lnSpc>
              <a:spcBef>
                <a:spcPts val="600"/>
              </a:spcBef>
              <a:spcAft>
                <a:spcPts val="0"/>
              </a:spcAft>
              <a:buClr>
                <a:srgbClr val="FFFFFF"/>
              </a:buClr>
              <a:buSzPct val="100000"/>
              <a:buFont typeface="Arial"/>
              <a:buChar char="•"/>
            </a:pPr>
            <a:r>
              <a:rPr sz="1800" b="1" i="0">
                <a:solidFill>
                  <a:srgbClr val="FB569C"/>
                </a:solidFill>
                <a:latin typeface="Fira Sans"/>
              </a:rPr>
              <a:t>Wednesday technical coaching</a:t>
            </a:r>
            <a:r>
              <a:rPr sz="1800" b="0" i="0">
                <a:solidFill>
                  <a:srgbClr val="FFFFFF"/>
                </a:solidFill>
                <a:latin typeface="Fira Sans"/>
              </a:rPr>
              <a:t> - bring your queries</a:t>
            </a:r>
          </a:p>
          <a:p>
            <a:pPr marL="292608" indent="-292608" algn="l">
              <a:lnSpc>
                <a:spcPct val="100000"/>
              </a:lnSpc>
              <a:spcBef>
                <a:spcPts val="600"/>
              </a:spcBef>
              <a:spcAft>
                <a:spcPts val="0"/>
              </a:spcAft>
              <a:buClr>
                <a:srgbClr val="FFFFFF"/>
              </a:buClr>
              <a:buSzPct val="100000"/>
              <a:buFont typeface="Arial"/>
              <a:buChar char="•"/>
            </a:pPr>
            <a:r>
              <a:rPr sz="1800" b="1" i="0">
                <a:solidFill>
                  <a:srgbClr val="FB569C"/>
                </a:solidFill>
                <a:latin typeface="Fira Sans"/>
              </a:rPr>
              <a:t>Discord</a:t>
            </a:r>
            <a:r>
              <a:rPr sz="1800" b="0" i="0">
                <a:solidFill>
                  <a:srgbClr val="FFFFFF"/>
                </a:solidFill>
                <a:latin typeface="Fira Sans"/>
              </a:rPr>
              <a:t> - peer learning</a:t>
            </a:r>
          </a:p>
          <a:p>
            <a:pPr marL="292608" indent="-292608" algn="l">
              <a:lnSpc>
                <a:spcPct val="100000"/>
              </a:lnSpc>
              <a:spcBef>
                <a:spcPts val="600"/>
              </a:spcBef>
              <a:spcAft>
                <a:spcPts val="0"/>
              </a:spcAft>
              <a:buClr>
                <a:srgbClr val="FFFFFF"/>
              </a:buClr>
              <a:buSzPct val="100000"/>
              <a:buFont typeface="Arial"/>
              <a:buChar char="•"/>
            </a:pPr>
            <a:r>
              <a:rPr sz="1800" b="1" i="0">
                <a:solidFill>
                  <a:srgbClr val="FB569C"/>
                </a:solidFill>
                <a:latin typeface="Fira Sans"/>
              </a:rPr>
              <a:t>TAs</a:t>
            </a:r>
            <a:r>
              <a:rPr sz="1800" b="0" i="0">
                <a:solidFill>
                  <a:srgbClr val="FFFFFF"/>
                </a:solidFill>
                <a:latin typeface="Fira Sans"/>
              </a:rPr>
              <a:t> - answer questions in the live class</a:t>
            </a:r>
          </a:p>
          <a:p>
            <a:pPr marL="292608" indent="-292608" algn="l">
              <a:lnSpc>
                <a:spcPct val="100000"/>
              </a:lnSpc>
              <a:spcBef>
                <a:spcPts val="600"/>
              </a:spcBef>
              <a:spcAft>
                <a:spcPts val="0"/>
              </a:spcAft>
              <a:buClr>
                <a:srgbClr val="FFFFFF"/>
              </a:buClr>
              <a:buSzPct val="100000"/>
              <a:buFont typeface="Arial"/>
              <a:buChar char="•"/>
            </a:pPr>
            <a:r>
              <a:rPr sz="1800" b="1" i="0">
                <a:solidFill>
                  <a:srgbClr val="FB569C"/>
                </a:solidFill>
                <a:latin typeface="Fira Sans"/>
              </a:rPr>
              <a:t>Support tickets</a:t>
            </a:r>
            <a:r>
              <a:rPr sz="1800" b="0" i="0">
                <a:solidFill>
                  <a:srgbClr val="FFFFFF"/>
                </a:solidFill>
                <a:latin typeface="Fira Sans"/>
              </a:rPr>
              <a:t> - raise one on Uplevel any time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1" name="Google Shape;381;g3b9776985b8_2_191"/>
          <p:cNvSpPr txBox="1"/>
          <p:nvPr>
            <p:ph idx="1" type="subTitle"/>
          </p:nvPr>
        </p:nvSpPr>
        <p:spPr>
          <a:xfrm>
            <a:off x="424526" y="849325"/>
            <a:ext cx="2871300" cy="6996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a:t>Success Hacks</a:t>
            </a:r>
            <a:endParaRPr/>
          </a:p>
        </p:txBody>
      </p:sp>
      <p:sp>
        <p:nvSpPr>
          <p:cNvPr id="382" name="Google Shape;382;g3b9776985b8_2_191"/>
          <p:cNvSpPr txBox="1"/>
          <p:nvPr>
            <p:ph idx="2" type="body"/>
          </p:nvPr>
        </p:nvSpPr>
        <p:spPr>
          <a:xfrm>
            <a:off x="3295767" y="637000"/>
            <a:ext cx="8131500" cy="5786400"/>
          </a:xfrm>
          <a:prstGeom prst="rect">
            <a:avLst/>
          </a:prstGeom>
          <a:noFill/>
          <a:ln>
            <a:noFill/>
          </a:ln>
        </p:spPr>
        <p:txBody>
          <a:bodyPr anchorCtr="0" anchor="t" bIns="121900" lIns="121900" spcFirstLastPara="1" rIns="121900" wrap="square" tIns="121900">
            <a:noAutofit/>
          </a:bodyPr>
          <a:lstStyle/>
          <a:p>
            <a:pPr indent="-438150" lvl="0" marL="609600" rtl="0" algn="l">
              <a:lnSpc>
                <a:spcPct val="150000"/>
              </a:lnSpc>
              <a:spcBef>
                <a:spcPts val="0"/>
              </a:spcBef>
              <a:spcAft>
                <a:spcPts val="0"/>
              </a:spcAft>
              <a:buSzPts val="2100"/>
              <a:buChar char="●"/>
            </a:pPr>
            <a:r>
              <a:rPr lang="en-US" sz="2100"/>
              <a:t>Be prepared for the class: finish the pre-class setup</a:t>
            </a:r>
            <a:endParaRPr sz="2100"/>
          </a:p>
          <a:p>
            <a:pPr indent="-438150" lvl="0" marL="609600" rtl="0" algn="l">
              <a:lnSpc>
                <a:spcPct val="150000"/>
              </a:lnSpc>
              <a:spcBef>
                <a:spcPts val="0"/>
              </a:spcBef>
              <a:spcAft>
                <a:spcPts val="0"/>
              </a:spcAft>
              <a:buSzPts val="2100"/>
              <a:buChar char="●"/>
            </a:pPr>
            <a:r>
              <a:rPr lang="en-US" sz="2100"/>
              <a:t>Attend every class</a:t>
            </a:r>
            <a:endParaRPr sz="2100">
              <a:solidFill>
                <a:srgbClr val="FB569C"/>
              </a:solidFill>
            </a:endParaRPr>
          </a:p>
          <a:p>
            <a:pPr indent="-438150" lvl="0" marL="609600" rtl="0" algn="l">
              <a:lnSpc>
                <a:spcPct val="150000"/>
              </a:lnSpc>
              <a:spcBef>
                <a:spcPts val="0"/>
              </a:spcBef>
              <a:spcAft>
                <a:spcPts val="0"/>
              </a:spcAft>
              <a:buSzPts val="2100"/>
              <a:buChar char="●"/>
            </a:pPr>
            <a:r>
              <a:rPr lang="en-US" sz="2100"/>
              <a:t>Participate in class</a:t>
            </a:r>
            <a:endParaRPr sz="2100"/>
          </a:p>
          <a:p>
            <a:pPr indent="-438150" lvl="0" marL="609600" rtl="0" algn="l">
              <a:lnSpc>
                <a:spcPct val="150000"/>
              </a:lnSpc>
              <a:spcBef>
                <a:spcPts val="0"/>
              </a:spcBef>
              <a:spcAft>
                <a:spcPts val="0"/>
              </a:spcAft>
              <a:buSzPts val="2100"/>
              <a:buChar char="●"/>
            </a:pPr>
            <a:r>
              <a:rPr lang="en-US" sz="2100"/>
              <a:t>Attempt all the assignments</a:t>
            </a:r>
            <a:endParaRPr sz="2100"/>
          </a:p>
          <a:p>
            <a:pPr indent="-438150" lvl="0" marL="609600" rtl="0" algn="l">
              <a:lnSpc>
                <a:spcPct val="150000"/>
              </a:lnSpc>
              <a:spcBef>
                <a:spcPts val="0"/>
              </a:spcBef>
              <a:spcAft>
                <a:spcPts val="0"/>
              </a:spcAft>
              <a:buSzPts val="2100"/>
              <a:buChar char="●"/>
            </a:pPr>
            <a:r>
              <a:rPr lang="en-US" sz="2100"/>
              <a:t>Actively advocate for yourself</a:t>
            </a:r>
            <a:endParaRPr sz="2100"/>
          </a:p>
          <a:p>
            <a:pPr indent="-438150" lvl="0" marL="609600" rtl="0" algn="l">
              <a:lnSpc>
                <a:spcPct val="150000"/>
              </a:lnSpc>
              <a:spcBef>
                <a:spcPts val="0"/>
              </a:spcBef>
              <a:spcAft>
                <a:spcPts val="0"/>
              </a:spcAft>
              <a:buSzPts val="2100"/>
              <a:buChar char="●"/>
            </a:pPr>
            <a:r>
              <a:rPr lang="en-US" sz="2100"/>
              <a:t>Keep your goal in mind</a:t>
            </a:r>
            <a:endParaRPr sz="2100"/>
          </a:p>
          <a:p>
            <a:pPr indent="-438150" lvl="0" marL="609600" rtl="0" algn="l">
              <a:lnSpc>
                <a:spcPct val="150000"/>
              </a:lnSpc>
              <a:spcBef>
                <a:spcPts val="0"/>
              </a:spcBef>
              <a:spcAft>
                <a:spcPts val="0"/>
              </a:spcAft>
              <a:buClr>
                <a:srgbClr val="FB569C"/>
              </a:buClr>
              <a:buSzPts val="2100"/>
              <a:buChar char="●"/>
            </a:pPr>
            <a:r>
              <a:rPr lang="en-US" sz="2100">
                <a:solidFill>
                  <a:srgbClr val="FB569C"/>
                </a:solidFill>
              </a:rPr>
              <a:t>Consistency is the key</a:t>
            </a:r>
            <a:endParaRPr sz="2100">
              <a:solidFill>
                <a:srgbClr val="FB569C"/>
              </a:solidFill>
            </a:endParaRPr>
          </a:p>
          <a:p>
            <a:pPr indent="0" lvl="0" marL="0" rtl="0" algn="l">
              <a:lnSpc>
                <a:spcPct val="150000"/>
              </a:lnSpc>
              <a:spcBef>
                <a:spcPts val="0"/>
              </a:spcBef>
              <a:spcAft>
                <a:spcPts val="0"/>
              </a:spcAft>
              <a:buSzPts val="3500"/>
              <a:buNone/>
            </a:pPr>
            <a:r>
              <a:t/>
            </a:r>
            <a:endParaRPr sz="2700"/>
          </a:p>
          <a:p>
            <a:pPr indent="0" lvl="0" marL="0" rtl="0" algn="ctr">
              <a:lnSpc>
                <a:spcPct val="150000"/>
              </a:lnSpc>
              <a:spcBef>
                <a:spcPts val="0"/>
              </a:spcBef>
              <a:spcAft>
                <a:spcPts val="0"/>
              </a:spcAft>
              <a:buSzPts val="3500"/>
              <a:buNone/>
            </a:pPr>
            <a:r>
              <a:rPr lang="en-US" sz="3700"/>
              <a:t>Be patient with yourself !</a:t>
            </a:r>
            <a:endParaRPr sz="3700"/>
          </a:p>
          <a:p>
            <a:pPr indent="0" lvl="0" marL="0" rtl="0" algn="l">
              <a:lnSpc>
                <a:spcPct val="150000"/>
              </a:lnSpc>
              <a:spcBef>
                <a:spcPts val="0"/>
              </a:spcBef>
              <a:spcAft>
                <a:spcPts val="0"/>
              </a:spcAft>
              <a:buSzPts val="3500"/>
              <a:buNone/>
            </a:pPr>
            <a:r>
              <a:t/>
            </a:r>
            <a:endParaRPr sz="270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7" name="Google Shape;387;g3bd75f82989_0_179"/>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3000">
                <a:solidFill>
                  <a:srgbClr val="3896D2"/>
                </a:solidFill>
                <a:latin typeface="Fira Sans"/>
                <a:ea typeface="Fira Sans"/>
                <a:cs typeface="Fira Sans"/>
                <a:sym typeface="Fira Sans"/>
              </a:rPr>
              <a:t>Check Your Email for API Key</a:t>
            </a:r>
            <a:endParaRPr b="1" sz="3000">
              <a:solidFill>
                <a:schemeClr val="lt1"/>
              </a:solidFill>
              <a:latin typeface="Fira Sans"/>
              <a:ea typeface="Fira Sans"/>
              <a:cs typeface="Fira Sans"/>
              <a:sym typeface="Fira Sans"/>
            </a:endParaRPr>
          </a:p>
        </p:txBody>
      </p:sp>
      <p:sp>
        <p:nvSpPr>
          <p:cNvPr id="388" name="Google Shape;388;g3bd75f82989_0_179"/>
          <p:cNvSpPr txBox="1"/>
          <p:nvPr/>
        </p:nvSpPr>
        <p:spPr>
          <a:xfrm>
            <a:off x="457200" y="1005840"/>
            <a:ext cx="11274552" cy="356616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lang="en-US" sz="1800">
                <a:solidFill>
                  <a:schemeClr val="lt1"/>
                </a:solidFill>
                <a:latin typeface="Fira Sans"/>
                <a:ea typeface="Fira Sans"/>
                <a:cs typeface="Fira Sans"/>
                <a:sym typeface="Fira Sans"/>
              </a:rPr>
              <a:t>Use the OpenAI key from the program's email if you received one; otherwise create your own (Build tier) at platform.openai.com.</a:t>
            </a:r>
            <a:endParaRPr>
              <a:solidFill>
                <a:schemeClr val="lt1"/>
              </a:solidFill>
              <a:latin typeface="Fira Sans"/>
              <a:ea typeface="Fira Sans"/>
              <a:cs typeface="Fira Sans"/>
              <a:sym typeface="Fira Sans"/>
            </a:endParaRPr>
          </a:p>
          <a:p>
            <a:pPr indent="0" lvl="0" marL="0" rtl="0" algn="l">
              <a:lnSpc>
                <a:spcPct val="115000"/>
              </a:lnSpc>
              <a:spcBef>
                <a:spcPts val="0"/>
              </a:spcBef>
              <a:spcAft>
                <a:spcPts val="400"/>
              </a:spcAft>
              <a:buNone/>
            </a:pPr>
            <a:r>
              <a:rPr lang="en-US" sz="1800">
                <a:solidFill>
                  <a:schemeClr val="lt1"/>
                </a:solidFill>
                <a:latin typeface="Fira Sans"/>
                <a:ea typeface="Fira Sans"/>
                <a:cs typeface="Fira Sans"/>
                <a:sym typeface="Fira Sans"/>
              </a:rPr>
              <a:t>If you do not see this email:</a:t>
            </a:r>
            <a:endParaRPr>
              <a:solidFill>
                <a:schemeClr val="lt1"/>
              </a:solidFill>
              <a:latin typeface="Fira Sans"/>
              <a:ea typeface="Fira Sans"/>
              <a:cs typeface="Fira Sans"/>
              <a:sym typeface="Fira Sans"/>
            </a:endParaRPr>
          </a:p>
          <a:p>
            <a:pPr indent="-298450" lvl="0" marL="457200" rtl="0" algn="l">
              <a:lnSpc>
                <a:spcPct val="115000"/>
              </a:lnSpc>
              <a:spcBef>
                <a:spcPts val="0"/>
              </a:spcBef>
              <a:spcAft>
                <a:spcPts val="400"/>
              </a:spcAft>
              <a:buClr>
                <a:schemeClr val="lt1"/>
              </a:buClr>
              <a:buSzPts val="1100"/>
              <a:buFont typeface="Fira Sans"/>
              <a:buChar char="●"/>
            </a:pPr>
            <a:r>
              <a:rPr lang="en-US" sz="1800">
                <a:solidFill>
                  <a:schemeClr val="lt1"/>
                </a:solidFill>
                <a:latin typeface="Fira Sans"/>
                <a:ea typeface="Fira Sans"/>
                <a:cs typeface="Fira Sans"/>
                <a:sym typeface="Fira Sans"/>
              </a:rPr>
              <a:t>Please check your inbox</a:t>
            </a:r>
            <a:endParaRPr>
              <a:solidFill>
                <a:schemeClr val="lt1"/>
              </a:solidFill>
              <a:latin typeface="Fira Sans"/>
              <a:ea typeface="Fira Sans"/>
              <a:cs typeface="Fira Sans"/>
              <a:sym typeface="Fira Sans"/>
            </a:endParaRPr>
          </a:p>
          <a:p>
            <a:pPr indent="-298450" lvl="0" marL="457200" rtl="0" algn="l">
              <a:lnSpc>
                <a:spcPct val="115000"/>
              </a:lnSpc>
              <a:spcBef>
                <a:spcPts val="0"/>
              </a:spcBef>
              <a:spcAft>
                <a:spcPts val="400"/>
              </a:spcAft>
              <a:buClr>
                <a:schemeClr val="lt1"/>
              </a:buClr>
              <a:buSzPts val="1100"/>
              <a:buFont typeface="Fira Sans"/>
              <a:buChar char="●"/>
            </a:pPr>
            <a:r>
              <a:rPr lang="en-US" sz="1800">
                <a:solidFill>
                  <a:schemeClr val="lt1"/>
                </a:solidFill>
                <a:latin typeface="Fira Sans"/>
                <a:ea typeface="Fira Sans"/>
                <a:cs typeface="Fira Sans"/>
                <a:sym typeface="Fira Sans"/>
              </a:rPr>
              <a:t>Also check your spam or junk folder</a:t>
            </a:r>
            <a:endParaRPr>
              <a:solidFill>
                <a:schemeClr val="lt1"/>
              </a:solidFill>
              <a:latin typeface="Fira Sans"/>
              <a:ea typeface="Fira Sans"/>
              <a:cs typeface="Fira Sans"/>
              <a:sym typeface="Fira Sans"/>
            </a:endParaRPr>
          </a:p>
          <a:p>
            <a:pPr indent="0" lvl="0" marL="0" rtl="0" algn="l">
              <a:lnSpc>
                <a:spcPct val="115000"/>
              </a:lnSpc>
              <a:spcBef>
                <a:spcPts val="0"/>
              </a:spcBef>
              <a:spcAft>
                <a:spcPts val="400"/>
              </a:spcAft>
              <a:buNone/>
            </a:pPr>
            <a:r>
              <a:rPr lang="en-US" sz="1800">
                <a:solidFill>
                  <a:schemeClr val="lt1"/>
                </a:solidFill>
                <a:latin typeface="Fira Sans"/>
                <a:ea typeface="Fira Sans"/>
                <a:cs typeface="Fira Sans"/>
                <a:sym typeface="Fira Sans"/>
              </a:rPr>
              <a:t>If you still cannot find it, please reach out to the Operations Team </a:t>
            </a:r>
            <a:r>
              <a:rPr lang="en-US" u="sng" sz="1800">
                <a:solidFill>
                  <a:schemeClr val="hlink"/>
                </a:solidFill>
                <a:latin typeface="Fira Sans"/>
                <a:ea typeface="Fira Sans"/>
                <a:cs typeface="Fira Sans"/>
                <a:sym typeface="Fira Sans"/>
                <a:hlinkClick r:id="rId2"/>
              </a:rPr>
              <a:t>operations@interviewkickstart.com</a:t>
            </a:r>
            <a:endParaRPr>
              <a:solidFill>
                <a:schemeClr val="lt1"/>
              </a:solidFill>
              <a:latin typeface="Fira Sans"/>
              <a:ea typeface="Fira Sans"/>
              <a:cs typeface="Fira Sans"/>
              <a:sym typeface="Fira Sans"/>
            </a:endParaRPr>
          </a:p>
          <a:p>
            <a:pPr indent="0" lvl="0" marL="0" rtl="0" algn="l">
              <a:lnSpc>
                <a:spcPct val="115000"/>
              </a:lnSpc>
              <a:spcBef>
                <a:spcPts val="0"/>
              </a:spcBef>
              <a:spcAft>
                <a:spcPts val="400"/>
              </a:spcAft>
              <a:buNone/>
            </a:pPr>
            <a:r>
              <a:rPr lang="en-US" sz="1800">
                <a:solidFill>
                  <a:schemeClr val="lt1"/>
                </a:solidFill>
                <a:latin typeface="Fira Sans"/>
                <a:ea typeface="Fira Sans"/>
                <a:cs typeface="Fira Sans"/>
                <a:sym typeface="Fira Sans"/>
              </a:rPr>
              <a:t>LangSmith key: a free account at smith.langchain.com</a:t>
            </a:r>
            <a:endParaRPr>
              <a:solidFill>
                <a:schemeClr val="lt1"/>
              </a:solidFill>
              <a:latin typeface="Fira Sans"/>
              <a:ea typeface="Fira Sans"/>
              <a:cs typeface="Fira Sans"/>
              <a:sym typeface="Fira Sans"/>
            </a:endParaRPr>
          </a:p>
          <a:p>
            <a:pPr indent="0" lvl="0" marL="0" rtl="0" algn="l">
              <a:lnSpc>
                <a:spcPct val="115000"/>
              </a:lnSpc>
              <a:spcBef>
                <a:spcPts val="0"/>
              </a:spcBef>
              <a:spcAft>
                <a:spcPts val="400"/>
              </a:spcAft>
              <a:buNone/>
            </a:pPr>
            <a:r>
              <a:rPr lang="en-US" sz="1800">
                <a:solidFill>
                  <a:schemeClr val="lt1"/>
                </a:solidFill>
                <a:ea typeface="Fira Sans"/>
                <a:cs typeface="Fira Sans"/>
                <a:sym typeface="Fira Sans"/>
                <a:latin typeface="Consolas"/>
              </a:rPr>
              <a:t>make doctor</a:t>
            </a:r>
            <a:r>
              <a:rPr lang="en-US" sz="1800">
                <a:solidFill>
                  <a:schemeClr val="lt1"/>
                </a:solidFill>
                <a:latin typeface="Fira Sans"/>
                <a:ea typeface="Fira Sans"/>
                <a:cs typeface="Fira Sans"/>
                <a:sym typeface="Fira Sans"/>
              </a:rPr>
              <a:t> confirms the key can use the course models</a:t>
            </a:r>
            <a:endParaRPr>
              <a:solidFill>
                <a:schemeClr val="lt1"/>
              </a:solidFill>
              <a:latin typeface="Fira Sans"/>
              <a:ea typeface="Fira Sans"/>
              <a:cs typeface="Fira Sans"/>
              <a:sym typeface="Fira Sans"/>
            </a:endParaRPr>
          </a:p>
        </p:txBody>
      </p:sp>
      <p:sp>
        <p:nvSpPr>
          <p:cNvPr id="389" name="TextBox 388"/>
          <p:cNvSpPr txBox="1"/>
          <p:nvPr/>
        </p:nvSpPr>
        <p:spPr>
          <a:xfrm>
            <a:off x="566928" y="4956048"/>
            <a:ext cx="5669280" cy="2743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1600" b="0" i="0">
                <a:solidFill>
                  <a:srgbClr val="A9B8CA"/>
                </a:solidFill>
                <a:latin typeface="Consolas"/>
              </a:rPr>
              <a:t>.env.example</a:t>
            </a:r>
          </a:p>
        </p:txBody>
      </p:sp>
      <p:sp>
        <p:nvSpPr>
          <p:cNvPr id="390" name="Rounded Rectangle 389"/>
          <p:cNvSpPr/>
          <p:nvPr/>
        </p:nvSpPr>
        <p:spPr>
          <a:xfrm>
            <a:off x="548640" y="5257800"/>
            <a:ext cx="5669280" cy="731520"/>
          </a:xfrm>
          <a:prstGeom prst="roundRect">
            <a:avLst>
              <a:gd name="adj" fmla="val 15000"/>
            </a:avLst>
          </a:prstGeom>
          <a:solidFill>
            <a:srgbClr val="1F293A"/>
          </a:solidFill>
          <a:ln w="15875">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noAutofit/>
          </a:bodyPr>
          <a:lstStyle/>
          <a:p>
            <a:pPr algn="l" marL="0" indent="0">
              <a:lnSpc>
                <a:spcPct val="100000"/>
              </a:lnSpc>
              <a:spcBef>
                <a:spcPts val="0"/>
              </a:spcBef>
              <a:spcAft>
                <a:spcPts val="0"/>
              </a:spcAft>
              <a:buNone/>
            </a:pPr>
            <a:r>
              <a:rPr sz="1800" b="0" i="0">
                <a:solidFill>
                  <a:srgbClr val="FFFFFF"/>
                </a:solidFill>
                <a:latin typeface="Consolas"/>
              </a:rPr>
              <a:t>OPENAI_API_KEY=</a:t>
            </a:r>
          </a:p>
          <a:p>
            <a:pPr marL="0" indent="0" algn="l">
              <a:lnSpc>
                <a:spcPct val="100000"/>
              </a:lnSpc>
              <a:spcBef>
                <a:spcPts val="0"/>
              </a:spcBef>
              <a:spcAft>
                <a:spcPts val="0"/>
              </a:spcAft>
              <a:buNone/>
            </a:pPr>
            <a:r>
              <a:rPr sz="1800" b="0" i="0">
                <a:solidFill>
                  <a:srgbClr val="FFFFFF"/>
                </a:solidFill>
                <a:latin typeface="Consolas"/>
              </a:rPr>
              <a:t>LANGSMITH_API_KEY=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Clone &amp; Practice:</a:t>
            </a:r>
            <a:r>
              <a:rPr sz="3000" b="1" i="0">
                <a:solidFill>
                  <a:srgbClr val="FFFFFF"/>
                </a:solidFill>
                <a:latin typeface="Fira Sans"/>
              </a:rPr>
              <a:t> Your Learning Repository</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harness-engineering-session · </a:t>
            </a:r>
            <a:r>
              <a:rPr sz="2000" b="0" i="0" u="sng">
                <a:solidFill>
                  <a:srgbClr val="FFFFFF"/>
                </a:solidFill>
                <a:latin typeface="Fira Sans"/>
                <a:hlinkClick r:id="rId2">
                  <a:extLst>
                    <a:ext uri="{A12FA001-AC4F-418D-AE19-62706E023703}">
                      <ns0:hlinkClr xmlns:ns0="http://schemas.microsoft.com/office/drawing/2018/hyperlinkcolor" val="tx"/>
                    </a:ext>
                  </a:extLst>
                </a:hlinkClick>
              </a:rPr>
              <a:t>https://github.com/ANI-IN/harness-engineering-session</a:t>
            </a:r>
          </a:p>
        </p:txBody>
      </p:sp>
      <p:sp>
        <p:nvSpPr>
          <p:cNvPr id="4" name="Rounded Rectangle 3"/>
          <p:cNvSpPr/>
          <p:nvPr/>
        </p:nvSpPr>
        <p:spPr>
          <a:xfrm>
            <a:off x="548640" y="2205228"/>
            <a:ext cx="5387187" cy="2907791"/>
          </a:xfrm>
          <a:prstGeom prst="roundRect">
            <a:avLst>
              <a:gd name="adj" fmla="val 377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98420"/>
            <a:ext cx="5387187" cy="109728"/>
          </a:xfrm>
          <a:prstGeom prst="rect">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205228"/>
            <a:ext cx="5387187" cy="502920"/>
          </a:xfrm>
          <a:prstGeom prst="roundRect">
            <a:avLst>
              <a:gd name="adj" fmla="val 21818"/>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What's included</a:t>
            </a:r>
          </a:p>
        </p:txBody>
      </p:sp>
      <p:sp>
        <p:nvSpPr>
          <p:cNvPr id="7" name="TextBox 6"/>
          <p:cNvSpPr txBox="1"/>
          <p:nvPr/>
        </p:nvSpPr>
        <p:spPr>
          <a:xfrm>
            <a:off x="548640" y="2708148"/>
            <a:ext cx="5387187" cy="240487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Four section folders: concepts, demo, assignment</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Final project: one live A/B of every layer</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use-in-your-repo kit and four skills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Slides and docs</a:t>
            </a:r>
          </a:p>
        </p:txBody>
      </p:sp>
      <p:sp>
        <p:nvSpPr>
          <p:cNvPr id="8" name="Rounded Rectangle 7"/>
          <p:cNvSpPr/>
          <p:nvPr/>
        </p:nvSpPr>
        <p:spPr>
          <a:xfrm>
            <a:off x="6255867" y="2205228"/>
            <a:ext cx="5387187" cy="2907791"/>
          </a:xfrm>
          <a:prstGeom prst="roundRect">
            <a:avLst>
              <a:gd name="adj" fmla="val 377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2598420"/>
            <a:ext cx="5387187" cy="109728"/>
          </a:xfrm>
          <a:prstGeom prst="rect">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55867" y="2205228"/>
            <a:ext cx="5387187" cy="502920"/>
          </a:xfrm>
          <a:prstGeom prst="roundRect">
            <a:avLst>
              <a:gd name="adj" fmla="val 21818"/>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Getting started</a:t>
            </a:r>
          </a:p>
        </p:txBody>
      </p:sp>
      <p:sp>
        <p:nvSpPr>
          <p:cNvPr id="11" name="TextBox 10"/>
          <p:cNvSpPr txBox="1"/>
          <p:nvPr/>
        </p:nvSpPr>
        <p:spPr>
          <a:xfrm>
            <a:off x="6255867" y="2708148"/>
            <a:ext cx="5387187" cy="240487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Consolas"/>
              </a:rPr>
              <a:t>git clone https://github.com/</a:t>
            </a:r>
            <a:br/>
            <a:r>
              <a:rPr sz="1800" b="0" i="0">
                <a:solidFill>
                  <a:srgbClr val="324158"/>
                </a:solidFill>
                <a:latin typeface="Consolas"/>
              </a:rPr>
              <a:t>ANI-IN/</a:t>
            </a:r>
            <a:br/>
            <a:r>
              <a:rPr sz="1800" b="0" i="0">
                <a:solidFill>
                  <a:srgbClr val="324158"/>
                </a:solidFill>
                <a:latin typeface="Consolas"/>
              </a:rPr>
              <a:t>harness-engineering-session.git</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Read </a:t>
            </a:r>
            <a:r>
              <a:rPr sz="1800" b="0" i="0">
                <a:solidFill>
                  <a:srgbClr val="324158"/>
                </a:solidFill>
                <a:latin typeface="Consolas"/>
              </a:rPr>
              <a:t>setup/README.md</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Consolas"/>
              </a:rPr>
              <a:t>make setup</a:t>
            </a:r>
            <a:r>
              <a:rPr sz="1800" b="0" i="0">
                <a:solidFill>
                  <a:srgbClr val="324158"/>
                </a:solidFill>
                <a:latin typeface="Fira Sans"/>
              </a:rPr>
              <a:t>: creates </a:t>
            </a:r>
            <a:r>
              <a:rPr sz="1800" b="0" i="0">
                <a:solidFill>
                  <a:srgbClr val="324158"/>
                </a:solidFill>
                <a:latin typeface="Consolas"/>
              </a:rPr>
              <a:t>.env</a:t>
            </a:r>
            <a:r>
              <a:rPr sz="1800" b="0" i="0">
                <a:solidFill>
                  <a:srgbClr val="324158"/>
                </a:solidFill>
                <a:latin typeface="Fira Sans"/>
              </a:rPr>
              <a:t> from </a:t>
            </a:r>
            <a:r>
              <a:rPr sz="1800" b="0" i="0">
                <a:solidFill>
                  <a:srgbClr val="324158"/>
                </a:solidFill>
                <a:latin typeface="Consolas"/>
              </a:rPr>
              <a:t>.env.example</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Fill in both keys, then </a:t>
            </a:r>
            <a:r>
              <a:rPr sz="1800" b="0" i="0">
                <a:solidFill>
                  <a:srgbClr val="324158"/>
                </a:solidFill>
                <a:latin typeface="Consolas"/>
              </a:rPr>
              <a:t>make doctor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Recap:</a:t>
            </a:r>
            <a:r>
              <a:rPr sz="3000" b="1" i="0">
                <a:solidFill>
                  <a:srgbClr val="FFFFFF"/>
                </a:solidFill>
                <a:latin typeface="Fira Sans"/>
              </a:rPr>
              <a:t> The Anatomy of an Agentic Loop</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An agent is a loop: send the history to the model, run the tool it asks for, repeat.</a:t>
            </a:r>
          </a:p>
        </p:txBody>
      </p:sp>
      <p:sp>
        <p:nvSpPr>
          <p:cNvPr id="4" name="Rounded Rectangle 3"/>
          <p:cNvSpPr/>
          <p:nvPr/>
        </p:nvSpPr>
        <p:spPr>
          <a:xfrm>
            <a:off x="548640" y="1311272"/>
            <a:ext cx="11094415" cy="4037334"/>
          </a:xfrm>
          <a:prstGeom prst="roundRect">
            <a:avLst>
              <a:gd name="adj" fmla="val 2717"/>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agent-loop-step-2: Build frame 2 of agent-loop: the ticket (prompt) goes to the agent, the agent calls the model, the tools box (read a file, patch, run a command) returns results to the agent."/>
          <p:cNvPicPr>
            <a:picLocks noChangeAspect="1"/>
          </p:cNvPicPr>
          <p:nvPr/>
        </p:nvPicPr>
        <p:blipFill>
          <a:blip r:embed="rId2"/>
          <a:stretch>
            <a:fillRect/>
          </a:stretch>
        </p:blipFill>
        <p:spPr>
          <a:xfrm>
            <a:off x="594360" y="1356992"/>
            <a:ext cx="11002975" cy="3945894"/>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The model sees only what travels along these arrows.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Recap:</a:t>
            </a:r>
            <a:r>
              <a:rPr sz="3000" b="1" i="0">
                <a:solidFill>
                  <a:srgbClr val="FFFFFF"/>
                </a:solidFill>
                <a:latin typeface="Fira Sans"/>
              </a:rPr>
              <a:t> The Anatomy of an Agentic Loop</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loop ends when the model stops calling tools, says done, or hits a limit.</a:t>
            </a:r>
          </a:p>
        </p:txBody>
      </p:sp>
      <p:sp>
        <p:nvSpPr>
          <p:cNvPr id="4" name="Rounded Rectangle 3"/>
          <p:cNvSpPr/>
          <p:nvPr/>
        </p:nvSpPr>
        <p:spPr>
          <a:xfrm>
            <a:off x="548640" y="1311272"/>
            <a:ext cx="11094415" cy="4037334"/>
          </a:xfrm>
          <a:prstGeom prst="roundRect">
            <a:avLst>
              <a:gd name="adj" fmla="val 2717"/>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agent-loop: The full agent-loop diagram: prompt, agent, model, tools, and the exit arrow to &quot;result&quot;."/>
          <p:cNvPicPr>
            <a:picLocks noChangeAspect="1"/>
          </p:cNvPicPr>
          <p:nvPr/>
        </p:nvPicPr>
        <p:blipFill>
          <a:blip r:embed="rId2"/>
          <a:stretch>
            <a:fillRect/>
          </a:stretch>
        </p:blipFill>
        <p:spPr>
          <a:xfrm>
            <a:off x="594360" y="1356992"/>
            <a:ext cx="11002975" cy="3945894"/>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"Done" is the model's own claim. Nobody has checked it yet.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Today's Agenda</a:t>
            </a:r>
          </a:p>
        </p:txBody>
      </p:sp>
      <p:sp>
        <p:nvSpPr>
          <p:cNvPr id="3" name="Rounded Rectangle 2"/>
          <p:cNvSpPr/>
          <p:nvPr/>
        </p:nvSpPr>
        <p:spPr>
          <a:xfrm>
            <a:off x="449427" y="1783080"/>
            <a:ext cx="1965960" cy="3429000"/>
          </a:xfrm>
          <a:prstGeom prst="roundRect">
            <a:avLst>
              <a:gd name="adj" fmla="val 5581"/>
            </a:avLst>
          </a:prstGeom>
          <a:solidFill>
            <a:srgbClr val="3E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8359" y="205740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1</a:t>
            </a:r>
          </a:p>
        </p:txBody>
      </p:sp>
      <p:sp>
        <p:nvSpPr>
          <p:cNvPr id="5" name="TextBox 4"/>
          <p:cNvSpPr txBox="1"/>
          <p:nvPr/>
        </p:nvSpPr>
        <p:spPr>
          <a:xfrm>
            <a:off x="522579" y="3017520"/>
            <a:ext cx="1819656" cy="20574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Instructions: what the agent knows</a:t>
            </a:r>
          </a:p>
        </p:txBody>
      </p:sp>
      <p:sp>
        <p:nvSpPr>
          <p:cNvPr id="6" name="Rounded Rectangle 5"/>
          <p:cNvSpPr/>
          <p:nvPr/>
        </p:nvSpPr>
        <p:spPr>
          <a:xfrm>
            <a:off x="2781147" y="1783080"/>
            <a:ext cx="1965960" cy="3429000"/>
          </a:xfrm>
          <a:prstGeom prst="roundRect">
            <a:avLst>
              <a:gd name="adj" fmla="val 5581"/>
            </a:avLst>
          </a:prstGeom>
          <a:solidFill>
            <a:srgbClr val="3E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380079" y="205740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2</a:t>
            </a:r>
          </a:p>
        </p:txBody>
      </p:sp>
      <p:sp>
        <p:nvSpPr>
          <p:cNvPr id="8" name="TextBox 7"/>
          <p:cNvSpPr txBox="1"/>
          <p:nvPr/>
        </p:nvSpPr>
        <p:spPr>
          <a:xfrm>
            <a:off x="2854299" y="3017520"/>
            <a:ext cx="1819656" cy="20574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State and sessions: what it remembers</a:t>
            </a:r>
          </a:p>
        </p:txBody>
      </p:sp>
      <p:cxnSp>
        <p:nvCxnSpPr>
          <p:cNvPr id="9" name="Connector 8"/>
          <p:cNvCxnSpPr/>
          <p:nvPr/>
        </p:nvCxnSpPr>
        <p:spPr>
          <a:xfrm>
            <a:off x="2470251" y="349758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049627" y="5303520"/>
            <a:ext cx="1097280" cy="41148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1600" b="1" i="0">
                <a:solidFill>
                  <a:srgbClr val="FFAB40"/>
                </a:solidFill>
                <a:latin typeface="Fira Sans"/>
              </a:rPr>
              <a:t>Break</a:t>
            </a:r>
          </a:p>
        </p:txBody>
      </p:sp>
      <p:sp>
        <p:nvSpPr>
          <p:cNvPr id="11" name="Rounded Rectangle 10"/>
          <p:cNvSpPr/>
          <p:nvPr/>
        </p:nvSpPr>
        <p:spPr>
          <a:xfrm>
            <a:off x="5112867" y="1783080"/>
            <a:ext cx="1965960" cy="3429000"/>
          </a:xfrm>
          <a:prstGeom prst="roundRect">
            <a:avLst>
              <a:gd name="adj" fmla="val 5581"/>
            </a:avLst>
          </a:prstGeom>
          <a:solidFill>
            <a:srgbClr val="3E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11799" y="205740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3</a:t>
            </a:r>
          </a:p>
        </p:txBody>
      </p:sp>
      <p:sp>
        <p:nvSpPr>
          <p:cNvPr id="13" name="TextBox 12"/>
          <p:cNvSpPr txBox="1"/>
          <p:nvPr/>
        </p:nvSpPr>
        <p:spPr>
          <a:xfrm>
            <a:off x="5186019" y="3017520"/>
            <a:ext cx="1819656" cy="20574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Scope and sandbox: what it may change</a:t>
            </a:r>
          </a:p>
        </p:txBody>
      </p:sp>
      <p:cxnSp>
        <p:nvCxnSpPr>
          <p:cNvPr id="14" name="Connector 13"/>
          <p:cNvCxnSpPr/>
          <p:nvPr/>
        </p:nvCxnSpPr>
        <p:spPr>
          <a:xfrm>
            <a:off x="4801971" y="349758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444587" y="1783080"/>
            <a:ext cx="1965960" cy="3429000"/>
          </a:xfrm>
          <a:prstGeom prst="roundRect">
            <a:avLst>
              <a:gd name="adj" fmla="val 5581"/>
            </a:avLst>
          </a:prstGeom>
          <a:solidFill>
            <a:srgbClr val="3E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3519" y="205740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4</a:t>
            </a:r>
          </a:p>
        </p:txBody>
      </p:sp>
      <p:sp>
        <p:nvSpPr>
          <p:cNvPr id="17" name="TextBox 16"/>
          <p:cNvSpPr txBox="1"/>
          <p:nvPr/>
        </p:nvSpPr>
        <p:spPr>
          <a:xfrm>
            <a:off x="7517739" y="3017520"/>
            <a:ext cx="1819656" cy="20574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Verification: what proves it is done</a:t>
            </a:r>
          </a:p>
        </p:txBody>
      </p:sp>
      <p:cxnSp>
        <p:nvCxnSpPr>
          <p:cNvPr id="18" name="Connector 17"/>
          <p:cNvCxnSpPr/>
          <p:nvPr/>
        </p:nvCxnSpPr>
        <p:spPr>
          <a:xfrm>
            <a:off x="7133691" y="349758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713067" y="5303520"/>
            <a:ext cx="1097280" cy="41148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1600" b="1" i="0">
                <a:solidFill>
                  <a:srgbClr val="FFAB40"/>
                </a:solidFill>
                <a:latin typeface="Fira Sans"/>
              </a:rPr>
              <a:t>Break</a:t>
            </a:r>
          </a:p>
        </p:txBody>
      </p:sp>
      <p:sp>
        <p:nvSpPr>
          <p:cNvPr id="20" name="Rounded Rectangle 19"/>
          <p:cNvSpPr/>
          <p:nvPr/>
        </p:nvSpPr>
        <p:spPr>
          <a:xfrm>
            <a:off x="9776307" y="1783080"/>
            <a:ext cx="1965960" cy="3429000"/>
          </a:xfrm>
          <a:prstGeom prst="roundRect">
            <a:avLst>
              <a:gd name="adj" fmla="val 5581"/>
            </a:avLst>
          </a:prstGeom>
          <a:solidFill>
            <a:srgbClr val="3E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49459" y="3017520"/>
            <a:ext cx="1819656" cy="20574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Final A/B and all results</a:t>
            </a:r>
          </a:p>
        </p:txBody>
      </p:sp>
      <p:cxnSp>
        <p:nvCxnSpPr>
          <p:cNvPr id="22" name="Connector 21"/>
          <p:cNvCxnSpPr/>
          <p:nvPr/>
        </p:nvCxnSpPr>
        <p:spPr>
          <a:xfrm>
            <a:off x="9465411" y="349758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Problem statement:</a:t>
            </a:r>
            <a:r>
              <a:rPr sz="3000" b="1" i="0">
                <a:solidFill>
                  <a:srgbClr val="FFFFFF"/>
                </a:solidFill>
                <a:latin typeface="Fira Sans"/>
              </a:rPr>
              <a:t> What are we building?</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harness around a coding agent, on TeamTrack, a small multi-tenant issue tracker.</a:t>
            </a:r>
          </a:p>
        </p:txBody>
      </p:sp>
      <p:sp>
        <p:nvSpPr>
          <p:cNvPr id="4" name="Rounded Rectangle 3"/>
          <p:cNvSpPr/>
          <p:nvPr/>
        </p:nvSpPr>
        <p:spPr>
          <a:xfrm>
            <a:off x="548640" y="1404430"/>
            <a:ext cx="11094415" cy="3851019"/>
          </a:xfrm>
          <a:prstGeom prst="roundRect">
            <a:avLst>
              <a:gd name="adj" fmla="val 284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harness-around-loop: The full harness-around-loop diagram: the agent loop in the middle, four layers around it (instructions, state, scope and sandbox, verification), the referee outside."/>
          <p:cNvPicPr>
            <a:picLocks noChangeAspect="1"/>
          </p:cNvPicPr>
          <p:nvPr/>
        </p:nvPicPr>
        <p:blipFill>
          <a:blip r:embed="rId2"/>
          <a:stretch>
            <a:fillRect/>
          </a:stretch>
        </p:blipFill>
        <p:spPr>
          <a:xfrm>
            <a:off x="594360" y="1450150"/>
            <a:ext cx="11002975" cy="3759579"/>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Same model; we change what it sees, remembers, may change, and must prove.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Problem statement:</a:t>
            </a:r>
            <a:r>
              <a:rPr sz="3000" b="1" i="0">
                <a:solidFill>
                  <a:srgbClr val="FFFFFF"/>
                </a:solidFill>
                <a:latin typeface="Fira Sans"/>
              </a:rPr>
              <a:t> The problem in the real world</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Your team gives a week of tickets on a multi-tenant issue tracker to a coding agent.</a:t>
            </a:r>
          </a:p>
        </p:txBody>
      </p:sp>
      <p:sp>
        <p:nvSpPr>
          <p:cNvPr id="4" name="Rounded Rectangle 3"/>
          <p:cNvSpPr/>
          <p:nvPr/>
        </p:nvSpPr>
        <p:spPr>
          <a:xfrm>
            <a:off x="1316736" y="1411732"/>
            <a:ext cx="10326319" cy="804672"/>
          </a:xfrm>
          <a:prstGeom prst="roundRect">
            <a:avLst>
              <a:gd name="adj" fmla="val 1363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Monday:</a:t>
            </a:r>
            <a:r>
              <a:rPr sz="1800" b="0" i="0">
                <a:solidFill>
                  <a:srgbClr val="324158"/>
                </a:solidFill>
                <a:latin typeface="Fira Sans"/>
              </a:rPr>
              <a:t> copies an old handler with no tenant filter; tests pass, one customer reads another's issues</a:t>
            </a:r>
          </a:p>
        </p:txBody>
      </p:sp>
      <p:sp>
        <p:nvSpPr>
          <p:cNvPr id="5" name="Oval 4"/>
          <p:cNvSpPr/>
          <p:nvPr/>
        </p:nvSpPr>
        <p:spPr>
          <a:xfrm>
            <a:off x="548640" y="1530604"/>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6" name="Rounded Rectangle 5"/>
          <p:cNvSpPr/>
          <p:nvPr/>
        </p:nvSpPr>
        <p:spPr>
          <a:xfrm>
            <a:off x="1316736" y="2500376"/>
            <a:ext cx="10326319" cy="804672"/>
          </a:xfrm>
          <a:prstGeom prst="roundRect">
            <a:avLst>
              <a:gd name="adj" fmla="val 1363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Tuesday:</a:t>
            </a:r>
            <a:r>
              <a:rPr sz="1800" b="0" i="0">
                <a:solidFill>
                  <a:srgbClr val="324158"/>
                </a:solidFill>
                <a:latin typeface="Fira Sans"/>
              </a:rPr>
              <a:t> a session stops mid-migration; the next writes a second migration for the same table</a:t>
            </a:r>
          </a:p>
        </p:txBody>
      </p:sp>
      <p:sp>
        <p:nvSpPr>
          <p:cNvPr id="7" name="Oval 6"/>
          <p:cNvSpPr/>
          <p:nvPr/>
        </p:nvSpPr>
        <p:spPr>
          <a:xfrm>
            <a:off x="548640" y="2619248"/>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8" name="Rounded Rectangle 7"/>
          <p:cNvSpPr/>
          <p:nvPr/>
        </p:nvSpPr>
        <p:spPr>
          <a:xfrm>
            <a:off x="1316736" y="3589020"/>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Wednesday:</a:t>
            </a:r>
            <a:r>
              <a:rPr sz="1800" b="0" i="0">
                <a:solidFill>
                  <a:srgbClr val="324158"/>
                </a:solidFill>
                <a:latin typeface="Fira Sans"/>
              </a:rPr>
              <a:t> a fix for one endpoint lands in shared middleware; an older feature breaks</a:t>
            </a:r>
          </a:p>
        </p:txBody>
      </p:sp>
      <p:sp>
        <p:nvSpPr>
          <p:cNvPr id="9" name="Oval 8"/>
          <p:cNvSpPr/>
          <p:nvPr/>
        </p:nvSpPr>
        <p:spPr>
          <a:xfrm>
            <a:off x="548640" y="3589020"/>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0" name="Rounded Rectangle 9"/>
          <p:cNvSpPr/>
          <p:nvPr/>
        </p:nvSpPr>
        <p:spPr>
          <a:xfrm>
            <a:off x="1316736" y="4439920"/>
            <a:ext cx="10326319" cy="804672"/>
          </a:xfrm>
          <a:prstGeom prst="roundRect">
            <a:avLst>
              <a:gd name="adj" fmla="val 1363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Thursday:</a:t>
            </a:r>
            <a:r>
              <a:rPr sz="1800" b="0" i="0">
                <a:solidFill>
                  <a:srgbClr val="324158"/>
                </a:solidFill>
                <a:latin typeface="Fira Sans"/>
              </a:rPr>
              <a:t> "done" on an edit-conflict feature that still loses updates; the only evidence is its word</a:t>
            </a:r>
          </a:p>
        </p:txBody>
      </p:sp>
      <p:sp>
        <p:nvSpPr>
          <p:cNvPr id="11" name="Oval 10"/>
          <p:cNvSpPr/>
          <p:nvPr/>
        </p:nvSpPr>
        <p:spPr>
          <a:xfrm>
            <a:off x="548640" y="4558792"/>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2" name="TextBox 11"/>
          <p:cNvSpPr txBox="1"/>
          <p:nvPr/>
        </p:nvSpPr>
        <p:spPr>
          <a:xfrm>
            <a:off x="548640" y="5601716"/>
            <a:ext cx="11094415" cy="30480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1" i="0">
                <a:solidFill>
                  <a:srgbClr val="FFFFFF"/>
                </a:solidFill>
                <a:latin typeface="Fira Sans"/>
              </a:rPr>
              <a:t>Each failure costs more than the ticket saved.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The challenge is:</a:t>
            </a:r>
            <a:r>
              <a:rPr sz="3000" b="1" i="0">
                <a:solidFill>
                  <a:srgbClr val="FFFFFF"/>
                </a:solidFill>
                <a:latin typeface="Fira Sans"/>
              </a:rPr>
              <a:t> The rules exist, the agent still misses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rules, tests, and code are all in the repository. The agent still misses, because:</a:t>
            </a:r>
          </a:p>
        </p:txBody>
      </p:sp>
      <p:sp>
        <p:nvSpPr>
          <p:cNvPr id="4" name="Rounded Rectangle 3"/>
          <p:cNvSpPr/>
          <p:nvPr/>
        </p:nvSpPr>
        <p:spPr>
          <a:xfrm>
            <a:off x="548640" y="1960880"/>
            <a:ext cx="5410047" cy="1492503"/>
          </a:xfrm>
          <a:prstGeom prst="roundRect">
            <a:avLst>
              <a:gd name="adj" fmla="val 735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noAutofit/>
          </a:bodyPr>
          <a:lstStyle/>
          <a:p>
            <a:pPr algn="l" marL="0" indent="0">
              <a:lnSpc>
                <a:spcPct val="100000"/>
              </a:lnSpc>
              <a:spcBef>
                <a:spcPts val="0"/>
              </a:spcBef>
              <a:spcAft>
                <a:spcPts val="0"/>
              </a:spcAft>
              <a:buNone/>
            </a:pPr>
            <a:r>
              <a:rPr sz="2000" b="1" i="0">
                <a:solidFill>
                  <a:srgbClr val="324158"/>
                </a:solidFill>
                <a:latin typeface="Fira Sans"/>
              </a:rPr>
              <a:t>“</a:t>
            </a:r>
            <a:r>
              <a:rPr sz="1800" b="0" i="1">
                <a:solidFill>
                  <a:srgbClr val="324158"/>
                </a:solidFill>
                <a:latin typeface="Fira Sans"/>
              </a:rPr>
              <a:t>anything it can't access in-context while running effectively doesn't exist.</a:t>
            </a:r>
            <a:r>
              <a:rPr sz="2000" b="1" i="0">
                <a:solidFill>
                  <a:srgbClr val="324158"/>
                </a:solidFill>
                <a:latin typeface="Fira Sans"/>
              </a:rPr>
              <a:t>”</a:t>
            </a:r>
          </a:p>
          <a:p>
            <a:pPr marL="0" indent="0" algn="l">
              <a:lnSpc>
                <a:spcPct val="100000"/>
              </a:lnSpc>
              <a:spcBef>
                <a:spcPts val="1000"/>
              </a:spcBef>
              <a:spcAft>
                <a:spcPts val="0"/>
              </a:spcAft>
              <a:buNone/>
            </a:pPr>
            <a:r>
              <a:rPr sz="1600" b="1" i="0">
                <a:solidFill>
                  <a:srgbClr val="324158"/>
                </a:solidFill>
                <a:latin typeface="Fira Sans"/>
              </a:rPr>
              <a:t>— </a:t>
            </a:r>
            <a:r>
              <a:rPr sz="1600" b="1" i="0" u="sng">
                <a:solidFill>
                  <a:srgbClr val="324158"/>
                </a:solidFill>
                <a:latin typeface="Fira Sans"/>
                <a:hlinkClick r:id="rId2">
                  <a:extLst>
                    <a:ext uri="{A12FA001-AC4F-418D-AE19-62706E023703}">
                      <ns0:hlinkClr xmlns:ns0="http://schemas.microsoft.com/office/drawing/2018/hyperlinkcolor" val="tx"/>
                    </a:ext>
                  </a:extLst>
                </a:hlinkClick>
              </a:rPr>
              <a:t>Source 1: Harness engineering</a:t>
            </a:r>
          </a:p>
        </p:txBody>
      </p:sp>
      <p:sp>
        <p:nvSpPr>
          <p:cNvPr id="5" name="Rectangle 4"/>
          <p:cNvSpPr/>
          <p:nvPr/>
        </p:nvSpPr>
        <p:spPr>
          <a:xfrm>
            <a:off x="548640" y="2125472"/>
            <a:ext cx="64008" cy="11633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3007" y="1960880"/>
            <a:ext cx="5410047" cy="1492503"/>
          </a:xfrm>
          <a:prstGeom prst="roundRect">
            <a:avLst>
              <a:gd name="adj" fmla="val 735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noAutofit/>
          </a:bodyPr>
          <a:lstStyle/>
          <a:p>
            <a:pPr algn="l" marL="0" indent="0">
              <a:lnSpc>
                <a:spcPct val="100000"/>
              </a:lnSpc>
              <a:spcBef>
                <a:spcPts val="0"/>
              </a:spcBef>
              <a:spcAft>
                <a:spcPts val="0"/>
              </a:spcAft>
              <a:buNone/>
            </a:pPr>
            <a:r>
              <a:rPr sz="2000" b="1" i="0">
                <a:solidFill>
                  <a:srgbClr val="324158"/>
                </a:solidFill>
                <a:latin typeface="Fira Sans"/>
              </a:rPr>
              <a:t>“</a:t>
            </a:r>
            <a:r>
              <a:rPr sz="1800" b="0" i="1">
                <a:solidFill>
                  <a:srgbClr val="324158"/>
                </a:solidFill>
                <a:latin typeface="Fira Sans"/>
              </a:rPr>
              <a:t>each new session begins with no memory of what came before.</a:t>
            </a:r>
            <a:r>
              <a:rPr sz="2000" b="1" i="0">
                <a:solidFill>
                  <a:srgbClr val="324158"/>
                </a:solidFill>
                <a:latin typeface="Fira Sans"/>
              </a:rPr>
              <a:t>”</a:t>
            </a:r>
          </a:p>
          <a:p>
            <a:pPr marL="0" indent="0" algn="l">
              <a:lnSpc>
                <a:spcPct val="100000"/>
              </a:lnSpc>
              <a:spcBef>
                <a:spcPts val="1000"/>
              </a:spcBef>
              <a:spcAft>
                <a:spcPts val="0"/>
              </a:spcAft>
              <a:buNone/>
            </a:pPr>
            <a:r>
              <a:rPr sz="1600" b="1" i="0">
                <a:solidFill>
                  <a:srgbClr val="324158"/>
                </a:solidFill>
                <a:latin typeface="Fira Sans"/>
              </a:rPr>
              <a:t>— </a:t>
            </a:r>
            <a:r>
              <a:rPr sz="1600" b="1" i="0" u="sng">
                <a:solidFill>
                  <a:srgbClr val="324158"/>
                </a:solidFill>
                <a:latin typeface="Fira Sans"/>
                <a:hlinkClick r:id="rId3">
                  <a:extLst>
                    <a:ext uri="{A12FA001-AC4F-418D-AE19-62706E023703}">
                      <ns1:hlinkClr xmlns:ns1="http://schemas.microsoft.com/office/drawing/2018/hyperlinkcolor" val="tx"/>
                    </a:ext>
                  </a:extLst>
                </a:hlinkClick>
              </a:rPr>
              <a:t>Source 2: Effective harnesses for long-running agents</a:t>
            </a:r>
          </a:p>
        </p:txBody>
      </p:sp>
      <p:sp>
        <p:nvSpPr>
          <p:cNvPr id="7" name="Rectangle 6"/>
          <p:cNvSpPr/>
          <p:nvPr/>
        </p:nvSpPr>
        <p:spPr>
          <a:xfrm>
            <a:off x="6233007" y="2125472"/>
            <a:ext cx="64008" cy="11633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3864864"/>
            <a:ext cx="5410047" cy="1492503"/>
          </a:xfrm>
          <a:prstGeom prst="roundRect">
            <a:avLst>
              <a:gd name="adj" fmla="val 735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noAutofit/>
          </a:bodyPr>
          <a:lstStyle/>
          <a:p>
            <a:pPr algn="l" marL="0" indent="0">
              <a:lnSpc>
                <a:spcPct val="100000"/>
              </a:lnSpc>
              <a:spcBef>
                <a:spcPts val="0"/>
              </a:spcBef>
              <a:spcAft>
                <a:spcPts val="0"/>
              </a:spcAft>
              <a:buNone/>
            </a:pPr>
            <a:r>
              <a:rPr sz="2000" b="1" i="0">
                <a:solidFill>
                  <a:srgbClr val="324158"/>
                </a:solidFill>
                <a:latin typeface="Fira Sans"/>
              </a:rPr>
              <a:t>“</a:t>
            </a:r>
            <a:r>
              <a:rPr sz="1800" b="0" i="1">
                <a:solidFill>
                  <a:srgbClr val="324158"/>
                </a:solidFill>
                <a:latin typeface="Fira Sans"/>
              </a:rPr>
              <a:t>Codex replicates patterns that already exist in the repository</a:t>
            </a:r>
            <a:r>
              <a:rPr sz="2000" b="1" i="0">
                <a:solidFill>
                  <a:srgbClr val="324158"/>
                </a:solidFill>
                <a:latin typeface="Fira Sans"/>
              </a:rPr>
              <a:t>”</a:t>
            </a:r>
          </a:p>
          <a:p>
            <a:pPr marL="0" indent="0" algn="l">
              <a:lnSpc>
                <a:spcPct val="100000"/>
              </a:lnSpc>
              <a:spcBef>
                <a:spcPts val="1000"/>
              </a:spcBef>
              <a:spcAft>
                <a:spcPts val="0"/>
              </a:spcAft>
              <a:buNone/>
            </a:pPr>
            <a:r>
              <a:rPr sz="1600" b="1" i="0">
                <a:solidFill>
                  <a:srgbClr val="324158"/>
                </a:solidFill>
                <a:latin typeface="Fira Sans"/>
              </a:rPr>
              <a:t>— </a:t>
            </a:r>
            <a:r>
              <a:rPr sz="1600" b="1" i="0" u="sng">
                <a:solidFill>
                  <a:srgbClr val="324158"/>
                </a:solidFill>
                <a:latin typeface="Fira Sans"/>
                <a:hlinkClick r:id="rId2">
                  <a:extLst>
                    <a:ext uri="{A12FA001-AC4F-418D-AE19-62706E023703}">
                      <ns2:hlinkClr xmlns:ns2="http://schemas.microsoft.com/office/drawing/2018/hyperlinkcolor" val="tx"/>
                    </a:ext>
                  </a:extLst>
                </a:hlinkClick>
              </a:rPr>
              <a:t>Source 1: Harness engineering</a:t>
            </a:r>
          </a:p>
        </p:txBody>
      </p:sp>
      <p:sp>
        <p:nvSpPr>
          <p:cNvPr id="9" name="Rectangle 8"/>
          <p:cNvSpPr/>
          <p:nvPr/>
        </p:nvSpPr>
        <p:spPr>
          <a:xfrm>
            <a:off x="548640" y="4029455"/>
            <a:ext cx="64008" cy="11633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33007" y="3864864"/>
            <a:ext cx="5410047" cy="1492503"/>
          </a:xfrm>
          <a:prstGeom prst="roundRect">
            <a:avLst>
              <a:gd name="adj" fmla="val 735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noAutofit/>
          </a:bodyPr>
          <a:lstStyle/>
          <a:p>
            <a:pPr algn="l" marL="0" indent="0">
              <a:lnSpc>
                <a:spcPct val="100000"/>
              </a:lnSpc>
              <a:spcBef>
                <a:spcPts val="0"/>
              </a:spcBef>
              <a:spcAft>
                <a:spcPts val="0"/>
              </a:spcAft>
              <a:buNone/>
            </a:pPr>
            <a:r>
              <a:rPr sz="2000" b="1" i="0">
                <a:solidFill>
                  <a:srgbClr val="324158"/>
                </a:solidFill>
                <a:latin typeface="Fira Sans"/>
              </a:rPr>
              <a:t>“</a:t>
            </a:r>
            <a:r>
              <a:rPr sz="1800" b="0" i="1">
                <a:solidFill>
                  <a:srgbClr val="324158"/>
                </a:solidFill>
                <a:latin typeface="Fira Sans"/>
              </a:rPr>
              <a:t>agents reliably skew positive when grading their own work</a:t>
            </a:r>
            <a:r>
              <a:rPr sz="2000" b="1" i="0">
                <a:solidFill>
                  <a:srgbClr val="324158"/>
                </a:solidFill>
                <a:latin typeface="Fira Sans"/>
              </a:rPr>
              <a:t>”</a:t>
            </a:r>
          </a:p>
          <a:p>
            <a:pPr marL="0" indent="0" algn="l">
              <a:lnSpc>
                <a:spcPct val="100000"/>
              </a:lnSpc>
              <a:spcBef>
                <a:spcPts val="1000"/>
              </a:spcBef>
              <a:spcAft>
                <a:spcPts val="0"/>
              </a:spcAft>
              <a:buNone/>
            </a:pPr>
            <a:r>
              <a:rPr sz="1600" b="1" i="0">
                <a:solidFill>
                  <a:srgbClr val="324158"/>
                </a:solidFill>
                <a:latin typeface="Fira Sans"/>
              </a:rPr>
              <a:t>— </a:t>
            </a:r>
            <a:r>
              <a:rPr sz="1600" b="1" i="0" u="sng">
                <a:solidFill>
                  <a:srgbClr val="324158"/>
                </a:solidFill>
                <a:latin typeface="Fira Sans"/>
                <a:hlinkClick r:id="rId4">
                  <a:extLst>
                    <a:ext uri="{A12FA001-AC4F-418D-AE19-62706E023703}">
                      <ns3:hlinkClr xmlns:ns3="http://schemas.microsoft.com/office/drawing/2018/hyperlinkcolor" val="tx"/>
                    </a:ext>
                  </a:extLst>
                </a:hlinkClick>
              </a:rPr>
              <a:t>Source 3: Harness design for long-running application development</a:t>
            </a:r>
          </a:p>
        </p:txBody>
      </p:sp>
      <p:sp>
        <p:nvSpPr>
          <p:cNvPr id="11" name="Rectangle 10"/>
          <p:cNvSpPr/>
          <p:nvPr/>
        </p:nvSpPr>
        <p:spPr>
          <a:xfrm>
            <a:off x="6233007" y="4029455"/>
            <a:ext cx="64008" cy="11633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Why this matters for Engineering Teams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Each failure costs the team; a harness costs too.</a:t>
            </a:r>
          </a:p>
        </p:txBody>
      </p:sp>
      <p:sp>
        <p:nvSpPr>
          <p:cNvPr id="4" name="Rounded Rectangle 3"/>
          <p:cNvSpPr/>
          <p:nvPr/>
        </p:nvSpPr>
        <p:spPr>
          <a:xfrm>
            <a:off x="548640" y="2342388"/>
            <a:ext cx="5387187" cy="2633472"/>
          </a:xfrm>
          <a:prstGeom prst="roundRect">
            <a:avLst>
              <a:gd name="adj" fmla="val 416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735579"/>
            <a:ext cx="5387187" cy="109728"/>
          </a:xfrm>
          <a:prstGeom prst="rect">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42388"/>
            <a:ext cx="5387187" cy="502920"/>
          </a:xfrm>
          <a:prstGeom prst="roundRect">
            <a:avLst>
              <a:gd name="adj" fmla="val 21818"/>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What a failure costs</a:t>
            </a:r>
          </a:p>
        </p:txBody>
      </p:sp>
      <p:sp>
        <p:nvSpPr>
          <p:cNvPr id="7" name="TextBox 6"/>
          <p:cNvSpPr txBox="1"/>
          <p:nvPr/>
        </p:nvSpPr>
        <p:spPr>
          <a:xfrm>
            <a:off x="548640" y="2845307"/>
            <a:ext cx="5387187" cy="213055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Tenant leak: incident, disclosure, pattern hunt</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Lost session: two migration heads, blocked deploy</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Scope creep: regression in an older feature</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False "done": review rests on trust</a:t>
            </a:r>
          </a:p>
        </p:txBody>
      </p:sp>
      <p:sp>
        <p:nvSpPr>
          <p:cNvPr id="8" name="Rounded Rectangle 7"/>
          <p:cNvSpPr/>
          <p:nvPr/>
        </p:nvSpPr>
        <p:spPr>
          <a:xfrm>
            <a:off x="6255867" y="2342388"/>
            <a:ext cx="5387187" cy="2633472"/>
          </a:xfrm>
          <a:prstGeom prst="roundRect">
            <a:avLst>
              <a:gd name="adj" fmla="val 416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2735579"/>
            <a:ext cx="5387187" cy="109728"/>
          </a:xfrm>
          <a:prstGeom prst="rect">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55867" y="2342388"/>
            <a:ext cx="5387187" cy="502920"/>
          </a:xfrm>
          <a:prstGeom prst="roundRect">
            <a:avLst>
              <a:gd name="adj" fmla="val 21818"/>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What a harness costs</a:t>
            </a:r>
          </a:p>
        </p:txBody>
      </p:sp>
      <p:sp>
        <p:nvSpPr>
          <p:cNvPr id="11" name="TextBox 10"/>
          <p:cNvSpPr txBox="1"/>
          <p:nvPr/>
        </p:nvSpPr>
        <p:spPr>
          <a:xfrm>
            <a:off x="6255867" y="2845307"/>
            <a:ext cx="5387187" cy="213055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More turns per run</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Median 302 s against 190 s per arm</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Median $0.0123 against $0.0103 per arm</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Why We Need a Harness:</a:t>
            </a:r>
            <a:r>
              <a:rPr sz="3000" b="1" i="0">
                <a:solidFill>
                  <a:srgbClr val="FFFFFF"/>
                </a:solidFill>
                <a:latin typeface="Fira Sans"/>
              </a:rPr>
              <a:t> The 4 Critical Gaps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Each story has a cause, and each cause gets one layer.</a:t>
            </a:r>
          </a:p>
        </p:txBody>
      </p:sp>
      <p:sp>
        <p:nvSpPr>
          <p:cNvPr id="4" name="Rounded Rectangle 3"/>
          <p:cNvSpPr/>
          <p:nvPr/>
        </p:nvSpPr>
        <p:spPr>
          <a:xfrm>
            <a:off x="548640" y="1496957"/>
            <a:ext cx="11094415" cy="3665964"/>
          </a:xfrm>
          <a:prstGeom prst="roundRect">
            <a:avLst>
              <a:gd name="adj" fmla="val 299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stories-causes-layers: The stories-causes-layers diagram, three columns left to right: four stories (Monday to Thursday), four causes, four layers. One row per gap."/>
          <p:cNvPicPr>
            <a:picLocks noChangeAspect="1"/>
          </p:cNvPicPr>
          <p:nvPr/>
        </p:nvPicPr>
        <p:blipFill>
          <a:blip r:embed="rId2"/>
          <a:stretch>
            <a:fillRect/>
          </a:stretch>
        </p:blipFill>
        <p:spPr>
          <a:xfrm>
            <a:off x="594360" y="1542677"/>
            <a:ext cx="11002975" cy="3574524"/>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One layer per cause: instructions, state, scope and sandbox, verification.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TeamTrack:</a:t>
            </a:r>
            <a:r>
              <a:rPr sz="3000" b="1" i="0">
                <a:solidFill>
                  <a:srgbClr val="FFFFFF"/>
                </a:solidFill>
                <a:latin typeface="Fira Sans"/>
              </a:rPr>
              <a:t> The data model</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Seven tables; two demo orgs, Acme and Globex.</a:t>
            </a:r>
          </a:p>
        </p:txBody>
      </p:sp>
      <p:sp>
        <p:nvSpPr>
          <p:cNvPr id="4" name="Rounded Rectangle 3"/>
          <p:cNvSpPr/>
          <p:nvPr/>
        </p:nvSpPr>
        <p:spPr>
          <a:xfrm>
            <a:off x="548640" y="1401366"/>
            <a:ext cx="11094415" cy="3857147"/>
          </a:xfrm>
          <a:prstGeom prst="roundRect">
            <a:avLst>
              <a:gd name="adj" fmla="val 284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teamtrack-data-model: The teamtrack-data-model diagram: orgs, users, projects, project_members, issues, audit_log, idempotency_keys, with org_id highlighted on every tenant-owned table."/>
          <p:cNvPicPr>
            <a:picLocks noChangeAspect="1"/>
          </p:cNvPicPr>
          <p:nvPr/>
        </p:nvPicPr>
        <p:blipFill>
          <a:blip r:embed="rId2"/>
          <a:stretch>
            <a:fillRect/>
          </a:stretch>
        </p:blipFill>
        <p:spPr>
          <a:xfrm>
            <a:off x="594360" y="1447086"/>
            <a:ext cx="11002975" cy="3765707"/>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Every tenant-owned row carries org_id.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House rules:</a:t>
            </a:r>
            <a:r>
              <a:rPr sz="3000" b="1" i="0">
                <a:solidFill>
                  <a:srgbClr val="FFFFFF"/>
                </a:solidFill>
                <a:latin typeface="Fira Sans"/>
              </a:rPr>
              <a:t> seven rules in plain words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TeamTrack's handbook rules; both arms get all seven.</a:t>
            </a:r>
          </a:p>
        </p:txBody>
      </p:sp>
      <p:graphicFrame>
        <p:nvGraphicFramePr>
          <p:cNvPr id="4" name="Table 3"/>
          <p:cNvGraphicFramePr>
            <a:graphicFrameLocks noGrp="1"/>
          </p:cNvGraphicFramePr>
          <p:nvPr/>
        </p:nvGraphicFramePr>
        <p:xfrm>
          <a:off x="548640" y="2104644"/>
          <a:ext cx="11094414" cy="3108960"/>
        </p:xfrm>
        <a:graphic>
          <a:graphicData uri="http://schemas.openxmlformats.org/drawingml/2006/table">
            <a:tbl>
              <a:tblPr firstRow="1" bandRow="0">
                <a:tableStyleId>{5940675A-B579-460E-94D1-54222C63F5DA}</a:tableStyleId>
              </a:tblPr>
              <a:tblGrid>
                <a:gridCol w="3741261"/>
                <a:gridCol w="7353153"/>
              </a:tblGrid>
              <a:tr h="388620">
                <a:tc>
                  <a:txBody>
                    <a:bodyPr wrap="square"/>
                    <a:lstStyle/>
                    <a:p>
                      <a:pPr marL="0" indent="0" algn="l">
                        <a:lnSpc>
                          <a:spcPct val="100000"/>
                        </a:lnSpc>
                        <a:spcBef>
                          <a:spcPts val="0"/>
                        </a:spcBef>
                        <a:spcAft>
                          <a:spcPts val="0"/>
                        </a:spcAft>
                        <a:buNone/>
                      </a:pPr>
                      <a:r>
                        <a:rPr sz="1800" b="1" i="0">
                          <a:solidFill>
                            <a:srgbClr val="FFFFFF"/>
                          </a:solidFill>
                          <a:latin typeface="Fira Sans"/>
                        </a:rPr>
                        <a:t>House rule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TeamTrack example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House rule 1: Tenant isolation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Another org's issue answers 404, never 403</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House rule 2: Roles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 viewer's POST, PATCH or DELETE gets 403</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House rule 3: API conventions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Lists return items and next_cursor</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House rule 4: Safe retries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Same Idempotency-Key, one new project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House rule 5: Audit log</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Every write adds exactly one audit row</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House rule 6: Layering</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app/api never imports app/db</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House rule 7: Migrations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One Alembic head, fresh upgrade works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How We'll Measure:</a:t>
            </a:r>
            <a:r>
              <a:rPr sz="3000" b="1" i="0">
                <a:solidFill>
                  <a:srgbClr val="FFFFFF"/>
                </a:solidFill>
                <a:latin typeface="Fira Sans"/>
              </a:rPr>
              <a:t> Same ticket, two arms, one referee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Bare arm and harness arm get the same agent, model, ticket, tools, budgets, and sandbox.</a:t>
            </a:r>
          </a:p>
        </p:txBody>
      </p:sp>
      <p:sp>
        <p:nvSpPr>
          <p:cNvPr id="4" name="Rounded Rectangle 3"/>
          <p:cNvSpPr/>
          <p:nvPr/>
        </p:nvSpPr>
        <p:spPr>
          <a:xfrm>
            <a:off x="548640" y="1466086"/>
            <a:ext cx="11094415" cy="3727707"/>
          </a:xfrm>
          <a:prstGeom prst="roundRect">
            <a:avLst>
              <a:gd name="adj" fmla="val 294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ab-referee: The full ab-referee diagram: one ticket splitting into two arms in identical sandboxes, both feeding one referee in a fresh container, which writes the primary verdict first, then the full verdict, to the console."/>
          <p:cNvPicPr>
            <a:picLocks noChangeAspect="1"/>
          </p:cNvPicPr>
          <p:nvPr/>
        </p:nvPicPr>
        <p:blipFill>
          <a:blip r:embed="rId2"/>
          <a:stretch>
            <a:fillRect/>
          </a:stretch>
        </p:blipFill>
        <p:spPr>
          <a:xfrm>
            <a:off x="594360" y="1511806"/>
            <a:ext cx="11002975" cy="3636267"/>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One referee, one primary measure chosen before any run, counts per arm.</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Glossary:</a:t>
            </a:r>
            <a:r>
              <a:rPr sz="3000" b="1" i="0">
                <a:solidFill>
                  <a:srgbClr val="FFFFFF"/>
                </a:solidFill>
                <a:latin typeface="Fira Sans"/>
              </a:rPr>
              <a:t> the terms used in every section</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One line per term; come back here when a word is new.</a:t>
            </a:r>
          </a:p>
        </p:txBody>
      </p:sp>
      <p:graphicFrame>
        <p:nvGraphicFramePr>
          <p:cNvPr id="4" name="Table 3"/>
          <p:cNvGraphicFramePr>
            <a:graphicFrameLocks noGrp="1"/>
          </p:cNvGraphicFramePr>
          <p:nvPr/>
        </p:nvGraphicFramePr>
        <p:xfrm>
          <a:off x="548640" y="1677924"/>
          <a:ext cx="11094413" cy="3218679"/>
        </p:xfrm>
        <a:graphic>
          <a:graphicData uri="http://schemas.openxmlformats.org/drawingml/2006/table">
            <a:tbl>
              <a:tblPr firstRow="1" bandRow="0">
                <a:tableStyleId>{5940675A-B579-460E-94D1-54222C63F5DA}</a:tableStyleId>
              </a:tblPr>
              <a:tblGrid>
                <a:gridCol w="1664162"/>
                <a:gridCol w="3439268"/>
                <a:gridCol w="2107938"/>
                <a:gridCol w="3883045"/>
              </a:tblGrid>
              <a:tr h="357631">
                <a:tc>
                  <a:txBody>
                    <a:bodyPr wrap="square"/>
                    <a:lstStyle/>
                    <a:p>
                      <a:pPr marL="0" indent="0" algn="l">
                        <a:lnSpc>
                          <a:spcPct val="100000"/>
                        </a:lnSpc>
                        <a:spcBef>
                          <a:spcPts val="0"/>
                        </a:spcBef>
                        <a:spcAft>
                          <a:spcPts val="0"/>
                        </a:spcAft>
                        <a:buNone/>
                      </a:pPr>
                      <a:r>
                        <a:rPr sz="1600" b="1" i="0">
                          <a:solidFill>
                            <a:srgbClr val="FFFFFF"/>
                          </a:solidFill>
                          <a:latin typeface="Fira Sans"/>
                        </a:rPr>
                        <a:t>Term</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600" b="1" i="0">
                          <a:solidFill>
                            <a:srgbClr val="FFFFFF"/>
                          </a:solidFill>
                          <a:latin typeface="Fira Sans"/>
                        </a:rPr>
                        <a:t>Meaning</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600" b="1" i="0">
                          <a:solidFill>
                            <a:srgbClr val="FFFFFF"/>
                          </a:solidFill>
                          <a:latin typeface="Fira Sans"/>
                        </a:rPr>
                        <a:t>Term</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600" b="1" i="0">
                          <a:solidFill>
                            <a:srgbClr val="FFFFFF"/>
                          </a:solidFill>
                          <a:latin typeface="Fira Sans"/>
                        </a:rPr>
                        <a:t>Meaning</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Arm</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One agent run, bare or harness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Tenant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One customer org and its data</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Referee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Scores a run after the agent stops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Idempotent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A retry has no second effect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Primary measure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One question, chosen before any run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Optimistic concurrency</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Stale save gets 412</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Hidden tests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Never seen by the agent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Alembic head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Newest migration; two block upgrades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Mutant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Code with one planted fault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Context reset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Fresh session plus written handoff</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Allowed paths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Files a phase may change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Compaction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Old context squeezed to a summary</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Gate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Checks run when the agent says done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Glob</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Path pattern; ** spans folders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57631">
                <a:tc>
                  <a:txBody>
                    <a:bodyPr wrap="square"/>
                    <a:lstStyle/>
                    <a:p>
                      <a:pPr marL="0" indent="0" algn="l">
                        <a:lnSpc>
                          <a:spcPct val="100000"/>
                        </a:lnSpc>
                        <a:spcBef>
                          <a:spcPts val="0"/>
                        </a:spcBef>
                        <a:spcAft>
                          <a:spcPts val="0"/>
                        </a:spcAft>
                        <a:buNone/>
                      </a:pPr>
                      <a:r>
                        <a:rPr sz="1600" b="1" i="0">
                          <a:solidFill>
                            <a:srgbClr val="324158"/>
                          </a:solidFill>
                          <a:latin typeface="Fira Sans"/>
                        </a:rPr>
                        <a:t>Harness in action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Harness arm alone, live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1" i="0">
                          <a:solidFill>
                            <a:srgbClr val="324158"/>
                          </a:solidFill>
                          <a:latin typeface="Fira Sans"/>
                        </a:rPr>
                        <a:t>Least privilege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600" b="0" i="0">
                          <a:solidFill>
                            <a:srgbClr val="324158"/>
                          </a:solidFill>
                          <a:latin typeface="Fira Sans"/>
                        </a:rPr>
                        <a:t>Only the access the task needs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Section 1:</a:t>
            </a:r>
            <a:r>
              <a:rPr sz="3000" b="1" i="0">
                <a:solidFill>
                  <a:srgbClr val="FFFFFF"/>
                </a:solidFill>
                <a:latin typeface="Fira Sans"/>
              </a:rPr>
              <a:t> Instructions, what the agent knows</a:t>
            </a:r>
          </a:p>
        </p:txBody>
      </p:sp>
      <p:sp>
        <p:nvSpPr>
          <p:cNvPr id="3" name="TextBox 2"/>
          <p:cNvSpPr txBox="1"/>
          <p:nvPr/>
        </p:nvSpPr>
        <p:spPr>
          <a:xfrm>
            <a:off x="548640" y="914400"/>
            <a:ext cx="11094415" cy="41148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200" b="1" i="0">
                <a:solidFill>
                  <a:srgbClr val="FFAB40"/>
                </a:solidFill>
                <a:latin typeface="Fira Sans"/>
              </a:rPr>
              <a:t>Today's Agenda</a:t>
            </a:r>
          </a:p>
        </p:txBody>
      </p:sp>
      <p:sp>
        <p:nvSpPr>
          <p:cNvPr id="4" name="Rounded Rectangle 3"/>
          <p:cNvSpPr/>
          <p:nvPr/>
        </p:nvSpPr>
        <p:spPr>
          <a:xfrm>
            <a:off x="449427" y="2148840"/>
            <a:ext cx="1965960" cy="2788920"/>
          </a:xfrm>
          <a:prstGeom prst="roundRect">
            <a:avLst>
              <a:gd name="adj" fmla="val 5581"/>
            </a:avLst>
          </a:prstGeom>
          <a:solidFill>
            <a:srgbClr val="3896D2"/>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8359" y="24231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1</a:t>
            </a:r>
          </a:p>
        </p:txBody>
      </p:sp>
      <p:sp>
        <p:nvSpPr>
          <p:cNvPr id="6" name="TextBox 5"/>
          <p:cNvSpPr txBox="1"/>
          <p:nvPr/>
        </p:nvSpPr>
        <p:spPr>
          <a:xfrm>
            <a:off x="522579" y="3383280"/>
            <a:ext cx="1819656" cy="14173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Instructions: what the agent knows</a:t>
            </a:r>
          </a:p>
        </p:txBody>
      </p:sp>
      <p:sp>
        <p:nvSpPr>
          <p:cNvPr id="7" name="TextBox 6"/>
          <p:cNvSpPr txBox="1"/>
          <p:nvPr/>
        </p:nvSpPr>
        <p:spPr>
          <a:xfrm>
            <a:off x="1112367" y="1581912"/>
            <a:ext cx="640080" cy="54864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600" b="0" i="0">
                <a:solidFill>
                  <a:srgbClr val="FFFFFF"/>
                </a:solidFill>
                <a:latin typeface="Segoe UI Emoji"/>
              </a:rPr>
              <a:t>⭐</a:t>
            </a:r>
          </a:p>
        </p:txBody>
      </p:sp>
      <p:sp>
        <p:nvSpPr>
          <p:cNvPr id="8" name="TextBox 7"/>
          <p:cNvSpPr txBox="1"/>
          <p:nvPr/>
        </p:nvSpPr>
        <p:spPr>
          <a:xfrm>
            <a:off x="449427" y="4480560"/>
            <a:ext cx="1965960" cy="36576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1600" b="1" i="0">
                <a:solidFill>
                  <a:srgbClr val="FFFFFF"/>
                </a:solidFill>
                <a:latin typeface="Fira Sans"/>
              </a:rPr>
              <a:t>NOW</a:t>
            </a:r>
          </a:p>
        </p:txBody>
      </p:sp>
      <p:sp>
        <p:nvSpPr>
          <p:cNvPr id="9" name="Rounded Rectangle 8"/>
          <p:cNvSpPr/>
          <p:nvPr/>
        </p:nvSpPr>
        <p:spPr>
          <a:xfrm>
            <a:off x="2781147" y="2148840"/>
            <a:ext cx="1965960" cy="27889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80079" y="2423160"/>
            <a:ext cx="768096" cy="768096"/>
          </a:xfrm>
          <a:prstGeom prst="ellipse">
            <a:avLst/>
          </a:prstGeom>
          <a:solidFill>
            <a:srgbClr val="A9B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2</a:t>
            </a:r>
          </a:p>
        </p:txBody>
      </p:sp>
      <p:sp>
        <p:nvSpPr>
          <p:cNvPr id="11" name="TextBox 10"/>
          <p:cNvSpPr txBox="1"/>
          <p:nvPr/>
        </p:nvSpPr>
        <p:spPr>
          <a:xfrm>
            <a:off x="2854299" y="3383280"/>
            <a:ext cx="1819656" cy="14173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State and sessions</a:t>
            </a:r>
          </a:p>
        </p:txBody>
      </p:sp>
      <p:cxnSp>
        <p:nvCxnSpPr>
          <p:cNvPr id="12" name="Connector 11"/>
          <p:cNvCxnSpPr/>
          <p:nvPr/>
        </p:nvCxnSpPr>
        <p:spPr>
          <a:xfrm>
            <a:off x="2470251" y="35433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112867" y="2148840"/>
            <a:ext cx="1965960" cy="27889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11799" y="2423160"/>
            <a:ext cx="768096" cy="768096"/>
          </a:xfrm>
          <a:prstGeom prst="ellipse">
            <a:avLst/>
          </a:prstGeom>
          <a:solidFill>
            <a:srgbClr val="A9B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3</a:t>
            </a:r>
          </a:p>
        </p:txBody>
      </p:sp>
      <p:sp>
        <p:nvSpPr>
          <p:cNvPr id="15" name="TextBox 14"/>
          <p:cNvSpPr txBox="1"/>
          <p:nvPr/>
        </p:nvSpPr>
        <p:spPr>
          <a:xfrm>
            <a:off x="5186019" y="3383280"/>
            <a:ext cx="1819656" cy="14173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Scope and sandbox</a:t>
            </a:r>
          </a:p>
        </p:txBody>
      </p:sp>
      <p:cxnSp>
        <p:nvCxnSpPr>
          <p:cNvPr id="16" name="Connector 15"/>
          <p:cNvCxnSpPr/>
          <p:nvPr/>
        </p:nvCxnSpPr>
        <p:spPr>
          <a:xfrm>
            <a:off x="4801971" y="35433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444587" y="2148840"/>
            <a:ext cx="1965960" cy="27889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3519" y="2423160"/>
            <a:ext cx="768096" cy="768096"/>
          </a:xfrm>
          <a:prstGeom prst="ellipse">
            <a:avLst/>
          </a:prstGeom>
          <a:solidFill>
            <a:srgbClr val="A9B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4</a:t>
            </a:r>
          </a:p>
        </p:txBody>
      </p:sp>
      <p:sp>
        <p:nvSpPr>
          <p:cNvPr id="19" name="TextBox 18"/>
          <p:cNvSpPr txBox="1"/>
          <p:nvPr/>
        </p:nvSpPr>
        <p:spPr>
          <a:xfrm>
            <a:off x="7517739" y="3383280"/>
            <a:ext cx="1819656" cy="14173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Verification</a:t>
            </a:r>
          </a:p>
        </p:txBody>
      </p:sp>
      <p:cxnSp>
        <p:nvCxnSpPr>
          <p:cNvPr id="20" name="Connector 19"/>
          <p:cNvCxnSpPr/>
          <p:nvPr/>
        </p:nvCxnSpPr>
        <p:spPr>
          <a:xfrm>
            <a:off x="7133691" y="35433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776307" y="2148840"/>
            <a:ext cx="1965960" cy="27889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49459" y="3383280"/>
            <a:ext cx="1819656" cy="14173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Final A/B and all results</a:t>
            </a:r>
          </a:p>
        </p:txBody>
      </p:sp>
      <p:cxnSp>
        <p:nvCxnSpPr>
          <p:cNvPr id="23" name="Connector 22"/>
          <p:cNvCxnSpPr/>
          <p:nvPr/>
        </p:nvCxnSpPr>
        <p:spPr>
          <a:xfrm>
            <a:off x="9465411" y="35433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013953" y="5212080"/>
            <a:ext cx="4163788" cy="502920"/>
          </a:xfrm>
          <a:prstGeom prst="roundRect">
            <a:avLst>
              <a:gd name="adj" fmla="val 21818"/>
            </a:avLst>
          </a:prstGeom>
          <a:solidFill>
            <a:srgbClr val="1F293A"/>
          </a:solidFill>
          <a:ln w="15875">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ctr" marL="0" indent="0">
              <a:lnSpc>
                <a:spcPct val="100000"/>
              </a:lnSpc>
              <a:spcBef>
                <a:spcPts val="0"/>
              </a:spcBef>
              <a:spcAft>
                <a:spcPts val="0"/>
              </a:spcAft>
              <a:buNone/>
            </a:pPr>
            <a:r>
              <a:rPr sz="1800" b="0" i="0">
                <a:solidFill>
                  <a:srgbClr val="FFFFFF"/>
                </a:solidFill>
                <a:latin typeface="Fira Sans"/>
              </a:rPr>
              <a:t>Launch, terminal B: </a:t>
            </a:r>
            <a:r>
              <a:rPr sz="1800" b="1" i="0">
                <a:solidFill>
                  <a:srgbClr val="FFAB40"/>
                </a:solidFill>
                <a:latin typeface="Consolas"/>
              </a:rPr>
              <a:t>make show-1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Failure story:</a:t>
            </a:r>
            <a:r>
              <a:rPr sz="3000" b="1" i="0">
                <a:solidFill>
                  <a:srgbClr val="FFFFFF"/>
                </a:solidFill>
                <a:latin typeface="Fira Sans"/>
              </a:rPr>
              <a:t> The search that showed another org</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An illustrative ticket: Feature 1: Org-wide issue search, GET /issues</a:t>
            </a:r>
          </a:p>
        </p:txBody>
      </p:sp>
      <p:sp>
        <p:nvSpPr>
          <p:cNvPr id="4" name="Rounded Rectangle 3"/>
          <p:cNvSpPr/>
          <p:nvPr/>
        </p:nvSpPr>
        <p:spPr>
          <a:xfrm>
            <a:off x="548639"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Agent finds list_all_legacy next door</a:t>
            </a:r>
          </a:p>
        </p:txBody>
      </p:sp>
      <p:sp>
        <p:nvSpPr>
          <p:cNvPr id="5" name="Oval 4"/>
          <p:cNvSpPr/>
          <p:nvPr/>
        </p:nvSpPr>
        <p:spPr>
          <a:xfrm>
            <a:off x="731519"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1</a:t>
            </a:r>
          </a:p>
        </p:txBody>
      </p:sp>
      <p:cxnSp>
        <p:nvCxnSpPr>
          <p:cNvPr id="6" name="Connector 5"/>
          <p:cNvCxnSpPr/>
          <p:nvPr/>
        </p:nvCxnSpPr>
        <p:spPr>
          <a:xfrm>
            <a:off x="2621219"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13243"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Copies it: short, already paginates</a:t>
            </a:r>
          </a:p>
        </p:txBody>
      </p:sp>
      <p:sp>
        <p:nvSpPr>
          <p:cNvPr id="8" name="Oval 7"/>
          <p:cNvSpPr/>
          <p:nvPr/>
        </p:nvSpPr>
        <p:spPr>
          <a:xfrm>
            <a:off x="2996123"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2</a:t>
            </a:r>
          </a:p>
        </p:txBody>
      </p:sp>
      <p:cxnSp>
        <p:nvCxnSpPr>
          <p:cNvPr id="9" name="Connector 8"/>
          <p:cNvCxnSpPr/>
          <p:nvPr/>
        </p:nvCxnSpPr>
        <p:spPr>
          <a:xfrm>
            <a:off x="4885822"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77846"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Tests create one org, so they pass</a:t>
            </a:r>
          </a:p>
        </p:txBody>
      </p:sp>
      <p:sp>
        <p:nvSpPr>
          <p:cNvPr id="11" name="Oval 10"/>
          <p:cNvSpPr/>
          <p:nvPr/>
        </p:nvSpPr>
        <p:spPr>
          <a:xfrm>
            <a:off x="5260726"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3</a:t>
            </a:r>
          </a:p>
        </p:txBody>
      </p:sp>
      <p:cxnSp>
        <p:nvCxnSpPr>
          <p:cNvPr id="12" name="Connector 11"/>
          <p:cNvCxnSpPr/>
          <p:nvPr/>
        </p:nvCxnSpPr>
        <p:spPr>
          <a:xfrm>
            <a:off x="7150425"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42449"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Review approves: looks like the file</a:t>
            </a:r>
          </a:p>
        </p:txBody>
      </p:sp>
      <p:sp>
        <p:nvSpPr>
          <p:cNvPr id="14" name="Oval 13"/>
          <p:cNvSpPr/>
          <p:nvPr/>
        </p:nvSpPr>
        <p:spPr>
          <a:xfrm>
            <a:off x="7525329"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4</a:t>
            </a:r>
          </a:p>
        </p:txBody>
      </p:sp>
      <p:cxnSp>
        <p:nvCxnSpPr>
          <p:cNvPr id="15" name="Connector 14"/>
          <p:cNvCxnSpPr/>
          <p:nvPr/>
        </p:nvCxnSpPr>
        <p:spPr>
          <a:xfrm>
            <a:off x="9415028"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07052" y="2671572"/>
            <a:ext cx="2036003" cy="1975104"/>
          </a:xfrm>
          <a:prstGeom prst="roundRect">
            <a:avLst>
              <a:gd name="adj" fmla="val 5555"/>
            </a:avLst>
          </a:prstGeom>
          <a:solidFill>
            <a:srgbClr val="F0F3F6"/>
          </a:solidFill>
          <a:ln w="38100">
            <a:solidFill>
              <a:srgbClr val="E46962"/>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After release: Acme sees Globex issues</a:t>
            </a:r>
          </a:p>
        </p:txBody>
      </p:sp>
      <p:sp>
        <p:nvSpPr>
          <p:cNvPr id="17" name="Oval 16"/>
          <p:cNvSpPr/>
          <p:nvPr/>
        </p:nvSpPr>
        <p:spPr>
          <a:xfrm>
            <a:off x="9789932" y="2799588"/>
            <a:ext cx="512064" cy="512064"/>
          </a:xfrm>
          <a:prstGeom prst="ellipse">
            <a:avLst/>
          </a:prstGeom>
          <a:solidFill>
            <a:srgbClr val="E469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Instructions:</a:t>
            </a:r>
            <a:r>
              <a:rPr sz="3000" b="1" i="0">
                <a:solidFill>
                  <a:srgbClr val="FFFFFF"/>
                </a:solidFill>
                <a:latin typeface="Fira Sans"/>
              </a:rPr>
              <a:t> Why not paste every rule?</a:t>
            </a:r>
          </a:p>
        </p:txBody>
      </p:sp>
      <p:sp>
        <p:nvSpPr>
          <p:cNvPr id="3" name="TextBox 2"/>
          <p:cNvSpPr txBox="1"/>
          <p:nvPr/>
        </p:nvSpPr>
        <p:spPr>
          <a:xfrm>
            <a:off x="548640" y="749808"/>
            <a:ext cx="11094415" cy="6553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tenant rule is in docs/HANDBOOK.md and both arms can open it. Can we paste every rule into the prompt?</a:t>
            </a:r>
          </a:p>
        </p:txBody>
      </p:sp>
      <p:sp>
        <p:nvSpPr>
          <p:cNvPr id="4" name="Rounded Rectangle 3"/>
          <p:cNvSpPr/>
          <p:nvPr/>
        </p:nvSpPr>
        <p:spPr>
          <a:xfrm>
            <a:off x="548640" y="1856069"/>
            <a:ext cx="11094415" cy="965199"/>
          </a:xfrm>
          <a:prstGeom prst="roundRect">
            <a:avLst>
              <a:gd name="adj" fmla="val 11368"/>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noAutofit/>
          </a:bodyPr>
          <a:lstStyle/>
          <a:p>
            <a:pPr algn="l" marL="0" indent="0">
              <a:lnSpc>
                <a:spcPct val="100000"/>
              </a:lnSpc>
              <a:spcBef>
                <a:spcPts val="0"/>
              </a:spcBef>
              <a:spcAft>
                <a:spcPts val="0"/>
              </a:spcAft>
              <a:buNone/>
            </a:pPr>
            <a:r>
              <a:rPr sz="1600" b="1" i="0">
                <a:solidFill>
                  <a:srgbClr val="324158"/>
                </a:solidFill>
                <a:latin typeface="Fira Sans"/>
              </a:rPr>
              <a:t>KEY IDEA</a:t>
            </a:r>
          </a:p>
          <a:p>
            <a:pPr marL="0" indent="0" algn="l">
              <a:lnSpc>
                <a:spcPct val="100000"/>
              </a:lnSpc>
              <a:spcBef>
                <a:spcPts val="400"/>
              </a:spcBef>
              <a:spcAft>
                <a:spcPts val="0"/>
              </a:spcAft>
              <a:buNone/>
            </a:pPr>
            <a:r>
              <a:rPr sz="2000" b="1" i="0">
                <a:solidFill>
                  <a:srgbClr val="324158"/>
                </a:solidFill>
                <a:latin typeface="Fira Sans"/>
              </a:rPr>
              <a:t>Not as the main mechanism: give the agent a map, not a manual.</a:t>
            </a:r>
          </a:p>
        </p:txBody>
      </p:sp>
      <p:sp>
        <p:nvSpPr>
          <p:cNvPr id="5" name="Rounded Rectangle 4"/>
          <p:cNvSpPr/>
          <p:nvPr/>
        </p:nvSpPr>
        <p:spPr>
          <a:xfrm>
            <a:off x="1188720" y="3409370"/>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It crowds out the task and the code</a:t>
            </a:r>
          </a:p>
        </p:txBody>
      </p:sp>
      <p:sp>
        <p:nvSpPr>
          <p:cNvPr id="6" name="Oval 5"/>
          <p:cNvSpPr/>
          <p:nvPr/>
        </p:nvSpPr>
        <p:spPr>
          <a:xfrm>
            <a:off x="548640" y="3445946"/>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1</a:t>
            </a:r>
          </a:p>
        </p:txBody>
      </p:sp>
      <p:sp>
        <p:nvSpPr>
          <p:cNvPr id="7" name="Rounded Rectangle 6"/>
          <p:cNvSpPr/>
          <p:nvPr/>
        </p:nvSpPr>
        <p:spPr>
          <a:xfrm>
            <a:off x="1188720" y="4322998"/>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Too much guidance becomes non-guidance</a:t>
            </a:r>
          </a:p>
        </p:txBody>
      </p:sp>
      <p:sp>
        <p:nvSpPr>
          <p:cNvPr id="8" name="Oval 7"/>
          <p:cNvSpPr/>
          <p:nvPr/>
        </p:nvSpPr>
        <p:spPr>
          <a:xfrm>
            <a:off x="548640" y="4359574"/>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2</a:t>
            </a:r>
          </a:p>
        </p:txBody>
      </p:sp>
      <p:sp>
        <p:nvSpPr>
          <p:cNvPr id="9" name="Rounded Rectangle 8"/>
          <p:cNvSpPr/>
          <p:nvPr/>
        </p:nvSpPr>
        <p:spPr>
          <a:xfrm>
            <a:off x="1188720" y="5236626"/>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It goes stale; no script checks it</a:t>
            </a:r>
          </a:p>
        </p:txBody>
      </p:sp>
      <p:sp>
        <p:nvSpPr>
          <p:cNvPr id="10" name="Oval 9"/>
          <p:cNvSpPr/>
          <p:nvPr/>
        </p:nvSpPr>
        <p:spPr>
          <a:xfrm>
            <a:off x="548640" y="5273202"/>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3</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1) A map, not a manual</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AGENTS.md is a table of contents: about 100 lines, always in context.</a:t>
            </a:r>
          </a:p>
        </p:txBody>
      </p:sp>
      <p:sp>
        <p:nvSpPr>
          <p:cNvPr id="4" name="Rounded Rectangle 3"/>
          <p:cNvSpPr/>
          <p:nvPr/>
        </p:nvSpPr>
        <p:spPr>
          <a:xfrm>
            <a:off x="548640" y="1411568"/>
            <a:ext cx="11094415" cy="3836742"/>
          </a:xfrm>
          <a:prstGeom prst="roundRect">
            <a:avLst>
              <a:gd name="adj" fmla="val 285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manual-vs-map: The manual-vs-map diagram: on the left one tall 899-line file with the tenant rule buried in the middle; on the right a short map with arrows to platform/teamtrack/harness/instructions/docs/SECURITY.md, ARCHITECTURE.md, and the add-endpoint skill."/>
          <p:cNvPicPr>
            <a:picLocks noChangeAspect="1"/>
          </p:cNvPicPr>
          <p:nvPr/>
        </p:nvPicPr>
        <p:blipFill>
          <a:blip r:embed="rId2"/>
          <a:stretch>
            <a:fillRect/>
          </a:stretch>
        </p:blipFill>
        <p:spPr>
          <a:xfrm>
            <a:off x="594360" y="1457288"/>
            <a:ext cx="11002975" cy="3745302"/>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The map says where each rule lives; it does not hold the rules.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2) Progressive disclosure:</a:t>
            </a:r>
            <a:r>
              <a:rPr sz="3000" b="1" i="0">
                <a:solidFill>
                  <a:srgbClr val="FFFFFF"/>
                </a:solidFill>
                <a:latin typeface="Fira Sans"/>
              </a:rPr>
              <a:t> skills load in three tiers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 small entry point first; the details only when the task needs them.</a:t>
            </a:r>
          </a:p>
        </p:txBody>
      </p:sp>
      <p:sp>
        <p:nvSpPr>
          <p:cNvPr id="4" name="Rounded Rectangle 3"/>
          <p:cNvSpPr/>
          <p:nvPr/>
        </p:nvSpPr>
        <p:spPr>
          <a:xfrm>
            <a:off x="548640" y="1273398"/>
            <a:ext cx="11094415" cy="3838763"/>
          </a:xfrm>
          <a:prstGeom prst="roundRect">
            <a:avLst>
              <a:gd name="adj" fmla="val 2858"/>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skills-three-tiers: The skills-three-tiers diagram: three stacked bands growing in size, &quot;always in context&quot; on tier 1, &quot;on disk&quot; on tiers 2 and 3, with the add-endpoint skill as the example in each band."/>
          <p:cNvPicPr>
            <a:picLocks noChangeAspect="1"/>
          </p:cNvPicPr>
          <p:nvPr/>
        </p:nvPicPr>
        <p:blipFill>
          <a:blip r:embed="rId2"/>
          <a:stretch>
            <a:fillRect/>
          </a:stretch>
        </p:blipFill>
        <p:spPr>
          <a:xfrm>
            <a:off x="594360" y="1319118"/>
            <a:ext cx="11002975" cy="3747323"/>
          </a:xfrm>
          <a:prstGeom prst="rect">
            <a:avLst/>
          </a:prstGeom>
        </p:spPr>
      </p:pic>
      <p:sp>
        <p:nvSpPr>
          <p:cNvPr id="6" name="Rounded Rectangle 5"/>
          <p:cNvSpPr/>
          <p:nvPr/>
        </p:nvSpPr>
        <p:spPr>
          <a:xfrm>
            <a:off x="548640" y="5312664"/>
            <a:ext cx="11094415" cy="676656"/>
          </a:xfrm>
          <a:prstGeom prst="roundRect">
            <a:avLst>
              <a:gd name="adj" fmla="val 16216"/>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Names and descriptions always; the body when picked; references when a step needs them.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3) The context prefix:</a:t>
            </a:r>
            <a:r>
              <a:rPr sz="3000" b="1" i="0">
                <a:solidFill>
                  <a:srgbClr val="FFFFFF"/>
                </a:solidFill>
                <a:latin typeface="Fira Sans"/>
              </a:rPr>
              <a:t> small, fixed, out of reach</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Sent first in every session: a usage note, the whole map, the skills catalogue.</a:t>
            </a:r>
          </a:p>
        </p:txBody>
      </p:sp>
      <p:sp>
        <p:nvSpPr>
          <p:cNvPr id="4" name="Rounded Rectangle 3"/>
          <p:cNvSpPr/>
          <p:nvPr/>
        </p:nvSpPr>
        <p:spPr>
          <a:xfrm>
            <a:off x="548640" y="1411568"/>
            <a:ext cx="11094415" cy="3836742"/>
          </a:xfrm>
          <a:prstGeom prst="roundRect">
            <a:avLst>
              <a:gd name="adj" fmla="val 285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context-prefix: The context-prefix diagram: the first message of a session as a stack (core system prompt, then the prefix: sentence, map, catalogue), with docs and skill bodies outside the stack, on disk, reached by read_file."/>
          <p:cNvPicPr>
            <a:picLocks noChangeAspect="1"/>
          </p:cNvPicPr>
          <p:nvPr/>
        </p:nvPicPr>
        <p:blipFill>
          <a:blip r:embed="rId2"/>
          <a:stretch>
            <a:fillRect/>
          </a:stretch>
        </p:blipFill>
        <p:spPr>
          <a:xfrm>
            <a:off x="594360" y="1457288"/>
            <a:ext cx="11002975" cy="3745302"/>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Built once from the course's copy, so agent edits to AGENTS.md change nothing.</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4) Mechanical checks keep the map true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One big file can't be checked by a script. A map and focused docs can.</a:t>
            </a:r>
          </a:p>
        </p:txBody>
      </p:sp>
      <p:sp>
        <p:nvSpPr>
          <p:cNvPr id="4" name="Rounded Rectangle 3"/>
          <p:cNvSpPr/>
          <p:nvPr/>
        </p:nvSpPr>
        <p:spPr>
          <a:xfrm>
            <a:off x="548640" y="1480752"/>
            <a:ext cx="11094415" cy="3698375"/>
          </a:xfrm>
          <a:prstGeom prst="roundRect">
            <a:avLst>
              <a:gd name="adj" fmla="val 296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checker-flow: The checker-flow diagram: &quot;map + docs + skill&quot; → &quot;checker&quot; → a green terminal chip OK: 13 files, 147 links, 66 rules covered, with a red chip ERROR: broken link below it."/>
          <p:cNvPicPr>
            <a:picLocks noChangeAspect="1"/>
          </p:cNvPicPr>
          <p:nvPr/>
        </p:nvPicPr>
        <p:blipFill>
          <a:blip r:embed="rId2"/>
          <a:stretch>
            <a:fillRect/>
          </a:stretch>
        </p:blipFill>
        <p:spPr>
          <a:xfrm>
            <a:off x="594360" y="1526472"/>
            <a:ext cx="11002975" cy="3606935"/>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Links resolve, each rule lives in one doc, retired rules stay out.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Cheat Sheet:</a:t>
            </a:r>
            <a:r>
              <a:rPr sz="3000" b="1" i="0">
                <a:solidFill>
                  <a:srgbClr val="FFFFFF"/>
                </a:solidFill>
                <a:latin typeface="Fira Sans"/>
              </a:rPr>
              <a:t> The instructions layer in four moves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It informs. It never blocks.</a:t>
            </a:r>
          </a:p>
        </p:txBody>
      </p:sp>
      <p:graphicFrame>
        <p:nvGraphicFramePr>
          <p:cNvPr id="4" name="Table 3"/>
          <p:cNvGraphicFramePr>
            <a:graphicFrameLocks noGrp="1"/>
          </p:cNvGraphicFramePr>
          <p:nvPr/>
        </p:nvGraphicFramePr>
        <p:xfrm>
          <a:off x="548640" y="2687574"/>
          <a:ext cx="11094414" cy="1943100"/>
        </p:xfrm>
        <a:graphic>
          <a:graphicData uri="http://schemas.openxmlformats.org/drawingml/2006/table">
            <a:tbl>
              <a:tblPr firstRow="1" bandRow="0">
                <a:tableStyleId>{5940675A-B579-460E-94D1-54222C63F5DA}</a:tableStyleId>
              </a:tblPr>
              <a:tblGrid>
                <a:gridCol w="1526301"/>
                <a:gridCol w="9568113"/>
              </a:tblGrid>
              <a:tr h="388620">
                <a:tc>
                  <a:txBody>
                    <a:bodyPr wrap="square"/>
                    <a:lstStyle/>
                    <a:p>
                      <a:pPr marL="0" indent="0" algn="l">
                        <a:lnSpc>
                          <a:spcPct val="100000"/>
                        </a:lnSpc>
                        <a:spcBef>
                          <a:spcPts val="0"/>
                        </a:spcBef>
                        <a:spcAft>
                          <a:spcPts val="0"/>
                        </a:spcAft>
                        <a:buNone/>
                      </a:pPr>
                      <a:r>
                        <a:rPr sz="1800" b="1" i="0">
                          <a:solidFill>
                            <a:srgbClr val="FFFFFF"/>
                          </a:solidFill>
                          <a:latin typeface="Fira Sans"/>
                        </a:rPr>
                        <a:t>Move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What it does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Map</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About 100 lines, points to docs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Disclosure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Names first, bodies on demand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Prefix</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Fixed, built from a read-only copy</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Checks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Links, rule coverage, no new facts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1" name="Google Shape;591;g3bb6ac48d58_0_120">
            <a:hlinkClick r:id="rId3"/>
          </p:cNvPr>
          <p:cNvSpPr/>
          <p:nvPr/>
        </p:nvSpPr>
        <p:spPr>
          <a:xfrm>
            <a:off x="4450080" y="2926080"/>
            <a:ext cx="3291840" cy="86868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2800" u="none" cap="none" strike="noStrike">
                <a:solidFill>
                  <a:srgbClr val="324158"/>
                </a:solidFill>
                <a:latin typeface="Lexend Medium"/>
                <a:ea typeface="Lexend Medium"/>
                <a:cs typeface="Lexend Medium"/>
                <a:sym typeface="Lexend Medium"/>
              </a:rPr>
              <a:t>DEMO - 1</a:t>
            </a:r>
            <a:endParaRPr b="0" i="0" sz="1400" u="sng" cap="none" strike="noStrike">
              <a:solidFill>
                <a:srgbClr val="6568F5"/>
              </a:solidFill>
              <a:latin typeface="Lexend Medium"/>
              <a:ea typeface="Lexend Medium"/>
              <a:cs typeface="Lexend Medium"/>
              <a:sym typeface="Lexend Medium"/>
            </a:endParaRPr>
          </a:p>
        </p:txBody>
      </p:sp>
      <p:sp>
        <p:nvSpPr>
          <p:cNvPr id="592" name="Google Shape;592;g3bb6ac48d58_0_120"/>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2500">
                <a:solidFill>
                  <a:srgbClr val="3896D2"/>
                </a:solidFill>
                <a:latin typeface="Fira Sans"/>
                <a:ea typeface="Fira Sans"/>
                <a:cs typeface="Fira Sans"/>
                <a:sym typeface="Fira Sans"/>
                <a:extLst>
                  <a:ext uri="http://customooxmlschemas.google.com/">
                    <go:slidesCustomData xmlns:go="http://customooxmlschemas.google.com/" textRoundtripDataId="4"/>
                  </a:ext>
                </a:extLst>
              </a:rPr>
              <a:t>Section 1: </a:t>
            </a:r>
            <a:r>
              <a:rPr b="1" lang="en-US" sz="2500">
                <a:solidFill>
                  <a:schemeClr val="lt1"/>
                </a:solidFill>
                <a:latin typeface="Fira Sans"/>
                <a:ea typeface="Fira Sans"/>
                <a:cs typeface="Fira Sans"/>
                <a:sym typeface="Fira Sans"/>
                <a:extLst>
                  <a:ext uri="http://customooxmlschemas.google.com/">
                    <go:slidesCustomData xmlns:go="http://customooxmlschemas.google.com/" textRoundtripDataId="5"/>
                  </a:ext>
                </a:extLst>
              </a:rPr>
              <a:t>Instructions - Implementation Notes: The map at work</a:t>
            </a:r>
            <a:endParaRPr b="1" sz="3000">
              <a:solidFill>
                <a:schemeClr val="lt1"/>
              </a:solidFill>
              <a:latin typeface="Fira Sans"/>
              <a:ea typeface="Fira Sans"/>
              <a:cs typeface="Fira Sans"/>
              <a:sym typeface="Fira Sans"/>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18160"/>
          </a:xfrm>
        </p:spPr>
        <p:txBody>
          <a:bodyPr wrap="square" anchor="t">
            <a:noAutofit/>
          </a:bodyPr>
          <a:lstStyle/>
          <a:p>
            <a:pPr marL="0" indent="0" algn="l">
              <a:lnSpc>
                <a:spcPct val="100000"/>
              </a:lnSpc>
              <a:spcBef>
                <a:spcPts val="0"/>
              </a:spcBef>
              <a:spcAft>
                <a:spcPts val="0"/>
              </a:spcAft>
              <a:buNone/>
            </a:pPr>
            <a:r>
              <a:rPr sz="2800" b="1" i="0">
                <a:solidFill>
                  <a:srgbClr val="3896D2"/>
                </a:solidFill>
                <a:latin typeface="Fira Sans"/>
              </a:rPr>
              <a:t>What we measured:</a:t>
            </a:r>
            <a:r>
              <a:rPr sz="2800" b="1" i="0">
                <a:solidFill>
                  <a:srgbClr val="FFFFFF"/>
                </a:solidFill>
                <a:latin typeface="Fira Sans"/>
              </a:rPr>
              <a:t> No measurable difference on org-wide search</a:t>
            </a:r>
          </a:p>
        </p:txBody>
      </p:sp>
      <p:sp>
        <p:nvSpPr>
          <p:cNvPr id="3" name="TextBox 2"/>
          <p:cNvSpPr txBox="1"/>
          <p:nvPr/>
        </p:nvSpPr>
        <p:spPr>
          <a:xfrm>
            <a:off x="548640" y="71932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Earns its place when rules are many, far from code, and the code cannot show them.</a:t>
            </a:r>
          </a:p>
        </p:txBody>
      </p:sp>
      <p:sp>
        <p:nvSpPr>
          <p:cNvPr id="4" name="Rounded Rectangle 3"/>
          <p:cNvSpPr/>
          <p:nvPr/>
        </p:nvSpPr>
        <p:spPr>
          <a:xfrm>
            <a:off x="548640" y="1298448"/>
            <a:ext cx="6680112" cy="4690872"/>
          </a:xfrm>
          <a:prstGeom prst="roundRect">
            <a:avLst>
              <a:gd name="adj" fmla="val 233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6680112" cy="109728"/>
          </a:xfrm>
          <a:prstGeom prst="rect">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98448"/>
            <a:ext cx="6680112" cy="502920"/>
          </a:xfrm>
          <a:prstGeom prst="roundRect">
            <a:avLst>
              <a:gd name="adj" fmla="val 21818"/>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What we measured</a:t>
            </a:r>
          </a:p>
        </p:txBody>
      </p:sp>
      <p:pic>
        <p:nvPicPr>
          <p:cNvPr id="7" name="Picture 6" descr="Diagram results-s1: Left card holds the results-s1 dot chart (one dot per run, bare grey, harness blue, every dot filled, by round: medium effort 3, low effort 3, class settings 1) above its three lines; right card is a checklist with empty tick boxes."/>
          <p:cNvPicPr>
            <a:picLocks noChangeAspect="1"/>
          </p:cNvPicPr>
          <p:nvPr/>
        </p:nvPicPr>
        <p:blipFill>
          <a:blip r:embed="rId2"/>
          <a:stretch>
            <a:fillRect/>
          </a:stretch>
        </p:blipFill>
        <p:spPr>
          <a:xfrm>
            <a:off x="1364662" y="1911095"/>
            <a:ext cx="5048068" cy="2865120"/>
          </a:xfrm>
          <a:prstGeom prst="rect">
            <a:avLst/>
          </a:prstGeom>
        </p:spPr>
      </p:pic>
      <p:sp>
        <p:nvSpPr>
          <p:cNvPr id="8" name="TextBox 7"/>
          <p:cNvSpPr txBox="1"/>
          <p:nvPr/>
        </p:nvSpPr>
        <p:spPr>
          <a:xfrm>
            <a:off x="548640" y="4757928"/>
            <a:ext cx="6680112" cy="123139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A run fails if it adds a tenant leak</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Bare arm: 0 of 7 runs failed</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Harness arm: 0 of 7 runs failed</a:t>
            </a:r>
          </a:p>
        </p:txBody>
      </p:sp>
      <p:sp>
        <p:nvSpPr>
          <p:cNvPr id="9" name="Rounded Rectangle 8"/>
          <p:cNvSpPr/>
          <p:nvPr/>
        </p:nvSpPr>
        <p:spPr>
          <a:xfrm>
            <a:off x="7548792" y="1298448"/>
            <a:ext cx="4094262" cy="4690872"/>
          </a:xfrm>
          <a:prstGeom prst="roundRect">
            <a:avLst>
              <a:gd name="adj" fmla="val 2680"/>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8792" y="1691640"/>
            <a:ext cx="4094262" cy="109728"/>
          </a:xfrm>
          <a:prstGeom prst="rect">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8792" y="1298448"/>
            <a:ext cx="4094262" cy="502920"/>
          </a:xfrm>
          <a:prstGeom prst="roundRect">
            <a:avLst>
              <a:gd name="adj" fmla="val 21818"/>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Apply it Monday</a:t>
            </a:r>
          </a:p>
        </p:txBody>
      </p:sp>
      <p:sp>
        <p:nvSpPr>
          <p:cNvPr id="12" name="TextBox 11"/>
          <p:cNvSpPr txBox="1"/>
          <p:nvPr/>
        </p:nvSpPr>
        <p:spPr>
          <a:xfrm>
            <a:off x="7548792" y="1801368"/>
            <a:ext cx="4094262" cy="418795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Count your instruction file's lines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One "read first" row per action</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"Do not copy" for legacy code</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A link and rule check in CI</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7" name="Google Shape;597;g3c929a46dfa_1_19"/>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lt1"/>
                </a:solidFill>
                <a:latin typeface="Fira Sans"/>
                <a:ea typeface="Fira Sans"/>
                <a:cs typeface="Fira Sans"/>
                <a:sym typeface="Fira Sans"/>
              </a:rPr>
              <a:t>Ask about anything:</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Concepts from today's sections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How this applies to your work</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Implementation details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Clarifications on what we covered</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0"/>
              </a:spcAft>
              <a:buNone/>
            </a:pPr>
            <a:br>
              <a:rPr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Quick Request</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Please do not mind if a question gets skipped accidentally</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Repost politely in chat if needed</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We will try our best to cover as many questions as possible</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1200"/>
              </a:spcAft>
              <a:buNone/>
            </a:pPr>
            <a:br>
              <a:rPr b="1" lang="en-US" sz="1700">
                <a:solidFill>
                  <a:schemeClr val="lt1"/>
                </a:solidFill>
                <a:latin typeface="Fira Sans"/>
                <a:ea typeface="Fira Sans"/>
                <a:cs typeface="Fira Sans"/>
                <a:sym typeface="Fira Sans"/>
              </a:rPr>
            </a:br>
            <a:br>
              <a:rPr b="1"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Remember:</a:t>
            </a:r>
            <a:r>
              <a:rPr lang="en-US" sz="1700">
                <a:solidFill>
                  <a:schemeClr val="lt1"/>
                </a:solidFill>
                <a:latin typeface="Fira Sans"/>
                <a:ea typeface="Fira Sans"/>
                <a:cs typeface="Fira Sans"/>
                <a:sym typeface="Fira Sans"/>
              </a:rPr>
              <a:t> </a:t>
            </a:r>
            <a:r>
              <a:rPr lang="en-US" sz="1700">
                <a:solidFill>
                  <a:schemeClr val="accent1"/>
                </a:solidFill>
                <a:latin typeface="Fira Sans"/>
                <a:ea typeface="Fira Sans"/>
                <a:cs typeface="Fira Sans"/>
                <a:sym typeface="Fira Sans"/>
              </a:rPr>
              <a:t>If you're wondering about it, others probably are too.</a:t>
            </a:r>
            <a:endParaRPr sz="1700">
              <a:solidFill>
                <a:schemeClr val="accent1"/>
              </a:solidFill>
              <a:latin typeface="Fira Sans"/>
              <a:ea typeface="Fira Sans"/>
              <a:cs typeface="Fira Sans"/>
              <a:sym typeface="Fira Sans"/>
            </a:endParaRPr>
          </a:p>
        </p:txBody>
      </p:sp>
      <p:sp>
        <p:nvSpPr>
          <p:cNvPr id="598" name="Google Shape;598;g3c929a46dfa_1_19"/>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400"/>
              </a:spcBef>
              <a:spcAft>
                <a:spcPts val="400"/>
              </a:spcAft>
              <a:buClr>
                <a:schemeClr val="dk1"/>
              </a:buClr>
              <a:buSzPts val="1100"/>
              <a:buFont typeface="Arial"/>
              <a:buNone/>
            </a:pPr>
            <a:r>
              <a:rPr b="1" lang="en-US" sz="2000">
                <a:solidFill>
                  <a:schemeClr val="accent1"/>
                </a:solidFill>
                <a:latin typeface="Fira Sans"/>
                <a:ea typeface="Fira Sans"/>
                <a:cs typeface="Fira Sans"/>
                <a:sym typeface="Fira Sans"/>
              </a:rPr>
              <a:t>No Question Is Too Small Every Question Deserves an Answer!!</a:t>
            </a:r>
            <a:endParaRPr b="1" sz="3000">
              <a:solidFill>
                <a:srgbClr val="3896D2"/>
              </a:solidFill>
              <a:latin typeface="Fira Sans"/>
              <a:ea typeface="Fira Sans"/>
              <a:cs typeface="Fira Sans"/>
              <a:sym typeface="Fira Sans"/>
            </a:endParaRPr>
          </a:p>
        </p:txBody>
      </p:sp>
      <p:pic>
        <p:nvPicPr>
          <p:cNvPr id="599" name="Google Shape;599;g3c929a46dfa_1_19" descr="Questions and answers illustration"/>
          <p:cNvPicPr preferRelativeResize="0"/>
          <p:nvPr/>
        </p:nvPicPr>
        <p:blipFill rotWithShape="1">
          <a:blip r:embed="rId2">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4" name="Google Shape;604;g3bec679679f_0_142"/>
          <p:cNvSpPr txBox="1"/>
          <p:nvPr>
            <p:ph type="title"/>
          </p:nvPr>
        </p:nvSpPr>
        <p:spPr>
          <a:xfrm>
            <a:off x="746075" y="5645554"/>
            <a:ext cx="10515600" cy="817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2500">
                <a:solidFill>
                  <a:schemeClr val="accent1"/>
                </a:solidFill>
              </a:rPr>
              <a:t>A 10-minute break is starting now. Please return when the timer ends to continue the presentation</a:t>
            </a:r>
            <a:endParaRPr b="1" sz="2500">
              <a:solidFill>
                <a:schemeClr val="accent1"/>
              </a:solidFill>
            </a:endParaRPr>
          </a:p>
        </p:txBody>
      </p:sp>
      <p:pic>
        <p:nvPicPr>
          <p:cNvPr descr="Set a timer for 10 minutes. This 10 minute timer with alarm silently counts down to 00:00 and then alerts you with a gentle alarm sound.&#10;&#10;What Is the 10 Minute Timer?&#10;If you're looking for a timer to help you stay on track with your work, a 10 minute countdown is a great option. You can use it to break up your work time into manageable chunks, and it can also help you avoid getting bogged down with one task for too long.&#10;&#10;How to Set a 10 Minute Timer&#10;There are a few different ways to set a 10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0 Minute Alarm?&#10;This timer is perfect for work or study sessions. It's also great for any activity where you want to be sure to take a break every 10 minutes, such as cooking, laundry, or working out.&#10;&#10;5 Minute Timer: https://youtu.be/qgnDbQ1aM54&#10;15 Minute Timer: https://youtu.be/tuVa27WISyo&#10;30 Minute Timer: https://youtu.be/LNYm40RmRzs&#10;&#10;------------------------------------------------------------------------&#10;&#10;Follow Us on X: https://twitter.com/onlinealarmkur&#10;Online Timer: https://onlinealarmkur.com/timer/en/&#10;&#10;------------------------------------------------------------------------" id="605" name="Google Shape;605;g3bec679679f_0_142" title="10 Minute Timer">
            <a:hlinkClick r:id="rId2"/>
          </p:cNvPr>
          <p:cNvPicPr preferRelativeResize="0"/>
          <p:nvPr/>
        </p:nvPicPr>
        <p:blipFill>
          <a:blip r:embed="rId3">
            <a:alphaModFix/>
          </a:blip>
          <a:stretch>
            <a:fillRect/>
          </a:stretch>
        </p:blipFill>
        <p:spPr>
          <a:xfrm>
            <a:off x="2188327" y="1114800"/>
            <a:ext cx="7631100" cy="4292525"/>
          </a:xfrm>
          <a:prstGeom prst="rect">
            <a:avLst/>
          </a:prstGeom>
          <a:noFill/>
          <a:ln>
            <a:noFill/>
          </a:ln>
        </p:spPr>
      </p:pic>
      <p:sp>
        <p:nvSpPr>
          <p:cNvPr id="606" name="Google Shape;606;g3bec679679f_0_142"/>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3000">
                <a:solidFill>
                  <a:srgbClr val="3896D2"/>
                </a:solidFill>
                <a:latin typeface="Fira Sans"/>
                <a:ea typeface="Fira Sans"/>
                <a:cs typeface="Fira Sans"/>
                <a:sym typeface="Fira Sans"/>
              </a:rPr>
              <a:t>Time for a Break</a:t>
            </a:r>
            <a:endParaRPr b="1" sz="3000">
              <a:solidFill>
                <a:srgbClr val="3896D2"/>
              </a:solidFill>
              <a:latin typeface="Fira Sans"/>
              <a:ea typeface="Fira Sans"/>
              <a:cs typeface="Fira Sans"/>
              <a:sym typeface="Fira Sans"/>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Section 2:</a:t>
            </a:r>
            <a:r>
              <a:rPr sz="3000" b="1" i="0">
                <a:solidFill>
                  <a:srgbClr val="FFFFFF"/>
                </a:solidFill>
                <a:latin typeface="Fira Sans"/>
              </a:rPr>
              <a:t> State and sessions, what it remembers</a:t>
            </a:r>
          </a:p>
        </p:txBody>
      </p:sp>
      <p:sp>
        <p:nvSpPr>
          <p:cNvPr id="3" name="Rounded Rectangle 2"/>
          <p:cNvSpPr/>
          <p:nvPr/>
        </p:nvSpPr>
        <p:spPr>
          <a:xfrm>
            <a:off x="449427" y="1920240"/>
            <a:ext cx="1965960" cy="3017520"/>
          </a:xfrm>
          <a:prstGeom prst="roundRect">
            <a:avLst>
              <a:gd name="adj" fmla="val 5581"/>
            </a:avLst>
          </a:prstGeom>
          <a:solidFill>
            <a:srgbClr val="3E5274"/>
          </a:solidFill>
          <a:ln w="25400">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835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1</a:t>
            </a:r>
          </a:p>
        </p:txBody>
      </p:sp>
      <p:sp>
        <p:nvSpPr>
          <p:cNvPr id="5" name="TextBox 4"/>
          <p:cNvSpPr txBox="1"/>
          <p:nvPr/>
        </p:nvSpPr>
        <p:spPr>
          <a:xfrm>
            <a:off x="52257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Instructions</a:t>
            </a:r>
          </a:p>
        </p:txBody>
      </p:sp>
      <p:sp>
        <p:nvSpPr>
          <p:cNvPr id="6" name="TextBox 5"/>
          <p:cNvSpPr txBox="1"/>
          <p:nvPr/>
        </p:nvSpPr>
        <p:spPr>
          <a:xfrm>
            <a:off x="1866747" y="1993392"/>
            <a:ext cx="457200" cy="4572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200" b="1" i="0">
                <a:solidFill>
                  <a:srgbClr val="FFAB40"/>
                </a:solidFill>
                <a:latin typeface="Fira Sans"/>
              </a:rPr>
              <a:t>✓</a:t>
            </a:r>
          </a:p>
        </p:txBody>
      </p:sp>
      <p:sp>
        <p:nvSpPr>
          <p:cNvPr id="7" name="Rounded Rectangle 6"/>
          <p:cNvSpPr/>
          <p:nvPr/>
        </p:nvSpPr>
        <p:spPr>
          <a:xfrm>
            <a:off x="2781147" y="1920240"/>
            <a:ext cx="1965960" cy="3017520"/>
          </a:xfrm>
          <a:prstGeom prst="roundRect">
            <a:avLst>
              <a:gd name="adj" fmla="val 5581"/>
            </a:avLst>
          </a:prstGeom>
          <a:solidFill>
            <a:srgbClr val="3896D2"/>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8007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2</a:t>
            </a:r>
          </a:p>
        </p:txBody>
      </p:sp>
      <p:sp>
        <p:nvSpPr>
          <p:cNvPr id="9" name="TextBox 8"/>
          <p:cNvSpPr txBox="1"/>
          <p:nvPr/>
        </p:nvSpPr>
        <p:spPr>
          <a:xfrm>
            <a:off x="285429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State and sessions</a:t>
            </a:r>
          </a:p>
        </p:txBody>
      </p:sp>
      <p:sp>
        <p:nvSpPr>
          <p:cNvPr id="10" name="TextBox 9"/>
          <p:cNvSpPr txBox="1"/>
          <p:nvPr/>
        </p:nvSpPr>
        <p:spPr>
          <a:xfrm>
            <a:off x="3444087" y="1353312"/>
            <a:ext cx="640080" cy="54864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600" b="0" i="0">
                <a:solidFill>
                  <a:srgbClr val="FFFFFF"/>
                </a:solidFill>
                <a:latin typeface="Segoe UI Emoji"/>
              </a:rPr>
              <a:t>⭐</a:t>
            </a:r>
          </a:p>
        </p:txBody>
      </p:sp>
      <p:sp>
        <p:nvSpPr>
          <p:cNvPr id="11" name="TextBox 10"/>
          <p:cNvSpPr txBox="1"/>
          <p:nvPr/>
        </p:nvSpPr>
        <p:spPr>
          <a:xfrm>
            <a:off x="2781147" y="4480560"/>
            <a:ext cx="1965960" cy="36576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1600" b="1" i="0">
                <a:solidFill>
                  <a:srgbClr val="FFFFFF"/>
                </a:solidFill>
                <a:latin typeface="Fira Sans"/>
              </a:rPr>
              <a:t>NOW</a:t>
            </a:r>
          </a:p>
        </p:txBody>
      </p:sp>
      <p:cxnSp>
        <p:nvCxnSpPr>
          <p:cNvPr id="12" name="Connector 11"/>
          <p:cNvCxnSpPr/>
          <p:nvPr/>
        </p:nvCxnSpPr>
        <p:spPr>
          <a:xfrm>
            <a:off x="247025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112867" y="1920240"/>
            <a:ext cx="1965960" cy="30175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11799" y="2194560"/>
            <a:ext cx="768096" cy="768096"/>
          </a:xfrm>
          <a:prstGeom prst="ellipse">
            <a:avLst/>
          </a:prstGeom>
          <a:solidFill>
            <a:srgbClr val="A9B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3</a:t>
            </a:r>
          </a:p>
        </p:txBody>
      </p:sp>
      <p:sp>
        <p:nvSpPr>
          <p:cNvPr id="15" name="TextBox 14"/>
          <p:cNvSpPr txBox="1"/>
          <p:nvPr/>
        </p:nvSpPr>
        <p:spPr>
          <a:xfrm>
            <a:off x="518601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Scope and sandbox</a:t>
            </a:r>
          </a:p>
        </p:txBody>
      </p:sp>
      <p:cxnSp>
        <p:nvCxnSpPr>
          <p:cNvPr id="16" name="Connector 15"/>
          <p:cNvCxnSpPr/>
          <p:nvPr/>
        </p:nvCxnSpPr>
        <p:spPr>
          <a:xfrm>
            <a:off x="480197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444587" y="1920240"/>
            <a:ext cx="1965960" cy="30175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3519" y="2194560"/>
            <a:ext cx="768096" cy="768096"/>
          </a:xfrm>
          <a:prstGeom prst="ellipse">
            <a:avLst/>
          </a:prstGeom>
          <a:solidFill>
            <a:srgbClr val="A9B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4</a:t>
            </a:r>
          </a:p>
        </p:txBody>
      </p:sp>
      <p:sp>
        <p:nvSpPr>
          <p:cNvPr id="19" name="TextBox 18"/>
          <p:cNvSpPr txBox="1"/>
          <p:nvPr/>
        </p:nvSpPr>
        <p:spPr>
          <a:xfrm>
            <a:off x="751773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Verification</a:t>
            </a:r>
          </a:p>
        </p:txBody>
      </p:sp>
      <p:cxnSp>
        <p:nvCxnSpPr>
          <p:cNvPr id="20" name="Connector 19"/>
          <p:cNvCxnSpPr/>
          <p:nvPr/>
        </p:nvCxnSpPr>
        <p:spPr>
          <a:xfrm>
            <a:off x="713369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776307" y="1920240"/>
            <a:ext cx="1965960" cy="30175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4945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Final A/B</a:t>
            </a:r>
          </a:p>
        </p:txBody>
      </p:sp>
      <p:cxnSp>
        <p:nvCxnSpPr>
          <p:cNvPr id="23" name="Connector 22"/>
          <p:cNvCxnSpPr/>
          <p:nvPr/>
        </p:nvCxnSpPr>
        <p:spPr>
          <a:xfrm>
            <a:off x="946541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624811" y="5212080"/>
            <a:ext cx="6942072" cy="502920"/>
          </a:xfrm>
          <a:prstGeom prst="roundRect">
            <a:avLst>
              <a:gd name="adj" fmla="val 21818"/>
            </a:avLst>
          </a:prstGeom>
          <a:solidFill>
            <a:srgbClr val="1F293A"/>
          </a:solidFill>
          <a:ln w="15875">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ctr" marL="0" indent="0">
              <a:lnSpc>
                <a:spcPct val="100000"/>
              </a:lnSpc>
              <a:spcBef>
                <a:spcPts val="0"/>
              </a:spcBef>
              <a:spcAft>
                <a:spcPts val="0"/>
              </a:spcAft>
              <a:buNone/>
            </a:pPr>
            <a:r>
              <a:rPr sz="1800" b="0" i="0">
                <a:solidFill>
                  <a:srgbClr val="FFFFFF"/>
                </a:solidFill>
                <a:latin typeface="Fira Sans"/>
              </a:rPr>
              <a:t>Launch, terminal B: </a:t>
            </a:r>
            <a:r>
              <a:rPr sz="1800" b="1" i="0">
                <a:solidFill>
                  <a:srgbClr val="FFAB40"/>
                </a:solidFill>
                <a:latin typeface="Consolas"/>
              </a:rPr>
              <a:t>make show-2 SESSION_BUDGET=12,38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Failure story:</a:t>
            </a:r>
            <a:r>
              <a:rPr sz="3000" b="1" i="0">
                <a:solidFill>
                  <a:srgbClr val="FFFFFF"/>
                </a:solidFill>
                <a:latin typeface="Fira Sans"/>
              </a:rPr>
              <a:t> The second session redoes the first</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An illustrative ticket: Feature 2: Comments on issues, over two sessions</a:t>
            </a:r>
          </a:p>
        </p:txBody>
      </p:sp>
      <p:sp>
        <p:nvSpPr>
          <p:cNvPr id="4" name="Rounded Rectangle 3"/>
          <p:cNvSpPr/>
          <p:nvPr/>
        </p:nvSpPr>
        <p:spPr>
          <a:xfrm>
            <a:off x="548639" y="2397252"/>
            <a:ext cx="2036003" cy="2523744"/>
          </a:xfrm>
          <a:prstGeom prst="roundRect">
            <a:avLst>
              <a:gd name="adj" fmla="val 53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Session 1 writes the comments migration, stops at its limit</a:t>
            </a:r>
          </a:p>
        </p:txBody>
      </p:sp>
      <p:sp>
        <p:nvSpPr>
          <p:cNvPr id="5" name="Oval 4"/>
          <p:cNvSpPr/>
          <p:nvPr/>
        </p:nvSpPr>
        <p:spPr>
          <a:xfrm>
            <a:off x="731519" y="252526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1</a:t>
            </a:r>
          </a:p>
        </p:txBody>
      </p:sp>
      <p:cxnSp>
        <p:nvCxnSpPr>
          <p:cNvPr id="6" name="Connector 5"/>
          <p:cNvCxnSpPr/>
          <p:nvPr/>
        </p:nvCxnSpPr>
        <p:spPr>
          <a:xfrm>
            <a:off x="2621219"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13243" y="2397252"/>
            <a:ext cx="2036003" cy="2523744"/>
          </a:xfrm>
          <a:prstGeom prst="roundRect">
            <a:avLst>
              <a:gd name="adj" fmla="val 53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Half an endpoint, uncommitted, no note left</a:t>
            </a:r>
          </a:p>
        </p:txBody>
      </p:sp>
      <p:sp>
        <p:nvSpPr>
          <p:cNvPr id="8" name="Oval 7"/>
          <p:cNvSpPr/>
          <p:nvPr/>
        </p:nvSpPr>
        <p:spPr>
          <a:xfrm>
            <a:off x="2996123" y="252526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2</a:t>
            </a:r>
          </a:p>
        </p:txBody>
      </p:sp>
      <p:cxnSp>
        <p:nvCxnSpPr>
          <p:cNvPr id="9" name="Connector 8"/>
          <p:cNvCxnSpPr/>
          <p:nvPr/>
        </p:nvCxnSpPr>
        <p:spPr>
          <a:xfrm>
            <a:off x="4885822"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77846" y="2397252"/>
            <a:ext cx="2036003" cy="2523744"/>
          </a:xfrm>
          <a:prstGeom prst="roundRect">
            <a:avLst>
              <a:gd name="adj" fmla="val 53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Session 2 starts with an empty context</a:t>
            </a:r>
          </a:p>
        </p:txBody>
      </p:sp>
      <p:sp>
        <p:nvSpPr>
          <p:cNvPr id="11" name="Oval 10"/>
          <p:cNvSpPr/>
          <p:nvPr/>
        </p:nvSpPr>
        <p:spPr>
          <a:xfrm>
            <a:off x="5260726" y="252526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3</a:t>
            </a:r>
          </a:p>
        </p:txBody>
      </p:sp>
      <p:cxnSp>
        <p:nvCxnSpPr>
          <p:cNvPr id="12" name="Connector 11"/>
          <p:cNvCxnSpPr/>
          <p:nvPr/>
        </p:nvCxnSpPr>
        <p:spPr>
          <a:xfrm>
            <a:off x="7150425"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42449" y="2397252"/>
            <a:ext cx="2036003" cy="2523744"/>
          </a:xfrm>
          <a:prstGeom prst="roundRect">
            <a:avLst>
              <a:gd name="adj" fmla="val 53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Writes a second migration from the old head</a:t>
            </a:r>
          </a:p>
        </p:txBody>
      </p:sp>
      <p:sp>
        <p:nvSpPr>
          <p:cNvPr id="14" name="Oval 13"/>
          <p:cNvSpPr/>
          <p:nvPr/>
        </p:nvSpPr>
        <p:spPr>
          <a:xfrm>
            <a:off x="7525329" y="252526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4</a:t>
            </a:r>
          </a:p>
        </p:txBody>
      </p:sp>
      <p:cxnSp>
        <p:nvCxnSpPr>
          <p:cNvPr id="15" name="Connector 14"/>
          <p:cNvCxnSpPr/>
          <p:nvPr/>
        </p:nvCxnSpPr>
        <p:spPr>
          <a:xfrm>
            <a:off x="9415028"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07052" y="2397252"/>
            <a:ext cx="2036003" cy="2523744"/>
          </a:xfrm>
          <a:prstGeom prst="roundRect">
            <a:avLst>
              <a:gd name="adj" fmla="val 5389"/>
            </a:avLst>
          </a:prstGeom>
          <a:solidFill>
            <a:srgbClr val="F0F3F6"/>
          </a:solidFill>
          <a:ln w="38100">
            <a:solidFill>
              <a:srgbClr val="E46962"/>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Two Alembic heads block the deploy</a:t>
            </a:r>
          </a:p>
        </p:txBody>
      </p:sp>
      <p:sp>
        <p:nvSpPr>
          <p:cNvPr id="17" name="Oval 16"/>
          <p:cNvSpPr/>
          <p:nvPr/>
        </p:nvSpPr>
        <p:spPr>
          <a:xfrm>
            <a:off x="9789932" y="2525268"/>
            <a:ext cx="512064" cy="512064"/>
          </a:xfrm>
          <a:prstGeom prst="ellipse">
            <a:avLst/>
          </a:prstGeom>
          <a:solidFill>
            <a:srgbClr val="E469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5</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Fresh session:</a:t>
            </a:r>
            <a:r>
              <a:rPr sz="3000" b="1" i="0">
                <a:solidFill>
                  <a:srgbClr val="FFFFFF"/>
                </a:solidFill>
                <a:latin typeface="Fira Sans"/>
              </a:rPr>
              <a:t> Why redo work already on disk?</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Session 2 has the whole repository but an empty context. Can we carry the old context over?</a:t>
            </a:r>
          </a:p>
        </p:txBody>
      </p:sp>
      <p:sp>
        <p:nvSpPr>
          <p:cNvPr id="4" name="Rounded Rectangle 3"/>
          <p:cNvSpPr/>
          <p:nvPr/>
        </p:nvSpPr>
        <p:spPr>
          <a:xfrm>
            <a:off x="548640" y="2132279"/>
            <a:ext cx="11094415" cy="965199"/>
          </a:xfrm>
          <a:prstGeom prst="roundRect">
            <a:avLst>
              <a:gd name="adj" fmla="val 11368"/>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noAutofit/>
          </a:bodyPr>
          <a:lstStyle/>
          <a:p>
            <a:pPr algn="l" marL="0" indent="0">
              <a:lnSpc>
                <a:spcPct val="100000"/>
              </a:lnSpc>
              <a:spcBef>
                <a:spcPts val="0"/>
              </a:spcBef>
              <a:spcAft>
                <a:spcPts val="0"/>
              </a:spcAft>
              <a:buNone/>
            </a:pPr>
            <a:r>
              <a:rPr sz="1600" b="1" i="0">
                <a:solidFill>
                  <a:srgbClr val="324158"/>
                </a:solidFill>
                <a:latin typeface="Fira Sans"/>
              </a:rPr>
              <a:t>KEY IDEA</a:t>
            </a:r>
          </a:p>
          <a:p>
            <a:pPr marL="0" indent="0" algn="l">
              <a:lnSpc>
                <a:spcPct val="100000"/>
              </a:lnSpc>
              <a:spcBef>
                <a:spcPts val="400"/>
              </a:spcBef>
              <a:spcAft>
                <a:spcPts val="0"/>
              </a:spcAft>
              <a:buNone/>
            </a:pPr>
            <a:r>
              <a:rPr sz="2000" b="1" i="0">
                <a:solidFill>
                  <a:srgbClr val="324158"/>
                </a:solidFill>
                <a:latin typeface="Fira Sans"/>
              </a:rPr>
              <a:t>Not on its own: "compaction isn't sufficient." Reset, then hand over written state.</a:t>
            </a:r>
          </a:p>
        </p:txBody>
      </p:sp>
      <p:sp>
        <p:nvSpPr>
          <p:cNvPr id="5" name="Rounded Rectangle 4"/>
          <p:cNvSpPr/>
          <p:nvPr/>
        </p:nvSpPr>
        <p:spPr>
          <a:xfrm>
            <a:off x="1188720" y="3713784"/>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Compaction keeps a squeezed copy with gaps</a:t>
            </a:r>
          </a:p>
        </p:txBody>
      </p:sp>
      <p:sp>
        <p:nvSpPr>
          <p:cNvPr id="6" name="Oval 5"/>
          <p:cNvSpPr/>
          <p:nvPr/>
        </p:nvSpPr>
        <p:spPr>
          <a:xfrm>
            <a:off x="548640" y="3750360"/>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1</a:t>
            </a:r>
          </a:p>
        </p:txBody>
      </p:sp>
      <p:sp>
        <p:nvSpPr>
          <p:cNvPr id="7" name="Rounded Rectangle 6"/>
          <p:cNvSpPr/>
          <p:nvPr/>
        </p:nvSpPr>
        <p:spPr>
          <a:xfrm>
            <a:off x="1188720" y="4655616"/>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The repository holds the work, but unread</a:t>
            </a:r>
          </a:p>
        </p:txBody>
      </p:sp>
      <p:sp>
        <p:nvSpPr>
          <p:cNvPr id="8" name="Oval 7"/>
          <p:cNvSpPr/>
          <p:nvPr/>
        </p:nvSpPr>
        <p:spPr>
          <a:xfrm>
            <a:off x="548640" y="4692192"/>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1) Session lifecycle:</a:t>
            </a:r>
            <a:r>
              <a:rPr sz="3000" b="1" i="0">
                <a:solidFill>
                  <a:srgbClr val="FFFFFF"/>
                </a:solidFill>
                <a:latin typeface="Fira Sans"/>
              </a:rPr>
              <a:t> a planned stop and reset</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Every session: get up to speed, work and commit, wrap up, stop.</a:t>
            </a:r>
          </a:p>
        </p:txBody>
      </p:sp>
      <p:sp>
        <p:nvSpPr>
          <p:cNvPr id="4" name="Rounded Rectangle 3"/>
          <p:cNvSpPr/>
          <p:nvPr/>
        </p:nvSpPr>
        <p:spPr>
          <a:xfrm>
            <a:off x="548640" y="1621473"/>
            <a:ext cx="11094415" cy="3416932"/>
          </a:xfrm>
          <a:prstGeom prst="roundRect">
            <a:avLst>
              <a:gd name="adj" fmla="val 321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session-lifecycle: The full session-lifecycle diagram: session 1 (up to speed, work, wrap-up), the stop where the harness writes the facts into the repository, session 2 reading the files first."/>
          <p:cNvPicPr>
            <a:picLocks noChangeAspect="1"/>
          </p:cNvPicPr>
          <p:nvPr/>
        </p:nvPicPr>
        <p:blipFill>
          <a:blip r:embed="rId2"/>
          <a:stretch>
            <a:fillRect/>
          </a:stretch>
        </p:blipFill>
        <p:spPr>
          <a:xfrm>
            <a:off x="594360" y="1667193"/>
            <a:ext cx="11002975" cy="3325492"/>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At the stop, the harness writes the facts, whatever the agent did.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2) The handoff:</a:t>
            </a:r>
            <a:r>
              <a:rPr sz="3000" b="1" i="0">
                <a:solidFill>
                  <a:srgbClr val="FFFFFF"/>
                </a:solidFill>
                <a:latin typeface="Fira Sans"/>
              </a:rPr>
              <a:t> two owners, one file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session-handoff.md carries the last session's state and the next steps.</a:t>
            </a:r>
          </a:p>
        </p:txBody>
      </p:sp>
      <p:sp>
        <p:nvSpPr>
          <p:cNvPr id="4" name="Rounded Rectangle 3"/>
          <p:cNvSpPr/>
          <p:nvPr/>
        </p:nvSpPr>
        <p:spPr>
          <a:xfrm>
            <a:off x="548640" y="1452425"/>
            <a:ext cx="11094415" cy="3480708"/>
          </a:xfrm>
          <a:prstGeom prst="roundRect">
            <a:avLst>
              <a:gd name="adj" fmla="val 315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handoff-contents: The handoff-contents diagram: the file in two bands, &quot;Machine summary (harness, from git)&quot; on top (commits, files changed, tests, migration heads) and &quot;Notes from the agent&quot; below (doing, left, watch out for)."/>
          <p:cNvPicPr>
            <a:picLocks noChangeAspect="1"/>
          </p:cNvPicPr>
          <p:nvPr/>
        </p:nvPicPr>
        <p:blipFill>
          <a:blip r:embed="rId2"/>
          <a:stretch>
            <a:fillRect/>
          </a:stretch>
        </p:blipFill>
        <p:spPr>
          <a:xfrm>
            <a:off x="594360" y="1498145"/>
            <a:ext cx="11002975" cy="3389268"/>
          </a:xfrm>
          <a:prstGeom prst="rect">
            <a:avLst/>
          </a:prstGeom>
        </p:spPr>
      </p:pic>
      <p:sp>
        <p:nvSpPr>
          <p:cNvPr id="6" name="Rounded Rectangle 5"/>
          <p:cNvSpPr/>
          <p:nvPr/>
        </p:nvSpPr>
        <p:spPr>
          <a:xfrm>
            <a:off x="548640" y="5312664"/>
            <a:ext cx="11094415" cy="676656"/>
          </a:xfrm>
          <a:prstGeom prst="roundRect">
            <a:avLst>
              <a:gd name="adj" fmla="val 16216"/>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The harness writes the facts from git; the agent writes its notes; neither overwrites the other.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3) The exec plan and the progress ledger</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Two checked-in files: progress.md (done, in progress, next) and the exec plan.</a:t>
            </a:r>
          </a:p>
        </p:txBody>
      </p:sp>
      <p:sp>
        <p:nvSpPr>
          <p:cNvPr id="4" name="Rounded Rectangle 3"/>
          <p:cNvSpPr/>
          <p:nvPr/>
        </p:nvSpPr>
        <p:spPr>
          <a:xfrm>
            <a:off x="548640" y="1414663"/>
            <a:ext cx="11094415" cy="3830552"/>
          </a:xfrm>
          <a:prstGeom prst="roundRect">
            <a:avLst>
              <a:gd name="adj" fmla="val 286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exec-plan-ledger: The exec-plan-ledger diagram: the exec plan (progress, surprises, decisions, outcomes) and progress.md (done, in progress, next, session log) side by side, &quot;harness appends one entry per stop&quot; on the session log, &quot;restart from these alone&quot; under both."/>
          <p:cNvPicPr>
            <a:picLocks noChangeAspect="1"/>
          </p:cNvPicPr>
          <p:nvPr/>
        </p:nvPicPr>
        <p:blipFill>
          <a:blip r:embed="rId2"/>
          <a:stretch>
            <a:fillRect/>
          </a:stretch>
        </p:blipFill>
        <p:spPr>
          <a:xfrm>
            <a:off x="594360" y="1460383"/>
            <a:ext cx="11002975" cy="3739112"/>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"it should always be possible to restart from </a:t>
            </a:r>
            <a:r>
              <a:rPr sz="1800" b="1" i="1">
                <a:solidFill>
                  <a:srgbClr val="324158"/>
                </a:solidFill>
                <a:latin typeface="Fira Sans"/>
              </a:rPr>
              <a:t>only</a:t>
            </a:r>
            <a:r>
              <a:rPr sz="1800" b="1" i="0">
                <a:solidFill>
                  <a:srgbClr val="324158"/>
                </a:solidFill>
                <a:latin typeface="Fira Sans"/>
              </a:rPr>
              <a:t> the ExecPlan and no other work."</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4) Getting up to speed:</a:t>
            </a:r>
            <a:r>
              <a:rPr sz="3000" b="1" i="0">
                <a:solidFill>
                  <a:srgbClr val="FFFFFF"/>
                </a:solidFill>
                <a:latin typeface="Fira Sans"/>
              </a:rPr>
              <a:t> init.sh before code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"Read the git logs and progress files to get up to speed on what was recently worked on."</a:t>
            </a:r>
          </a:p>
        </p:txBody>
      </p:sp>
      <p:sp>
        <p:nvSpPr>
          <p:cNvPr id="4" name="Rounded Rectangle 3"/>
          <p:cNvSpPr/>
          <p:nvPr/>
        </p:nvSpPr>
        <p:spPr>
          <a:xfrm>
            <a:off x="548640" y="1591571"/>
            <a:ext cx="11094415" cy="3476737"/>
          </a:xfrm>
          <a:prstGeom prst="roundRect">
            <a:avLst>
              <a:gd name="adj" fmla="val 315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alembic-heads: The alembic-heads diagram: one head passes init.sh; two heads trip House rule 7: Migrations. A small terminal card beside it with session 2's first call: pwd; git log --oneline -20; cat progress.md."/>
          <p:cNvPicPr>
            <a:picLocks noChangeAspect="1"/>
          </p:cNvPicPr>
          <p:nvPr/>
        </p:nvPicPr>
        <p:blipFill>
          <a:blip r:embed="rId2"/>
          <a:stretch>
            <a:fillRect/>
          </a:stretch>
        </p:blipFill>
        <p:spPr>
          <a:xfrm>
            <a:off x="594360" y="1637291"/>
            <a:ext cx="11002975" cy="3385297"/>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Read state, then run init.sh: one migration head and a basic test, before any code.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Cheat Sheet:</a:t>
            </a:r>
            <a:r>
              <a:rPr sz="3000" b="1" i="0">
                <a:solidFill>
                  <a:srgbClr val="FFFFFF"/>
                </a:solidFill>
                <a:latin typeface="Fira Sans"/>
              </a:rPr>
              <a:t> Four state pieces across a stop</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Four files, one job each; refer back when you add state to your repo.</a:t>
            </a:r>
          </a:p>
        </p:txBody>
      </p:sp>
      <p:graphicFrame>
        <p:nvGraphicFramePr>
          <p:cNvPr id="4" name="Table 3"/>
          <p:cNvGraphicFramePr>
            <a:graphicFrameLocks noGrp="1"/>
          </p:cNvGraphicFramePr>
          <p:nvPr/>
        </p:nvGraphicFramePr>
        <p:xfrm>
          <a:off x="548640" y="2687574"/>
          <a:ext cx="11094413" cy="1943100"/>
        </p:xfrm>
        <a:graphic>
          <a:graphicData uri="http://schemas.openxmlformats.org/drawingml/2006/table">
            <a:tbl>
              <a:tblPr firstRow="1" bandRow="0">
                <a:tableStyleId>{5940675A-B579-460E-94D1-54222C63F5DA}</a:tableStyleId>
              </a:tblPr>
              <a:tblGrid>
                <a:gridCol w="2625605"/>
                <a:gridCol w="3993989"/>
                <a:gridCol w="4474819"/>
              </a:tblGrid>
              <a:tr h="388620">
                <a:tc>
                  <a:txBody>
                    <a:bodyPr wrap="square"/>
                    <a:lstStyle/>
                    <a:p>
                      <a:pPr marL="0" indent="0" algn="l">
                        <a:lnSpc>
                          <a:spcPct val="100000"/>
                        </a:lnSpc>
                        <a:spcBef>
                          <a:spcPts val="0"/>
                        </a:spcBef>
                        <a:spcAft>
                          <a:spcPts val="0"/>
                        </a:spcAft>
                        <a:buNone/>
                      </a:pPr>
                      <a:r>
                        <a:rPr sz="1800" b="1" i="0">
                          <a:solidFill>
                            <a:srgbClr val="FFFFFF"/>
                          </a:solidFill>
                          <a:latin typeface="Fira Sans"/>
                        </a:rPr>
                        <a:t>File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Job</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Who writes it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init.sh</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Setup and a basic test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Harness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progress.md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What each session did, what's next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Both</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Exec plan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Plan, decisions, restart bar</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Agent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session-handoff.md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Harness facts plus agent notes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Two owners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1" name="Google Shape;591;g3bb6ac48d58_0_120">
            <a:hlinkClick r:id="rId3"/>
          </p:cNvPr>
          <p:cNvSpPr/>
          <p:nvPr/>
        </p:nvSpPr>
        <p:spPr>
          <a:xfrm>
            <a:off x="4450080" y="2926080"/>
            <a:ext cx="3291840" cy="86868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2800" u="none" cap="none" strike="noStrike">
                <a:solidFill>
                  <a:srgbClr val="324158"/>
                </a:solidFill>
                <a:latin typeface="Lexend Medium"/>
                <a:ea typeface="Lexend Medium"/>
                <a:cs typeface="Lexend Medium"/>
                <a:sym typeface="Lexend Medium"/>
              </a:rPr>
              <a:t>DEMO - 2</a:t>
            </a:r>
            <a:endParaRPr b="0" i="0" sz="1400" u="sng" cap="none" strike="noStrike">
              <a:solidFill>
                <a:srgbClr val="6568F5"/>
              </a:solidFill>
              <a:latin typeface="Lexend Medium"/>
              <a:ea typeface="Lexend Medium"/>
              <a:cs typeface="Lexend Medium"/>
              <a:sym typeface="Lexend Medium"/>
            </a:endParaRPr>
          </a:p>
        </p:txBody>
      </p:sp>
      <p:sp>
        <p:nvSpPr>
          <p:cNvPr id="592" name="Google Shape;592;g3bb6ac48d58_0_120"/>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2500">
                <a:solidFill>
                  <a:srgbClr val="3896D2"/>
                </a:solidFill>
                <a:latin typeface="Fira Sans"/>
                <a:ea typeface="Fira Sans"/>
                <a:cs typeface="Fira Sans"/>
                <a:sym typeface="Fira Sans"/>
                <a:extLst>
                  <a:ext uri="http://customooxmlschemas.google.com/">
                    <go:slidesCustomData xmlns:go="http://customooxmlschemas.google.com/" textRoundtripDataId="4"/>
                  </a:ext>
                </a:extLst>
              </a:rPr>
              <a:t>Section 2: </a:t>
            </a:r>
            <a:r>
              <a:rPr b="1" lang="en-US" sz="2500">
                <a:solidFill>
                  <a:schemeClr val="lt1"/>
                </a:solidFill>
                <a:latin typeface="Fira Sans"/>
                <a:ea typeface="Fira Sans"/>
                <a:cs typeface="Fira Sans"/>
                <a:sym typeface="Fira Sans"/>
                <a:extLst>
                  <a:ext uri="http://customooxmlschemas.google.com/">
                    <go:slidesCustomData xmlns:go="http://customooxmlschemas.google.com/" textRoundtripDataId="5"/>
                  </a:ext>
                </a:extLst>
              </a:rPr>
              <a:t>State and sessions - Implementation Notes: Stop and resume</a:t>
            </a:r>
            <a:endParaRPr b="1" sz="3000">
              <a:solidFill>
                <a:schemeClr val="lt1"/>
              </a:solidFill>
              <a:latin typeface="Fira Sans"/>
              <a:ea typeface="Fira Sans"/>
              <a:cs typeface="Fira Sans"/>
              <a:sym typeface="Fira Sans"/>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What we measured:</a:t>
            </a:r>
            <a:r>
              <a:rPr sz="3000" b="1" i="0">
                <a:solidFill>
                  <a:srgbClr val="FFFFFF"/>
                </a:solidFill>
                <a:latin typeface="Fira Sans"/>
              </a:rPr>
              <a:t> No measurable difference on comments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Earns its place when tasks outlast one session and half-done work is hard to see.</a:t>
            </a:r>
          </a:p>
        </p:txBody>
      </p:sp>
      <p:sp>
        <p:nvSpPr>
          <p:cNvPr id="4" name="Rounded Rectangle 3"/>
          <p:cNvSpPr/>
          <p:nvPr/>
        </p:nvSpPr>
        <p:spPr>
          <a:xfrm>
            <a:off x="548640" y="1328928"/>
            <a:ext cx="6680112" cy="4660392"/>
          </a:xfrm>
          <a:prstGeom prst="roundRect">
            <a:avLst>
              <a:gd name="adj" fmla="val 2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22120"/>
            <a:ext cx="6680112" cy="109728"/>
          </a:xfrm>
          <a:prstGeom prst="rect">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28928"/>
            <a:ext cx="6680112" cy="502920"/>
          </a:xfrm>
          <a:prstGeom prst="roundRect">
            <a:avLst>
              <a:gd name="adj" fmla="val 21818"/>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What we measured</a:t>
            </a:r>
          </a:p>
        </p:txBody>
      </p:sp>
      <p:pic>
        <p:nvPicPr>
          <p:cNvPr id="7" name="Picture 6" descr="Diagram results-s2: Left card holds the results-s2 dot chart (bare grey, harness blue, by round: medium effort 3, low effort 3, class settings 1; all &quot;no continuity failure&quot;; a marker on the six arms that built nothing); right card is a checklist."/>
          <p:cNvPicPr>
            <a:picLocks noChangeAspect="1"/>
          </p:cNvPicPr>
          <p:nvPr/>
        </p:nvPicPr>
        <p:blipFill>
          <a:blip r:embed="rId2"/>
          <a:stretch>
            <a:fillRect/>
          </a:stretch>
        </p:blipFill>
        <p:spPr>
          <a:xfrm>
            <a:off x="1698259" y="1941576"/>
            <a:ext cx="4380873" cy="2484119"/>
          </a:xfrm>
          <a:prstGeom prst="rect">
            <a:avLst/>
          </a:prstGeom>
        </p:spPr>
      </p:pic>
      <p:sp>
        <p:nvSpPr>
          <p:cNvPr id="8" name="TextBox 7"/>
          <p:cNvSpPr txBox="1"/>
          <p:nvPr/>
        </p:nvSpPr>
        <p:spPr>
          <a:xfrm>
            <a:off x="548640" y="4407408"/>
            <a:ext cx="6680112" cy="1581911"/>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Continuity failures before class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Bare arm: 0 of 7 runs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Harness arm: 0 of 7 runs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6 of 12 arms built nothing</a:t>
            </a:r>
          </a:p>
        </p:txBody>
      </p:sp>
      <p:sp>
        <p:nvSpPr>
          <p:cNvPr id="9" name="Rounded Rectangle 8"/>
          <p:cNvSpPr/>
          <p:nvPr/>
        </p:nvSpPr>
        <p:spPr>
          <a:xfrm>
            <a:off x="7548792" y="1328928"/>
            <a:ext cx="4094262" cy="4660392"/>
          </a:xfrm>
          <a:prstGeom prst="roundRect">
            <a:avLst>
              <a:gd name="adj" fmla="val 2680"/>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8792" y="1722120"/>
            <a:ext cx="4094262" cy="109728"/>
          </a:xfrm>
          <a:prstGeom prst="rect">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8792" y="1328928"/>
            <a:ext cx="4094262" cy="502920"/>
          </a:xfrm>
          <a:prstGeom prst="roundRect">
            <a:avLst>
              <a:gd name="adj" fmla="val 21818"/>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Apply it Monday</a:t>
            </a:r>
          </a:p>
        </p:txBody>
      </p:sp>
      <p:sp>
        <p:nvSpPr>
          <p:cNvPr id="12" name="TextBox 11"/>
          <p:cNvSpPr txBox="1"/>
          <p:nvPr/>
        </p:nvSpPr>
        <p:spPr>
          <a:xfrm>
            <a:off x="7548792" y="1831848"/>
            <a:ext cx="4094262" cy="415747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Stop your agent mid-task, restart fresh</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Watch its first five tool calls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Write facts from git at every stop</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Measure redone work; drop files that change nothing</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7" name="Google Shape;597;g3c929a46dfa_1_19"/>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lt1"/>
                </a:solidFill>
                <a:latin typeface="Fira Sans"/>
                <a:ea typeface="Fira Sans"/>
                <a:cs typeface="Fira Sans"/>
                <a:sym typeface="Fira Sans"/>
              </a:rPr>
              <a:t>Ask about anything:</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Concepts from today's sections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How this applies to your work</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Implementation details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Clarifications on what we covered</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0"/>
              </a:spcAft>
              <a:buNone/>
            </a:pPr>
            <a:br>
              <a:rPr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Quick Request</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Please do not mind if a question gets skipped accidentally</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Repost politely in chat if needed</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We will try our best to cover as many questions as possible</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1200"/>
              </a:spcAft>
              <a:buNone/>
            </a:pPr>
            <a:br>
              <a:rPr b="1" lang="en-US" sz="1700">
                <a:solidFill>
                  <a:schemeClr val="lt1"/>
                </a:solidFill>
                <a:latin typeface="Fira Sans"/>
                <a:ea typeface="Fira Sans"/>
                <a:cs typeface="Fira Sans"/>
                <a:sym typeface="Fira Sans"/>
              </a:rPr>
            </a:br>
            <a:br>
              <a:rPr b="1"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Remember:</a:t>
            </a:r>
            <a:r>
              <a:rPr lang="en-US" sz="1700">
                <a:solidFill>
                  <a:schemeClr val="lt1"/>
                </a:solidFill>
                <a:latin typeface="Fira Sans"/>
                <a:ea typeface="Fira Sans"/>
                <a:cs typeface="Fira Sans"/>
                <a:sym typeface="Fira Sans"/>
              </a:rPr>
              <a:t> </a:t>
            </a:r>
            <a:r>
              <a:rPr lang="en-US" sz="1700">
                <a:solidFill>
                  <a:schemeClr val="accent1"/>
                </a:solidFill>
                <a:latin typeface="Fira Sans"/>
                <a:ea typeface="Fira Sans"/>
                <a:cs typeface="Fira Sans"/>
                <a:sym typeface="Fira Sans"/>
              </a:rPr>
              <a:t>If you're wondering about it, others probably are too.</a:t>
            </a:r>
            <a:endParaRPr sz="1700">
              <a:solidFill>
                <a:schemeClr val="accent1"/>
              </a:solidFill>
              <a:latin typeface="Fira Sans"/>
              <a:ea typeface="Fira Sans"/>
              <a:cs typeface="Fira Sans"/>
              <a:sym typeface="Fira Sans"/>
            </a:endParaRPr>
          </a:p>
        </p:txBody>
      </p:sp>
      <p:sp>
        <p:nvSpPr>
          <p:cNvPr id="598" name="Google Shape;598;g3c929a46dfa_1_19"/>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400"/>
              </a:spcBef>
              <a:spcAft>
                <a:spcPts val="400"/>
              </a:spcAft>
              <a:buClr>
                <a:schemeClr val="dk1"/>
              </a:buClr>
              <a:buSzPts val="1100"/>
              <a:buFont typeface="Arial"/>
              <a:buNone/>
            </a:pPr>
            <a:r>
              <a:rPr b="1" lang="en-US" sz="2000">
                <a:solidFill>
                  <a:schemeClr val="accent1"/>
                </a:solidFill>
                <a:latin typeface="Fira Sans"/>
                <a:ea typeface="Fira Sans"/>
                <a:cs typeface="Fira Sans"/>
                <a:sym typeface="Fira Sans"/>
              </a:rPr>
              <a:t>No Question Is Too Small Every Question Deserves an Answer!!</a:t>
            </a:r>
            <a:endParaRPr b="1" sz="3000">
              <a:solidFill>
                <a:srgbClr val="3896D2"/>
              </a:solidFill>
              <a:latin typeface="Fira Sans"/>
              <a:ea typeface="Fira Sans"/>
              <a:cs typeface="Fira Sans"/>
              <a:sym typeface="Fira Sans"/>
            </a:endParaRPr>
          </a:p>
        </p:txBody>
      </p:sp>
      <p:pic>
        <p:nvPicPr>
          <p:cNvPr id="599" name="Google Shape;599;g3c929a46dfa_1_19" descr="Questions and answers illustration"/>
          <p:cNvPicPr preferRelativeResize="0"/>
          <p:nvPr/>
        </p:nvPicPr>
        <p:blipFill rotWithShape="1">
          <a:blip r:embed="rId2">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Section 3:</a:t>
            </a:r>
            <a:r>
              <a:rPr sz="3000" b="1" i="0">
                <a:solidFill>
                  <a:srgbClr val="FFFFFF"/>
                </a:solidFill>
                <a:latin typeface="Fira Sans"/>
              </a:rPr>
              <a:t> Scope and sandbox, what it may change</a:t>
            </a:r>
          </a:p>
        </p:txBody>
      </p:sp>
      <p:sp>
        <p:nvSpPr>
          <p:cNvPr id="3" name="Rounded Rectangle 2"/>
          <p:cNvSpPr/>
          <p:nvPr/>
        </p:nvSpPr>
        <p:spPr>
          <a:xfrm>
            <a:off x="449427" y="1920240"/>
            <a:ext cx="1965960" cy="3017520"/>
          </a:xfrm>
          <a:prstGeom prst="roundRect">
            <a:avLst>
              <a:gd name="adj" fmla="val 5581"/>
            </a:avLst>
          </a:prstGeom>
          <a:solidFill>
            <a:srgbClr val="3E5274"/>
          </a:solidFill>
          <a:ln w="25400">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835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1</a:t>
            </a:r>
          </a:p>
        </p:txBody>
      </p:sp>
      <p:sp>
        <p:nvSpPr>
          <p:cNvPr id="5" name="TextBox 4"/>
          <p:cNvSpPr txBox="1"/>
          <p:nvPr/>
        </p:nvSpPr>
        <p:spPr>
          <a:xfrm>
            <a:off x="52257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Instructions</a:t>
            </a:r>
          </a:p>
        </p:txBody>
      </p:sp>
      <p:sp>
        <p:nvSpPr>
          <p:cNvPr id="6" name="TextBox 5"/>
          <p:cNvSpPr txBox="1"/>
          <p:nvPr/>
        </p:nvSpPr>
        <p:spPr>
          <a:xfrm>
            <a:off x="1866747" y="1993392"/>
            <a:ext cx="457200" cy="4572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200" b="1" i="0">
                <a:solidFill>
                  <a:srgbClr val="FFAB40"/>
                </a:solidFill>
                <a:latin typeface="Fira Sans"/>
              </a:rPr>
              <a:t>✓</a:t>
            </a:r>
          </a:p>
        </p:txBody>
      </p:sp>
      <p:sp>
        <p:nvSpPr>
          <p:cNvPr id="7" name="Rounded Rectangle 6"/>
          <p:cNvSpPr/>
          <p:nvPr/>
        </p:nvSpPr>
        <p:spPr>
          <a:xfrm>
            <a:off x="2781147" y="1920240"/>
            <a:ext cx="1965960" cy="3017520"/>
          </a:xfrm>
          <a:prstGeom prst="roundRect">
            <a:avLst>
              <a:gd name="adj" fmla="val 5581"/>
            </a:avLst>
          </a:prstGeom>
          <a:solidFill>
            <a:srgbClr val="3E5274"/>
          </a:solidFill>
          <a:ln w="25400">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8007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2</a:t>
            </a:r>
          </a:p>
        </p:txBody>
      </p:sp>
      <p:sp>
        <p:nvSpPr>
          <p:cNvPr id="9" name="TextBox 8"/>
          <p:cNvSpPr txBox="1"/>
          <p:nvPr/>
        </p:nvSpPr>
        <p:spPr>
          <a:xfrm>
            <a:off x="285429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State and sessions</a:t>
            </a:r>
          </a:p>
        </p:txBody>
      </p:sp>
      <p:sp>
        <p:nvSpPr>
          <p:cNvPr id="10" name="TextBox 9"/>
          <p:cNvSpPr txBox="1"/>
          <p:nvPr/>
        </p:nvSpPr>
        <p:spPr>
          <a:xfrm>
            <a:off x="4198467" y="1993392"/>
            <a:ext cx="457200" cy="4572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200" b="1" i="0">
                <a:solidFill>
                  <a:srgbClr val="FFAB40"/>
                </a:solidFill>
                <a:latin typeface="Fira Sans"/>
              </a:rPr>
              <a:t>✓</a:t>
            </a:r>
          </a:p>
        </p:txBody>
      </p:sp>
      <p:cxnSp>
        <p:nvCxnSpPr>
          <p:cNvPr id="11" name="Connector 10"/>
          <p:cNvCxnSpPr/>
          <p:nvPr/>
        </p:nvCxnSpPr>
        <p:spPr>
          <a:xfrm>
            <a:off x="247025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12867" y="1920240"/>
            <a:ext cx="1965960" cy="3017520"/>
          </a:xfrm>
          <a:prstGeom prst="roundRect">
            <a:avLst>
              <a:gd name="adj" fmla="val 5581"/>
            </a:avLst>
          </a:prstGeom>
          <a:solidFill>
            <a:srgbClr val="3896D2"/>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1179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3</a:t>
            </a:r>
          </a:p>
        </p:txBody>
      </p:sp>
      <p:sp>
        <p:nvSpPr>
          <p:cNvPr id="14" name="TextBox 13"/>
          <p:cNvSpPr txBox="1"/>
          <p:nvPr/>
        </p:nvSpPr>
        <p:spPr>
          <a:xfrm>
            <a:off x="518601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Scope and sandbox</a:t>
            </a:r>
          </a:p>
        </p:txBody>
      </p:sp>
      <p:sp>
        <p:nvSpPr>
          <p:cNvPr id="15" name="TextBox 14"/>
          <p:cNvSpPr txBox="1"/>
          <p:nvPr/>
        </p:nvSpPr>
        <p:spPr>
          <a:xfrm>
            <a:off x="5775807" y="1353312"/>
            <a:ext cx="640080" cy="54864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600" b="0" i="0">
                <a:solidFill>
                  <a:srgbClr val="FFFFFF"/>
                </a:solidFill>
                <a:latin typeface="Segoe UI Emoji"/>
              </a:rPr>
              <a:t>⭐</a:t>
            </a:r>
          </a:p>
        </p:txBody>
      </p:sp>
      <p:sp>
        <p:nvSpPr>
          <p:cNvPr id="16" name="TextBox 15"/>
          <p:cNvSpPr txBox="1"/>
          <p:nvPr/>
        </p:nvSpPr>
        <p:spPr>
          <a:xfrm>
            <a:off x="5112867" y="4480560"/>
            <a:ext cx="1965960" cy="36576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1600" b="1" i="0">
                <a:solidFill>
                  <a:srgbClr val="FFFFFF"/>
                </a:solidFill>
                <a:latin typeface="Fira Sans"/>
              </a:rPr>
              <a:t>NOW</a:t>
            </a:r>
          </a:p>
        </p:txBody>
      </p:sp>
      <p:cxnSp>
        <p:nvCxnSpPr>
          <p:cNvPr id="17" name="Connector 16"/>
          <p:cNvCxnSpPr/>
          <p:nvPr/>
        </p:nvCxnSpPr>
        <p:spPr>
          <a:xfrm>
            <a:off x="480197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44587" y="1920240"/>
            <a:ext cx="1965960" cy="30175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3519" y="2194560"/>
            <a:ext cx="768096" cy="768096"/>
          </a:xfrm>
          <a:prstGeom prst="ellipse">
            <a:avLst/>
          </a:prstGeom>
          <a:solidFill>
            <a:srgbClr val="A9B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4</a:t>
            </a:r>
          </a:p>
        </p:txBody>
      </p:sp>
      <p:sp>
        <p:nvSpPr>
          <p:cNvPr id="20" name="TextBox 19"/>
          <p:cNvSpPr txBox="1"/>
          <p:nvPr/>
        </p:nvSpPr>
        <p:spPr>
          <a:xfrm>
            <a:off x="751773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Verification</a:t>
            </a:r>
          </a:p>
        </p:txBody>
      </p:sp>
      <p:cxnSp>
        <p:nvCxnSpPr>
          <p:cNvPr id="21" name="Connector 20"/>
          <p:cNvCxnSpPr/>
          <p:nvPr/>
        </p:nvCxnSpPr>
        <p:spPr>
          <a:xfrm>
            <a:off x="713369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776307" y="1920240"/>
            <a:ext cx="1965960" cy="30175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4945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Final A/B</a:t>
            </a:r>
          </a:p>
        </p:txBody>
      </p:sp>
      <p:cxnSp>
        <p:nvCxnSpPr>
          <p:cNvPr id="24" name="Connector 23"/>
          <p:cNvCxnSpPr/>
          <p:nvPr/>
        </p:nvCxnSpPr>
        <p:spPr>
          <a:xfrm>
            <a:off x="946541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492512" y="5212080"/>
            <a:ext cx="7206670" cy="502920"/>
          </a:xfrm>
          <a:prstGeom prst="roundRect">
            <a:avLst>
              <a:gd name="adj" fmla="val 21818"/>
            </a:avLst>
          </a:prstGeom>
          <a:solidFill>
            <a:srgbClr val="1F293A"/>
          </a:solidFill>
          <a:ln w="15875">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ctr" marL="0" indent="0">
              <a:lnSpc>
                <a:spcPct val="100000"/>
              </a:lnSpc>
              <a:spcBef>
                <a:spcPts val="0"/>
              </a:spcBef>
              <a:spcAft>
                <a:spcPts val="0"/>
              </a:spcAft>
              <a:buNone/>
            </a:pPr>
            <a:r>
              <a:rPr sz="1800" b="0" i="0">
                <a:solidFill>
                  <a:srgbClr val="FFFFFF"/>
                </a:solidFill>
                <a:latin typeface="Fira Sans"/>
              </a:rPr>
              <a:t>Launch, terminal B: </a:t>
            </a:r>
            <a:r>
              <a:rPr sz="1800" b="1" i="0">
                <a:solidFill>
                  <a:srgbClr val="FFAB40"/>
                </a:solidFill>
                <a:latin typeface="Consolas"/>
              </a:rPr>
              <a:t>make demo-3 FEATURE=version-checks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Failure story:</a:t>
            </a:r>
            <a:r>
              <a:rPr sz="3000" b="1" i="0">
                <a:solidFill>
                  <a:srgbClr val="FFFFFF"/>
                </a:solidFill>
                <a:latin typeface="Fira Sans"/>
              </a:rPr>
              <a:t> A tidy diff in a shared file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An illustrative ticket: Feature 4: Version checks on issue edits, with a list of files to change</a:t>
            </a:r>
          </a:p>
        </p:txBody>
      </p:sp>
      <p:sp>
        <p:nvSpPr>
          <p:cNvPr id="4" name="Rounded Rectangle 3"/>
          <p:cNvSpPr/>
          <p:nvPr/>
        </p:nvSpPr>
        <p:spPr>
          <a:xfrm>
            <a:off x="548640" y="2026920"/>
            <a:ext cx="3545738" cy="1426464"/>
          </a:xfrm>
          <a:prstGeom prst="roundRect">
            <a:avLst>
              <a:gd name="adj" fmla="val 769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Needs a new error class</a:t>
            </a:r>
          </a:p>
        </p:txBody>
      </p:sp>
      <p:sp>
        <p:nvSpPr>
          <p:cNvPr id="5" name="Oval 4"/>
          <p:cNvSpPr/>
          <p:nvPr/>
        </p:nvSpPr>
        <p:spPr>
          <a:xfrm>
            <a:off x="731520" y="2154936"/>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1</a:t>
            </a:r>
          </a:p>
        </p:txBody>
      </p:sp>
      <p:cxnSp>
        <p:nvCxnSpPr>
          <p:cNvPr id="6" name="Connector 5"/>
          <p:cNvCxnSpPr/>
          <p:nvPr/>
        </p:nvCxnSpPr>
        <p:spPr>
          <a:xfrm>
            <a:off x="4130954" y="2740152"/>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22978" y="2026920"/>
            <a:ext cx="3545738" cy="1426464"/>
          </a:xfrm>
          <a:prstGeom prst="roundRect">
            <a:avLst>
              <a:gd name="adj" fmla="val 769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Handbook points to app/services/errors.py</a:t>
            </a:r>
          </a:p>
        </p:txBody>
      </p:sp>
      <p:sp>
        <p:nvSpPr>
          <p:cNvPr id="8" name="Oval 7"/>
          <p:cNvSpPr/>
          <p:nvPr/>
        </p:nvSpPr>
        <p:spPr>
          <a:xfrm>
            <a:off x="4505858" y="2154936"/>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2</a:t>
            </a:r>
          </a:p>
        </p:txBody>
      </p:sp>
      <p:cxnSp>
        <p:nvCxnSpPr>
          <p:cNvPr id="9" name="Connector 8"/>
          <p:cNvCxnSpPr/>
          <p:nvPr/>
        </p:nvCxnSpPr>
        <p:spPr>
          <a:xfrm>
            <a:off x="7905292" y="2740152"/>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97316" y="2026920"/>
            <a:ext cx="3545738" cy="1426464"/>
          </a:xfrm>
          <a:prstGeom prst="roundRect">
            <a:avLst>
              <a:gd name="adj" fmla="val 769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Edits a module every endpoint imports</a:t>
            </a:r>
          </a:p>
        </p:txBody>
      </p:sp>
      <p:sp>
        <p:nvSpPr>
          <p:cNvPr id="11" name="Oval 10"/>
          <p:cNvSpPr/>
          <p:nvPr/>
        </p:nvSpPr>
        <p:spPr>
          <a:xfrm>
            <a:off x="8280196" y="2154936"/>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3</a:t>
            </a:r>
          </a:p>
        </p:txBody>
      </p:sp>
      <p:sp>
        <p:nvSpPr>
          <p:cNvPr id="12" name="Rounded Rectangle 11"/>
          <p:cNvSpPr/>
          <p:nvPr/>
        </p:nvSpPr>
        <p:spPr>
          <a:xfrm>
            <a:off x="2435809" y="3864864"/>
            <a:ext cx="3545738" cy="1426464"/>
          </a:xfrm>
          <a:prstGeom prst="roundRect">
            <a:avLst>
              <a:gd name="adj" fmla="val 769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Small diff, tests pass, approved</a:t>
            </a:r>
          </a:p>
        </p:txBody>
      </p:sp>
      <p:sp>
        <p:nvSpPr>
          <p:cNvPr id="13" name="Oval 12"/>
          <p:cNvSpPr/>
          <p:nvPr/>
        </p:nvSpPr>
        <p:spPr>
          <a:xfrm>
            <a:off x="2618689" y="3992879"/>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4</a:t>
            </a:r>
          </a:p>
        </p:txBody>
      </p:sp>
      <p:cxnSp>
        <p:nvCxnSpPr>
          <p:cNvPr id="14" name="Connector 13"/>
          <p:cNvCxnSpPr/>
          <p:nvPr/>
        </p:nvCxnSpPr>
        <p:spPr>
          <a:xfrm>
            <a:off x="6018123" y="4578096"/>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0147" y="3864864"/>
            <a:ext cx="3545738" cy="1426464"/>
          </a:xfrm>
          <a:prstGeom prst="roundRect">
            <a:avLst>
              <a:gd name="adj" fmla="val 7692"/>
            </a:avLst>
          </a:prstGeom>
          <a:solidFill>
            <a:srgbClr val="F0F3F6"/>
          </a:solidFill>
          <a:ln w="38100">
            <a:solidFill>
              <a:srgbClr val="E46962"/>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A month later: the wrong status, nobody links it</a:t>
            </a:r>
          </a:p>
        </p:txBody>
      </p:sp>
      <p:sp>
        <p:nvSpPr>
          <p:cNvPr id="16" name="Oval 15"/>
          <p:cNvSpPr/>
          <p:nvPr/>
        </p:nvSpPr>
        <p:spPr>
          <a:xfrm>
            <a:off x="6393027" y="3992879"/>
            <a:ext cx="512064" cy="512064"/>
          </a:xfrm>
          <a:prstGeom prst="ellipse">
            <a:avLst/>
          </a:prstGeom>
          <a:solidFill>
            <a:srgbClr val="E469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5</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Scope:</a:t>
            </a:r>
            <a:r>
              <a:rPr sz="3000" b="1" i="0">
                <a:solidFill>
                  <a:srgbClr val="FFFFFF"/>
                </a:solidFill>
                <a:latin typeface="Fira Sans"/>
              </a:rPr>
              <a:t> Is the ticket's file list enough?</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ticket lists the files to change, and both arms read the same list. Is that enough?</a:t>
            </a:r>
          </a:p>
        </p:txBody>
      </p:sp>
      <p:sp>
        <p:nvSpPr>
          <p:cNvPr id="4" name="Rounded Rectangle 3"/>
          <p:cNvSpPr/>
          <p:nvPr/>
        </p:nvSpPr>
        <p:spPr>
          <a:xfrm>
            <a:off x="548640" y="2132279"/>
            <a:ext cx="11094415" cy="965199"/>
          </a:xfrm>
          <a:prstGeom prst="roundRect">
            <a:avLst>
              <a:gd name="adj" fmla="val 11368"/>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noAutofit/>
          </a:bodyPr>
          <a:lstStyle/>
          <a:p>
            <a:pPr algn="l" marL="0" indent="0">
              <a:lnSpc>
                <a:spcPct val="100000"/>
              </a:lnSpc>
              <a:spcBef>
                <a:spcPts val="0"/>
              </a:spcBef>
              <a:spcAft>
                <a:spcPts val="0"/>
              </a:spcAft>
              <a:buNone/>
            </a:pPr>
            <a:r>
              <a:rPr sz="1600" b="1" i="0">
                <a:solidFill>
                  <a:srgbClr val="324158"/>
                </a:solidFill>
                <a:latin typeface="Fira Sans"/>
              </a:rPr>
              <a:t>KEY IDEA</a:t>
            </a:r>
          </a:p>
          <a:p>
            <a:pPr marL="0" indent="0" algn="l">
              <a:lnSpc>
                <a:spcPct val="100000"/>
              </a:lnSpc>
              <a:spcBef>
                <a:spcPts val="400"/>
              </a:spcBef>
              <a:spcAft>
                <a:spcPts val="0"/>
              </a:spcAft>
              <a:buNone/>
            </a:pPr>
            <a:r>
              <a:rPr sz="2000" b="1" i="0">
                <a:solidFill>
                  <a:srgbClr val="324158"/>
                </a:solidFill>
                <a:latin typeface="Fira Sans"/>
              </a:rPr>
              <a:t>No: text is a request. Check every tool call in code.</a:t>
            </a:r>
          </a:p>
        </p:txBody>
      </p:sp>
      <p:sp>
        <p:nvSpPr>
          <p:cNvPr id="5" name="Rounded Rectangle 4"/>
          <p:cNvSpPr/>
          <p:nvPr/>
        </p:nvSpPr>
        <p:spPr>
          <a:xfrm>
            <a:off x="1188720" y="3713784"/>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Nothing checks the list; the handbook points elsewhere</a:t>
            </a:r>
          </a:p>
        </p:txBody>
      </p:sp>
      <p:sp>
        <p:nvSpPr>
          <p:cNvPr id="6" name="Oval 5"/>
          <p:cNvSpPr/>
          <p:nvPr/>
        </p:nvSpPr>
        <p:spPr>
          <a:xfrm>
            <a:off x="548640" y="3750360"/>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1</a:t>
            </a:r>
          </a:p>
        </p:txBody>
      </p:sp>
      <p:sp>
        <p:nvSpPr>
          <p:cNvPr id="7" name="Rounded Rectangle 6"/>
          <p:cNvSpPr/>
          <p:nvPr/>
        </p:nvSpPr>
        <p:spPr>
          <a:xfrm>
            <a:off x="1188720" y="4655616"/>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"Less likely" is not "never"</a:t>
            </a:r>
          </a:p>
        </p:txBody>
      </p:sp>
      <p:sp>
        <p:nvSpPr>
          <p:cNvPr id="8" name="Oval 7"/>
          <p:cNvSpPr/>
          <p:nvPr/>
        </p:nvSpPr>
        <p:spPr>
          <a:xfrm>
            <a:off x="548640" y="4692192"/>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2</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1) One feature at a time:</a:t>
            </a:r>
            <a:r>
              <a:rPr sz="3000" b="1" i="0">
                <a:solidFill>
                  <a:srgbClr val="FFFFFF"/>
                </a:solidFill>
                <a:latin typeface="Fira Sans"/>
              </a:rPr>
              <a:t> feature_list.json</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harness writes one feature with passes: false.</a:t>
            </a:r>
          </a:p>
        </p:txBody>
      </p:sp>
      <p:sp>
        <p:nvSpPr>
          <p:cNvPr id="4" name="Rounded Rectangle 3"/>
          <p:cNvSpPr/>
          <p:nvPr/>
        </p:nvSpPr>
        <p:spPr>
          <a:xfrm>
            <a:off x="548640" y="1649093"/>
            <a:ext cx="11094415" cy="3361692"/>
          </a:xfrm>
          <a:prstGeom prst="roundRect">
            <a:avLst>
              <a:gd name="adj" fmla="val 326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feature-list-lifecycle: The feature-list-lifecycle diagram: harness writes passes: false, agent reads it, the harness test run sets passes: true with evidence and testedAt."/>
          <p:cNvPicPr>
            <a:picLocks noChangeAspect="1"/>
          </p:cNvPicPr>
          <p:nvPr/>
        </p:nvPicPr>
        <p:blipFill>
          <a:blip r:embed="rId2"/>
          <a:stretch>
            <a:fillRect/>
          </a:stretch>
        </p:blipFill>
        <p:spPr>
          <a:xfrm>
            <a:off x="594360" y="1694813"/>
            <a:ext cx="11002975" cy="3270252"/>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Only the harness sets passes to true, from its own test run.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2) Allowed paths per phase, checked by code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Every tool call is checked against the phase's allowed paths.</a:t>
            </a:r>
          </a:p>
        </p:txBody>
      </p:sp>
      <p:sp>
        <p:nvSpPr>
          <p:cNvPr id="4" name="Rounded Rectangle 3"/>
          <p:cNvSpPr/>
          <p:nvPr/>
        </p:nvSpPr>
        <p:spPr>
          <a:xfrm>
            <a:off x="548640" y="1520222"/>
            <a:ext cx="11094415" cy="3619435"/>
          </a:xfrm>
          <a:prstGeom prst="roundRect">
            <a:avLst>
              <a:gd name="adj" fmla="val 303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scope-check-flow: The scope-check-flow diagram: agent tool call → &quot;path allowed in this phase?&quot; → yes: workspace; no: BLOCKED (patch, nothing written) or REVERTED (command, restored from snapshot)."/>
          <p:cNvPicPr>
            <a:picLocks noChangeAspect="1"/>
          </p:cNvPicPr>
          <p:nvPr/>
        </p:nvPicPr>
        <p:blipFill>
          <a:blip r:embed="rId2"/>
          <a:stretch>
            <a:fillRect/>
          </a:stretch>
        </p:blipFill>
        <p:spPr>
          <a:xfrm>
            <a:off x="594360" y="1565942"/>
            <a:ext cx="11002975" cy="3527995"/>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A patch outside the list is BLOCKED; a command's stray writes are REVERTED.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3) The sandbox boundary:</a:t>
            </a:r>
            <a:r>
              <a:rPr sz="3000" b="1" i="0">
                <a:solidFill>
                  <a:srgbClr val="FFFFFF"/>
                </a:solidFill>
                <a:latin typeface="Fira Sans"/>
              </a:rPr>
              <a:t> where the keys live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Every tool command runs in one container per arm; the loop and the keys stay on the host.</a:t>
            </a:r>
          </a:p>
        </p:txBody>
      </p:sp>
      <p:sp>
        <p:nvSpPr>
          <p:cNvPr id="4" name="Rounded Rectangle 3"/>
          <p:cNvSpPr/>
          <p:nvPr/>
        </p:nvSpPr>
        <p:spPr>
          <a:xfrm>
            <a:off x="548640" y="1412090"/>
            <a:ext cx="11094415" cy="3835699"/>
          </a:xfrm>
          <a:prstGeom prst="roundRect">
            <a:avLst>
              <a:gd name="adj" fmla="val 2860"/>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sandbox-boundary: The sandbox-boundary diagram: host box (agent loop, API keys, harness) outside; container box inside (tool commands, /work), network crossed out, only /work and /tmp writable."/>
          <p:cNvPicPr>
            <a:picLocks noChangeAspect="1"/>
          </p:cNvPicPr>
          <p:nvPr/>
        </p:nvPicPr>
        <p:blipFill>
          <a:blip r:embed="rId2"/>
          <a:stretch>
            <a:fillRect/>
          </a:stretch>
        </p:blipFill>
        <p:spPr>
          <a:xfrm>
            <a:off x="594360" y="1457810"/>
            <a:ext cx="11002975" cy="3744259"/>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No network, read-only root, the same container for both arms: never the A/B variable.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4) Least privilege:</a:t>
            </a:r>
            <a:r>
              <a:rPr sz="3000" b="1" i="0">
                <a:solidFill>
                  <a:srgbClr val="FFFFFF"/>
                </a:solidFill>
                <a:latin typeface="Fira Sans"/>
              </a:rPr>
              <a:t> two refusals, two questions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"enforce boundaries centrally, allow autonomy locally."</a:t>
            </a:r>
          </a:p>
        </p:txBody>
      </p:sp>
      <p:sp>
        <p:nvSpPr>
          <p:cNvPr id="4" name="Rounded Rectangle 3"/>
          <p:cNvSpPr/>
          <p:nvPr/>
        </p:nvSpPr>
        <p:spPr>
          <a:xfrm>
            <a:off x="548640" y="1399309"/>
            <a:ext cx="11094415" cy="3861261"/>
          </a:xfrm>
          <a:prstGeom prst="roundRect">
            <a:avLst>
              <a:gd name="adj" fmla="val 284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least-privilege: The least-privilege diagram: nested rings, from outside in: container limits (both arms), allowed paths for the phase (harness arm), the one feature; the two refusal labels blocked and sandbox_denied on their rings."/>
          <p:cNvPicPr>
            <a:picLocks noChangeAspect="1"/>
          </p:cNvPicPr>
          <p:nvPr/>
        </p:nvPicPr>
        <p:blipFill>
          <a:blip r:embed="rId2"/>
          <a:stretch>
            <a:fillRect/>
          </a:stretch>
        </p:blipFill>
        <p:spPr>
          <a:xfrm>
            <a:off x="594360" y="1445029"/>
            <a:ext cx="11002975" cy="3769821"/>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Scope asks "in scope now?"; the sandbox asks "possible at all?"</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Cheat Sheet:</a:t>
            </a:r>
            <a:r>
              <a:rPr sz="3000" b="1" i="0">
                <a:solidFill>
                  <a:srgbClr val="FFFFFF"/>
                </a:solidFill>
                <a:latin typeface="Fira Sans"/>
              </a:rPr>
              <a:t> Four boundaries for one feature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Refer back to this when you scope your next agent task.</a:t>
            </a:r>
          </a:p>
        </p:txBody>
      </p:sp>
      <p:graphicFrame>
        <p:nvGraphicFramePr>
          <p:cNvPr id="4" name="Table 3"/>
          <p:cNvGraphicFramePr>
            <a:graphicFrameLocks noGrp="1"/>
          </p:cNvGraphicFramePr>
          <p:nvPr/>
        </p:nvGraphicFramePr>
        <p:xfrm>
          <a:off x="548640" y="2129790"/>
          <a:ext cx="11094414" cy="1943100"/>
        </p:xfrm>
        <a:graphic>
          <a:graphicData uri="http://schemas.openxmlformats.org/drawingml/2006/table">
            <a:tbl>
              <a:tblPr firstRow="1" bandRow="0">
                <a:tableStyleId>{5940675A-B579-460E-94D1-54222C63F5DA}</a:tableStyleId>
              </a:tblPr>
              <a:tblGrid>
                <a:gridCol w="2206704"/>
                <a:gridCol w="3993989"/>
                <a:gridCol w="4893721"/>
              </a:tblGrid>
              <a:tr h="388620">
                <a:tc>
                  <a:txBody>
                    <a:bodyPr wrap="square"/>
                    <a:lstStyle/>
                    <a:p>
                      <a:pPr marL="0" indent="0" algn="l">
                        <a:lnSpc>
                          <a:spcPct val="100000"/>
                        </a:lnSpc>
                        <a:spcBef>
                          <a:spcPts val="0"/>
                        </a:spcBef>
                        <a:spcAft>
                          <a:spcPts val="0"/>
                        </a:spcAft>
                        <a:buNone/>
                      </a:pPr>
                      <a:r>
                        <a:rPr sz="1800" b="1" i="0">
                          <a:solidFill>
                            <a:srgbClr val="FFFFFF"/>
                          </a:solidFill>
                          <a:latin typeface="Fira Sans"/>
                        </a:rPr>
                        <a:t>Boundary</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What it does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Arm</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feature_list.json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One feature; harness sets passes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Harness only</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Allowed paths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Per phase; patch blocked, command reverted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Harness only</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Sandbox</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No network, keys on the host</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Both</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Least privilege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Non-root, caps, two refusal types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Both</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1" name="Google Shape;591;g3bb6ac48d58_0_120">
            <a:hlinkClick r:id="rId3"/>
          </p:cNvPr>
          <p:cNvSpPr/>
          <p:nvPr/>
        </p:nvSpPr>
        <p:spPr>
          <a:xfrm>
            <a:off x="4450080" y="2926080"/>
            <a:ext cx="3291840" cy="86868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2800" u="none" cap="none" strike="noStrike">
                <a:solidFill>
                  <a:srgbClr val="324158"/>
                </a:solidFill>
                <a:latin typeface="Lexend Medium"/>
                <a:ea typeface="Lexend Medium"/>
                <a:cs typeface="Lexend Medium"/>
                <a:sym typeface="Lexend Medium"/>
              </a:rPr>
              <a:t>DEMO - 3</a:t>
            </a:r>
            <a:endParaRPr b="0" i="0" sz="1400" u="sng" cap="none" strike="noStrike">
              <a:solidFill>
                <a:srgbClr val="6568F5"/>
              </a:solidFill>
              <a:latin typeface="Lexend Medium"/>
              <a:ea typeface="Lexend Medium"/>
              <a:cs typeface="Lexend Medium"/>
              <a:sym typeface="Lexend Medium"/>
            </a:endParaRPr>
          </a:p>
        </p:txBody>
      </p:sp>
      <p:sp>
        <p:nvSpPr>
          <p:cNvPr id="592" name="Google Shape;592;g3bb6ac48d58_0_120"/>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2500">
                <a:solidFill>
                  <a:srgbClr val="3896D2"/>
                </a:solidFill>
                <a:latin typeface="Fira Sans"/>
                <a:ea typeface="Fira Sans"/>
                <a:cs typeface="Fira Sans"/>
                <a:sym typeface="Fira Sans"/>
                <a:extLst>
                  <a:ext uri="http://customooxmlschemas.google.com/">
                    <go:slidesCustomData xmlns:go="http://customooxmlschemas.google.com/" textRoundtripDataId="4"/>
                  </a:ext>
                </a:extLst>
              </a:rPr>
              <a:t>Section 3: </a:t>
            </a:r>
            <a:r>
              <a:rPr b="1" lang="en-US" sz="2500">
                <a:solidFill>
                  <a:schemeClr val="lt1"/>
                </a:solidFill>
                <a:latin typeface="Fira Sans"/>
                <a:ea typeface="Fira Sans"/>
                <a:cs typeface="Fira Sans"/>
                <a:sym typeface="Fira Sans"/>
                <a:extLst>
                  <a:ext uri="http://customooxmlschemas.google.com/">
                    <go:slidesCustomData xmlns:go="http://customooxmlschemas.google.com/" textRoundtripDataId="5"/>
                  </a:ext>
                </a:extLst>
              </a:rPr>
              <a:t>Scope and sandbox - Implementation Notes: Scope at work</a:t>
            </a:r>
            <a:endParaRPr b="1" sz="3000">
              <a:solidFill>
                <a:schemeClr val="lt1"/>
              </a:solidFill>
              <a:latin typeface="Fira Sans"/>
              <a:ea typeface="Fira Sans"/>
              <a:cs typeface="Fira Sans"/>
              <a:sym typeface="Fira Sans"/>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What we measured:</a:t>
            </a:r>
            <a:r>
              <a:rPr sz="3000" b="1" i="0">
                <a:solidFill>
                  <a:srgbClr val="FFFFFF"/>
                </a:solidFill>
                <a:latin typeface="Fira Sans"/>
              </a:rPr>
              <a:t> Scope held on version checks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Earns its place when a shared file looks like the natural home and you need a guarantee.</a:t>
            </a:r>
          </a:p>
        </p:txBody>
      </p:sp>
      <p:sp>
        <p:nvSpPr>
          <p:cNvPr id="4" name="Rounded Rectangle 3"/>
          <p:cNvSpPr/>
          <p:nvPr/>
        </p:nvSpPr>
        <p:spPr>
          <a:xfrm>
            <a:off x="548640" y="1328928"/>
            <a:ext cx="6680112" cy="4660392"/>
          </a:xfrm>
          <a:prstGeom prst="roundRect">
            <a:avLst>
              <a:gd name="adj" fmla="val 2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22120"/>
            <a:ext cx="6680112" cy="109728"/>
          </a:xfrm>
          <a:prstGeom prst="rect">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28928"/>
            <a:ext cx="6680112" cy="502920"/>
          </a:xfrm>
          <a:prstGeom prst="roundRect">
            <a:avLst>
              <a:gd name="adj" fmla="val 21818"/>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What we measured</a:t>
            </a:r>
          </a:p>
        </p:txBody>
      </p:sp>
      <p:pic>
        <p:nvPicPr>
          <p:cNvPr id="7" name="Picture 6" descr="Diagram results-s3: Left card holds the results-s3 dot chart (left panel version checks, the confirmation: bare 3 hollow, harness 3 filled; right panel safe retries: 10 filled dots per row; filled = no out-of-scope file); right card is a checklist with a small terminal strip of git diff --name-only, one line in red."/>
          <p:cNvPicPr>
            <a:picLocks noChangeAspect="1"/>
          </p:cNvPicPr>
          <p:nvPr/>
        </p:nvPicPr>
        <p:blipFill>
          <a:blip r:embed="rId2"/>
          <a:stretch>
            <a:fillRect/>
          </a:stretch>
        </p:blipFill>
        <p:spPr>
          <a:xfrm>
            <a:off x="828112" y="1941576"/>
            <a:ext cx="6121168" cy="2484119"/>
          </a:xfrm>
          <a:prstGeom prst="rect">
            <a:avLst/>
          </a:prstGeom>
        </p:spPr>
      </p:pic>
      <p:sp>
        <p:nvSpPr>
          <p:cNvPr id="8" name="TextBox 7"/>
          <p:cNvSpPr txBox="1"/>
          <p:nvPr/>
        </p:nvSpPr>
        <p:spPr>
          <a:xfrm>
            <a:off x="548640" y="4407408"/>
            <a:ext cx="6680112" cy="1581911"/>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Runs with a file outside the allowed paths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Version checks: bare 3 of 3, harness 0 of 3</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Safe retries: bare 0 of 10, harness 0 of 10</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Partly by construction</a:t>
            </a:r>
          </a:p>
        </p:txBody>
      </p:sp>
      <p:sp>
        <p:nvSpPr>
          <p:cNvPr id="9" name="Rounded Rectangle 8"/>
          <p:cNvSpPr/>
          <p:nvPr/>
        </p:nvSpPr>
        <p:spPr>
          <a:xfrm>
            <a:off x="7548792" y="1328928"/>
            <a:ext cx="4094262" cy="4660392"/>
          </a:xfrm>
          <a:prstGeom prst="roundRect">
            <a:avLst>
              <a:gd name="adj" fmla="val 2680"/>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8792" y="1722120"/>
            <a:ext cx="4094262" cy="109728"/>
          </a:xfrm>
          <a:prstGeom prst="rect">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8792" y="1328928"/>
            <a:ext cx="4094262" cy="502920"/>
          </a:xfrm>
          <a:prstGeom prst="roundRect">
            <a:avLst>
              <a:gd name="adj" fmla="val 21818"/>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Apply it Monday</a:t>
            </a:r>
          </a:p>
        </p:txBody>
      </p:sp>
      <p:sp>
        <p:nvSpPr>
          <p:cNvPr id="12" name="TextBox 11"/>
          <p:cNvSpPr txBox="1"/>
          <p:nvPr/>
        </p:nvSpPr>
        <p:spPr>
          <a:xfrm>
            <a:off x="7548792" y="1831848"/>
            <a:ext cx="4094262" cy="4157472"/>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Write the allowed paths as globs first</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Count </a:t>
            </a:r>
            <a:r>
              <a:rPr sz="1800" b="0" i="0">
                <a:solidFill>
                  <a:srgbClr val="324158"/>
                </a:solidFill>
                <a:latin typeface="Consolas"/>
              </a:rPr>
              <a:t>git diff --name-only</a:t>
            </a:r>
            <a:r>
              <a:rPr sz="1800" b="0" i="0">
                <a:solidFill>
                  <a:srgbClr val="324158"/>
                </a:solidFill>
                <a:latin typeface="Fira Sans"/>
              </a:rPr>
              <a:t> outside them</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Check patches before, commands after</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Keep grading files out of reach</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7" name="Google Shape;597;g3c929a46dfa_1_19"/>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lt1"/>
                </a:solidFill>
                <a:latin typeface="Fira Sans"/>
                <a:ea typeface="Fira Sans"/>
                <a:cs typeface="Fira Sans"/>
                <a:sym typeface="Fira Sans"/>
              </a:rPr>
              <a:t>Ask about anything:</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Concepts from today's sections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How this applies to your work</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Implementation details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Clarifications on what we covered</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0"/>
              </a:spcAft>
              <a:buNone/>
            </a:pPr>
            <a:br>
              <a:rPr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Quick Request</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Please do not mind if a question gets skipped accidentally</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Repost politely in chat if needed</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We will try our best to cover as many questions as possible</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1200"/>
              </a:spcAft>
              <a:buNone/>
            </a:pPr>
            <a:br>
              <a:rPr b="1" lang="en-US" sz="1700">
                <a:solidFill>
                  <a:schemeClr val="lt1"/>
                </a:solidFill>
                <a:latin typeface="Fira Sans"/>
                <a:ea typeface="Fira Sans"/>
                <a:cs typeface="Fira Sans"/>
                <a:sym typeface="Fira Sans"/>
              </a:rPr>
            </a:br>
            <a:br>
              <a:rPr b="1"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Remember:</a:t>
            </a:r>
            <a:r>
              <a:rPr lang="en-US" sz="1700">
                <a:solidFill>
                  <a:schemeClr val="lt1"/>
                </a:solidFill>
                <a:latin typeface="Fira Sans"/>
                <a:ea typeface="Fira Sans"/>
                <a:cs typeface="Fira Sans"/>
                <a:sym typeface="Fira Sans"/>
              </a:rPr>
              <a:t> </a:t>
            </a:r>
            <a:r>
              <a:rPr lang="en-US" sz="1700">
                <a:solidFill>
                  <a:schemeClr val="accent1"/>
                </a:solidFill>
                <a:latin typeface="Fira Sans"/>
                <a:ea typeface="Fira Sans"/>
                <a:cs typeface="Fira Sans"/>
                <a:sym typeface="Fira Sans"/>
              </a:rPr>
              <a:t>If you're wondering about it, others probably are too.</a:t>
            </a:r>
            <a:endParaRPr sz="1700">
              <a:solidFill>
                <a:schemeClr val="accent1"/>
              </a:solidFill>
              <a:latin typeface="Fira Sans"/>
              <a:ea typeface="Fira Sans"/>
              <a:cs typeface="Fira Sans"/>
              <a:sym typeface="Fira Sans"/>
            </a:endParaRPr>
          </a:p>
        </p:txBody>
      </p:sp>
      <p:sp>
        <p:nvSpPr>
          <p:cNvPr id="598" name="Google Shape;598;g3c929a46dfa_1_19"/>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400"/>
              </a:spcBef>
              <a:spcAft>
                <a:spcPts val="400"/>
              </a:spcAft>
              <a:buClr>
                <a:schemeClr val="dk1"/>
              </a:buClr>
              <a:buSzPts val="1100"/>
              <a:buFont typeface="Arial"/>
              <a:buNone/>
            </a:pPr>
            <a:r>
              <a:rPr b="1" lang="en-US" sz="2000">
                <a:solidFill>
                  <a:schemeClr val="accent1"/>
                </a:solidFill>
                <a:latin typeface="Fira Sans"/>
                <a:ea typeface="Fira Sans"/>
                <a:cs typeface="Fira Sans"/>
                <a:sym typeface="Fira Sans"/>
              </a:rPr>
              <a:t>No Question Is Too Small Every Question Deserves an Answer!!</a:t>
            </a:r>
            <a:endParaRPr b="1" sz="3000">
              <a:solidFill>
                <a:srgbClr val="3896D2"/>
              </a:solidFill>
              <a:latin typeface="Fira Sans"/>
              <a:ea typeface="Fira Sans"/>
              <a:cs typeface="Fira Sans"/>
              <a:sym typeface="Fira Sans"/>
            </a:endParaRPr>
          </a:p>
        </p:txBody>
      </p:sp>
      <p:pic>
        <p:nvPicPr>
          <p:cNvPr id="599" name="Google Shape;599;g3c929a46dfa_1_19" descr="Questions and answers illustration"/>
          <p:cNvPicPr preferRelativeResize="0"/>
          <p:nvPr/>
        </p:nvPicPr>
        <p:blipFill rotWithShape="1">
          <a:blip r:embed="rId2">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15" name="Google Shape;715;g3bec679679f_0_150"/>
          <p:cNvSpPr txBox="1"/>
          <p:nvPr>
            <p:ph type="title"/>
          </p:nvPr>
        </p:nvSpPr>
        <p:spPr>
          <a:xfrm>
            <a:off x="746075" y="5645554"/>
            <a:ext cx="10515600" cy="817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2500">
                <a:solidFill>
                  <a:schemeClr val="accent1"/>
                </a:solidFill>
              </a:rPr>
              <a:t>A 5-minute break is starting now. Please return when the timer ends to continue the presentation</a:t>
            </a:r>
            <a:endParaRPr b="1" sz="2500">
              <a:solidFill>
                <a:schemeClr val="accent1"/>
              </a:solidFill>
            </a:endParaRPr>
          </a:p>
        </p:txBody>
      </p:sp>
      <p:sp>
        <p:nvSpPr>
          <p:cNvPr id="716" name="Google Shape;716;g3bec679679f_0_150"/>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3000">
                <a:solidFill>
                  <a:srgbClr val="3896D2"/>
                </a:solidFill>
                <a:latin typeface="Fira Sans"/>
                <a:ea typeface="Fira Sans"/>
                <a:cs typeface="Fira Sans"/>
                <a:sym typeface="Fira Sans"/>
              </a:rPr>
              <a:t>Time for a Break</a:t>
            </a:r>
            <a:endParaRPr b="1" sz="3000">
              <a:solidFill>
                <a:srgbClr val="3896D2"/>
              </a:solidFill>
              <a:latin typeface="Fira Sans"/>
              <a:ea typeface="Fira Sans"/>
              <a:cs typeface="Fira Sans"/>
              <a:sym typeface="Fira Sans"/>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717" name="Google Shape;717;g3bec679679f_0_150" title="5 Minute Timer">
            <a:hlinkClick r:id="rId2"/>
          </p:cNvPr>
          <p:cNvPicPr preferRelativeResize="0"/>
          <p:nvPr/>
        </p:nvPicPr>
        <p:blipFill>
          <a:blip r:embed="rId3">
            <a:alphaModFix/>
          </a:blip>
          <a:stretch>
            <a:fillRect/>
          </a:stretch>
        </p:blipFill>
        <p:spPr>
          <a:xfrm>
            <a:off x="2320281" y="1189037"/>
            <a:ext cx="7367194" cy="4144050"/>
          </a:xfrm>
          <a:prstGeom prst="rect">
            <a:avLst/>
          </a:prstGeom>
          <a:noFill/>
          <a:ln>
            <a:noFill/>
          </a:ln>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97" name="Google Shape;797;g3c998306d9f_0_54"/>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3000">
                <a:solidFill>
                  <a:srgbClr val="3896D2"/>
                </a:solidFill>
                <a:latin typeface="Fira Sans"/>
                <a:ea typeface="Fira Sans"/>
                <a:cs typeface="Fira Sans"/>
                <a:sym typeface="Fira Sans"/>
              </a:rPr>
              <a:t>Live Zoom Poll</a:t>
            </a:r>
            <a:endParaRPr b="1" sz="3000">
              <a:solidFill>
                <a:schemeClr val="lt1"/>
              </a:solidFill>
              <a:latin typeface="Fira Sans"/>
              <a:ea typeface="Fira Sans"/>
              <a:cs typeface="Fira Sans"/>
              <a:sym typeface="Fira Sans"/>
            </a:endParaRPr>
          </a:p>
        </p:txBody>
      </p:sp>
      <p:pic>
        <p:nvPicPr>
          <p:cNvPr id="798" name="Google Shape;798;g3c998306d9f_0_54" descr="Live poll illustration"/>
          <p:cNvPicPr preferRelativeResize="0"/>
          <p:nvPr/>
        </p:nvPicPr>
        <p:blipFill rotWithShape="1">
          <a:blip r:embed="rId2">
            <a:alphaModFix/>
          </a:blip>
          <a:srcRect b="8156" l="0" r="0" t="0"/>
          <a:stretch/>
        </p:blipFill>
        <p:spPr>
          <a:xfrm>
            <a:off x="548640" y="1371600"/>
            <a:ext cx="3986278" cy="3657600"/>
          </a:xfrm>
          <a:prstGeom prst="rect">
            <a:avLst/>
          </a:prstGeom>
          <a:noFill/>
          <a:ln>
            <a:noFill/>
          </a:ln>
        </p:spPr>
      </p:pic>
      <p:sp>
        <p:nvSpPr>
          <p:cNvPr id="799" name="Google Shape;799;g3c998306d9f_0_54"/>
          <p:cNvSpPr txBox="1"/>
          <p:nvPr/>
        </p:nvSpPr>
        <p:spPr>
          <a:xfrm>
            <a:off x="5120640" y="1097280"/>
            <a:ext cx="6522415" cy="91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accent1"/>
                </a:solidFill>
                <a:latin typeface="Fira Sans"/>
                <a:ea typeface="Fira Sans"/>
                <a:cs typeface="Fira Sans"/>
                <a:sym typeface="Fira Sans"/>
              </a:rPr>
              <a:t>We are launching a poll on Zoom. Please take 2 minutes to fill out the form.</a:t>
            </a:r>
            <a:endParaRPr b="1" sz="2500">
              <a:solidFill>
                <a:schemeClr val="accent1"/>
              </a:solidFill>
              <a:latin typeface="Fira Sans"/>
              <a:ea typeface="Fira Sans"/>
              <a:cs typeface="Fira Sans"/>
              <a:sym typeface="Fira Sans"/>
            </a:endParaRPr>
          </a:p>
        </p:txBody>
      </p:sp>
      <p:sp>
        <p:nvSpPr>
          <p:cNvPr id="800" name="TextBox 799"/>
          <p:cNvSpPr txBox="1"/>
          <p:nvPr/>
        </p:nvSpPr>
        <p:spPr>
          <a:xfrm>
            <a:off x="5120640" y="2148840"/>
            <a:ext cx="6522415" cy="41148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1" i="0">
                <a:solidFill>
                  <a:srgbClr val="FFAB40"/>
                </a:solidFill>
                <a:latin typeface="Fira Sans"/>
              </a:rPr>
              <a:t>Which feature runs as the final live A/B:</a:t>
            </a:r>
          </a:p>
        </p:txBody>
      </p:sp>
      <p:sp>
        <p:nvSpPr>
          <p:cNvPr id="801" name="Rounded Rectangle 800"/>
          <p:cNvSpPr/>
          <p:nvPr/>
        </p:nvSpPr>
        <p:spPr>
          <a:xfrm>
            <a:off x="5120640" y="2697480"/>
            <a:ext cx="6522415" cy="822960"/>
          </a:xfrm>
          <a:prstGeom prst="roundRect">
            <a:avLst>
              <a:gd name="adj" fmla="val 1333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324158"/>
                </a:solidFill>
                <a:latin typeface="Fira Sans"/>
              </a:rPr>
              <a:t>Feature 5: Bulk close</a:t>
            </a:r>
          </a:p>
          <a:p>
            <a:pPr marL="0" indent="0" algn="l">
              <a:lnSpc>
                <a:spcPct val="100000"/>
              </a:lnSpc>
              <a:spcBef>
                <a:spcPts val="0"/>
              </a:spcBef>
              <a:spcAft>
                <a:spcPts val="0"/>
              </a:spcAft>
              <a:buNone/>
            </a:pPr>
            <a:r>
              <a:rPr sz="1800" b="0" i="0">
                <a:solidFill>
                  <a:srgbClr val="324158"/>
                </a:solidFill>
                <a:latin typeface="Fira Sans"/>
              </a:rPr>
              <a:t>many issues in one request</a:t>
            </a:r>
          </a:p>
        </p:txBody>
      </p:sp>
      <p:sp>
        <p:nvSpPr>
          <p:cNvPr id="802" name="Rounded Rectangle 801"/>
          <p:cNvSpPr/>
          <p:nvPr/>
        </p:nvSpPr>
        <p:spPr>
          <a:xfrm>
            <a:off x="5120640" y="3703320"/>
            <a:ext cx="6522415" cy="822960"/>
          </a:xfrm>
          <a:prstGeom prst="roundRect">
            <a:avLst>
              <a:gd name="adj" fmla="val 1333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324158"/>
                </a:solidFill>
                <a:latin typeface="Fira Sans"/>
              </a:rPr>
              <a:t>Feature 6: Watchers</a:t>
            </a:r>
          </a:p>
          <a:p>
            <a:pPr marL="0" indent="0" algn="l">
              <a:lnSpc>
                <a:spcPct val="100000"/>
              </a:lnSpc>
              <a:spcBef>
                <a:spcPts val="0"/>
              </a:spcBef>
              <a:spcAft>
                <a:spcPts val="0"/>
              </a:spcAft>
              <a:buNone/>
            </a:pPr>
            <a:r>
              <a:rPr sz="1800" b="0" i="0">
                <a:solidFill>
                  <a:srgbClr val="324158"/>
                </a:solidFill>
                <a:latin typeface="Fira Sans"/>
              </a:rPr>
              <a:t>work spans a session stop</a:t>
            </a:r>
          </a:p>
        </p:txBody>
      </p:sp>
      <p:sp>
        <p:nvSpPr>
          <p:cNvPr id="803" name="Rounded Rectangle 802"/>
          <p:cNvSpPr/>
          <p:nvPr/>
        </p:nvSpPr>
        <p:spPr>
          <a:xfrm>
            <a:off x="5120640" y="4709160"/>
            <a:ext cx="6522415" cy="822960"/>
          </a:xfrm>
          <a:prstGeom prst="roundRect">
            <a:avLst>
              <a:gd name="adj" fmla="val 1333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324158"/>
                </a:solidFill>
                <a:latin typeface="Fira Sans"/>
              </a:rPr>
              <a:t>Feature 7: Labels</a:t>
            </a:r>
          </a:p>
          <a:p>
            <a:pPr marL="0" indent="0" algn="l">
              <a:lnSpc>
                <a:spcPct val="100000"/>
              </a:lnSpc>
              <a:spcBef>
                <a:spcPts val="0"/>
              </a:spcBef>
              <a:spcAft>
                <a:spcPts val="0"/>
              </a:spcAft>
              <a:buNone/>
            </a:pPr>
            <a:r>
              <a:rPr sz="1800" b="0" i="0">
                <a:solidFill>
                  <a:srgbClr val="324158"/>
                </a:solidFill>
                <a:latin typeface="Fira Sans"/>
              </a:rPr>
              <a:t>tag and filter issues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Section 4:</a:t>
            </a:r>
            <a:r>
              <a:rPr sz="3000" b="1" i="0">
                <a:solidFill>
                  <a:srgbClr val="FFFFFF"/>
                </a:solidFill>
                <a:latin typeface="Fira Sans"/>
              </a:rPr>
              <a:t> Verification, what proves the work is done</a:t>
            </a:r>
          </a:p>
        </p:txBody>
      </p:sp>
      <p:sp>
        <p:nvSpPr>
          <p:cNvPr id="3" name="Rounded Rectangle 2"/>
          <p:cNvSpPr/>
          <p:nvPr/>
        </p:nvSpPr>
        <p:spPr>
          <a:xfrm>
            <a:off x="449427" y="1920240"/>
            <a:ext cx="1965960" cy="3017520"/>
          </a:xfrm>
          <a:prstGeom prst="roundRect">
            <a:avLst>
              <a:gd name="adj" fmla="val 5581"/>
            </a:avLst>
          </a:prstGeom>
          <a:solidFill>
            <a:srgbClr val="3E5274"/>
          </a:solidFill>
          <a:ln w="25400">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835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1</a:t>
            </a:r>
          </a:p>
        </p:txBody>
      </p:sp>
      <p:sp>
        <p:nvSpPr>
          <p:cNvPr id="5" name="TextBox 4"/>
          <p:cNvSpPr txBox="1"/>
          <p:nvPr/>
        </p:nvSpPr>
        <p:spPr>
          <a:xfrm>
            <a:off x="52257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Instructions</a:t>
            </a:r>
          </a:p>
        </p:txBody>
      </p:sp>
      <p:sp>
        <p:nvSpPr>
          <p:cNvPr id="6" name="TextBox 5"/>
          <p:cNvSpPr txBox="1"/>
          <p:nvPr/>
        </p:nvSpPr>
        <p:spPr>
          <a:xfrm>
            <a:off x="1866747" y="1993392"/>
            <a:ext cx="457200" cy="4572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200" b="1" i="0">
                <a:solidFill>
                  <a:srgbClr val="FFAB40"/>
                </a:solidFill>
                <a:latin typeface="Fira Sans"/>
              </a:rPr>
              <a:t>✓</a:t>
            </a:r>
          </a:p>
        </p:txBody>
      </p:sp>
      <p:sp>
        <p:nvSpPr>
          <p:cNvPr id="7" name="Rounded Rectangle 6"/>
          <p:cNvSpPr/>
          <p:nvPr/>
        </p:nvSpPr>
        <p:spPr>
          <a:xfrm>
            <a:off x="2781147" y="1920240"/>
            <a:ext cx="1965960" cy="3017520"/>
          </a:xfrm>
          <a:prstGeom prst="roundRect">
            <a:avLst>
              <a:gd name="adj" fmla="val 5581"/>
            </a:avLst>
          </a:prstGeom>
          <a:solidFill>
            <a:srgbClr val="3E5274"/>
          </a:solidFill>
          <a:ln w="25400">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8007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2</a:t>
            </a:r>
          </a:p>
        </p:txBody>
      </p:sp>
      <p:sp>
        <p:nvSpPr>
          <p:cNvPr id="9" name="TextBox 8"/>
          <p:cNvSpPr txBox="1"/>
          <p:nvPr/>
        </p:nvSpPr>
        <p:spPr>
          <a:xfrm>
            <a:off x="285429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State and sessions</a:t>
            </a:r>
          </a:p>
        </p:txBody>
      </p:sp>
      <p:sp>
        <p:nvSpPr>
          <p:cNvPr id="10" name="TextBox 9"/>
          <p:cNvSpPr txBox="1"/>
          <p:nvPr/>
        </p:nvSpPr>
        <p:spPr>
          <a:xfrm>
            <a:off x="4198467" y="1993392"/>
            <a:ext cx="457200" cy="4572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200" b="1" i="0">
                <a:solidFill>
                  <a:srgbClr val="FFAB40"/>
                </a:solidFill>
                <a:latin typeface="Fira Sans"/>
              </a:rPr>
              <a:t>✓</a:t>
            </a:r>
          </a:p>
        </p:txBody>
      </p:sp>
      <p:cxnSp>
        <p:nvCxnSpPr>
          <p:cNvPr id="11" name="Connector 10"/>
          <p:cNvCxnSpPr/>
          <p:nvPr/>
        </p:nvCxnSpPr>
        <p:spPr>
          <a:xfrm>
            <a:off x="247025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12867" y="1920240"/>
            <a:ext cx="1965960" cy="3017520"/>
          </a:xfrm>
          <a:prstGeom prst="roundRect">
            <a:avLst>
              <a:gd name="adj" fmla="val 5581"/>
            </a:avLst>
          </a:prstGeom>
          <a:solidFill>
            <a:srgbClr val="3E5274"/>
          </a:solidFill>
          <a:ln w="25400">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1179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3</a:t>
            </a:r>
          </a:p>
        </p:txBody>
      </p:sp>
      <p:sp>
        <p:nvSpPr>
          <p:cNvPr id="14" name="TextBox 13"/>
          <p:cNvSpPr txBox="1"/>
          <p:nvPr/>
        </p:nvSpPr>
        <p:spPr>
          <a:xfrm>
            <a:off x="518601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Scope and sandbox</a:t>
            </a:r>
          </a:p>
        </p:txBody>
      </p:sp>
      <p:sp>
        <p:nvSpPr>
          <p:cNvPr id="15" name="TextBox 14"/>
          <p:cNvSpPr txBox="1"/>
          <p:nvPr/>
        </p:nvSpPr>
        <p:spPr>
          <a:xfrm>
            <a:off x="6530187" y="1993392"/>
            <a:ext cx="457200" cy="45720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200" b="1" i="0">
                <a:solidFill>
                  <a:srgbClr val="FFAB40"/>
                </a:solidFill>
                <a:latin typeface="Fira Sans"/>
              </a:rPr>
              <a:t>✓</a:t>
            </a:r>
          </a:p>
        </p:txBody>
      </p:sp>
      <p:cxnSp>
        <p:nvCxnSpPr>
          <p:cNvPr id="16" name="Connector 15"/>
          <p:cNvCxnSpPr/>
          <p:nvPr/>
        </p:nvCxnSpPr>
        <p:spPr>
          <a:xfrm>
            <a:off x="480197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444587" y="1920240"/>
            <a:ext cx="1965960" cy="3017520"/>
          </a:xfrm>
          <a:prstGeom prst="roundRect">
            <a:avLst>
              <a:gd name="adj" fmla="val 5581"/>
            </a:avLst>
          </a:prstGeom>
          <a:solidFill>
            <a:srgbClr val="3896D2"/>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3519" y="2194560"/>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800" b="1" i="0">
                <a:solidFill>
                  <a:srgbClr val="324158"/>
                </a:solidFill>
                <a:latin typeface="Fira Sans"/>
              </a:rPr>
              <a:t>4</a:t>
            </a:r>
          </a:p>
        </p:txBody>
      </p:sp>
      <p:sp>
        <p:nvSpPr>
          <p:cNvPr id="19" name="TextBox 18"/>
          <p:cNvSpPr txBox="1"/>
          <p:nvPr/>
        </p:nvSpPr>
        <p:spPr>
          <a:xfrm>
            <a:off x="751773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FFFFFF"/>
                </a:solidFill>
                <a:latin typeface="Fira Sans"/>
              </a:rPr>
              <a:t>Verification</a:t>
            </a:r>
          </a:p>
        </p:txBody>
      </p:sp>
      <p:sp>
        <p:nvSpPr>
          <p:cNvPr id="20" name="TextBox 19"/>
          <p:cNvSpPr txBox="1"/>
          <p:nvPr/>
        </p:nvSpPr>
        <p:spPr>
          <a:xfrm>
            <a:off x="8107527" y="1353312"/>
            <a:ext cx="640080" cy="54864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600" b="0" i="0">
                <a:solidFill>
                  <a:srgbClr val="FFFFFF"/>
                </a:solidFill>
                <a:latin typeface="Segoe UI Emoji"/>
              </a:rPr>
              <a:t>⭐</a:t>
            </a:r>
          </a:p>
        </p:txBody>
      </p:sp>
      <p:sp>
        <p:nvSpPr>
          <p:cNvPr id="21" name="TextBox 20"/>
          <p:cNvSpPr txBox="1"/>
          <p:nvPr/>
        </p:nvSpPr>
        <p:spPr>
          <a:xfrm>
            <a:off x="7444587" y="4480560"/>
            <a:ext cx="1965960" cy="365760"/>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1600" b="1" i="0">
                <a:solidFill>
                  <a:srgbClr val="FFFFFF"/>
                </a:solidFill>
                <a:latin typeface="Fira Sans"/>
              </a:rPr>
              <a:t>NOW</a:t>
            </a:r>
          </a:p>
        </p:txBody>
      </p:sp>
      <p:cxnSp>
        <p:nvCxnSpPr>
          <p:cNvPr id="22" name="Connector 21"/>
          <p:cNvCxnSpPr/>
          <p:nvPr/>
        </p:nvCxnSpPr>
        <p:spPr>
          <a:xfrm>
            <a:off x="713369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776307" y="1920240"/>
            <a:ext cx="1965960" cy="3017520"/>
          </a:xfrm>
          <a:prstGeom prst="roundRect">
            <a:avLst>
              <a:gd name="adj" fmla="val 5581"/>
            </a:avLst>
          </a:prstGeom>
          <a:solidFill>
            <a:srgbClr val="384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9459" y="3154680"/>
            <a:ext cx="1819656" cy="1645919"/>
          </a:xfrm>
          <a:prstGeom prst="rect">
            <a:avLst/>
          </a:prstGeom>
          <a:noFill/>
        </p:spPr>
        <p:txBody>
          <a:bodyPr wrap="square" anchor="t" lIns="0" rIns="0" tIns="0" bIns="0">
            <a:noAutofit/>
          </a:bodyPr>
          <a:lstStyle/>
          <a:p>
            <a:pPr marL="0" indent="0" algn="ctr">
              <a:lnSpc>
                <a:spcPct val="100000"/>
              </a:lnSpc>
              <a:spcBef>
                <a:spcPts val="0"/>
              </a:spcBef>
              <a:spcAft>
                <a:spcPts val="0"/>
              </a:spcAft>
              <a:buNone/>
            </a:pPr>
            <a:r>
              <a:rPr sz="2000" b="1" i="0">
                <a:solidFill>
                  <a:srgbClr val="A9B8CA"/>
                </a:solidFill>
                <a:latin typeface="Fira Sans"/>
              </a:rPr>
              <a:t>Final A/B</a:t>
            </a:r>
          </a:p>
        </p:txBody>
      </p:sp>
      <p:cxnSp>
        <p:nvCxnSpPr>
          <p:cNvPr id="25" name="Connector 24"/>
          <p:cNvCxnSpPr/>
          <p:nvPr/>
        </p:nvCxnSpPr>
        <p:spPr>
          <a:xfrm>
            <a:off x="9465411" y="3429000"/>
            <a:ext cx="256032" cy="0"/>
          </a:xfrm>
          <a:prstGeom prst="line">
            <a:avLst/>
          </a:prstGeom>
          <a:ln w="254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0412" y="5212080"/>
            <a:ext cx="10570870" cy="502920"/>
          </a:xfrm>
          <a:prstGeom prst="roundRect">
            <a:avLst>
              <a:gd name="adj" fmla="val 21818"/>
            </a:avLst>
          </a:prstGeom>
          <a:solidFill>
            <a:srgbClr val="1F293A"/>
          </a:solidFill>
          <a:ln w="15875">
            <a:solidFill>
              <a:srgbClr val="3896D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ctr" marL="0" indent="0">
              <a:lnSpc>
                <a:spcPct val="100000"/>
              </a:lnSpc>
              <a:spcBef>
                <a:spcPts val="0"/>
              </a:spcBef>
              <a:spcAft>
                <a:spcPts val="0"/>
              </a:spcAft>
              <a:buNone/>
            </a:pPr>
            <a:r>
              <a:rPr sz="1800" b="0" i="0">
                <a:solidFill>
                  <a:srgbClr val="FFFFFF"/>
                </a:solidFill>
                <a:latin typeface="Fira Sans"/>
              </a:rPr>
              <a:t>Launch: terminal B </a:t>
            </a:r>
            <a:r>
              <a:rPr sz="1800" b="1" i="0">
                <a:solidFill>
                  <a:srgbClr val="FFAB40"/>
                </a:solidFill>
                <a:latin typeface="Consolas"/>
              </a:rPr>
              <a:t>make show-4</a:t>
            </a:r>
            <a:r>
              <a:rPr sz="1800" b="0" i="0">
                <a:solidFill>
                  <a:srgbClr val="FFFFFF"/>
                </a:solidFill>
                <a:latin typeface="Fira Sans"/>
              </a:rPr>
              <a:t>; terminal C </a:t>
            </a:r>
            <a:r>
              <a:rPr sz="1800" b="1" i="0">
                <a:solidFill>
                  <a:srgbClr val="FFAB40"/>
                </a:solidFill>
                <a:latin typeface="Consolas"/>
              </a:rPr>
              <a:t>make final FEATURES=watchers,bulk-close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Failure story:</a:t>
            </a:r>
            <a:r>
              <a:rPr sz="3000" b="1" i="0">
                <a:solidFill>
                  <a:srgbClr val="FFFFFF"/>
                </a:solidFill>
                <a:latin typeface="Fira Sans"/>
              </a:rPr>
              <a:t> Done, but two edits still collide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An illustrative ticket: Feature 4: Version checks on issue edits, stop lost updates</a:t>
            </a:r>
          </a:p>
        </p:txBody>
      </p:sp>
      <p:sp>
        <p:nvSpPr>
          <p:cNvPr id="4" name="Rounded Rectangle 3"/>
          <p:cNvSpPr/>
          <p:nvPr/>
        </p:nvSpPr>
        <p:spPr>
          <a:xfrm>
            <a:off x="548639"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Adds the header check to three endpoints</a:t>
            </a:r>
          </a:p>
        </p:txBody>
      </p:sp>
      <p:sp>
        <p:nvSpPr>
          <p:cNvPr id="5" name="Oval 4"/>
          <p:cNvSpPr/>
          <p:nvPr/>
        </p:nvSpPr>
        <p:spPr>
          <a:xfrm>
            <a:off x="731519"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1</a:t>
            </a:r>
          </a:p>
        </p:txBody>
      </p:sp>
      <p:cxnSp>
        <p:nvCxnSpPr>
          <p:cNvPr id="6" name="Connector 5"/>
          <p:cNvCxnSpPr/>
          <p:nvPr/>
        </p:nvCxnSpPr>
        <p:spPr>
          <a:xfrm>
            <a:off x="2621219"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13243"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Writes a happy-path test</a:t>
            </a:r>
          </a:p>
        </p:txBody>
      </p:sp>
      <p:sp>
        <p:nvSpPr>
          <p:cNvPr id="8" name="Oval 7"/>
          <p:cNvSpPr/>
          <p:nvPr/>
        </p:nvSpPr>
        <p:spPr>
          <a:xfrm>
            <a:off x="2996123"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2</a:t>
            </a:r>
          </a:p>
        </p:txBody>
      </p:sp>
      <p:cxnSp>
        <p:nvCxnSpPr>
          <p:cNvPr id="9" name="Connector 8"/>
          <p:cNvCxnSpPr/>
          <p:nvPr/>
        </p:nvCxnSpPr>
        <p:spPr>
          <a:xfrm>
            <a:off x="4885822"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77846"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Runs the suite: all green</a:t>
            </a:r>
          </a:p>
        </p:txBody>
      </p:sp>
      <p:sp>
        <p:nvSpPr>
          <p:cNvPr id="11" name="Oval 10"/>
          <p:cNvSpPr/>
          <p:nvPr/>
        </p:nvSpPr>
        <p:spPr>
          <a:xfrm>
            <a:off x="5260726"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3</a:t>
            </a:r>
          </a:p>
        </p:txBody>
      </p:sp>
      <p:cxnSp>
        <p:nvCxnSpPr>
          <p:cNvPr id="12" name="Connector 11"/>
          <p:cNvCxnSpPr/>
          <p:nvPr/>
        </p:nvCxnSpPr>
        <p:spPr>
          <a:xfrm>
            <a:off x="7150425"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42449" y="2671572"/>
            <a:ext cx="2036003" cy="1975104"/>
          </a:xfrm>
          <a:prstGeom prst="roundRect">
            <a:avLst>
              <a:gd name="adj" fmla="val 5555"/>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Reports "Done, the full suite passes"</a:t>
            </a:r>
          </a:p>
        </p:txBody>
      </p:sp>
      <p:sp>
        <p:nvSpPr>
          <p:cNvPr id="14" name="Oval 13"/>
          <p:cNvSpPr/>
          <p:nvPr/>
        </p:nvSpPr>
        <p:spPr>
          <a:xfrm>
            <a:off x="7525329" y="2799588"/>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4</a:t>
            </a:r>
          </a:p>
        </p:txBody>
      </p:sp>
      <p:cxnSp>
        <p:nvCxnSpPr>
          <p:cNvPr id="15" name="Connector 14"/>
          <p:cNvCxnSpPr/>
          <p:nvPr/>
        </p:nvCxnSpPr>
        <p:spPr>
          <a:xfrm>
            <a:off x="9415028" y="3659124"/>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07052" y="2671572"/>
            <a:ext cx="2036003" cy="1975104"/>
          </a:xfrm>
          <a:prstGeom prst="roundRect">
            <a:avLst>
              <a:gd name="adj" fmla="val 5555"/>
            </a:avLst>
          </a:prstGeom>
          <a:solidFill>
            <a:srgbClr val="F0F3F6"/>
          </a:solidFill>
          <a:ln w="38100">
            <a:solidFill>
              <a:srgbClr val="E46962"/>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After release: two editors still overwrite each other</a:t>
            </a:r>
          </a:p>
        </p:txBody>
      </p:sp>
      <p:sp>
        <p:nvSpPr>
          <p:cNvPr id="17" name="Oval 16"/>
          <p:cNvSpPr/>
          <p:nvPr/>
        </p:nvSpPr>
        <p:spPr>
          <a:xfrm>
            <a:off x="9789932" y="2799588"/>
            <a:ext cx="512064" cy="512064"/>
          </a:xfrm>
          <a:prstGeom prst="ellipse">
            <a:avLst/>
          </a:prstGeom>
          <a:solidFill>
            <a:srgbClr val="E469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Verification:</a:t>
            </a:r>
            <a:r>
              <a:rPr sz="3000" b="1" i="0">
                <a:solidFill>
                  <a:srgbClr val="FFFFFF"/>
                </a:solidFill>
                <a:latin typeface="Fira Sans"/>
              </a:rPr>
              <a:t> Suite green. Are version checks done?</a:t>
            </a:r>
          </a:p>
        </p:txBody>
      </p:sp>
      <p:sp>
        <p:nvSpPr>
          <p:cNvPr id="3" name="TextBox 2"/>
          <p:cNvSpPr txBox="1"/>
          <p:nvPr/>
        </p:nvSpPr>
        <p:spPr>
          <a:xfrm>
            <a:off x="548640" y="749808"/>
            <a:ext cx="11094415" cy="6553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 bare arm before class: 191 visible tests passing, "Verified the complete visible suite", finish(claim="done"). Done?</a:t>
            </a:r>
          </a:p>
        </p:txBody>
      </p:sp>
      <p:sp>
        <p:nvSpPr>
          <p:cNvPr id="4" name="Rounded Rectangle 3"/>
          <p:cNvSpPr/>
          <p:nvPr/>
        </p:nvSpPr>
        <p:spPr>
          <a:xfrm>
            <a:off x="548640" y="2284679"/>
            <a:ext cx="11094415" cy="965199"/>
          </a:xfrm>
          <a:prstGeom prst="roundRect">
            <a:avLst>
              <a:gd name="adj" fmla="val 11368"/>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noAutofit/>
          </a:bodyPr>
          <a:lstStyle/>
          <a:p>
            <a:pPr algn="l" marL="0" indent="0">
              <a:lnSpc>
                <a:spcPct val="100000"/>
              </a:lnSpc>
              <a:spcBef>
                <a:spcPts val="0"/>
              </a:spcBef>
              <a:spcAft>
                <a:spcPts val="0"/>
              </a:spcAft>
              <a:buNone/>
            </a:pPr>
            <a:r>
              <a:rPr sz="1600" b="1" i="0">
                <a:solidFill>
                  <a:srgbClr val="324158"/>
                </a:solidFill>
                <a:latin typeface="Fira Sans"/>
              </a:rPr>
              <a:t>KEY IDEA</a:t>
            </a:r>
          </a:p>
          <a:p>
            <a:pPr marL="0" indent="0" algn="l">
              <a:lnSpc>
                <a:spcPct val="100000"/>
              </a:lnSpc>
              <a:spcBef>
                <a:spcPts val="400"/>
              </a:spcBef>
              <a:spcAft>
                <a:spcPts val="0"/>
              </a:spcAft>
              <a:buNone/>
            </a:pPr>
            <a:r>
              <a:rPr sz="2000" b="1" i="0">
                <a:solidFill>
                  <a:srgbClr val="324158"/>
                </a:solidFill>
                <a:latin typeface="Fira Sans"/>
              </a:rPr>
              <a:t>No: the referee failed it, 68 of 69 hidden tests. Who should decide "done"?</a:t>
            </a:r>
          </a:p>
        </p:txBody>
      </p:sp>
      <p:sp>
        <p:nvSpPr>
          <p:cNvPr id="5" name="Rounded Rectangle 4"/>
          <p:cNvSpPr/>
          <p:nvPr/>
        </p:nvSpPr>
        <p:spPr>
          <a:xfrm>
            <a:off x="1188720" y="3866184"/>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The visible suite missed a combined case</a:t>
            </a:r>
          </a:p>
        </p:txBody>
      </p:sp>
      <p:sp>
        <p:nvSpPr>
          <p:cNvPr id="6" name="Oval 5"/>
          <p:cNvSpPr/>
          <p:nvPr/>
        </p:nvSpPr>
        <p:spPr>
          <a:xfrm>
            <a:off x="548640" y="3902760"/>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1</a:t>
            </a:r>
          </a:p>
        </p:txBody>
      </p:sp>
      <p:sp>
        <p:nvSpPr>
          <p:cNvPr id="7" name="Rounded Rectangle 6"/>
          <p:cNvSpPr/>
          <p:nvPr/>
        </p:nvSpPr>
        <p:spPr>
          <a:xfrm>
            <a:off x="1188720" y="4808016"/>
            <a:ext cx="10454335" cy="530352"/>
          </a:xfrm>
          <a:prstGeom prst="roundRect">
            <a:avLst>
              <a:gd name="adj" fmla="val 2068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The agent graded its own work</a:t>
            </a:r>
          </a:p>
        </p:txBody>
      </p:sp>
      <p:sp>
        <p:nvSpPr>
          <p:cNvPr id="8" name="Oval 7"/>
          <p:cNvSpPr/>
          <p:nvPr/>
        </p:nvSpPr>
        <p:spPr>
          <a:xfrm>
            <a:off x="548640" y="4844592"/>
            <a:ext cx="457200" cy="457200"/>
          </a:xfrm>
          <a:prstGeom prst="ellipse">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1800" b="1" i="0">
                <a:solidFill>
                  <a:srgbClr val="FFFFFF"/>
                </a:solidFill>
                <a:latin typeface="Fira Sans"/>
              </a:rPr>
              <a:t>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1) Self-grading and visible tests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agent writes the tests, runs them, and grades the result.</a:t>
            </a:r>
          </a:p>
        </p:txBody>
      </p:sp>
      <p:sp>
        <p:nvSpPr>
          <p:cNvPr id="4" name="Rounded Rectangle 3"/>
          <p:cNvSpPr/>
          <p:nvPr/>
        </p:nvSpPr>
        <p:spPr>
          <a:xfrm>
            <a:off x="548640" y="1313777"/>
            <a:ext cx="11094415" cy="4032324"/>
          </a:xfrm>
          <a:prstGeom prst="roundRect">
            <a:avLst>
              <a:gd name="adj" fmla="val 272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verification-pipeline-step-1: Pipeline build frame 1: &quot;Build phase: code, visible tests&quot;, an arrow &quot;own tests pass&quot;, straight to finish(claim=&quot;done&quot;); nothing checks the claim yet."/>
          <p:cNvPicPr>
            <a:picLocks noChangeAspect="1"/>
          </p:cNvPicPr>
          <p:nvPr/>
        </p:nvPicPr>
        <p:blipFill>
          <a:blip r:embed="rId2"/>
          <a:stretch>
            <a:fillRect/>
          </a:stretch>
        </p:blipFill>
        <p:spPr>
          <a:xfrm>
            <a:off x="594360" y="1359497"/>
            <a:ext cx="11002975" cy="3940884"/>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Every agent saturates the visible suite; held-out tests still find failures.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2) Test-phase filters:</a:t>
            </a:r>
            <a:r>
              <a:rPr sz="3000" b="1" i="0">
                <a:solidFill>
                  <a:srgbClr val="FFFFFF"/>
                </a:solidFill>
                <a:latin typeface="Fira Sans"/>
              </a:rPr>
              <a:t> keep tests that prove something</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After the build, a short test phase; each proposed test passes five filters, cheapest first.</a:t>
            </a:r>
          </a:p>
        </p:txBody>
      </p:sp>
      <p:sp>
        <p:nvSpPr>
          <p:cNvPr id="4" name="Rounded Rectangle 3"/>
          <p:cNvSpPr/>
          <p:nvPr/>
        </p:nvSpPr>
        <p:spPr>
          <a:xfrm>
            <a:off x="548640" y="1313777"/>
            <a:ext cx="11094415" cy="4032324"/>
          </a:xfrm>
          <a:prstGeom prst="roundRect">
            <a:avLst>
              <a:gd name="adj" fmla="val 272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verification-pipeline-step-2: Pipeline build frame 2: adds &quot;Test phase: proposes tests&quot; after the claim, feeding &quot;Five test filters&quot;; a side note &quot;Filters 1-3 from [TestGen-LLM](https://arxiv.org/abs/2402.09171), 4-5 course&quot;."/>
          <p:cNvPicPr>
            <a:picLocks noChangeAspect="1"/>
          </p:cNvPicPr>
          <p:nvPr/>
        </p:nvPicPr>
        <p:blipFill>
          <a:blip r:embed="rId2"/>
          <a:stretch>
            <a:fillRect/>
          </a:stretch>
        </p:blipFill>
        <p:spPr>
          <a:xfrm>
            <a:off x="594360" y="1359497"/>
            <a:ext cx="11002975" cy="3940884"/>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Keep a test only if it runs, is stable, and adds something.</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3) Mutation testing and hidden tests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A mutant is a copy of the code with one small planted fault; a test that fails on it catches it.</a:t>
            </a:r>
          </a:p>
        </p:txBody>
      </p:sp>
      <p:sp>
        <p:nvSpPr>
          <p:cNvPr id="4" name="Rounded Rectangle 3"/>
          <p:cNvSpPr/>
          <p:nvPr/>
        </p:nvSpPr>
        <p:spPr>
          <a:xfrm>
            <a:off x="548640" y="1533815"/>
            <a:ext cx="11094415" cy="3592248"/>
          </a:xfrm>
          <a:prstGeom prst="roundRect">
            <a:avLst>
              <a:gd name="adj" fmla="val 30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mutation-testing: The mutation-testing diagram: original and mutated line side by side (a write that no longer moves the version); shipped tests run on both; &quot;fails on mutant = caught&quot;, &quot;passes on mutant = survived&quot;; under it &quot;filter set (Filter 3: Adds coverage or catches a mutant)&quot; and &quot;referee set (scoring)&quot; with &quot;no shared mutation&quot;."/>
          <p:cNvPicPr>
            <a:picLocks noChangeAspect="1"/>
          </p:cNvPicPr>
          <p:nvPr/>
        </p:nvPicPr>
        <p:blipFill>
          <a:blip r:embed="rId2"/>
          <a:stretch>
            <a:fillRect/>
          </a:stretch>
        </p:blipFill>
        <p:spPr>
          <a:xfrm>
            <a:off x="594360" y="1579535"/>
            <a:ext cx="11002975" cy="3500808"/>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Two held-out checks, owned by the referee: hidden tests and referee mutants.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4) The gate on "done" and the separate referee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finish(claim="done") starts a check, not the end of the phase.</a:t>
            </a:r>
          </a:p>
        </p:txBody>
      </p:sp>
      <p:sp>
        <p:nvSpPr>
          <p:cNvPr id="4" name="Rounded Rectangle 3"/>
          <p:cNvSpPr/>
          <p:nvPr/>
        </p:nvSpPr>
        <p:spPr>
          <a:xfrm>
            <a:off x="548640" y="1313777"/>
            <a:ext cx="11094415" cy="4032324"/>
          </a:xfrm>
          <a:prstGeom prst="roundRect">
            <a:avLst>
              <a:gd name="adj" fmla="val 272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verification-pipeline-step-3: Pipeline build frame 3: &quot;Verify gate, in the arm's container&quot; between &quot;finish done&quot; and the test phase, a red return arrow &quot;refused: first 3 failures&quot;; at the end &quot;Referee, own container: hidden tests + referee mutants&quot; and &quot;Primary verdict&quot;; gate and referee in different colours."/>
          <p:cNvPicPr>
            <a:picLocks noChangeAspect="1"/>
          </p:cNvPicPr>
          <p:nvPr/>
        </p:nvPicPr>
        <p:blipFill>
          <a:blip r:embed="rId2"/>
          <a:stretch>
            <a:fillRect/>
          </a:stretch>
        </p:blipFill>
        <p:spPr>
          <a:xfrm>
            <a:off x="594360" y="1359497"/>
            <a:ext cx="11002975" cy="3940884"/>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Any gate failure returns "Not accepted"; the referee scores later, in its own container.</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Cheat Sheet:</a:t>
            </a:r>
            <a:r>
              <a:rPr sz="3000" b="1" i="0">
                <a:solidFill>
                  <a:srgbClr val="FFFFFF"/>
                </a:solidFill>
                <a:latin typeface="Fira Sans"/>
              </a:rPr>
              <a:t> four checks the agent does not own</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Two give feedback, two stay held out.</a:t>
            </a:r>
          </a:p>
        </p:txBody>
      </p:sp>
      <p:graphicFrame>
        <p:nvGraphicFramePr>
          <p:cNvPr id="4" name="Table 3"/>
          <p:cNvGraphicFramePr>
            <a:graphicFrameLocks noGrp="1"/>
          </p:cNvGraphicFramePr>
          <p:nvPr/>
        </p:nvGraphicFramePr>
        <p:xfrm>
          <a:off x="548640" y="2687574"/>
          <a:ext cx="11094414" cy="1943100"/>
        </p:xfrm>
        <a:graphic>
          <a:graphicData uri="http://schemas.openxmlformats.org/drawingml/2006/table">
            <a:tbl>
              <a:tblPr firstRow="1" bandRow="0">
                <a:tableStyleId>{5940675A-B579-460E-94D1-54222C63F5DA}</a:tableStyleId>
              </a:tblPr>
              <a:tblGrid>
                <a:gridCol w="2237462"/>
                <a:gridCol w="2755860"/>
                <a:gridCol w="6101092"/>
              </a:tblGrid>
              <a:tr h="388620">
                <a:tc>
                  <a:txBody>
                    <a:bodyPr wrap="square"/>
                    <a:lstStyle/>
                    <a:p>
                      <a:pPr marL="0" indent="0" algn="l">
                        <a:lnSpc>
                          <a:spcPct val="100000"/>
                        </a:lnSpc>
                        <a:spcBef>
                          <a:spcPts val="0"/>
                        </a:spcBef>
                        <a:spcAft>
                          <a:spcPts val="0"/>
                        </a:spcAft>
                        <a:buNone/>
                      </a:pPr>
                      <a:r>
                        <a:rPr sz="1800" b="1" i="0">
                          <a:solidFill>
                            <a:srgbClr val="FFFFFF"/>
                          </a:solidFill>
                          <a:latin typeface="Fira Sans"/>
                        </a:rPr>
                        <a:t>Check</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When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Asks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Verify gate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At the done claim</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Tests, rules, clean state pass?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Test filters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After the test phase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Runs, stable, adds something?</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Hidden tests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After the agent stops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Works in combination?</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Referee mutants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After the agent stops</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a:solidFill>
                            <a:srgbClr val="324158"/>
                          </a:solidFill>
                          <a:latin typeface="Fira Sans"/>
                        </a:rPr>
                        <a:t>Would the tests notice?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1" name="Google Shape;591;g3bb6ac48d58_0_120">
            <a:hlinkClick r:id="rId3"/>
          </p:cNvPr>
          <p:cNvSpPr/>
          <p:nvPr/>
        </p:nvSpPr>
        <p:spPr>
          <a:xfrm>
            <a:off x="4450080" y="2926080"/>
            <a:ext cx="3291840" cy="86868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2800" u="none" cap="none" strike="noStrike">
                <a:solidFill>
                  <a:srgbClr val="324158"/>
                </a:solidFill>
                <a:latin typeface="Lexend Medium"/>
                <a:ea typeface="Lexend Medium"/>
                <a:cs typeface="Lexend Medium"/>
                <a:sym typeface="Lexend Medium"/>
              </a:rPr>
              <a:t>DEMO - 4</a:t>
            </a:r>
            <a:endParaRPr b="0" i="0" sz="1400" u="sng" cap="none" strike="noStrike">
              <a:solidFill>
                <a:srgbClr val="6568F5"/>
              </a:solidFill>
              <a:latin typeface="Lexend Medium"/>
              <a:ea typeface="Lexend Medium"/>
              <a:cs typeface="Lexend Medium"/>
              <a:sym typeface="Lexend Medium"/>
            </a:endParaRPr>
          </a:p>
        </p:txBody>
      </p:sp>
      <p:sp>
        <p:nvSpPr>
          <p:cNvPr id="592" name="Google Shape;592;g3bb6ac48d58_0_120"/>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2500">
                <a:solidFill>
                  <a:srgbClr val="3896D2"/>
                </a:solidFill>
                <a:latin typeface="Fira Sans"/>
                <a:ea typeface="Fira Sans"/>
                <a:cs typeface="Fira Sans"/>
                <a:sym typeface="Fira Sans"/>
                <a:extLst>
                  <a:ext uri="http://customooxmlschemas.google.com/">
                    <go:slidesCustomData xmlns:go="http://customooxmlschemas.google.com/" textRoundtripDataId="4"/>
                  </a:ext>
                </a:extLst>
              </a:rPr>
              <a:t>Section 4: </a:t>
            </a:r>
            <a:r>
              <a:rPr b="1" lang="en-US" sz="2500">
                <a:solidFill>
                  <a:schemeClr val="lt1"/>
                </a:solidFill>
                <a:latin typeface="Fira Sans"/>
                <a:ea typeface="Fira Sans"/>
                <a:cs typeface="Fira Sans"/>
                <a:sym typeface="Fira Sans"/>
                <a:extLst>
                  <a:ext uri="http://customooxmlschemas.google.com/">
                    <go:slidesCustomData xmlns:go="http://customooxmlschemas.google.com/" textRoundtripDataId="5"/>
                  </a:ext>
                </a:extLst>
              </a:rPr>
              <a:t>Verification - Implementation Notes: The gate at work</a:t>
            </a:r>
            <a:endParaRPr b="1" sz="3000">
              <a:solidFill>
                <a:schemeClr val="lt1"/>
              </a:solidFill>
              <a:latin typeface="Fira Sans"/>
              <a:ea typeface="Fira Sans"/>
              <a:cs typeface="Fira Sans"/>
              <a:sym typeface="Fira Sans"/>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18160"/>
          </a:xfrm>
        </p:spPr>
        <p:txBody>
          <a:bodyPr wrap="square" anchor="t">
            <a:noAutofit/>
          </a:bodyPr>
          <a:lstStyle/>
          <a:p>
            <a:pPr marL="0" indent="0" algn="l">
              <a:lnSpc>
                <a:spcPct val="100000"/>
              </a:lnSpc>
              <a:spcBef>
                <a:spcPts val="0"/>
              </a:spcBef>
              <a:spcAft>
                <a:spcPts val="0"/>
              </a:spcAft>
              <a:buNone/>
            </a:pPr>
            <a:r>
              <a:rPr sz="2800" b="1" i="0">
                <a:solidFill>
                  <a:srgbClr val="3896D2"/>
                </a:solidFill>
                <a:latin typeface="Fira Sans"/>
              </a:rPr>
              <a:t>What we measured:</a:t>
            </a:r>
            <a:r>
              <a:rPr sz="2800" b="1" i="0">
                <a:solidFill>
                  <a:srgbClr val="FFFFFF"/>
                </a:solidFill>
                <a:latin typeface="Fira Sans"/>
              </a:rPr>
              <a:t> No measurable difference on version checks</a:t>
            </a:r>
          </a:p>
        </p:txBody>
      </p:sp>
      <p:sp>
        <p:nvSpPr>
          <p:cNvPr id="3" name="TextBox 2"/>
          <p:cNvSpPr txBox="1"/>
          <p:nvPr/>
        </p:nvSpPr>
        <p:spPr>
          <a:xfrm>
            <a:off x="548640" y="719328"/>
            <a:ext cx="11094415" cy="6553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Earns its place when the agent can claim done early and checks are cheap, exact, partly held out.</a:t>
            </a:r>
          </a:p>
        </p:txBody>
      </p:sp>
      <p:sp>
        <p:nvSpPr>
          <p:cNvPr id="4" name="Rounded Rectangle 3"/>
          <p:cNvSpPr/>
          <p:nvPr/>
        </p:nvSpPr>
        <p:spPr>
          <a:xfrm>
            <a:off x="548640" y="1603247"/>
            <a:ext cx="6680112" cy="4386072"/>
          </a:xfrm>
          <a:prstGeom prst="roundRect">
            <a:avLst>
              <a:gd name="adj" fmla="val 2501"/>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96439"/>
            <a:ext cx="6680112" cy="109728"/>
          </a:xfrm>
          <a:prstGeom prst="rect">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03247"/>
            <a:ext cx="6680112" cy="502920"/>
          </a:xfrm>
          <a:prstGeom prst="roundRect">
            <a:avLst>
              <a:gd name="adj" fmla="val 21818"/>
            </a:avLst>
          </a:prstGeom>
          <a:solidFill>
            <a:srgbClr val="7890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What we measured</a:t>
            </a:r>
          </a:p>
        </p:txBody>
      </p:sp>
      <p:pic>
        <p:nvPicPr>
          <p:cNvPr id="7" name="Picture 6" descr="Diagram results-s4: Left card holds the results-s4 dot chart (bare grey, harness blue, every dot hollow, rounds: medium effort 3, medium effort 3, class settings 1; no percentages); right card is a checklist with icons (terminal, reply arrow, lock, bug)."/>
          <p:cNvPicPr>
            <a:picLocks noChangeAspect="1"/>
          </p:cNvPicPr>
          <p:nvPr/>
        </p:nvPicPr>
        <p:blipFill>
          <a:blip r:embed="rId2"/>
          <a:stretch>
            <a:fillRect/>
          </a:stretch>
        </p:blipFill>
        <p:spPr>
          <a:xfrm>
            <a:off x="1980888" y="2215896"/>
            <a:ext cx="3815615" cy="2209800"/>
          </a:xfrm>
          <a:prstGeom prst="rect">
            <a:avLst/>
          </a:prstGeom>
        </p:spPr>
      </p:pic>
      <p:sp>
        <p:nvSpPr>
          <p:cNvPr id="8" name="TextBox 7"/>
          <p:cNvSpPr txBox="1"/>
          <p:nvPr/>
        </p:nvSpPr>
        <p:spPr>
          <a:xfrm>
            <a:off x="548640" y="4407408"/>
            <a:ext cx="6680112" cy="1581911"/>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Pass: all 69 hidden tests, all 4 mutants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Bare arm: failed 7 of 7 runs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Harness arm: failed 7 of 7 runs</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No harness arm claimed done</a:t>
            </a:r>
          </a:p>
        </p:txBody>
      </p:sp>
      <p:sp>
        <p:nvSpPr>
          <p:cNvPr id="9" name="Rounded Rectangle 8"/>
          <p:cNvSpPr/>
          <p:nvPr/>
        </p:nvSpPr>
        <p:spPr>
          <a:xfrm>
            <a:off x="7548792" y="1603247"/>
            <a:ext cx="4094262" cy="4386072"/>
          </a:xfrm>
          <a:prstGeom prst="roundRect">
            <a:avLst>
              <a:gd name="adj" fmla="val 2680"/>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8792" y="1996439"/>
            <a:ext cx="4094262" cy="109728"/>
          </a:xfrm>
          <a:prstGeom prst="rect">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8792" y="1603247"/>
            <a:ext cx="4094262" cy="502920"/>
          </a:xfrm>
          <a:prstGeom prst="roundRect">
            <a:avLst>
              <a:gd name="adj" fmla="val 21818"/>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2000" b="1" i="0">
                <a:solidFill>
                  <a:srgbClr val="FFFFFF"/>
                </a:solidFill>
                <a:latin typeface="Fira Sans"/>
              </a:rPr>
              <a:t>Apply it Monday</a:t>
            </a:r>
          </a:p>
        </p:txBody>
      </p:sp>
      <p:sp>
        <p:nvSpPr>
          <p:cNvPr id="12" name="TextBox 11"/>
          <p:cNvSpPr txBox="1"/>
          <p:nvPr/>
        </p:nvSpPr>
        <p:spPr>
          <a:xfrm>
            <a:off x="7548792" y="2106168"/>
            <a:ext cx="4094262" cy="3883151"/>
          </a:xfrm>
          <a:prstGeom prst="rect">
            <a:avLst/>
          </a:prstGeom>
          <a:noFill/>
        </p:spPr>
        <p:txBody>
          <a:bodyPr wrap="square" anchor="t" lIns="182880" rIns="182880" tIns="128016" bIns="128016">
            <a:noAutofit/>
          </a:bodyPr>
          <a:lstStyle/>
          <a:p>
            <a:pPr marL="292608" indent="-292608" algn="l">
              <a:lnSpc>
                <a:spcPct val="100000"/>
              </a:lnSpc>
              <a:spcBef>
                <a:spcPts val="0"/>
              </a:spcBef>
              <a:spcAft>
                <a:spcPts val="0"/>
              </a:spcAft>
              <a:buClr>
                <a:srgbClr val="324158"/>
              </a:buClr>
              <a:buSzPct val="100000"/>
              <a:buFont typeface="Arial"/>
              <a:buChar char="☐"/>
            </a:pPr>
            <a:r>
              <a:rPr sz="1800" b="0" i="0">
                <a:solidFill>
                  <a:srgbClr val="324158"/>
                </a:solidFill>
                <a:latin typeface="Fira Sans"/>
              </a:rPr>
              <a:t>Run your checks when the agent says done</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Return three failures at most</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Run them where the agent cannot edit</a:t>
            </a:r>
          </a:p>
          <a:p>
            <a:pPr marL="292608" indent="-292608" algn="l">
              <a:lnSpc>
                <a:spcPct val="100000"/>
              </a:lnSpc>
              <a:spcBef>
                <a:spcPts val="600"/>
              </a:spcBef>
              <a:spcAft>
                <a:spcPts val="0"/>
              </a:spcAft>
              <a:buClr>
                <a:srgbClr val="324158"/>
              </a:buClr>
              <a:buSzPct val="100000"/>
              <a:buFont typeface="Arial"/>
              <a:buChar char="☐"/>
            </a:pPr>
            <a:r>
              <a:rPr sz="1800" b="0" i="0">
                <a:solidFill>
                  <a:srgbClr val="324158"/>
                </a:solidFill>
                <a:latin typeface="Fira Sans"/>
              </a:rPr>
              <a:t>Plant one fault on your riskiest line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7" name="Google Shape;597;g3c929a46dfa_1_19"/>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lt1"/>
                </a:solidFill>
                <a:latin typeface="Fira Sans"/>
                <a:ea typeface="Fira Sans"/>
                <a:cs typeface="Fira Sans"/>
                <a:sym typeface="Fira Sans"/>
              </a:rPr>
              <a:t>Ask about anything:</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Concepts from today's modules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How this applies to your work</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Implementation details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Clarifications on what we covered</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0"/>
              </a:spcAft>
              <a:buNone/>
            </a:pPr>
            <a:br>
              <a:rPr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Quick Request</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Please do not mind if a question gets skipped accidentally</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Repost politely in chat if needed</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We will try our best to cover as many questions as possible</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1200"/>
              </a:spcAft>
              <a:buNone/>
            </a:pPr>
            <a:br>
              <a:rPr b="1" lang="en-US" sz="1700">
                <a:solidFill>
                  <a:schemeClr val="lt1"/>
                </a:solidFill>
                <a:latin typeface="Fira Sans"/>
                <a:ea typeface="Fira Sans"/>
                <a:cs typeface="Fira Sans"/>
                <a:sym typeface="Fira Sans"/>
              </a:rPr>
            </a:br>
            <a:br>
              <a:rPr b="1"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Remember:</a:t>
            </a:r>
            <a:r>
              <a:rPr lang="en-US" sz="1700">
                <a:solidFill>
                  <a:schemeClr val="lt1"/>
                </a:solidFill>
                <a:latin typeface="Fira Sans"/>
                <a:ea typeface="Fira Sans"/>
                <a:cs typeface="Fira Sans"/>
                <a:sym typeface="Fira Sans"/>
              </a:rPr>
              <a:t> </a:t>
            </a:r>
            <a:r>
              <a:rPr lang="en-US" sz="1700">
                <a:solidFill>
                  <a:schemeClr val="accent1"/>
                </a:solidFill>
                <a:latin typeface="Fira Sans"/>
                <a:ea typeface="Fira Sans"/>
                <a:cs typeface="Fira Sans"/>
                <a:sym typeface="Fira Sans"/>
              </a:rPr>
              <a:t>If you're wondering about it, others probably are too.</a:t>
            </a:r>
            <a:endParaRPr sz="1700">
              <a:solidFill>
                <a:schemeClr val="accent1"/>
              </a:solidFill>
              <a:latin typeface="Fira Sans"/>
              <a:ea typeface="Fira Sans"/>
              <a:cs typeface="Fira Sans"/>
              <a:sym typeface="Fira Sans"/>
            </a:endParaRPr>
          </a:p>
        </p:txBody>
      </p:sp>
      <p:sp>
        <p:nvSpPr>
          <p:cNvPr id="598" name="Google Shape;598;g3c929a46dfa_1_19"/>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400"/>
              </a:spcBef>
              <a:spcAft>
                <a:spcPts val="400"/>
              </a:spcAft>
              <a:buClr>
                <a:schemeClr val="dk1"/>
              </a:buClr>
              <a:buSzPts val="1100"/>
              <a:buFont typeface="Arial"/>
              <a:buNone/>
            </a:pPr>
            <a:r>
              <a:rPr b="1" lang="en-US" sz="2000">
                <a:solidFill>
                  <a:schemeClr val="accent1"/>
                </a:solidFill>
                <a:latin typeface="Fira Sans"/>
                <a:ea typeface="Fira Sans"/>
                <a:cs typeface="Fira Sans"/>
                <a:sym typeface="Fira Sans"/>
              </a:rPr>
              <a:t>No Question Is Too Small Every Question Deserves an Answer!!</a:t>
            </a:r>
            <a:endParaRPr b="1" sz="3000">
              <a:solidFill>
                <a:srgbClr val="3896D2"/>
              </a:solidFill>
              <a:latin typeface="Fira Sans"/>
              <a:ea typeface="Fira Sans"/>
              <a:cs typeface="Fira Sans"/>
              <a:sym typeface="Fira Sans"/>
            </a:endParaRPr>
          </a:p>
        </p:txBody>
      </p:sp>
      <p:pic>
        <p:nvPicPr>
          <p:cNvPr id="599" name="Google Shape;599;g3c929a46dfa_1_19" descr="Questions and answers illustration"/>
          <p:cNvPicPr preferRelativeResize="0"/>
          <p:nvPr/>
        </p:nvPicPr>
        <p:blipFill rotWithShape="1">
          <a:blip r:embed="rId2">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Final A/B:</a:t>
            </a:r>
            <a:r>
              <a:rPr sz="3000" b="1" i="0">
                <a:solidFill>
                  <a:srgbClr val="FFFFFF"/>
                </a:solidFill>
                <a:latin typeface="Fira Sans"/>
              </a:rPr>
              <a:t> reading it live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final has no primary measure: read each arm's counts.</a:t>
            </a:r>
          </a:p>
        </p:txBody>
      </p:sp>
      <p:sp>
        <p:nvSpPr>
          <p:cNvPr id="4" name="Rounded Rectangle 3"/>
          <p:cNvSpPr/>
          <p:nvPr/>
        </p:nvSpPr>
        <p:spPr>
          <a:xfrm>
            <a:off x="1316736" y="1499108"/>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hidden:</a:t>
            </a:r>
            <a:r>
              <a:rPr sz="1800" b="0" i="0">
                <a:solidFill>
                  <a:srgbClr val="324158"/>
                </a:solidFill>
                <a:latin typeface="Fira Sans"/>
              </a:rPr>
              <a:t> does the feature work?</a:t>
            </a:r>
          </a:p>
        </p:txBody>
      </p:sp>
      <p:sp>
        <p:nvSpPr>
          <p:cNvPr id="5" name="Oval 4"/>
          <p:cNvSpPr/>
          <p:nvPr/>
        </p:nvSpPr>
        <p:spPr>
          <a:xfrm>
            <a:off x="548640" y="1499108"/>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6" name="Rounded Rectangle 5"/>
          <p:cNvSpPr/>
          <p:nvPr/>
        </p:nvSpPr>
        <p:spPr>
          <a:xfrm>
            <a:off x="1316736" y="2437384"/>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mutants:</a:t>
            </a:r>
            <a:r>
              <a:rPr sz="1800" b="0" i="0">
                <a:solidFill>
                  <a:srgbClr val="324158"/>
                </a:solidFill>
                <a:latin typeface="Fira Sans"/>
              </a:rPr>
              <a:t> would its tests notice a bug?</a:t>
            </a:r>
          </a:p>
        </p:txBody>
      </p:sp>
      <p:sp>
        <p:nvSpPr>
          <p:cNvPr id="7" name="Oval 6"/>
          <p:cNvSpPr/>
          <p:nvPr/>
        </p:nvSpPr>
        <p:spPr>
          <a:xfrm>
            <a:off x="548640" y="2437384"/>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8" name="Rounded Rectangle 7"/>
          <p:cNvSpPr/>
          <p:nvPr/>
        </p:nvSpPr>
        <p:spPr>
          <a:xfrm>
            <a:off x="1316736" y="3375660"/>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claim:</a:t>
            </a:r>
            <a:r>
              <a:rPr sz="1800" b="0" i="0">
                <a:solidFill>
                  <a:srgbClr val="324158"/>
                </a:solidFill>
                <a:latin typeface="Fira Sans"/>
              </a:rPr>
              <a:t> did the agent say done?</a:t>
            </a:r>
          </a:p>
        </p:txBody>
      </p:sp>
      <p:sp>
        <p:nvSpPr>
          <p:cNvPr id="9" name="Oval 8"/>
          <p:cNvSpPr/>
          <p:nvPr/>
        </p:nvSpPr>
        <p:spPr>
          <a:xfrm>
            <a:off x="548640" y="3375660"/>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0" name="Rounded Rectangle 9"/>
          <p:cNvSpPr/>
          <p:nvPr/>
        </p:nvSpPr>
        <p:spPr>
          <a:xfrm>
            <a:off x="1316736" y="4313936"/>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Screen 2:</a:t>
            </a:r>
            <a:r>
              <a:rPr sz="1800" b="0" i="0">
                <a:solidFill>
                  <a:srgbClr val="324158"/>
                </a:solidFill>
                <a:latin typeface="Fira Sans"/>
              </a:rPr>
              <a:t> other-org or duplicate cards?</a:t>
            </a:r>
          </a:p>
        </p:txBody>
      </p:sp>
      <p:sp>
        <p:nvSpPr>
          <p:cNvPr id="11" name="Oval 10"/>
          <p:cNvSpPr/>
          <p:nvPr/>
        </p:nvSpPr>
        <p:spPr>
          <a:xfrm>
            <a:off x="548640" y="4313936"/>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2" name="Rounded Rectangle 11"/>
          <p:cNvSpPr/>
          <p:nvPr/>
        </p:nvSpPr>
        <p:spPr>
          <a:xfrm>
            <a:off x="1316736" y="5252212"/>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Screen 5:</a:t>
            </a:r>
            <a:r>
              <a:rPr sz="1800" b="0" i="0">
                <a:solidFill>
                  <a:srgbClr val="324158"/>
                </a:solidFill>
                <a:latin typeface="Fira Sans"/>
              </a:rPr>
              <a:t> the first wrong turn</a:t>
            </a:r>
          </a:p>
        </p:txBody>
      </p:sp>
      <p:sp>
        <p:nvSpPr>
          <p:cNvPr id="13" name="Oval 12"/>
          <p:cNvSpPr/>
          <p:nvPr/>
        </p:nvSpPr>
        <p:spPr>
          <a:xfrm>
            <a:off x="548640" y="5252212"/>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All results:</a:t>
            </a:r>
            <a:r>
              <a:rPr sz="3000" b="1" i="0">
                <a:solidFill>
                  <a:srgbClr val="FFFFFF"/>
                </a:solidFill>
                <a:latin typeface="Fira Sans"/>
              </a:rPr>
              <a:t> four sections, one picture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One row per section and ticket, one dot per run, bare and harness.</a:t>
            </a:r>
          </a:p>
        </p:txBody>
      </p:sp>
      <p:sp>
        <p:nvSpPr>
          <p:cNvPr id="4" name="Rounded Rectangle 3"/>
          <p:cNvSpPr/>
          <p:nvPr/>
        </p:nvSpPr>
        <p:spPr>
          <a:xfrm>
            <a:off x="579126" y="1183481"/>
            <a:ext cx="11033442" cy="4292917"/>
          </a:xfrm>
          <a:prstGeom prst="roundRect">
            <a:avLst>
              <a:gd name="adj" fmla="val 2556"/>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results-final: The results-final diagram: one row per section and ticket, the five rows the notes read out; bare grey, harness blue, filled = passed, hollow = failed. The confirmation row on version checks is the only one where the arms differ."/>
          <p:cNvPicPr>
            <a:picLocks noChangeAspect="1"/>
          </p:cNvPicPr>
          <p:nvPr/>
        </p:nvPicPr>
        <p:blipFill>
          <a:blip r:embed="rId2"/>
          <a:stretch>
            <a:fillRect/>
          </a:stretch>
        </p:blipFill>
        <p:spPr>
          <a:xfrm>
            <a:off x="624846" y="1229201"/>
            <a:ext cx="10942002" cy="4201477"/>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One gap, on scope, partly by construction; elsewhere no measurable difference.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Which layer when:</a:t>
            </a:r>
            <a:r>
              <a:rPr sz="3000" b="1" i="0">
                <a:solidFill>
                  <a:srgbClr val="FFFFFF"/>
                </a:solidFill>
                <a:latin typeface="Fira Sans"/>
              </a:rPr>
              <a:t> match the layer to the failure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Each layer is a bet on one thing the model cannot do on its own.</a:t>
            </a:r>
          </a:p>
        </p:txBody>
      </p:sp>
      <p:sp>
        <p:nvSpPr>
          <p:cNvPr id="4" name="Rounded Rectangle 3"/>
          <p:cNvSpPr/>
          <p:nvPr/>
        </p:nvSpPr>
        <p:spPr>
          <a:xfrm>
            <a:off x="548640" y="1412090"/>
            <a:ext cx="11094415" cy="3835699"/>
          </a:xfrm>
          <a:prstGeom prst="roundRect">
            <a:avLst>
              <a:gd name="adj" fmla="val 2860"/>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which-layer-when: The which-layer-when diagram: four rows (instructions, state, scope, verification), each with the failure it prevents, the signal that says &quot;add it&quot;, and its cost; scope carries the only &quot;measured gap&quot; tag."/>
          <p:cNvPicPr>
            <a:picLocks noChangeAspect="1"/>
          </p:cNvPicPr>
          <p:nvPr/>
        </p:nvPicPr>
        <p:blipFill>
          <a:blip r:embed="rId2"/>
          <a:stretch>
            <a:fillRect/>
          </a:stretch>
        </p:blipFill>
        <p:spPr>
          <a:xfrm>
            <a:off x="594360" y="1457810"/>
            <a:ext cx="11002975" cy="3744259"/>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Add the layer that matches a failure you have seen, then measure it.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Use it in your repo:</a:t>
            </a:r>
            <a:r>
              <a:rPr sz="3000" b="1" i="0">
                <a:solidFill>
                  <a:srgbClr val="FFFFFF"/>
                </a:solidFill>
                <a:latin typeface="Fira Sans"/>
              </a:rPr>
              <a:t> the kit and four skills</a:t>
            </a:r>
          </a:p>
        </p:txBody>
      </p:sp>
      <p:sp>
        <p:nvSpPr>
          <p:cNvPr id="3" name="TextBox 2"/>
          <p:cNvSpPr txBox="1"/>
          <p:nvPr/>
        </p:nvSpPr>
        <p:spPr>
          <a:xfrm>
            <a:off x="548640" y="749808"/>
            <a:ext cx="11094415" cy="6553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AB40"/>
                </a:solidFill>
                <a:latin typeface="Consolas"/>
              </a:rPr>
              <a:t>uv run shipharness init --target ~/my-repo</a:t>
            </a:r>
            <a:r>
              <a:rPr sz="2000" b="0" i="0">
                <a:solidFill>
                  <a:srgbClr val="FFFFFF"/>
                </a:solidFill>
                <a:latin typeface="Fira Sans"/>
              </a:rPr>
              <a:t> copies the kit; </a:t>
            </a:r>
            <a:r>
              <a:rPr sz="2000" b="0" i="0">
                <a:solidFill>
                  <a:srgbClr val="FFAB40"/>
                </a:solidFill>
                <a:latin typeface="Consolas"/>
              </a:rPr>
              <a:t>init --check</a:t>
            </a:r>
            <a:r>
              <a:rPr sz="2000" b="0" i="0">
                <a:solidFill>
                  <a:srgbClr val="FFFFFF"/>
                </a:solidFill>
                <a:latin typeface="Fira Sans"/>
              </a:rPr>
              <a:t> lists what to fill.</a:t>
            </a:r>
          </a:p>
        </p:txBody>
      </p:sp>
      <p:sp>
        <p:nvSpPr>
          <p:cNvPr id="4" name="Rounded Rectangle 3"/>
          <p:cNvSpPr/>
          <p:nvPr/>
        </p:nvSpPr>
        <p:spPr>
          <a:xfrm>
            <a:off x="1316736" y="2060448"/>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harness-setup:</a:t>
            </a:r>
            <a:r>
              <a:rPr sz="1800" b="0" i="0">
                <a:solidFill>
                  <a:srgbClr val="324158"/>
                </a:solidFill>
                <a:latin typeface="Fira Sans"/>
              </a:rPr>
              <a:t> assess a repo, fill gaps</a:t>
            </a:r>
          </a:p>
        </p:txBody>
      </p:sp>
      <p:sp>
        <p:nvSpPr>
          <p:cNvPr id="5" name="Oval 4"/>
          <p:cNvSpPr/>
          <p:nvPr/>
        </p:nvSpPr>
        <p:spPr>
          <a:xfrm>
            <a:off x="548640" y="2060448"/>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6" name="Rounded Rectangle 5"/>
          <p:cNvSpPr/>
          <p:nvPr/>
        </p:nvSpPr>
        <p:spPr>
          <a:xfrm>
            <a:off x="1316736" y="3038856"/>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assured-tests:</a:t>
            </a:r>
            <a:r>
              <a:rPr sz="1800" b="0" i="0">
                <a:solidFill>
                  <a:srgbClr val="324158"/>
                </a:solidFill>
                <a:latin typeface="Fira Sans"/>
              </a:rPr>
              <a:t> keep tests passing five filters</a:t>
            </a:r>
          </a:p>
        </p:txBody>
      </p:sp>
      <p:sp>
        <p:nvSpPr>
          <p:cNvPr id="7" name="Oval 6"/>
          <p:cNvSpPr/>
          <p:nvPr/>
        </p:nvSpPr>
        <p:spPr>
          <a:xfrm>
            <a:off x="548640" y="3038856"/>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8" name="Rounded Rectangle 7"/>
          <p:cNvSpPr/>
          <p:nvPr/>
        </p:nvSpPr>
        <p:spPr>
          <a:xfrm>
            <a:off x="1316736" y="4017264"/>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house-rules:</a:t>
            </a:r>
            <a:r>
              <a:rPr sz="1800" b="0" i="0">
                <a:solidFill>
                  <a:srgbClr val="324158"/>
                </a:solidFill>
                <a:latin typeface="Fira Sans"/>
              </a:rPr>
              <a:t> convention to rule, check, test</a:t>
            </a:r>
          </a:p>
        </p:txBody>
      </p:sp>
      <p:sp>
        <p:nvSpPr>
          <p:cNvPr id="9" name="Oval 8"/>
          <p:cNvSpPr/>
          <p:nvPr/>
        </p:nvSpPr>
        <p:spPr>
          <a:xfrm>
            <a:off x="548640" y="4017264"/>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0" name="Rounded Rectangle 9"/>
          <p:cNvSpPr/>
          <p:nvPr/>
        </p:nvSpPr>
        <p:spPr>
          <a:xfrm>
            <a:off x="1316736" y="4995672"/>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skill-template:</a:t>
            </a:r>
            <a:r>
              <a:rPr sz="1800" b="0" i="0">
                <a:solidFill>
                  <a:srgbClr val="324158"/>
                </a:solidFill>
                <a:latin typeface="Fira Sans"/>
              </a:rPr>
              <a:t> start your own skill</a:t>
            </a:r>
          </a:p>
        </p:txBody>
      </p:sp>
      <p:sp>
        <p:nvSpPr>
          <p:cNvPr id="11" name="Oval 10"/>
          <p:cNvSpPr/>
          <p:nvPr/>
        </p:nvSpPr>
        <p:spPr>
          <a:xfrm>
            <a:off x="548640" y="4995672"/>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Assignments:</a:t>
            </a:r>
            <a:r>
              <a:rPr sz="3000" b="1" i="0">
                <a:solidFill>
                  <a:srgbClr val="FFFFFF"/>
                </a:solidFill>
                <a:latin typeface="Fira Sans"/>
              </a:rPr>
              <a:t> one per layer</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Starter, offline self-check, one live step, full solution.</a:t>
            </a:r>
          </a:p>
        </p:txBody>
      </p:sp>
      <p:sp>
        <p:nvSpPr>
          <p:cNvPr id="4" name="Rounded Rectangle 3"/>
          <p:cNvSpPr/>
          <p:nvPr/>
        </p:nvSpPr>
        <p:spPr>
          <a:xfrm>
            <a:off x="1316736" y="1445768"/>
            <a:ext cx="10326319" cy="799592"/>
          </a:xfrm>
          <a:prstGeom prst="roundRect">
            <a:avLst>
              <a:gd name="adj" fmla="val 1372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Assignment 1:</a:t>
            </a:r>
            <a:r>
              <a:rPr sz="1800" b="0" i="0">
                <a:solidFill>
                  <a:srgbClr val="324158"/>
                </a:solidFill>
                <a:latin typeface="Fira Sans"/>
              </a:rPr>
              <a:t> Instructions: a long AGENTS.md to map, docs, skill, checker</a:t>
            </a:r>
          </a:p>
          <a:p>
            <a:pPr marL="0" indent="0" algn="l">
              <a:lnSpc>
                <a:spcPct val="100000"/>
              </a:lnSpc>
              <a:spcBef>
                <a:spcPts val="200"/>
              </a:spcBef>
              <a:spcAft>
                <a:spcPts val="0"/>
              </a:spcAft>
              <a:buNone/>
            </a:pPr>
            <a:r>
              <a:rPr sz="1600" b="0" i="0">
                <a:solidFill>
                  <a:srgbClr val="324158"/>
                </a:solidFill>
                <a:latin typeface="Consolas"/>
              </a:rPr>
              <a:t>section-1-instructions/assignment/</a:t>
            </a:r>
          </a:p>
        </p:txBody>
      </p:sp>
      <p:sp>
        <p:nvSpPr>
          <p:cNvPr id="5" name="Oval 4"/>
          <p:cNvSpPr/>
          <p:nvPr/>
        </p:nvSpPr>
        <p:spPr>
          <a:xfrm>
            <a:off x="548640" y="1562100"/>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1</a:t>
            </a:r>
          </a:p>
        </p:txBody>
      </p:sp>
      <p:sp>
        <p:nvSpPr>
          <p:cNvPr id="6" name="Rounded Rectangle 5"/>
          <p:cNvSpPr/>
          <p:nvPr/>
        </p:nvSpPr>
        <p:spPr>
          <a:xfrm>
            <a:off x="1316736" y="2563368"/>
            <a:ext cx="10326319" cy="799592"/>
          </a:xfrm>
          <a:prstGeom prst="roundRect">
            <a:avLst>
              <a:gd name="adj" fmla="val 1372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Assignment 2:</a:t>
            </a:r>
            <a:r>
              <a:rPr sz="1800" b="0" i="0">
                <a:solidFill>
                  <a:srgbClr val="324158"/>
                </a:solidFill>
                <a:latin typeface="Fira Sans"/>
              </a:rPr>
              <a:t> State and sessions: three forced stops, facts from git</a:t>
            </a:r>
          </a:p>
          <a:p>
            <a:pPr marL="0" indent="0" algn="l">
              <a:lnSpc>
                <a:spcPct val="100000"/>
              </a:lnSpc>
              <a:spcBef>
                <a:spcPts val="200"/>
              </a:spcBef>
              <a:spcAft>
                <a:spcPts val="0"/>
              </a:spcAft>
              <a:buNone/>
            </a:pPr>
            <a:r>
              <a:rPr sz="1600" b="0" i="0">
                <a:solidFill>
                  <a:srgbClr val="324158"/>
                </a:solidFill>
                <a:latin typeface="Consolas"/>
              </a:rPr>
              <a:t>section-2-state-lifecycle/assignment/</a:t>
            </a:r>
          </a:p>
        </p:txBody>
      </p:sp>
      <p:sp>
        <p:nvSpPr>
          <p:cNvPr id="7" name="Oval 6"/>
          <p:cNvSpPr/>
          <p:nvPr/>
        </p:nvSpPr>
        <p:spPr>
          <a:xfrm>
            <a:off x="548640" y="2679700"/>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2</a:t>
            </a:r>
          </a:p>
        </p:txBody>
      </p:sp>
      <p:sp>
        <p:nvSpPr>
          <p:cNvPr id="8" name="Rounded Rectangle 7"/>
          <p:cNvSpPr/>
          <p:nvPr/>
        </p:nvSpPr>
        <p:spPr>
          <a:xfrm>
            <a:off x="1316736" y="3680968"/>
            <a:ext cx="10326319" cy="799592"/>
          </a:xfrm>
          <a:prstGeom prst="roundRect">
            <a:avLst>
              <a:gd name="adj" fmla="val 1372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Assignment 3:</a:t>
            </a:r>
            <a:r>
              <a:rPr sz="1800" b="0" i="0">
                <a:solidFill>
                  <a:srgbClr val="324158"/>
                </a:solidFill>
                <a:latin typeface="Fira Sans"/>
              </a:rPr>
              <a:t> Scope and sandbox: diff parser, scope policy, evidence-gated passes</a:t>
            </a:r>
          </a:p>
          <a:p>
            <a:pPr marL="0" indent="0" algn="l">
              <a:lnSpc>
                <a:spcPct val="100000"/>
              </a:lnSpc>
              <a:spcBef>
                <a:spcPts val="200"/>
              </a:spcBef>
              <a:spcAft>
                <a:spcPts val="0"/>
              </a:spcAft>
              <a:buNone/>
            </a:pPr>
            <a:r>
              <a:rPr sz="1600" b="0" i="0">
                <a:solidFill>
                  <a:srgbClr val="324158"/>
                </a:solidFill>
                <a:latin typeface="Consolas"/>
              </a:rPr>
              <a:t>section-3-scope-sandbox/assignment/</a:t>
            </a:r>
          </a:p>
        </p:txBody>
      </p:sp>
      <p:sp>
        <p:nvSpPr>
          <p:cNvPr id="9" name="Oval 8"/>
          <p:cNvSpPr/>
          <p:nvPr/>
        </p:nvSpPr>
        <p:spPr>
          <a:xfrm>
            <a:off x="548640" y="3797300"/>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3</a:t>
            </a:r>
          </a:p>
        </p:txBody>
      </p:sp>
      <p:sp>
        <p:nvSpPr>
          <p:cNvPr id="10" name="Rounded Rectangle 9"/>
          <p:cNvSpPr/>
          <p:nvPr/>
        </p:nvSpPr>
        <p:spPr>
          <a:xfrm>
            <a:off x="1316736" y="4798568"/>
            <a:ext cx="10326319" cy="1073912"/>
          </a:xfrm>
          <a:prstGeom prst="roundRect">
            <a:avLst>
              <a:gd name="adj" fmla="val 10217"/>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Assignment 4:</a:t>
            </a:r>
            <a:r>
              <a:rPr sz="1800" b="0" i="0">
                <a:solidFill>
                  <a:srgbClr val="324158"/>
                </a:solidFill>
                <a:latin typeface="Fira Sans"/>
              </a:rPr>
              <a:t> Verification: House rule 8: Deleted issues stay hidden; Filter 6: No duplicate tests</a:t>
            </a:r>
          </a:p>
          <a:p>
            <a:pPr marL="0" indent="0" algn="l">
              <a:lnSpc>
                <a:spcPct val="100000"/>
              </a:lnSpc>
              <a:spcBef>
                <a:spcPts val="200"/>
              </a:spcBef>
              <a:spcAft>
                <a:spcPts val="0"/>
              </a:spcAft>
              <a:buNone/>
            </a:pPr>
            <a:r>
              <a:rPr sz="1600" b="0" i="0">
                <a:solidFill>
                  <a:srgbClr val="324158"/>
                </a:solidFill>
                <a:latin typeface="Consolas"/>
              </a:rPr>
              <a:t>section-4-verification/assignment/</a:t>
            </a:r>
          </a:p>
        </p:txBody>
      </p:sp>
      <p:sp>
        <p:nvSpPr>
          <p:cNvPr id="11" name="Oval 10"/>
          <p:cNvSpPr/>
          <p:nvPr/>
        </p:nvSpPr>
        <p:spPr>
          <a:xfrm>
            <a:off x="548640" y="5052060"/>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4</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Final project:</a:t>
            </a:r>
            <a:r>
              <a:rPr sz="3000" b="1" i="0">
                <a:solidFill>
                  <a:srgbClr val="FFFFFF"/>
                </a:solidFill>
                <a:latin typeface="Fira Sans"/>
              </a:rPr>
              <a:t> one live A/B, read as one dot</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Repeat today's final on your machine.</a:t>
            </a:r>
          </a:p>
        </p:txBody>
      </p:sp>
      <p:sp>
        <p:nvSpPr>
          <p:cNvPr id="4" name="Rounded Rectangle 3"/>
          <p:cNvSpPr/>
          <p:nvPr/>
        </p:nvSpPr>
        <p:spPr>
          <a:xfrm>
            <a:off x="548640" y="2301240"/>
            <a:ext cx="5432907" cy="1152144"/>
          </a:xfrm>
          <a:prstGeom prst="roundRect">
            <a:avLst>
              <a:gd name="adj" fmla="val 952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Run </a:t>
            </a:r>
            <a:r>
              <a:rPr sz="1800" b="0" i="0">
                <a:solidFill>
                  <a:srgbClr val="324158"/>
                </a:solidFill>
                <a:latin typeface="Consolas"/>
              </a:rPr>
              <a:t>make final FEATURES=bulk-close</a:t>
            </a:r>
          </a:p>
        </p:txBody>
      </p:sp>
      <p:sp>
        <p:nvSpPr>
          <p:cNvPr id="5" name="Oval 4"/>
          <p:cNvSpPr/>
          <p:nvPr/>
        </p:nvSpPr>
        <p:spPr>
          <a:xfrm>
            <a:off x="731520" y="2429256"/>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1</a:t>
            </a:r>
          </a:p>
        </p:txBody>
      </p:sp>
      <p:cxnSp>
        <p:nvCxnSpPr>
          <p:cNvPr id="6" name="Connector 5"/>
          <p:cNvCxnSpPr/>
          <p:nvPr/>
        </p:nvCxnSpPr>
        <p:spPr>
          <a:xfrm>
            <a:off x="6018123" y="2877312"/>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10147" y="2301240"/>
            <a:ext cx="5432907" cy="1152144"/>
          </a:xfrm>
          <a:prstGeom prst="roundRect">
            <a:avLst>
              <a:gd name="adj" fmla="val 952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Remove one layer: </a:t>
            </a:r>
            <a:r>
              <a:rPr sz="1800" b="0" i="0">
                <a:solidFill>
                  <a:srgbClr val="324158"/>
                </a:solidFill>
                <a:latin typeface="Consolas"/>
              </a:rPr>
              <a:t>LAYERS=-scope</a:t>
            </a:r>
          </a:p>
        </p:txBody>
      </p:sp>
      <p:sp>
        <p:nvSpPr>
          <p:cNvPr id="8" name="Oval 7"/>
          <p:cNvSpPr/>
          <p:nvPr/>
        </p:nvSpPr>
        <p:spPr>
          <a:xfrm>
            <a:off x="6393027" y="2429256"/>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2</a:t>
            </a:r>
          </a:p>
        </p:txBody>
      </p:sp>
      <p:sp>
        <p:nvSpPr>
          <p:cNvPr id="9" name="Rounded Rectangle 8"/>
          <p:cNvSpPr/>
          <p:nvPr/>
        </p:nvSpPr>
        <p:spPr>
          <a:xfrm>
            <a:off x="548640" y="3864864"/>
            <a:ext cx="5432907" cy="1152144"/>
          </a:xfrm>
          <a:prstGeom prst="roundRect">
            <a:avLst>
              <a:gd name="adj" fmla="val 952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Read counts, never one verdict</a:t>
            </a:r>
          </a:p>
        </p:txBody>
      </p:sp>
      <p:sp>
        <p:nvSpPr>
          <p:cNvPr id="10" name="Oval 9"/>
          <p:cNvSpPr/>
          <p:nvPr/>
        </p:nvSpPr>
        <p:spPr>
          <a:xfrm>
            <a:off x="731520" y="3992879"/>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3</a:t>
            </a:r>
          </a:p>
        </p:txBody>
      </p:sp>
      <p:cxnSp>
        <p:nvCxnSpPr>
          <p:cNvPr id="11" name="Connector 10"/>
          <p:cNvCxnSpPr/>
          <p:nvPr/>
        </p:nvCxnSpPr>
        <p:spPr>
          <a:xfrm>
            <a:off x="6018123" y="4440936"/>
            <a:ext cx="155448" cy="0"/>
          </a:xfrm>
          <a:prstGeom prst="line">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10147" y="3864864"/>
            <a:ext cx="5432907" cy="1152144"/>
          </a:xfrm>
          <a:prstGeom prst="roundRect">
            <a:avLst>
              <a:gd name="adj" fmla="val 9523"/>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49808" bIns="128016">
            <a:noAutofit/>
          </a:bodyPr>
          <a:lstStyle/>
          <a:p>
            <a:pPr algn="l" marL="0" indent="0">
              <a:lnSpc>
                <a:spcPct val="100000"/>
              </a:lnSpc>
              <a:spcBef>
                <a:spcPts val="0"/>
              </a:spcBef>
              <a:spcAft>
                <a:spcPts val="0"/>
              </a:spcAft>
              <a:buNone/>
            </a:pPr>
            <a:r>
              <a:rPr sz="1800" b="0" i="0">
                <a:solidFill>
                  <a:srgbClr val="324158"/>
                </a:solidFill>
                <a:latin typeface="Fira Sans"/>
              </a:rPr>
              <a:t>Draw your dots: </a:t>
            </a:r>
            <a:r>
              <a:rPr sz="1800" b="0" i="0">
                <a:solidFill>
                  <a:srgbClr val="324158"/>
                </a:solidFill>
                <a:latin typeface="Consolas"/>
              </a:rPr>
              <a:t>uv run shipharness report</a:t>
            </a:r>
          </a:p>
        </p:txBody>
      </p:sp>
      <p:sp>
        <p:nvSpPr>
          <p:cNvPr id="13" name="Oval 12"/>
          <p:cNvSpPr/>
          <p:nvPr/>
        </p:nvSpPr>
        <p:spPr>
          <a:xfrm>
            <a:off x="6393027" y="3992879"/>
            <a:ext cx="512064" cy="512064"/>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Fira Sans"/>
              </a:rPr>
              <a:t>4</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The harness in one picture</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Four layers around an unchanged model, one sandbox, one referee outside.</a:t>
            </a:r>
          </a:p>
        </p:txBody>
      </p:sp>
      <p:sp>
        <p:nvSpPr>
          <p:cNvPr id="4" name="Rounded Rectangle 3"/>
          <p:cNvSpPr/>
          <p:nvPr/>
        </p:nvSpPr>
        <p:spPr>
          <a:xfrm>
            <a:off x="548640" y="1413101"/>
            <a:ext cx="11094415" cy="3833677"/>
          </a:xfrm>
          <a:prstGeom prst="roundRect">
            <a:avLst>
              <a:gd name="adj" fmla="val 2862"/>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harness-one-picture: The harness-one-picture diagram, full frame: the agent loop in the centre, the four layers around it, the sandbox around both arms, the referee outside."/>
          <p:cNvPicPr>
            <a:picLocks noChangeAspect="1"/>
          </p:cNvPicPr>
          <p:nvPr/>
        </p:nvPicPr>
        <p:blipFill>
          <a:blip r:embed="rId2"/>
          <a:stretch>
            <a:fillRect/>
          </a:stretch>
        </p:blipFill>
        <p:spPr>
          <a:xfrm>
            <a:off x="594360" y="1458821"/>
            <a:ext cx="11002975" cy="3742237"/>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Each layer changes what the agent sees, keeps, may touch, or must prove.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Module 1 Summary:</a:t>
            </a:r>
            <a:r>
              <a:rPr sz="3000" b="1" i="0">
                <a:solidFill>
                  <a:srgbClr val="FFFFFF"/>
                </a:solidFill>
                <a:latin typeface="Fira Sans"/>
              </a:rPr>
              <a:t> Key takeaways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Four layers, four measurements, one rule.</a:t>
            </a:r>
          </a:p>
        </p:txBody>
      </p:sp>
      <p:sp>
        <p:nvSpPr>
          <p:cNvPr id="4" name="Rounded Rectangle 3"/>
          <p:cNvSpPr/>
          <p:nvPr/>
        </p:nvSpPr>
        <p:spPr>
          <a:xfrm>
            <a:off x="548640" y="1559691"/>
            <a:ext cx="11094415" cy="3540496"/>
          </a:xfrm>
          <a:prstGeom prst="roundRect">
            <a:avLst>
              <a:gd name="adj" fmla="val 3099"/>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ram module-summary: The module-summary diagram: four section boxes, each with its mechanism and measured result, leading to numbered takeaways in &quot;X = Y&quot; form."/>
          <p:cNvPicPr>
            <a:picLocks noChangeAspect="1"/>
          </p:cNvPicPr>
          <p:nvPr/>
        </p:nvPicPr>
        <p:blipFill>
          <a:blip r:embed="rId2"/>
          <a:stretch>
            <a:fillRect/>
          </a:stretch>
        </p:blipFill>
        <p:spPr>
          <a:xfrm>
            <a:off x="594360" y="1605411"/>
            <a:ext cx="11002975" cy="3449056"/>
          </a:xfrm>
          <a:prstGeom prst="rect">
            <a:avLst/>
          </a:prstGeom>
        </p:spPr>
      </p:pic>
      <p:sp>
        <p:nvSpPr>
          <p:cNvPr id="6" name="Rounded Rectangle 5"/>
          <p:cNvSpPr/>
          <p:nvPr/>
        </p:nvSpPr>
        <p:spPr>
          <a:xfrm>
            <a:off x="548640" y="5586983"/>
            <a:ext cx="11094415" cy="402336"/>
          </a:xfrm>
          <a:prstGeom prst="roundRect">
            <a:avLst>
              <a:gd name="adj" fmla="val 27272"/>
            </a:avLst>
          </a:prstGeom>
          <a:solidFill>
            <a:srgbClr val="F0F3F6"/>
          </a:solid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64008" bIns="64008">
            <a:noAutofit/>
          </a:bodyPr>
          <a:lstStyle/>
          <a:p>
            <a:pPr algn="l" marL="0" indent="0">
              <a:lnSpc>
                <a:spcPct val="100000"/>
              </a:lnSpc>
              <a:spcBef>
                <a:spcPts val="0"/>
              </a:spcBef>
              <a:spcAft>
                <a:spcPts val="0"/>
              </a:spcAft>
              <a:buNone/>
            </a:pPr>
            <a:r>
              <a:rPr sz="1800" b="1" i="0">
                <a:solidFill>
                  <a:srgbClr val="324158"/>
                </a:solidFill>
                <a:latin typeface="Fira Sans"/>
              </a:rPr>
              <a:t>Key idea:  </a:t>
            </a:r>
            <a:r>
              <a:rPr sz="1800" b="1" i="0">
                <a:solidFill>
                  <a:srgbClr val="324158"/>
                </a:solidFill>
                <a:latin typeface="Fira Sans"/>
              </a:rPr>
              <a:t>Every layer is a bet on what the model cannot do alone; measure it before you keep it.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Glimpse of Module 2:</a:t>
            </a:r>
            <a:r>
              <a:rPr sz="3000" b="1" i="0">
                <a:solidFill>
                  <a:srgbClr val="FFFFFF"/>
                </a:solidFill>
                <a:latin typeface="Fira Sans"/>
              </a:rPr>
              <a:t> Loop Engineering for Coding Agents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Module 1 built the harness around one run; Module 2 builds the loop around many.</a:t>
            </a:r>
          </a:p>
        </p:txBody>
      </p:sp>
      <p:sp>
        <p:nvSpPr>
          <p:cNvPr id="4" name="Rounded Rectangle 3"/>
          <p:cNvSpPr/>
          <p:nvPr/>
        </p:nvSpPr>
        <p:spPr>
          <a:xfrm>
            <a:off x="1316736" y="1499108"/>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Background and event-driven runs:</a:t>
            </a:r>
            <a:r>
              <a:rPr sz="1800" b="0" i="0">
                <a:solidFill>
                  <a:srgbClr val="324158"/>
                </a:solidFill>
                <a:latin typeface="Fira Sans"/>
              </a:rPr>
              <a:t> agents that start on events</a:t>
            </a:r>
          </a:p>
        </p:txBody>
      </p:sp>
      <p:sp>
        <p:nvSpPr>
          <p:cNvPr id="5" name="Oval 4"/>
          <p:cNvSpPr/>
          <p:nvPr/>
        </p:nvSpPr>
        <p:spPr>
          <a:xfrm>
            <a:off x="548640" y="1499108"/>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6" name="Rounded Rectangle 5"/>
          <p:cNvSpPr/>
          <p:nvPr/>
        </p:nvSpPr>
        <p:spPr>
          <a:xfrm>
            <a:off x="1316736" y="2437384"/>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Hill climbing:</a:t>
            </a:r>
            <a:r>
              <a:rPr sz="1800" b="0" i="0">
                <a:solidFill>
                  <a:srgbClr val="324158"/>
                </a:solidFill>
                <a:latin typeface="Fira Sans"/>
              </a:rPr>
              <a:t> change one thing, keep it if the score rises</a:t>
            </a:r>
          </a:p>
        </p:txBody>
      </p:sp>
      <p:sp>
        <p:nvSpPr>
          <p:cNvPr id="7" name="Oval 6"/>
          <p:cNvSpPr/>
          <p:nvPr/>
        </p:nvSpPr>
        <p:spPr>
          <a:xfrm>
            <a:off x="548640" y="2437384"/>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8" name="Rounded Rectangle 7"/>
          <p:cNvSpPr/>
          <p:nvPr/>
        </p:nvSpPr>
        <p:spPr>
          <a:xfrm>
            <a:off x="1316736" y="3375660"/>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Defenses against agents that actively game checks</a:t>
            </a:r>
          </a:p>
        </p:txBody>
      </p:sp>
      <p:sp>
        <p:nvSpPr>
          <p:cNvPr id="9" name="Oval 8"/>
          <p:cNvSpPr/>
          <p:nvPr/>
        </p:nvSpPr>
        <p:spPr>
          <a:xfrm>
            <a:off x="548640" y="3375660"/>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0" name="Rounded Rectangle 9"/>
          <p:cNvSpPr/>
          <p:nvPr/>
        </p:nvSpPr>
        <p:spPr>
          <a:xfrm>
            <a:off x="1316736" y="4313936"/>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1" i="0">
                <a:solidFill>
                  <a:srgbClr val="324158"/>
                </a:solidFill>
                <a:latin typeface="Fira Sans"/>
              </a:rPr>
              <a:t>pass^k reliability:</a:t>
            </a:r>
            <a:r>
              <a:rPr sz="1800" b="0" i="0">
                <a:solidFill>
                  <a:srgbClr val="324158"/>
                </a:solidFill>
                <a:latin typeface="Fira Sans"/>
              </a:rPr>
              <a:t> does it pass every one of k tries?</a:t>
            </a:r>
          </a:p>
        </p:txBody>
      </p:sp>
      <p:sp>
        <p:nvSpPr>
          <p:cNvPr id="11" name="Oval 10"/>
          <p:cNvSpPr/>
          <p:nvPr/>
        </p:nvSpPr>
        <p:spPr>
          <a:xfrm>
            <a:off x="548640" y="4313936"/>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
        <p:nvSpPr>
          <p:cNvPr id="12" name="Rounded Rectangle 11"/>
          <p:cNvSpPr/>
          <p:nvPr/>
        </p:nvSpPr>
        <p:spPr>
          <a:xfrm>
            <a:off x="1316736" y="5252212"/>
            <a:ext cx="10326319" cy="566928"/>
          </a:xfrm>
          <a:prstGeom prst="roundRect">
            <a:avLst>
              <a:gd name="adj" fmla="val 19354"/>
            </a:avLst>
          </a:prstGeom>
          <a:solidFill>
            <a:srgbClr val="F0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noAutofit/>
          </a:bodyPr>
          <a:lstStyle/>
          <a:p>
            <a:pPr algn="l" marL="0" indent="0">
              <a:lnSpc>
                <a:spcPct val="100000"/>
              </a:lnSpc>
              <a:spcBef>
                <a:spcPts val="0"/>
              </a:spcBef>
              <a:spcAft>
                <a:spcPts val="0"/>
              </a:spcAft>
              <a:buNone/>
            </a:pPr>
            <a:r>
              <a:rPr sz="1800" b="0" i="0">
                <a:solidFill>
                  <a:srgbClr val="324158"/>
                </a:solidFill>
                <a:latin typeface="Fira Sans"/>
              </a:rPr>
              <a:t>Detailed sandbox design</a:t>
            </a:r>
          </a:p>
        </p:txBody>
      </p:sp>
      <p:sp>
        <p:nvSpPr>
          <p:cNvPr id="13" name="Oval 12"/>
          <p:cNvSpPr/>
          <p:nvPr/>
        </p:nvSpPr>
        <p:spPr>
          <a:xfrm>
            <a:off x="548640" y="5252212"/>
            <a:ext cx="566928" cy="566928"/>
          </a:xfrm>
          <a:prstGeom prst="ellipse">
            <a:avLst/>
          </a:prstGeom>
          <a:solidFill>
            <a:srgbClr val="389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lnSpc>
                <a:spcPct val="100000"/>
              </a:lnSpc>
              <a:spcBef>
                <a:spcPts val="0"/>
              </a:spcBef>
              <a:spcAft>
                <a:spcPts val="0"/>
              </a:spcAft>
              <a:buNone/>
            </a:pPr>
            <a:r>
              <a:rPr sz="2000" b="1" i="0">
                <a:solidFill>
                  <a:srgbClr val="FFFFFF"/>
                </a:solidFill>
                <a:latin typeface="Segoe UI Symbol"/>
              </a:rPr>
              <a: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References (1 of 2):</a:t>
            </a:r>
            <a:r>
              <a:rPr sz="3000" b="1" i="0">
                <a:solidFill>
                  <a:srgbClr val="FFFFFF"/>
                </a:solidFill>
                <a:latin typeface="Fira Sans"/>
              </a:rPr>
              <a:t> sources in the order cited</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Every source cited today, numbered in order of first use, with its link.</a:t>
            </a:r>
          </a:p>
        </p:txBody>
      </p:sp>
      <p:graphicFrame>
        <p:nvGraphicFramePr>
          <p:cNvPr id="4" name="Table 3"/>
          <p:cNvGraphicFramePr>
            <a:graphicFrameLocks noGrp="1"/>
          </p:cNvGraphicFramePr>
          <p:nvPr/>
        </p:nvGraphicFramePr>
        <p:xfrm>
          <a:off x="548640" y="1437132"/>
          <a:ext cx="11094414" cy="3886200"/>
        </p:xfrm>
        <a:graphic>
          <a:graphicData uri="http://schemas.openxmlformats.org/drawingml/2006/table">
            <a:tbl>
              <a:tblPr firstRow="1" bandRow="0">
                <a:tableStyleId>{5940675A-B579-460E-94D1-54222C63F5DA}</a:tableStyleId>
              </a:tblPr>
              <a:tblGrid>
                <a:gridCol w="1317783"/>
                <a:gridCol w="9776631"/>
              </a:tblGrid>
              <a:tr h="388620">
                <a:tc>
                  <a:txBody>
                    <a:bodyPr wrap="square"/>
                    <a:lstStyle/>
                    <a:p>
                      <a:pPr marL="0" indent="0" algn="l">
                        <a:lnSpc>
                          <a:spcPct val="100000"/>
                        </a:lnSpc>
                        <a:spcBef>
                          <a:spcPts val="0"/>
                        </a:spcBef>
                        <a:spcAft>
                          <a:spcPts val="0"/>
                        </a:spcAft>
                        <a:buNone/>
                      </a:pPr>
                      <a:r>
                        <a:rPr sz="1800" b="1" i="0">
                          <a:solidFill>
                            <a:srgbClr val="FFFFFF"/>
                          </a:solidFill>
                          <a:latin typeface="Fira Sans"/>
                        </a:rPr>
                        <a:t>Source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Title, author, date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2">
                            <a:extLst>
                              <a:ext uri="{A12FA001-AC4F-418D-AE19-62706E023703}">
                                <ns0:hlinkClr xmlns:ns0="http://schemas.microsoft.com/office/drawing/2018/hyperlinkcolor" val="tx"/>
                              </a:ext>
                            </a:extLst>
                          </a:hlinkClick>
                        </a:rPr>
                        <a:t>Harness engineering: leveraging Codex in an agent-first world</a:t>
                      </a:r>
                      <a:r>
                        <a:rPr sz="1800" b="0" i="0">
                          <a:solidFill>
                            <a:srgbClr val="324158"/>
                          </a:solidFill>
                          <a:latin typeface="Fira Sans"/>
                        </a:rPr>
                        <a:t>, Ryan Lopopolo, OpenAI, 2026-02-11</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2</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3">
                            <a:extLst>
                              <a:ext uri="{A12FA001-AC4F-418D-AE19-62706E023703}">
                                <ns1:hlinkClr xmlns:ns1="http://schemas.microsoft.com/office/drawing/2018/hyperlinkcolor" val="tx"/>
                              </a:ext>
                            </a:extLst>
                          </a:hlinkClick>
                        </a:rPr>
                        <a:t>Effective harnesses for long-running agents</a:t>
                      </a:r>
                      <a:r>
                        <a:rPr sz="1800" b="0" i="0">
                          <a:solidFill>
                            <a:srgbClr val="324158"/>
                          </a:solidFill>
                          <a:latin typeface="Fira Sans"/>
                        </a:rPr>
                        <a:t>, Justin Young, Anthropic, 2025-11-26</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3</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4">
                            <a:extLst>
                              <a:ext uri="{A12FA001-AC4F-418D-AE19-62706E023703}">
                                <ns2:hlinkClr xmlns:ns2="http://schemas.microsoft.com/office/drawing/2018/hyperlinkcolor" val="tx"/>
                              </a:ext>
                            </a:extLst>
                          </a:hlinkClick>
                        </a:rPr>
                        <a:t>Harness design for long-running application development</a:t>
                      </a:r>
                      <a:r>
                        <a:rPr sz="1800" b="0" i="0">
                          <a:solidFill>
                            <a:srgbClr val="324158"/>
                          </a:solidFill>
                          <a:latin typeface="Fira Sans"/>
                        </a:rPr>
                        <a:t>, Prithvi Rajasekaran, Anthropic, 2026-03-24</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4</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5">
                            <a:extLst>
                              <a:ext uri="{A12FA001-AC4F-418D-AE19-62706E023703}">
                                <ns3:hlinkClr xmlns:ns3="http://schemas.microsoft.com/office/drawing/2018/hyperlinkcolor" val="tx"/>
                              </a:ext>
                            </a:extLst>
                          </a:hlinkClick>
                        </a:rPr>
                        <a:t>Building a C compiler with a team of parallel Claudes</a:t>
                      </a:r>
                      <a:r>
                        <a:rPr sz="1800" b="0" i="0">
                          <a:solidFill>
                            <a:srgbClr val="324158"/>
                          </a:solidFill>
                          <a:latin typeface="Fira Sans"/>
                        </a:rPr>
                        <a:t>, Nicholas Carlini, Anthropic, 2026-02-05</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5</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6">
                            <a:extLst>
                              <a:ext uri="{A12FA001-AC4F-418D-AE19-62706E023703}">
                                <ns4:hlinkClr xmlns:ns4="http://schemas.microsoft.com/office/drawing/2018/hyperlinkcolor" val="tx"/>
                              </a:ext>
                            </a:extLst>
                          </a:hlinkClick>
                        </a:rPr>
                        <a:t>Billing (LangSmith docs)</a:t>
                      </a:r>
                      <a:r>
                        <a:rPr sz="1800" b="0" i="0">
                          <a:solidFill>
                            <a:srgbClr val="324158"/>
                          </a:solidFill>
                          <a:latin typeface="Fira Sans"/>
                        </a:rPr>
                        <a:t>, LangChain, living page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6</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7">
                            <a:extLst>
                              <a:ext uri="{A12FA001-AC4F-418D-AE19-62706E023703}">
                                <ns5:hlinkClr xmlns:ns5="http://schemas.microsoft.com/office/drawing/2018/hyperlinkcolor" val="tx"/>
                              </a:ext>
                            </a:extLst>
                          </a:hlinkClick>
                        </a:rPr>
                        <a:t>Agent Skills Specification</a:t>
                      </a:r>
                      <a:r>
                        <a:rPr sz="1800" b="0" i="0">
                          <a:solidFill>
                            <a:srgbClr val="324158"/>
                          </a:solidFill>
                          <a:latin typeface="Fira Sans"/>
                        </a:rPr>
                        <a:t>, Agent Skills project, undated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7</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8">
                            <a:extLst>
                              <a:ext uri="{A12FA001-AC4F-418D-AE19-62706E023703}">
                                <ns6:hlinkClr xmlns:ns6="http://schemas.microsoft.com/office/drawing/2018/hyperlinkcolor" val="tx"/>
                              </a:ext>
                            </a:extLst>
                          </a:hlinkClick>
                        </a:rPr>
                        <a:t>Extend Claude with skills</a:t>
                      </a:r>
                      <a:r>
                        <a:rPr sz="1800" b="0" i="0">
                          <a:solidFill>
                            <a:srgbClr val="324158"/>
                          </a:solidFill>
                          <a:latin typeface="Fira Sans"/>
                        </a:rPr>
                        <a:t>, Anthropic, Claude Code docs, living page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8</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9">
                            <a:extLst>
                              <a:ext uri="{A12FA001-AC4F-418D-AE19-62706E023703}">
                                <ns7:hlinkClr xmlns:ns7="http://schemas.microsoft.com/office/drawing/2018/hyperlinkcolor" val="tx"/>
                              </a:ext>
                            </a:extLst>
                          </a:hlinkClick>
                        </a:rPr>
                        <a:t>Build skills</a:t>
                      </a:r>
                      <a:r>
                        <a:rPr sz="1800" b="0" i="0">
                          <a:solidFill>
                            <a:srgbClr val="324158"/>
                          </a:solidFill>
                          <a:latin typeface="Fira Sans"/>
                        </a:rPr>
                        <a:t>, OpenAI, Codex docs, living page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9</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10">
                            <a:extLst>
                              <a:ext uri="{A12FA001-AC4F-418D-AE19-62706E023703}">
                                <ns8:hlinkClr xmlns:ns8="http://schemas.microsoft.com/office/drawing/2018/hyperlinkcolor" val="tx"/>
                              </a:ext>
                            </a:extLst>
                          </a:hlinkClick>
                        </a:rPr>
                        <a:t>Agent Skills (Cursor docs)</a:t>
                      </a:r>
                      <a:r>
                        <a:rPr sz="1800" b="0" i="0">
                          <a:solidFill>
                            <a:srgbClr val="324158"/>
                          </a:solidFill>
                          <a:latin typeface="Fira Sans"/>
                        </a:rPr>
                        <a:t>, Anysphere, Cursor docs, living page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11277295" cy="548640"/>
          </a:xfrm>
        </p:spPr>
        <p:txBody>
          <a:bodyPr wrap="square" anchor="t">
            <a:noAutofit/>
          </a:bodyPr>
          <a:lstStyle/>
          <a:p>
            <a:pPr marL="0" indent="0" algn="l">
              <a:lnSpc>
                <a:spcPct val="100000"/>
              </a:lnSpc>
              <a:spcBef>
                <a:spcPts val="0"/>
              </a:spcBef>
              <a:spcAft>
                <a:spcPts val="0"/>
              </a:spcAft>
              <a:buNone/>
            </a:pPr>
            <a:r>
              <a:rPr sz="3000" b="1" i="0">
                <a:solidFill>
                  <a:srgbClr val="3896D2"/>
                </a:solidFill>
                <a:latin typeface="Fira Sans"/>
              </a:rPr>
              <a:t>References (2 of 2):</a:t>
            </a:r>
            <a:r>
              <a:rPr sz="3000" b="1" i="0">
                <a:solidFill>
                  <a:srgbClr val="FFFFFF"/>
                </a:solidFill>
                <a:latin typeface="Fira Sans"/>
              </a:rPr>
              <a:t> the remaining sources</a:t>
            </a:r>
          </a:p>
        </p:txBody>
      </p:sp>
      <p:sp>
        <p:nvSpPr>
          <p:cNvPr id="3" name="TextBox 2"/>
          <p:cNvSpPr txBox="1"/>
          <p:nvPr/>
        </p:nvSpPr>
        <p:spPr>
          <a:xfrm>
            <a:off x="548640" y="749808"/>
            <a:ext cx="11094415" cy="350520"/>
          </a:xfrm>
          <a:prstGeom prst="rect">
            <a:avLst/>
          </a:prstGeom>
          <a:noFill/>
        </p:spPr>
        <p:txBody>
          <a:bodyPr wrap="square" anchor="t" lIns="0" rIns="0" tIns="0" bIns="0">
            <a:noAutofit/>
          </a:bodyPr>
          <a:lstStyle/>
          <a:p>
            <a:pPr marL="0" indent="0" algn="l">
              <a:lnSpc>
                <a:spcPct val="100000"/>
              </a:lnSpc>
              <a:spcBef>
                <a:spcPts val="0"/>
              </a:spcBef>
              <a:spcAft>
                <a:spcPts val="0"/>
              </a:spcAft>
              <a:buNone/>
            </a:pPr>
            <a:r>
              <a:rPr sz="2000" b="0" i="0">
                <a:solidFill>
                  <a:srgbClr val="FFFFFF"/>
                </a:solidFill>
                <a:latin typeface="Fira Sans"/>
              </a:rPr>
              <a:t>The rest of today's sources, with links.</a:t>
            </a:r>
          </a:p>
        </p:txBody>
      </p:sp>
      <p:graphicFrame>
        <p:nvGraphicFramePr>
          <p:cNvPr id="4" name="Table 3"/>
          <p:cNvGraphicFramePr>
            <a:graphicFrameLocks noGrp="1"/>
          </p:cNvGraphicFramePr>
          <p:nvPr/>
        </p:nvGraphicFramePr>
        <p:xfrm>
          <a:off x="548640" y="1631442"/>
          <a:ext cx="11094414" cy="3497580"/>
        </p:xfrm>
        <a:graphic>
          <a:graphicData uri="http://schemas.openxmlformats.org/drawingml/2006/table">
            <a:tbl>
              <a:tblPr firstRow="1" bandRow="0">
                <a:tableStyleId>{5940675A-B579-460E-94D1-54222C63F5DA}</a:tableStyleId>
              </a:tblPr>
              <a:tblGrid>
                <a:gridCol w="1436687"/>
                <a:gridCol w="9657727"/>
              </a:tblGrid>
              <a:tr h="388620">
                <a:tc>
                  <a:txBody>
                    <a:bodyPr wrap="square"/>
                    <a:lstStyle/>
                    <a:p>
                      <a:pPr marL="0" indent="0" algn="l">
                        <a:lnSpc>
                          <a:spcPct val="100000"/>
                        </a:lnSpc>
                        <a:spcBef>
                          <a:spcPts val="0"/>
                        </a:spcBef>
                        <a:spcAft>
                          <a:spcPts val="0"/>
                        </a:spcAft>
                        <a:buNone/>
                      </a:pPr>
                      <a:r>
                        <a:rPr sz="1800" b="1" i="0">
                          <a:solidFill>
                            <a:srgbClr val="FFFFFF"/>
                          </a:solidFill>
                          <a:latin typeface="Fira Sans"/>
                        </a:rPr>
                        <a:t>Source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c>
                  <a:txBody>
                    <a:bodyPr wrap="square"/>
                    <a:lstStyle/>
                    <a:p>
                      <a:pPr marL="0" indent="0" algn="l">
                        <a:lnSpc>
                          <a:spcPct val="100000"/>
                        </a:lnSpc>
                        <a:spcBef>
                          <a:spcPts val="0"/>
                        </a:spcBef>
                        <a:spcAft>
                          <a:spcPts val="0"/>
                        </a:spcAft>
                        <a:buNone/>
                      </a:pPr>
                      <a:r>
                        <a:rPr sz="1800" b="1" i="0">
                          <a:solidFill>
                            <a:srgbClr val="FFFFFF"/>
                          </a:solidFill>
                          <a:latin typeface="Fira Sans"/>
                        </a:rPr>
                        <a:t>Title, author, date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3896D2"/>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10</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2">
                            <a:extLst>
                              <a:ext uri="{A12FA001-AC4F-418D-AE19-62706E023703}">
                                <ns0:hlinkClr xmlns:ns0="http://schemas.microsoft.com/office/drawing/2018/hyperlinkcolor" val="tx"/>
                              </a:ext>
                            </a:extLst>
                          </a:hlinkClick>
                        </a:rPr>
                        <a:t>Using PLANS.md for multi-hour problem solving</a:t>
                      </a:r>
                      <a:r>
                        <a:rPr sz="1800" b="0" i="0">
                          <a:solidFill>
                            <a:srgbClr val="324158"/>
                          </a:solidFill>
                          <a:latin typeface="Fira Sans"/>
                        </a:rPr>
                        <a:t>, Aaron Friel, OpenAI Cookbook, 2025-10-07</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11</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3">
                            <a:extLst>
                              <a:ext uri="{A12FA001-AC4F-418D-AE19-62706E023703}">
                                <ns1:hlinkClr xmlns:ns1="http://schemas.microsoft.com/office/drawing/2018/hyperlinkcolor" val="tx"/>
                              </a:ext>
                            </a:extLst>
                          </a:hlinkClick>
                        </a:rPr>
                        <a:t>None network driver (Docker docs)</a:t>
                      </a:r>
                      <a:r>
                        <a:rPr sz="1800" b="0" i="0">
                          <a:solidFill>
                            <a:srgbClr val="324158"/>
                          </a:solidFill>
                          <a:latin typeface="Fira Sans"/>
                        </a:rPr>
                        <a:t>, Docker, living page</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12</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4">
                            <a:extLst>
                              <a:ext uri="{A12FA001-AC4F-418D-AE19-62706E023703}">
                                <ns2:hlinkClr xmlns:ns2="http://schemas.microsoft.com/office/drawing/2018/hyperlinkcolor" val="tx"/>
                              </a:ext>
                            </a:extLst>
                          </a:hlinkClick>
                        </a:rPr>
                        <a:t>SpecBench: Measuring Reward Hacking in Long-Horizon Coding Agents</a:t>
                      </a:r>
                      <a:r>
                        <a:rPr sz="1800" b="0" i="0">
                          <a:solidFill>
                            <a:srgbClr val="324158"/>
                          </a:solidFill>
                          <a:latin typeface="Fira Sans"/>
                        </a:rPr>
                        <a:t>, Zhao, Srikanth, Wu, Jiang, Weco AI (</a:t>
                      </a:r>
                      <a:r>
                        <a:rPr sz="1800" b="0" i="0" u="sng">
                          <a:solidFill>
                            <a:srgbClr val="324158"/>
                          </a:solidFill>
                          <a:latin typeface="Fira Sans"/>
                          <a:hlinkClick r:id="rId5">
                            <a:extLst>
                              <a:ext uri="{A12FA001-AC4F-418D-AE19-62706E023703}">
                                <ns3:hlinkClr xmlns:ns3="http://schemas.microsoft.com/office/drawing/2018/hyperlinkcolor" val="tx"/>
                              </a:ext>
                            </a:extLst>
                          </a:hlinkClick>
                        </a:rPr>
                        <a:t>repository</a:t>
                      </a:r>
                      <a:r>
                        <a:rPr sz="1800" b="0" i="0">
                          <a:solidFill>
                            <a:srgbClr val="324158"/>
                          </a:solidFill>
                          <a:latin typeface="Fira Sans"/>
                        </a:rPr>
                        <a:t>), 2026-05-20</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13</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6">
                            <a:extLst>
                              <a:ext uri="{A12FA001-AC4F-418D-AE19-62706E023703}">
                                <ns4:hlinkClr xmlns:ns4="http://schemas.microsoft.com/office/drawing/2018/hyperlinkcolor" val="tx"/>
                              </a:ext>
                            </a:extLst>
                          </a:hlinkClick>
                        </a:rPr>
                        <a:t>Automated Unit Test Improvement using Large Language Models at Meta</a:t>
                      </a:r>
                      <a:r>
                        <a:rPr sz="1800" b="0" i="0">
                          <a:solidFill>
                            <a:srgbClr val="324158"/>
                          </a:solidFill>
                          <a:latin typeface="Fira Sans"/>
                        </a:rPr>
                        <a:t>, Alshahwan et al., Meta, FSE 2024</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14</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7">
                            <a:extLst>
                              <a:ext uri="{A12FA001-AC4F-418D-AE19-62706E023703}">
                                <ns5:hlinkClr xmlns:ns5="http://schemas.microsoft.com/office/drawing/2018/hyperlinkcolor" val="tx"/>
                              </a:ext>
                            </a:extLst>
                          </a:hlinkClick>
                        </a:rPr>
                        <a:t>Mutation-Guided LLM-based Test Generation at Meta</a:t>
                      </a:r>
                      <a:r>
                        <a:rPr sz="1800" b="0" i="0">
                          <a:solidFill>
                            <a:srgbClr val="324158"/>
                          </a:solidFill>
                          <a:latin typeface="Fira Sans"/>
                        </a:rPr>
                        <a:t>, Foster et al., Meta, 2025</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15</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8">
                            <a:extLst>
                              <a:ext uri="{A12FA001-AC4F-418D-AE19-62706E023703}">
                                <ns6:hlinkClr xmlns:ns6="http://schemas.microsoft.com/office/drawing/2018/hyperlinkcolor" val="tx"/>
                              </a:ext>
                            </a:extLst>
                          </a:hlinkClick>
                        </a:rPr>
                        <a:t>Autonomous Coding Agent Demo (README)</a:t>
                      </a:r>
                      <a:r>
                        <a:rPr sz="1800" b="0" i="0">
                          <a:solidFill>
                            <a:srgbClr val="324158"/>
                          </a:solidFill>
                          <a:latin typeface="Fira Sans"/>
                        </a:rPr>
                        <a:t>, Anthropic, 2025-11-26</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16</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9">
                            <a:extLst>
                              <a:ext uri="{A12FA001-AC4F-418D-AE19-62706E023703}">
                                <ns7:hlinkClr xmlns:ns7="http://schemas.microsoft.com/office/drawing/2018/hyperlinkcolor" val="tx"/>
                              </a:ext>
                            </a:extLst>
                          </a:hlinkClick>
                        </a:rPr>
                        <a:t>Agent Skills Overview</a:t>
                      </a:r>
                      <a:r>
                        <a:rPr sz="1800" b="0" i="0">
                          <a:solidFill>
                            <a:srgbClr val="324158"/>
                          </a:solidFill>
                          <a:latin typeface="Fira Sans"/>
                        </a:rPr>
                        <a:t>, Agent Skills project, undated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F0F3F6"/>
                    </a:solidFill>
                  </a:tcPr>
                </a:tc>
              </a:tr>
              <a:tr h="388620">
                <a:tc>
                  <a:txBody>
                    <a:bodyPr wrap="square"/>
                    <a:lstStyle/>
                    <a:p>
                      <a:pPr marL="0" indent="0" algn="l">
                        <a:lnSpc>
                          <a:spcPct val="100000"/>
                        </a:lnSpc>
                        <a:spcBef>
                          <a:spcPts val="0"/>
                        </a:spcBef>
                        <a:spcAft>
                          <a:spcPts val="0"/>
                        </a:spcAft>
                        <a:buNone/>
                      </a:pPr>
                      <a:r>
                        <a:rPr sz="1800" b="1" i="0">
                          <a:solidFill>
                            <a:srgbClr val="324158"/>
                          </a:solidFill>
                          <a:latin typeface="Fira Sans"/>
                        </a:rPr>
                        <a:t>Source 17</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c>
                  <a:txBody>
                    <a:bodyPr wrap="square"/>
                    <a:lstStyle/>
                    <a:p>
                      <a:pPr marL="0" indent="0" algn="l">
                        <a:lnSpc>
                          <a:spcPct val="100000"/>
                        </a:lnSpc>
                        <a:spcBef>
                          <a:spcPts val="0"/>
                        </a:spcBef>
                        <a:spcAft>
                          <a:spcPts val="0"/>
                        </a:spcAft>
                        <a:buNone/>
                      </a:pPr>
                      <a:r>
                        <a:rPr sz="1800" b="0" i="0" u="sng">
                          <a:solidFill>
                            <a:srgbClr val="324158"/>
                          </a:solidFill>
                          <a:latin typeface="Fira Sans"/>
                          <a:hlinkClick r:id="rId10">
                            <a:extLst>
                              <a:ext uri="{A12FA001-AC4F-418D-AE19-62706E023703}">
                                <ns8:hlinkClr xmlns:ns8="http://schemas.microsoft.com/office/drawing/2018/hyperlinkcolor" val="tx"/>
                              </a:ext>
                            </a:extLst>
                          </a:hlinkClick>
                        </a:rPr>
                        <a:t>How to add skills support to your agent</a:t>
                      </a:r>
                      <a:r>
                        <a:rPr sz="1800" b="0" i="0">
                          <a:solidFill>
                            <a:srgbClr val="324158"/>
                          </a:solidFill>
                          <a:latin typeface="Fira Sans"/>
                        </a:rPr>
                        <a:t>, Agent Skills project, undated</a:t>
                      </a:r>
                    </a:p>
                  </a:txBody>
                  <a:tcPr marL="73152" marR="73152" marT="45720" marB="45720" anchor="ctr">
                    <a:lnL w="12700">
                      <a:solidFill>
                        <a:srgbClr val="324158"/>
                      </a:solidFill>
                    </a:lnL>
                    <a:lnR w="12700">
                      <a:solidFill>
                        <a:srgbClr val="324158"/>
                      </a:solidFill>
                    </a:lnR>
                    <a:lnT w="12700">
                      <a:solidFill>
                        <a:srgbClr val="324158"/>
                      </a:solidFill>
                    </a:lnT>
                    <a:lnB w="12700">
                      <a:solidFill>
                        <a:srgbClr val="324158"/>
                      </a:solidFill>
                    </a:lnB>
                    <a:solidFill>
                      <a:srgbClr val="DDE4EB"/>
                    </a:solidFill>
                  </a:tcPr>
                </a:tc>
              </a:tr>
            </a:tbl>
          </a:graphicData>
        </a:graphic>
      </p:graphicFrame>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97" name="Google Shape;597;g3c929a46dfa_1_19"/>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lt1"/>
                </a:solidFill>
                <a:latin typeface="Fira Sans"/>
                <a:ea typeface="Fira Sans"/>
                <a:cs typeface="Fira Sans"/>
                <a:sym typeface="Fira Sans"/>
              </a:rPr>
              <a:t>Ask about anything:</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Concepts from today's modules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How this applies to your work</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Implementation details</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Clarifications on what we covered</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0"/>
              </a:spcAft>
              <a:buNone/>
            </a:pPr>
            <a:br>
              <a:rPr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Quick Request</a:t>
            </a:r>
            <a:endParaRPr b="1" sz="1700">
              <a:solidFill>
                <a:schemeClr val="lt1"/>
              </a:solidFill>
              <a:latin typeface="Fira Sans"/>
              <a:ea typeface="Fira Sans"/>
              <a:cs typeface="Fira Sans"/>
              <a:sym typeface="Fira Sans"/>
            </a:endParaRPr>
          </a:p>
          <a:p>
            <a:pPr indent="-336550" lvl="0" marL="457200" rtl="0" algn="l">
              <a:lnSpc>
                <a:spcPct val="115000"/>
              </a:lnSpc>
              <a:spcBef>
                <a:spcPts val="120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Please do not mind if a question gets skipped accidentally</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Repost politely in chat if needed</a:t>
            </a:r>
            <a:endParaRPr sz="1700">
              <a:solidFill>
                <a:schemeClr val="lt1"/>
              </a:solidFill>
              <a:latin typeface="Fira Sans"/>
              <a:ea typeface="Fira Sans"/>
              <a:cs typeface="Fira Sans"/>
              <a:sym typeface="Fira Sans"/>
            </a:endParaRPr>
          </a:p>
          <a:p>
            <a:pPr indent="-336550" lvl="0" marL="457200" rtl="0" algn="l">
              <a:lnSpc>
                <a:spcPct val="115000"/>
              </a:lnSpc>
              <a:spcBef>
                <a:spcPts val="0"/>
              </a:spcBef>
              <a:spcAft>
                <a:spcPts val="0"/>
              </a:spcAft>
              <a:buClr>
                <a:schemeClr val="lt1"/>
              </a:buClr>
              <a:buSzPts val="1700"/>
              <a:buFont typeface="Fira Sans"/>
              <a:buChar char="●"/>
            </a:pPr>
            <a:r>
              <a:rPr lang="en-US" sz="1700">
                <a:solidFill>
                  <a:schemeClr val="lt1"/>
                </a:solidFill>
                <a:latin typeface="Fira Sans"/>
                <a:ea typeface="Fira Sans"/>
                <a:cs typeface="Fira Sans"/>
                <a:sym typeface="Fira Sans"/>
              </a:rPr>
              <a:t>We will try our best to cover as many questions as possible</a:t>
            </a:r>
            <a:endParaRPr sz="1700">
              <a:solidFill>
                <a:schemeClr val="lt1"/>
              </a:solidFill>
              <a:latin typeface="Fira Sans"/>
              <a:ea typeface="Fira Sans"/>
              <a:cs typeface="Fira Sans"/>
              <a:sym typeface="Fira Sans"/>
            </a:endParaRPr>
          </a:p>
          <a:p>
            <a:pPr indent="0" lvl="0" marL="0" rtl="0" algn="l">
              <a:lnSpc>
                <a:spcPct val="115000"/>
              </a:lnSpc>
              <a:spcBef>
                <a:spcPts val="1200"/>
              </a:spcBef>
              <a:spcAft>
                <a:spcPts val="1200"/>
              </a:spcAft>
              <a:buNone/>
            </a:pPr>
            <a:br>
              <a:rPr b="1" lang="en-US" sz="1700">
                <a:solidFill>
                  <a:schemeClr val="lt1"/>
                </a:solidFill>
                <a:latin typeface="Fira Sans"/>
                <a:ea typeface="Fira Sans"/>
                <a:cs typeface="Fira Sans"/>
                <a:sym typeface="Fira Sans"/>
              </a:rPr>
            </a:br>
            <a:br>
              <a:rPr b="1" lang="en-US" sz="1700">
                <a:solidFill>
                  <a:schemeClr val="lt1"/>
                </a:solidFill>
                <a:latin typeface="Fira Sans"/>
                <a:ea typeface="Fira Sans"/>
                <a:cs typeface="Fira Sans"/>
                <a:sym typeface="Fira Sans"/>
              </a:rPr>
            </a:br>
            <a:r>
              <a:rPr b="1" lang="en-US" sz="1700">
                <a:solidFill>
                  <a:schemeClr val="lt1"/>
                </a:solidFill>
                <a:latin typeface="Fira Sans"/>
                <a:ea typeface="Fira Sans"/>
                <a:cs typeface="Fira Sans"/>
                <a:sym typeface="Fira Sans"/>
              </a:rPr>
              <a:t>Remember:</a:t>
            </a:r>
            <a:r>
              <a:rPr lang="en-US" sz="1700">
                <a:solidFill>
                  <a:schemeClr val="lt1"/>
                </a:solidFill>
                <a:latin typeface="Fira Sans"/>
                <a:ea typeface="Fira Sans"/>
                <a:cs typeface="Fira Sans"/>
                <a:sym typeface="Fira Sans"/>
              </a:rPr>
              <a:t> </a:t>
            </a:r>
            <a:r>
              <a:rPr lang="en-US" sz="1700">
                <a:solidFill>
                  <a:schemeClr val="accent1"/>
                </a:solidFill>
                <a:latin typeface="Fira Sans"/>
                <a:ea typeface="Fira Sans"/>
                <a:cs typeface="Fira Sans"/>
                <a:sym typeface="Fira Sans"/>
              </a:rPr>
              <a:t>If you're wondering about it, others probably are too.</a:t>
            </a:r>
            <a:endParaRPr sz="1700">
              <a:solidFill>
                <a:schemeClr val="accent1"/>
              </a:solidFill>
              <a:latin typeface="Fira Sans"/>
              <a:ea typeface="Fira Sans"/>
              <a:cs typeface="Fira Sans"/>
              <a:sym typeface="Fira Sans"/>
            </a:endParaRPr>
          </a:p>
        </p:txBody>
      </p:sp>
      <p:sp>
        <p:nvSpPr>
          <p:cNvPr id="598" name="Google Shape;598;g3c929a46dfa_1_19"/>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400"/>
              </a:spcBef>
              <a:spcAft>
                <a:spcPts val="400"/>
              </a:spcAft>
              <a:buClr>
                <a:schemeClr val="dk1"/>
              </a:buClr>
              <a:buSzPts val="1100"/>
              <a:buFont typeface="Arial"/>
              <a:buNone/>
            </a:pPr>
            <a:r>
              <a:rPr b="1" lang="en-US" sz="2000">
                <a:solidFill>
                  <a:schemeClr val="accent1"/>
                </a:solidFill>
                <a:latin typeface="Fira Sans"/>
                <a:ea typeface="Fira Sans"/>
                <a:cs typeface="Fira Sans"/>
                <a:sym typeface="Fira Sans"/>
              </a:rPr>
              <a:t>No Question Is Too Small Every Question Deserves an Answer!!</a:t>
            </a:r>
            <a:endParaRPr b="1" sz="3000">
              <a:solidFill>
                <a:srgbClr val="3896D2"/>
              </a:solidFill>
              <a:latin typeface="Fira Sans"/>
              <a:ea typeface="Fira Sans"/>
              <a:cs typeface="Fira Sans"/>
              <a:sym typeface="Fira Sans"/>
            </a:endParaRPr>
          </a:p>
        </p:txBody>
      </p:sp>
      <p:pic>
        <p:nvPicPr>
          <p:cNvPr id="599" name="Google Shape;599;g3c929a46dfa_1_19" descr="Questions and answers illustration"/>
          <p:cNvPicPr preferRelativeResize="0"/>
          <p:nvPr/>
        </p:nvPicPr>
        <p:blipFill rotWithShape="1">
          <a:blip r:embed="rId2">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845" name="Google Shape;845;g3be33ba0345_0_365" descr="Thank you closing illustration"/>
          <p:cNvPicPr preferRelativeResize="0"/>
          <p:nvPr/>
        </p:nvPicPr>
        <p:blipFill rotWithShape="1">
          <a:blip r:embed="rId2">
            <a:alphaModFix/>
          </a:blip>
          <a:srcRect b="0" l="0" r="0" t="0"/>
          <a:stretch/>
        </p:blipFill>
        <p:spPr>
          <a:xfrm>
            <a:off x="3152888" y="597563"/>
            <a:ext cx="5886216" cy="5662872"/>
          </a:xfrm>
          <a:prstGeom prst="cloud">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2026-01-09T08:11:23Z</dcterms:created>
  <dc:creator>Jeevendra Singh</dc:creator>
</cp:coreProperties>
</file>