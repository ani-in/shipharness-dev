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of 72 | Opening | 0.5 min</a:t>
            </a:r>
          </a:p>
          <a:p/>
          <a:p>
            <a:r>
              <a:t>Welcome. Tonight you see each harness piece at work on a real feature, the results of the course's</a:t>
            </a:r>
          </a:p>
          <a:p>
            <a:r>
              <a:t>own measurements before class, and one live A/B at the end. Everything you see is in the course</a:t>
            </a:r>
          </a:p>
          <a:p>
            <a:r>
              <a:t>repository.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README.md title and first paragraph.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of 72 | Opening | 2.5 min</a:t>
            </a:r>
          </a:p>
          <a:p/>
          <a:p>
            <a:r>
              <a:t>Read the four failures. Then say: "In the course pilot no bare-arm F1 run shipped a new</a:t>
            </a:r>
          </a:p>
          <a:p>
            <a:r>
              <a:t>tenant-isolation violation, so there is no recorded screenshot of one to show. We come back to what</a:t>
            </a:r>
          </a:p>
          <a:p>
            <a:r>
              <a:t>that means at the end." Pilot facts: F1 bare arm, 0 new R1 violations in run 2 (A/Bs</a:t>
            </a:r>
          </a:p>
          <a:p>
            <a:r>
              <a:t>ab-20261016-181736-a07558, ab-20261016-183644-0036f0, ab-20261016-185628-37483b), run 3, run 4, the</a:t>
            </a:r>
          </a:p>
          <a:p>
            <a:r>
              <a:t>live console check (ab-20261016-210339-909651), and the class-profile round</a:t>
            </a:r>
          </a:p>
          <a:p>
            <a:r>
              <a:t>(ab-20261017-084558-0356a0).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README.md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of 72 | Opening | 2 min</a:t>
            </a:r>
          </a:p>
          <a:p/>
          <a:p>
            <a:r>
              <a:t>One cited line per cause. Cause 3 (agents copy existing patterns and can take actions that are hard</a:t>
            </a:r>
          </a:p>
          <a:p>
            <a:r>
              <a:t>to undo) has no single source that says both, so the four citations stand side by side and are not</a:t>
            </a:r>
          </a:p>
          <a:p>
            <a:r>
              <a:t>merged. Cause 4: the visible suite passes while held-out tests that compose features fail (B13).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README.md §2;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of 72 | Opening | 2 min</a:t>
            </a:r>
          </a:p>
          <a:p/>
          <a:p>
            <a:r>
              <a:t>A3's sentence goes on: "and those assumptions are worth stress testing" (F-a-124). A1 never defines</a:t>
            </a:r>
          </a:p>
          <a:p>
            <a:r>
              <a:t>"harness engineering"; no definition is attributed to A1. The thick borders and the word "now" mark</a:t>
            </a:r>
          </a:p>
          <a:p>
            <a:r>
              <a:t>all four parts and the sandbox. The section names S1 to S4 and the phrase "keep what earns its</a:t>
            </a:r>
          </a:p>
          <a:p>
            <a:r>
              <a:t>place" are course framing, not source terms.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README.md §3; REFERENCES.md (A1 F-a-02; A3 F-a-124, F-a-69).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of 72 | Opening | 1.5 min</a:t>
            </a:r>
          </a:p>
          <a:p/>
          <a:p>
            <a:r>
              <a:t>The code shows both arms running at the same time and each judged by the same referee as soon as it</a:t>
            </a:r>
          </a:p>
          <a:p>
            <a:r>
              <a:t>finishes; the finally block is folded. `Opening:publish` is shown in the editor only. TeamTrack size</a:t>
            </a:r>
          </a:p>
          <a:p>
            <a:r>
              <a:t>as counted at M3 (OpenAPI operations, visible tests).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README.md §5, §9, §11; anchor Opening:two_arms.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of 72 | Opening | 1 min</a:t>
            </a:r>
          </a:p>
          <a:p/>
          <a:p>
            <a:r>
              <a:t>The bare arm gets every rule in docs/HANDBOOK.md; nothing is withheld. A section's A/B tests the</a:t>
            </a:r>
          </a:p>
          <a:p>
            <a:r>
              <a:t>harness so far against the bare arm; only taking one piece out tests that piece. A3's full sentence:</a:t>
            </a:r>
          </a:p>
          <a:p>
            <a:r>
              <a:t>"removing one component at a time and reviewing what impact it had on the final result." (F-a-125)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README.md §4, §10 (primary measures); teamtrack/docs/HANDBOOK.md (R1-R7); datasets/README.md.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of 72 | Opening | 0.5 min</a:t>
            </a:r>
          </a:p>
          <a:p/>
          <a:p>
            <a:r>
              <a:t>Run both live. The assessment is read-only and makes no model calls. `make warm` ran before class:</a:t>
            </a:r>
          </a:p>
          <a:p>
            <a:r>
              <a:t>it builds the images if their source changed, pages each image in, and caches the referee and gate</a:t>
            </a:r>
          </a:p>
          <a:p>
            <a:r>
              <a:t>baselines, so the first launch does not pay for startup.</a:t>
            </a:r>
          </a:p>
          <a:p/>
          <a:p>
            <a:r>
              <a:t>Run sheet: docs/instructor-guide.md, Stage 3: Opening (0:00-0:10).</a:t>
            </a:r>
          </a:p>
          <a:p>
            <a:r>
              <a:t>Source: Makefile `doctor`, `warm`; skills/harness-setup/scripts/assess.py.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of 72 | S1 Instructions | 3 min</a:t>
            </a:r>
          </a:p>
          <a:p/>
          <a:p>
            <a:r>
              <a:t>The answer comes on slide 20. The 7 runs: pilot run 3 (effort medium), run 4 (effort low), and the</a:t>
            </a:r>
          </a:p>
          <a:p>
            <a:r>
              <a:t>class-profile round, all on the F1 trap ticket (trap-legacy-pattern).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submodules/01-instructions/demo/README.md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of 72 | S1 Instructions | 2 min</a:t>
            </a:r>
          </a:p>
          <a:p/>
          <a:p>
            <a:r>
              <a:t>Reload the console's run list and open the newest run; stay on screen 1 while the container starts.</a:t>
            </a:r>
          </a:p>
          <a:p>
            <a:r>
              <a:t>Why no live A/B here: the pilot showed no gap on F1 (slide 20), so the class shows the layer at work</a:t>
            </a:r>
          </a:p>
          <a:p>
            <a:r>
              <a:t>instead, live.</a:t>
            </a:r>
          </a:p>
          <a:p/>
          <a:p>
            <a:r>
              <a:t>Timing reference: in the quiet run of `make show-1` (captured on 2026-10-17, run</a:t>
            </a:r>
          </a:p>
          <a:p>
            <a:r>
              <a:t>ab-20261017-112101-c5d839; your output will differ) the primary verdict came 4:11 after launch, the</a:t>
            </a:r>
          </a:p>
          <a:p>
            <a:r>
              <a:t>full verdict 10:00 after launch, and the command took 10 min 14 s in all (exit 0). In the</a:t>
            </a:r>
          </a:p>
          <a:p>
            <a:r>
              <a:t>class-profile round (A/B ab-20261017-084558-0356a0) the harness arm's primary verdict came 114 s and</a:t>
            </a:r>
          </a:p>
          <a:p>
            <a:r>
              <a:t>its full verdict 324 s after launch.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Makefile `show-1`; README.md §10; teamtrack/reference/f1/task.toml.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of 72 | S1 Instructions | 1.5 min</a:t>
            </a:r>
          </a:p>
          <a:p/>
          <a:p>
            <a:r>
              <a:t>The first three bullets are the section's objectives (course design). The one-line assumption is the</a:t>
            </a:r>
          </a:p>
          <a:p>
            <a:r>
              <a:t>course's wording, after A3 (F-a-124). Today's question: does it hold for this model on this ticket?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S1 learning objectives (course design); README.md §10 (legacy GET /v1/issues).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of 72 | S1 Instructions | 2 min</a:t>
            </a:r>
          </a:p>
          <a:p/>
          <a:p>
            <a:r>
              <a:t>Both arms get every rule. The question is not whether the rule exists but whether the agent applies it.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teamtrack/docs/HANDBOOK.md (R1); README.md §4; teamtrack/docs/features/f1.md.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of 72 | S1 Instructions | 2.5 min</a:t>
            </a:r>
          </a:p>
          <a:p/>
          <a:p>
            <a:r>
              <a:t>Cause 1 from the opening, in A1's words. A handbook the agent never opens does not exist for it.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A1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of 72 | S1 Instructions | 3 min</a:t>
            </a:r>
          </a:p>
          <a:p/>
          <a:p>
            <a:r>
              <a:t>TeamTrack's harness instructions follow this layout: teamtrack/harness/instructions/. The map points;</a:t>
            </a:r>
          </a:p>
          <a:p>
            <a:r>
              <a:t>the documents hold the rules.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A1 in REFERENCES.md; teamtrack/harness/instructions/.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of 72 | S1 Instructions | 3 min</a:t>
            </a:r>
          </a:p>
          <a:p/>
          <a:p>
            <a:r>
              <a:t>Only tier 1 (name and description) sits in the context for every skill; the agent opens the rest</a:t>
            </a:r>
          </a:p>
          <a:p>
            <a:r>
              <a:t>when a task needs it.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A1, B1, B2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of 72 | S1 Instructions | 3 min</a:t>
            </a:r>
          </a:p>
          <a:p/>
          <a:p>
            <a:r>
              <a:t>The harness changes how knowledge is organised, not what the agent may know. A1's argument is a map</a:t>
            </a:r>
          </a:p>
          <a:p>
            <a:r>
              <a:t>against one giant instruction file (F-a-23, F-a-24). The course's bare arm has the rules in a</a:t>
            </a:r>
          </a:p>
          <a:p>
            <a:r>
              <a:t>handbook on disk, so the pilot did not test A1's comparison.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A1 in REFERENCES.md; README.md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 of 72 | S1 Instructions | 3 min</a:t>
            </a:r>
          </a:p>
          <a:p/>
          <a:p>
            <a:r>
              <a:t>The header and the first rows of the table. The house rules follow further down the same file.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anchor S1:agents_md.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 of 72 | S1 Instructions | 3.5 min</a:t>
            </a:r>
          </a:p>
          <a:p/>
          <a:p>
            <a:r>
              <a:t>Section minute 25 falls on this slide: check terminal B for the `Cost:` line of `make show-1` (the</a:t>
            </a:r>
          </a:p>
          <a:p>
            <a:r>
              <a:t>timing reference is in the notes of slide 9).</a:t>
            </a:r>
          </a:p>
          <a:p/>
          <a:p>
            <a:r>
              <a:t>Run sheet: docs/instructor-guide.md, Stage 4: S1 Instructions (0:10-1:00), "Check at section minute 25".</a:t>
            </a:r>
          </a:p>
          <a:p>
            <a:r>
              <a:t>Source: anchor S1:progressive.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 of 72 | S1 Instructions | 3.5 min</a:t>
            </a:r>
          </a:p>
          <a:p/>
          <a:p>
            <a:r>
              <a:t>From `agents_md = ...` to `return`.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anchor S1:prefix.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 of 72 | S1 Instructions | 8 min</a:t>
            </a:r>
          </a:p>
          <a:p/>
          <a:p>
            <a:r>
              <a:t>Walk the finished show-1 run on screens 1, 3, 5, and 2, in that order. In the quiet run (captured on</a:t>
            </a:r>
          </a:p>
          <a:p>
            <a:r>
              <a:t>2026-10-17, run ab-20261017-112101-c5d839; your output will differ): by minute 1 the build session was</a:t>
            </a:r>
          </a:p>
          <a:p>
            <a:r>
              <a:t>patching app/api/issues.py and app/services/issues.py; by minute 3 the test phase had run and the</a:t>
            </a:r>
          </a:p>
          <a:p>
            <a:r>
              <a:t>agent said done; at 4:11 screen 1 showed "primary verdict ready: PASS" with new R1 violations 0; the</a:t>
            </a:r>
          </a:p>
          <a:p>
            <a:r>
              <a:t>secondary checks finished at 10:00. Its harness decisions: 31 instruction files placed (the AGENTS.md</a:t>
            </a:r>
          </a:p>
          <a:p>
            <a:r>
              <a:t>map, docs, skills), the agent read ARCHITECTURE.md and the add-endpoint skill. Its third tool call</a:t>
            </a:r>
          </a:p>
          <a:p>
            <a:r>
              <a:t>opened docs/HANDBOOK.md, the same file every bare arm of run 2 opened with its third call. Screen 2</a:t>
            </a:r>
          </a:p>
          <a:p>
            <a:r>
              <a:t>shows one board frame: F1 changes no board pixels. The image is cut to the harness panel (the bare</a:t>
            </a:r>
          </a:p>
          <a:p>
            <a:r>
              <a:t>panel is empty in a show run).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quiet run ab-20261017-112101-c5d839 (screens 1 and 2); README.md §11; Makefile `show-1`.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 of 72 | S1 Instructions | 7 min</a:t>
            </a:r>
          </a:p>
          <a:p/>
          <a:p>
            <a:r>
              <a:t>Read tonight's verdict from screen 1 first, then this slide. The quiet run's arm line (captured on</a:t>
            </a:r>
          </a:p>
          <a:p>
            <a:r>
              <a:t>2026-10-17, run ab-20261017-112101-c5d839; your output will differ): `harness completed claim=done</a:t>
            </a:r>
          </a:p>
          <a:p>
            <a:r>
              <a:t>primary={"r1_new_violations": 0} passed=True hidden 52/52 mutants 2/4 reviewer=accept cost=$0.0179`.</a:t>
            </a:r>
          </a:p>
          <a:p/>
          <a:p>
            <a:r>
              <a:t>The 7 runs per arm: run 3, effort medium (A/Bs ab-20261016-211419-07937b, ab-20261016-212745-2c14fb,</a:t>
            </a:r>
          </a:p>
          <a:p>
            <a:r>
              <a:t>ab-20261016-214636-c8b3c4); run 4, effort low (ab-20261016-232842-b372c2, ab-20261016-233807-3f34fa,</a:t>
            </a:r>
          </a:p>
          <a:p>
            <a:r>
              <a:t>ab-20261016-234639-4a18bd); class-profile round (ab-20261017-084558-0356a0). Run 2 on the canonical</a:t>
            </a:r>
          </a:p>
          <a:p>
            <a:r>
              <a:t>ticket gave the same, 0 of 3 per arm. Why: in run 2 every bare arm opened the handbook with its third</a:t>
            </a:r>
          </a:p>
          <a:p>
            <a:r>
              <a:t>tool call; no arm copied the legacy handler into a leak. Post hoc, descriptive (10 runs per arm: run</a:t>
            </a:r>
          </a:p>
          <a:p>
            <a:r>
              <a:t>2, the live console check, run 3, run 4): done claimed by harness 5, bare 9; median cost $0.0122</a:t>
            </a:r>
          </a:p>
          <a:p>
            <a:r>
              <a:t>against $0.0103. "Post hoc" means chosen after the results were known: descriptive, never a test.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quiet run ab-20261017-112101-c5d839 (screen 3); course pilot runs 2-4 and class-profile round (A/B ids above); submodules/01-instructions/concepts.md (third tool call).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 of 72 | S1 Instructions | 5 min</a:t>
            </a:r>
          </a:p>
          <a:p/>
          <a:p>
            <a:r>
              <a:t>Tie the discussion back to A1, F-a-05, and to A3, F-a-124.</a:t>
            </a:r>
          </a:p>
          <a:p/>
          <a:p>
            <a:r>
              <a:t>Run sheet: docs/instructor-guide.md, Stage 4: S1 Instructions (0:10-1:00).</a:t>
            </a:r>
          </a:p>
          <a:p>
            <a:r>
              <a:t>Source: docs/instructor-guide.md (schedule).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 of 72 | S2 State and session lifecycle | 3 min</a:t>
            </a:r>
          </a:p>
          <a:p/>
          <a:p>
            <a:r>
              <a:t>The answer comes on slide 33. The 7 A/Bs: pilot run 3, run 4, and the class-profile round, F2</a:t>
            </a:r>
          </a:p>
          <a:p>
            <a:r>
              <a:t>canonical with a 12-turn first session and a 38-turn second session.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submodules/02-state-lifecycle/demo/README.md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 of 72 | S2 State and session lifecycle | 2 min</a:t>
            </a:r>
          </a:p>
          <a:p/>
          <a:p>
            <a:r>
              <a:t>Continuity failure, the primary measure: R7 fails, a second migration creates the same table, or 30%</a:t>
            </a:r>
          </a:p>
          <a:p>
            <a:r>
              <a:t>or more of session 1's added lines are removed in session 2.</a:t>
            </a:r>
          </a:p>
          <a:p/>
          <a:p>
            <a:r>
              <a:t>Timing reference: in the quiet run of `make show-2 SESSION_BUDGET=12,38` (captured on 2026-10-17, run</a:t>
            </a:r>
          </a:p>
          <a:p>
            <a:r>
              <a:t>ab-20261017-113213-fe89a3; your output will differ) the primary verdict came 6:46 after launch, the</a:t>
            </a:r>
          </a:p>
          <a:p>
            <a:r>
              <a:t>full verdict 9:52 after launch, and the command took 10 min 7 s in all. It exited 2: session 2 hit</a:t>
            </a:r>
          </a:p>
          <a:p>
            <a:r>
              <a:t>the agent time limit (a result, not a failure of the command). In the class-profile round (A/B</a:t>
            </a:r>
          </a:p>
          <a:p>
            <a:r>
              <a:t>ab-20261017-085139-7c0661) the harness arm's primary verdict came 358 s and its full verdict 533 s</a:t>
            </a:r>
          </a:p>
          <a:p>
            <a:r>
              <a:t>after launch.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Makefile `show-2`; README.md §10; teamtrack/reference/f2/task.toml.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 of 72 | S2 State and session lifecycle | 2 min</a:t>
            </a:r>
          </a:p>
          <a:p/>
          <a:p>
            <a:r>
              <a:t>The first three bullets are the section's objectives (course design). A2 states the problem</a:t>
            </a:r>
          </a:p>
          <a:p>
            <a:r>
              <a:t>(F-a-08); the one-line assumption is the course's wording.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S2 learning objectives (course design); README.md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25 of 72 | S2 State and session lifecycle | 2.5 min</a:t>
            </a:r>
          </a:p>
          <a:p/>
          <a:p>
            <a:r>
              <a:t>Cause 2 from the opening.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A2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26 of 72 | S2 State and session lifecycle | 3.5 min</a:t>
            </a:r>
          </a:p>
          <a:p/>
          <a:p>
            <a:r>
              <a:t>A2's two agents differ only by their first prompt (F-a-52). In the course, the harness writes the</a:t>
            </a:r>
          </a:p>
          <a:p>
            <a:r>
              <a:t>initial files itself.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A2 in REFERENCES.md; docs/architecture.md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27 of 72 | S2 State and session lifecycle | 3 min</a:t>
            </a:r>
          </a:p>
          <a:p/>
          <a:p>
            <a:r>
              <a:t>"Getting up to speed" is A2's own name for the routine.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A2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28 of 72 | S2 State and session lifecycle | 4 min</a:t>
            </a:r>
          </a:p>
          <a:p/>
          <a:p>
            <a:r>
              <a:t>Say: "This stop is the session turn budget, the same for both arms. A3 calls the pattern a context</a:t>
            </a:r>
          </a:p>
          <a:p>
            <a:r>
              <a:t>reset with a structured handoff (A3, F-a-65). A piece that answers a model's weakness is kept only</a:t>
            </a:r>
          </a:p>
          <a:p>
            <a:r>
              <a:t>while the weakness is there."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A1, A3, A7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29 of 72 | S2 State and session lifecycle | 3 min</a:t>
            </a:r>
          </a:p>
          <a:p/>
          <a:p>
            <a:r>
              <a:t>From `echo "== migrations` to the pytest line.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anchor S2:init.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30 of 72 | S2 State and session lifecycle | 4 min</a:t>
            </a:r>
          </a:p>
          <a:p/>
          <a:p>
            <a:r>
              <a:t>Section minute 25 falls on this slide: check terminal B for the `Cost:` line of `make show-2` (the</a:t>
            </a:r>
          </a:p>
          <a:p>
            <a:r>
              <a:t>timing reference is in the notes of slide 23).</a:t>
            </a:r>
          </a:p>
          <a:p/>
          <a:p>
            <a:r>
              <a:t>Run sheet: docs/instructor-guide.md, Stage 5: S2 State and session lifecycle (1:00-1:50), "Check at section minute 25".</a:t>
            </a:r>
          </a:p>
          <a:p>
            <a:r>
              <a:t>Source: anchor S2:stop_resume.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31 of 72 | S2 State and session lifecycle | 3 min</a:t>
            </a:r>
          </a:p>
          <a:p/>
          <a:p>
            <a:r>
              <a:t>The next session reads this line during Getting up to speed.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anchor S2:write.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32 of 72 | S2 State and session lifecycle | 8 min</a:t>
            </a:r>
          </a:p>
          <a:p/>
          <a:p>
            <a:r>
              <a:t>In the quiet run (captured on 2026-10-17, run ab-20261017-113213-fe89a3; your output will differ),</a:t>
            </a:r>
          </a:p>
          <a:p>
            <a:r>
              <a:t>about 2 minutes after launch: turn 1.11 ran `git add progress.md docs/exec-plans/active/...`, turn</a:t>
            </a:r>
          </a:p>
          <a:p>
            <a:r>
              <a:t>1.12 called</a:t>
            </a:r>
          </a:p>
          <a:p>
            <a:r>
              <a:t>`finish not_done`, and screen 1 showed "Session 1 stopped: ended by claim_not_done; handoff</a:t>
            </a:r>
          </a:p>
          <a:p>
            <a:r>
              <a:t>session-handoff.md", then "Session 2 resumed: prefix: core, instructions, state". Since change 14</a:t>
            </a:r>
          </a:p>
          <a:p>
            <a:r>
              <a:t>(both arms) that call ends only the session, so session 2 ran; in pilot run 3 the same call ended</a:t>
            </a:r>
          </a:p>
          <a:p>
            <a:r>
              <a:t>the build phase (A/B ab-20261016-213317-9a0ec1, hidden tests 3 of 56). Session 2 began with `pwd; git</a:t>
            </a:r>
          </a:p>
          <a:p>
            <a:r>
              <a:t>log --oneline -20; cat progress.md`, then the ticket and the handbook. The harness decisions show</a:t>
            </a:r>
          </a:p>
          <a:p>
            <a:r>
              <a:t>the initializer step (init.sh, progress.md, session-handoff.md) and "session 1 handoff written to</a:t>
            </a:r>
          </a:p>
          <a:p>
            <a:r>
              <a:t>session-handoff.md". The board (screen 2) showed "✓ only own-org cards, no duplicates". The image is</a:t>
            </a:r>
          </a:p>
          <a:p>
            <a:r>
              <a:t>cut to the harness panel.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quiet run ab-20261017-113213-fe89a3 (screen 1); README.md §11; Makefile `show-2`.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33 of 72 | S2 State and session lifecycle | 7 min</a:t>
            </a:r>
          </a:p>
          <a:p/>
          <a:p>
            <a:r>
              <a:t>The quiet run's arm line (captured on 2026-10-17, run ab-20261017-113213-fe89a3; your output will</a:t>
            </a:r>
          </a:p>
          <a:p>
            <a:r>
              <a:t>differ): `harness ABORTED: timeout claim=not_done primary={"continuity_failure": false} passed=True</a:t>
            </a:r>
          </a:p>
          <a:p>
            <a:r>
              <a:t>hidden 56/56 mutants 0/4 reviewer=reject cost=$0.0268`. Sessions: 12 turns (claim_not_done), then</a:t>
            </a:r>
          </a:p>
          <a:p>
            <a:r>
              <a:t>31. The diff-scope check is a secondary measure, and the F2 harness arm has no scope layer, so</a:t>
            </a:r>
          </a:p>
          <a:p>
            <a:r>
              <a:t>nothing stopped that edit. Exit code 2 means the arm was aborted at a time limit, not that the</a:t>
            </a:r>
          </a:p>
          <a:p>
            <a:r>
              <a:t>command broke.</a:t>
            </a:r>
          </a:p>
          <a:p/>
          <a:p>
            <a:r>
              <a:t>The 7 A/Bs: run 3 (ab-20261016-211419-dfe06f, ab-20261016-213317-9a0ec1, ab-20261016-214959-de790f),</a:t>
            </a:r>
          </a:p>
          <a:p>
            <a:r>
              <a:t>run 4 (ab-20261016-232842-ac03b2, ab-20261016-234027-226a76, ab-20261016-235211-ea59a9), class-profile</a:t>
            </a:r>
          </a:p>
          <a:p>
            <a:r>
              <a:t>round (ab-20261017-085139-7c0661). Built nothing (3 of 56 hidden tests): run 3 harness in</a:t>
            </a:r>
          </a:p>
          <a:p>
            <a:r>
              <a:t>ab-20261016-213317-9a0ec1 and ab-20261016-214959-de790f; run 4 bare in all three A/Bs and harness in</a:t>
            </a:r>
          </a:p>
          <a:p>
            <a:r>
              <a:t>ab-20261016-234027-226a76. The bare arm found its own state: in run 2 (A/B ab-20261016-181736-08a9c4,</a:t>
            </a:r>
          </a:p>
          <a:p>
            <a:r>
              <a:t>run r-20261016-181736-a05ddb) its session 2 ran `git status` in its fourth tool call. Post hoc,</a:t>
            </a:r>
          </a:p>
          <a:p>
            <a:r>
              <a:t>descriptive (runs 2-4, 9 runs per arm): agent time limit hit, harness 4, bare 0; median wall 361 s</a:t>
            </a:r>
          </a:p>
          <a:p>
            <a:r>
              <a:t>against 232 s. Class-profile round, with the fix: both arms built the feature, 56 of 56 hidden tests.</a:t>
            </a:r>
          </a:p>
          <a:p/>
          <a:p>
            <a:r>
              <a:t>The leave-one-layer-out bars were planned for the course's larger experiment batch (M8), which was not</a:t>
            </a:r>
          </a:p>
          <a:p>
            <a:r>
              <a:t>run because the pre-registered pilot gate did not pass.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quiet run ab-20261017-113213-fe89a3 (screens 3 and 5); course pilot runs 2-4 and class-profile round (A/B ids above); submodules/02-state-lifecycle/concepts.md (git status).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34 of 72 | S2 State and session lifecycle | 5 min</a:t>
            </a:r>
          </a:p>
          <a:p/>
          <a:p>
            <a:r>
              <a:t>`make show-3` launches right after the S3 poll; nothing needs to run over the break.</a:t>
            </a:r>
          </a:p>
          <a:p/>
          <a:p>
            <a:r>
              <a:t>Run sheet: docs/instructor-guide.md, Stage 5: S2 State and session lifecycle (1:00-1:50).</a:t>
            </a:r>
          </a:p>
          <a:p>
            <a:r>
              <a:t>Source: docs/instructor-guide.md (schedule).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35 of 72 | Break | 10 min</a:t>
            </a:r>
          </a:p>
          <a:p/>
          <a:p>
            <a:r>
              <a:t>Write the return time on the slide.</a:t>
            </a:r>
          </a:p>
          <a:p/>
          <a:p>
            <a:r>
              <a:t>Run sheet: docs/instructor-guide.md, Schedule (240 minutes).</a:t>
            </a:r>
          </a:p>
          <a:p>
            <a:r>
              <a:t>Source: docs/instructor-guide.md (schedule).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36 of 72 | S3 Scope and sandbox | 3 min</a:t>
            </a:r>
          </a:p>
          <a:p/>
          <a:p>
            <a:r>
              <a:t>The answer comes on slide 47. The 7 runs: pilot run 3, run 4, and the class-profile round, on the F3</a:t>
            </a:r>
          </a:p>
          <a:p>
            <a:r>
              <a:t>trap ticket with the tempting shared middleware (trap-tempting-middleware).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submodules/03-scope-sandbox/demo/README.md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37 of 72 | S3 Scope and sandbox | 2 min</a:t>
            </a:r>
          </a:p>
          <a:p/>
          <a:p>
            <a:r>
              <a:t>Harness arm layers: instructions, state, scope.</a:t>
            </a:r>
          </a:p>
          <a:p/>
          <a:p>
            <a:r>
              <a:t>Timing reference: in the quiet run of `make show-3` (captured on 2026-10-17, run</a:t>
            </a:r>
          </a:p>
          <a:p>
            <a:r>
              <a:t>ab-20261017-114259-b64f54; your output will differ) the primary verdict came 4:25 after launch, the</a:t>
            </a:r>
          </a:p>
          <a:p>
            <a:r>
              <a:t>full verdict 7:31 after launch, and the command took 7 min 43 s in all (exit 0). In the</a:t>
            </a:r>
          </a:p>
          <a:p>
            <a:r>
              <a:t>class-profile round (A/B ab-20261017-090051-91f837) the harness arm's primary verdict came 317 s and</a:t>
            </a:r>
          </a:p>
          <a:p>
            <a:r>
              <a:t>its full verdict 481 s after launch.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Makefile `show-3`; README.md §10; docs/architecture.md §2; teamtrack/reference/f3/task.toml.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38 of 72 | S3 Scope and sandbox | 2 min</a:t>
            </a:r>
          </a:p>
          <a:p/>
          <a:p>
            <a:r>
              <a:t>The first three bullets are the section's objectives (course design). The one-line assumption is the</a:t>
            </a:r>
          </a:p>
          <a:p>
            <a:r>
              <a:t>course's wording; no single source sentence states the cause, so slide 39 shows its sources side by</a:t>
            </a:r>
          </a:p>
          <a:p>
            <a:r>
              <a:t>side.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S3 learning objectives (course design); README.md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39 of 72 | S3 Scope and sandbox | 2.5 min</a:t>
            </a:r>
          </a:p>
          <a:p/>
          <a:p>
            <a:r>
              <a:t>Four citations side by side, not merged: no single source states cause 3.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README.md §2 (cause 3);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40 of 72 | S3 Scope and sandbox | 3.5 min</a:t>
            </a:r>
          </a:p>
          <a:p/>
          <a:p>
            <a:r>
              <a:t>A2 lets the agent set `passes` (F-a-108); the course follows A3's separation of doer and judge</a:t>
            </a:r>
          </a:p>
          <a:p>
            <a:r>
              <a:t>(F-a-110). That choice is course design.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A2, A3, A5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41 of 72 | S3 Scope and sandbox | 3 min</a:t>
            </a:r>
          </a:p>
          <a:p/>
          <a:p>
            <a:r>
              <a:t>A1: "enforce boundaries centrally, allow autonomy locally." (F-a-98)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docs/architecture.md §5; A1, A2, A5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42 of 72 | S3 Scope and sandbox | 2 min</a:t>
            </a:r>
          </a:p>
          <a:p/>
          <a:p>
            <a:r>
              <a:t>The sandbox is highlighted on the diagram: one per arm, identical.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A4, A5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43 of 72 | S3 Scope and sandbox | 2 min</a:t>
            </a:r>
          </a:p>
          <a:p/>
          <a:p>
            <a:r>
              <a:t>Say: "The sandbox is the same for both arms. It is taught here, but it is never the variable."</a:t>
            </a:r>
          </a:p>
          <a:p>
            <a:r>
              <a:t>Detailed sandbox design is Module 2.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docs/architecture.md §2 (sandbox policy); submodules/03-scope-sandbox/concepts.md (sandbox_denied).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44 of 72 | S3 Scope and sandbox | 5 min</a:t>
            </a:r>
          </a:p>
          <a:p/>
          <a:p>
            <a:r>
              <a:t>Section minute 25 is the switch to slide 45: check terminal B for the `Cost:` line of `make show-3`</a:t>
            </a:r>
          </a:p>
          <a:p>
            <a:r>
              <a:t>(the timing reference is in the notes of slide 37).</a:t>
            </a:r>
          </a:p>
          <a:p/>
          <a:p>
            <a:r>
              <a:t>Run sheet: docs/instructor-guide.md, Stage 6: S3 Scope and sandbox (2:00-2:50), "Check at section minute 25".</a:t>
            </a:r>
          </a:p>
          <a:p>
            <a:r>
              <a:t>Source: anchors S3:allowed_paths, S3:passes.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45 of 72 | S3 Scope and sandbox | 5 min</a:t>
            </a:r>
          </a:p>
          <a:p/>
          <a:p>
            <a:r>
              <a:t>Fields from `network` to `no_new_privileges`. Show `S3:run_args` and `S3:dockerfile` in the editor only.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anchors S3:policy, S3:run_args, S3:dockerfile.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46 of 72 | S3 Scope and sandbox | 8 min</a:t>
            </a:r>
          </a:p>
          <a:p/>
          <a:p>
            <a:r>
              <a:t>In the quiet run (captured on 2026-10-17, run ab-20261017-114259-b64f54; your output will differ)</a:t>
            </a:r>
          </a:p>
          <a:p>
            <a:r>
              <a:t>the agent began with `pwd; git status --short; git log --oneline`, read the ticket, then</a:t>
            </a:r>
          </a:p>
          <a:p>
            <a:r>
              <a:t>`cat docs/QUALITY_SCORE.md`. It never tried an edit outside the allow list: no ⊘ block, no ↺</a:t>
            </a:r>
          </a:p>
          <a:p>
            <a:r>
              <a:t>revert, and no sandbox denial. The harness decisions were the 31 instruction files, the initializer</a:t>
            </a:r>
          </a:p>
          <a:p>
            <a:r>
              <a:t>step, and "feature_list.json written with F3 (passes: false)". Sessions: build 18 turns, test 12.</a:t>
            </a:r>
          </a:p>
          <a:p>
            <a:r>
              <a:t>If tonight's run blocks an edit, read its reason aloud: it is what the agent read in its tool result,</a:t>
            </a:r>
          </a:p>
          <a:p>
            <a:r>
              <a:t>and it names the phase and the allowed paths. If it records a `sandbox_denied` event, show its reason</a:t>
            </a:r>
          </a:p>
          <a:p>
            <a:r>
              <a:t>code and command; otherwise show the policy printout. The image is cut to the harness panel.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quiet run ab-20261017-114259-b64f54 (screen 1); README.md §11; Makefile `show-3`.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47 of 72 | S3 Scope and sandbox | 7 min</a:t>
            </a:r>
          </a:p>
          <a:p/>
          <a:p>
            <a:r>
              <a:t>The quiet run's arm line (captured on 2026-10-17, run ab-20261017-114259-b64f54; your output will</a:t>
            </a:r>
          </a:p>
          <a:p>
            <a:r>
              <a:t>differ): `harness completed claim=done primary={"out_of_scope_files": 0, "test_phase_source_edits":</a:t>
            </a:r>
          </a:p>
          <a:p>
            <a:r>
              <a:t>0} passed=True hidden 49/49 mutants 4/4 reviewer=reject cost=$0.0142`. Its diff map: app/api/issues.py,</a:t>
            </a:r>
          </a:p>
          <a:p>
            <a:r>
              <a:t>app/services/issues.py, docs/HANDBOOK.md, tests/visible/test_issue_idempotency.py, all inside the</a:t>
            </a:r>
          </a:p>
          <a:p>
            <a:r>
              <a:t>build allow list. Sandbox denials: none.</a:t>
            </a:r>
          </a:p>
          <a:p/>
          <a:p>
            <a:r>
              <a:t>The 7 A/Bs: run 3 (ab-20261016-212115-a361f5, ab-20261016-213624-d7eb13, ab-20261016-215443-f2c188),</a:t>
            </a:r>
          </a:p>
          <a:p>
            <a:r>
              <a:t>run 4 (ab-20261016-233517-2c9ea4, ab-20261016-234509-8b9bfa, ab-20261016-235305-723a0f),</a:t>
            </a:r>
          </a:p>
          <a:p>
            <a:r>
              <a:t>class-profile round (ab-20261017-090051-91f837). Post hoc, F3 (9 runs per arm): harness arms</a:t>
            </a:r>
          </a:p>
          <a:p>
            <a:r>
              <a:t>shipped a median of 0 tests against 6; claimed done in 4 against 9. Post hoc, F4 (all four layers;</a:t>
            </a:r>
          </a:p>
          <a:p>
            <a:r>
              <a:t>runs 2 and 3, 6 runs per arm): bare arms left the allowed paths in 6 of 6 runs, harness arms in 0 of</a:t>
            </a:r>
          </a:p>
          <a:p>
            <a:r>
              <a:t>6. On F2 the harness arms also stayed inside the allowed paths (0 of 9), but demo-2 has no scope</a:t>
            </a:r>
          </a:p>
          <a:p>
            <a:r>
              <a:t>layer, so that is not the scope layer's doing. Sandbox: no `sandbox_denied` event in any recorded</a:t>
            </a:r>
          </a:p>
          <a:p>
            <a:r>
              <a:t>pilot A/B (checked on 2026-10-17 with `grep -l sandbox_denied .shipharness/runs/*/events.jsonl`),</a:t>
            </a:r>
          </a:p>
          <a:p>
            <a:r>
              <a:t>and none in the quiet run.</a:t>
            </a:r>
          </a:p>
          <a:p/>
          <a:p>
            <a:r>
              <a:t>Run sheet: docs/instructor-guide.md, Stage 6: S3 Scope and sandbox (2:00-2:50), sandbox moment.</a:t>
            </a:r>
          </a:p>
          <a:p>
            <a:r>
              <a:t>Source: quiet run ab-20261017-114259-b64f54 (screen 3); course pilot runs 2-4 and class-profile round (A/B ids above).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48 of 72 | S3 Scope and sandbox | 5 min</a:t>
            </a:r>
          </a:p>
          <a:p/>
          <a:p>
            <a:r>
              <a:t>Expected direction: register out-of-scope files as a measure for every section that runs the scope</a:t>
            </a:r>
          </a:p>
          <a:p>
            <a:r>
              <a:t>layer, and keep hidden tests passed and existing tests that keep passing next to it.</a:t>
            </a:r>
          </a:p>
          <a:p/>
          <a:p>
            <a:r>
              <a:t>Run sheet: docs/instructor-guide.md, Stage 6: S3 Scope and sandbox (2:00-2:50).</a:t>
            </a:r>
          </a:p>
          <a:p>
            <a:r>
              <a:t>Source: docs/instructor-guide.md (schedule).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49 of 72 | S4 Verification | 3 min</a:t>
            </a:r>
          </a:p>
          <a:p/>
          <a:p>
            <a:r>
              <a:t>The answer comes on slide 62. The 4 A/Bs: pilot run 3 and the class-profile round. Hint after the</a:t>
            </a:r>
          </a:p>
          <a:p>
            <a:r>
              <a:t>vote: one referee mutant makes writes stop moving the version, which brings back lost updates. A</a:t>
            </a:r>
          </a:p>
          <a:p>
            <a:r>
              <a:t>shipped test catches it only if it checks that a write moves the ETag, or that a save with the old</a:t>
            </a:r>
          </a:p>
          <a:p>
            <a:r>
              <a:t>version gets 412.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submodules/04-verification/demo/README.md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50 of 72 | S4 Verification | 1 min</a:t>
            </a:r>
          </a:p>
          <a:p/>
          <a:p>
            <a:r>
              <a:t>Some hidden tests combine the new feature with an earlier one.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submodules/04-verification/demo/README.md (final feature poll); final-project/README.md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51 of 72 | S4 Verification | 2 min</a:t>
            </a:r>
          </a:p>
          <a:p/>
          <a:p>
            <a:r>
              <a:t>`make final` runs its features one after another, so at most one A/B and one harness-in-action run</a:t>
            </a:r>
          </a:p>
          <a:p>
            <a:r>
              <a:t>are live at a time. The class profile is identical for both arms: effort low, Fast tier, 2 CPUs per</a:t>
            </a:r>
          </a:p>
          <a:p>
            <a:r>
              <a:t>container, early primary verdict, five flakiness re-runs. Final run cap $0.25 per arm.</a:t>
            </a:r>
          </a:p>
          <a:p/>
          <a:p>
            <a:r>
              <a:t>Timing reference for show-4: in the quiet run of `make show-4` (captured on 2026-10-17, run</a:t>
            </a:r>
          </a:p>
          <a:p>
            <a:r>
              <a:t>ab-20261017-115138-c45d9d; your output will differ) the primary verdict came 9:19 after launch, the</a:t>
            </a:r>
          </a:p>
          <a:p>
            <a:r>
              <a:t>full verdict 10:55 after launch, and the command took 11 min 6 s in all. It exited 2: the agent time</a:t>
            </a:r>
          </a:p>
          <a:p>
            <a:r>
              <a:t>limit ended the test phase. In the class-profile round (A/B ab-20261017-090903-926c02, run alone)</a:t>
            </a:r>
          </a:p>
          <a:p>
            <a:r>
              <a:t>the harness arm's primary verdict came 811 s and its full verdict 927 s after launch.</a:t>
            </a:r>
          </a:p>
          <a:p/>
          <a:p>
            <a:r>
              <a:t>Timing reference for the final: the quiet run of `make final FEATURES=F5` (captured on</a:t>
            </a:r>
          </a:p>
          <a:p>
            <a:r>
              <a:t>2026-10-17, run ab-20261017-120323-c97138; your output will differ) took 12 min 47 s: bare arm</a:t>
            </a:r>
          </a:p>
          <a:p>
            <a:r>
              <a:t>primary verdict 3:27 and full verdict 6:50 after launch, harness arm 9:48 and 12:32 (it hit the</a:t>
            </a:r>
          </a:p>
          <a:p>
            <a:r>
              <a:t>agent time limit, exit 2). The final A/B must be finished by 3:40, when slide 64 opens the final</a:t>
            </a:r>
          </a:p>
          <a:p>
            <a:r>
              <a:t>block; with two features `make final` runs them one after another.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README.md §10, §13; Makefile `show-4`, `final`; teamtrack/reference/f4/task.toml; teamtrack/mutants/features/f4.jsonl.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52 of 72 | S4 Verification | 1 min</a:t>
            </a:r>
          </a:p>
          <a:p/>
          <a:p>
            <a:r>
              <a:t>The first three bullets are the section's objectives (course design). The one-line assumption is the</a:t>
            </a:r>
          </a:p>
          <a:p>
            <a:r>
              <a:t>course's wording, after A3 (F-a-15) and A4 (F-a-17).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S4 learning objectives (course design); README.md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53 of 72 | S4 Verification | 2.5 min</a:t>
            </a:r>
          </a:p>
          <a:p/>
          <a:p>
            <a:r>
              <a:t>Cause 4 from the opening.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A3, A4, B13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54 of 72 | S4 Verification | 3 min</a:t>
            </a:r>
          </a:p>
          <a:p/>
          <a:p>
            <a:r>
              <a:t>Say at the filter table: "Filters 1 to 3 are TestGen-LLM's; 4 and 5 are course filters." TestGen-LLM</a:t>
            </a:r>
          </a:p>
          <a:p>
            <a:r>
              <a:t>reports its evaluation funnel over 86 test classes (F-b-23). The referee's flakiness check runs each</a:t>
            </a:r>
          </a:p>
          <a:p>
            <a:r>
              <a:t>shipped test five times since 2026-10-17 (it was ten before), for both arms.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submodules/04-verification/concepts.md §3.3; B11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55 of 72 | S4 Verification | 3 min</a:t>
            </a:r>
          </a:p>
          <a:p/>
          <a:p>
            <a:r>
              <a:t>The referee-set mutants were never visible to the filters.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submodules/04-verification/concepts.md §3.4; B12, B13, B14 in REFERENCES.md; counts in submodules/04-verification/post-class-reading/04-held-out-tests-specbench.md.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56 of 72 | S4 Verification | 3 min</a:t>
            </a:r>
          </a:p>
          <a:p/>
          <a:p>
            <a:r>
              <a:t>A3: separating the agent doing the work from the agent judging it is "a strong lever" (F-a-110), but</a:t>
            </a:r>
          </a:p>
          <a:p>
            <a:r>
              <a:t>the evaluator is still inclined to be generous (F-a-112). The F-a-123 sentence starts: "The practical</a:t>
            </a:r>
          </a:p>
          <a:p>
            <a:r>
              <a:t>implication is that the evaluator is not a fixed yes-or-no decision."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docs/architecture.md §5, §6; A2, A3, A4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57 of 72 | S4 Verification | 1.5 min</a:t>
            </a:r>
          </a:p>
          <a:p/>
          <a:p>
            <a:r>
              <a:t>The course planned a leave-one-layer-out batch for all four layers (M8). It was not run because the</a:t>
            </a:r>
          </a:p>
          <a:p>
            <a:r>
              <a:t>pre-registered pilot gate did not pass, so the course has no per-layer result to show.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A3 in REFERENCES.md; docs/architecture.md §5 (leave one layer out).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58 of 72 | S4 Verification | 2.5 min</a:t>
            </a:r>
          </a:p>
          <a:p/>
          <a:p>
            <a:r>
              <a:t>The inner `for flt in filters` loop with the exception branch folded.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anchor S4:filters.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59 of 72 | S4 Verification | 4 min</a:t>
            </a:r>
          </a:p>
          <a:p/>
          <a:p>
            <a:r>
              <a:t>Show `S4:blind` in the editor. Section minute 25 falls on this slide: check terminal B for the</a:t>
            </a:r>
          </a:p>
          <a:p>
            <a:r>
              <a:t>show-4 `Cost:` line and terminal C for the final (timing references in the notes of slide 51).</a:t>
            </a:r>
          </a:p>
          <a:p/>
          <a:p>
            <a:r>
              <a:t>Run sheet: docs/instructor-guide.md, Stage 7: S4 Verification, with the final launched (2:50-3:40), "Check at section minute 25".</a:t>
            </a:r>
          </a:p>
          <a:p>
            <a:r>
              <a:t>Source: anchors S4:probe, S4:blind.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60 of 72 | S4 Verification | 3.5 min</a:t>
            </a:r>
          </a:p>
          <a:p/>
          <a:p>
            <a:r>
              <a:t>`names = ...`, the build-phase branch, the start of the clean-state check, its failure line, and</a:t>
            </a:r>
          </a:p>
          <a:p>
            <a:r>
              <a:t>`passed = ...`.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anchor S4:gate.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61 of 72 | S4 Verification | 8 min</a:t>
            </a:r>
          </a:p>
          <a:p/>
          <a:p>
            <a:r>
              <a:t>In the quiet run (captured on 2026-10-17, run ab-20261017-115138-c45d9d; your output will differ):</a:t>
            </a:r>
          </a:p>
          <a:p>
            <a:r>
              <a:t>minute 1, turn 1.15 tried to patch app/services/errors.py and the scope layer blocked it ("outside</a:t>
            </a:r>
          </a:p>
          <a:p>
            <a:r>
              <a:t>the allowed paths"); minute 3, turn 1.31 called `finish done` and the gate ran, every pill ✓</a:t>
            </a:r>
          </a:p>
          <a:p>
            <a:r>
              <a:t>(visible tests, existing tests, R1-R7, board, clean state); the harness then set F4 `passes` with</a:t>
            </a:r>
          </a:p>
          <a:p>
            <a:r>
              <a:t>its evidence and moved the exec plan to completed; minutes 4-8, the test phase: one new test file,</a:t>
            </a:r>
          </a:p>
          <a:p>
            <a:r>
              <a:t>a failing `run_visible_tests`, the filters; minute 9, the agent time limit ended the run and screen 1</a:t>
            </a:r>
          </a:p>
          <a:p>
            <a:r>
              <a:t>showed "primary verdict ready: FAIL" at 9:19; the full verdict came at 10:55. Screen 2's conflict</a:t>
            </a:r>
          </a:p>
          <a:p>
            <a:r>
              <a:t>panel: "CONFLICT DETECTED: tab B got HTTP 409", and tab B read "This issue was changed by someone</a:t>
            </a:r>
          </a:p>
          <a:p>
            <a:r>
              <a:t>else". Say at the filter table: "The referee-set mutants were never visible to the filters." The</a:t>
            </a:r>
          </a:p>
          <a:p>
            <a:r>
              <a:t>image joins the harness panel of screen 1 with the conflict panel's banner and tab B.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quiet run ab-20261017-115138-c45d9d (screens 1 and 2); README.md §11; Makefile `show-4`.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62 of 72 | S4 Verification | 7 min</a:t>
            </a:r>
          </a:p>
          <a:p/>
          <a:p>
            <a:r>
              <a:t>The quiet run's arm line (captured on 2026-10-17, run ab-20261017-115138-c45d9d; your output will</a:t>
            </a:r>
          </a:p>
          <a:p>
            <a:r>
              <a:t>differ): `harness ABORTED: timeout claim=done primary={"hidden_passed": 68, "mutants_killed": 0}</a:t>
            </a:r>
          </a:p>
          <a:p>
            <a:r>
              <a:t>passed=False hidden 68/69 mutants 0/4 reviewer=reject cost=$0.0233`. Filter table: 4 proposed tests,</a:t>
            </a:r>
          </a:p>
          <a:p>
            <a:r>
              <a:t>1 kept; two discarded by filter 3 (no new line coverage) and one by filter 2 ("failed on run 1 of 5:</a:t>
            </a:r>
          </a:p>
          <a:p>
            <a:r>
              <a:t>assert 422 == 412"). Diff map: one ⊘ blocked file (app/services/errors.py), every shipped file inside</a:t>
            </a:r>
          </a:p>
          <a:p>
            <a:r>
              <a:t>the allowed paths. This is a show run, so it is not part of the pilot counts below.</a:t>
            </a:r>
          </a:p>
          <a:p/>
          <a:p>
            <a:r>
              <a:t>The 4 A/Bs: run 3 (ab-20261016-212252-aa1644, ab-20261016-214151-ca9841, ab-20261016-220010-c5b4bf),</a:t>
            </a:r>
          </a:p>
          <a:p>
            <a:r>
              <a:t>class-profile round (ab-20261017-090903-926c02). Run 3 bare hidden tests 66, 66, 69 of 69 and mutants</a:t>
            </a:r>
          </a:p>
          <a:p>
            <a:r>
              <a:t>killed 4, 0, 3 of 4. Class-profile round: both arms 68 of 69 hidden tests; mutants killed: bare 4,</a:t>
            </a:r>
          </a:p>
          <a:p>
            <a:r>
              <a:t>harness 1. On F4 in runs 2 and 3 the harness arm never claimed done (0 of 6), so its verify gate never</a:t>
            </a:r>
          </a:p>
          <a:p>
            <a:r>
              <a:t>ran; in two of the three run 3 A/Bs the agent time limit cut its test phase. F4 had no run 4 (pilot</a:t>
            </a:r>
          </a:p>
          <a:p>
            <a:r>
              <a:t>cap). Post hoc (chosen after the results, descriptive; runs 2-4 and the live console check, 34 runs</a:t>
            </a:r>
          </a:p>
          <a:p>
            <a:r>
              <a:t>per arm): no done claim came with failing hidden tests (0 of 19 bare, 0 of 10 harness).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quiet run ab-20261017-115138-c45d9d (screen 3); course pilot runs 2-4 and class-profile round (A/B ids above).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63 of 72 | S4 Verification | 5 min</a:t>
            </a:r>
          </a:p>
          <a:p/>
          <a:p>
            <a:r>
              <a:t>Tie the discussion to A4, F-a-17, and A3, F-a-123.</a:t>
            </a:r>
          </a:p>
          <a:p/>
          <a:p>
            <a:r>
              <a:t>Run sheet: docs/instructor-guide.md, Stage 7: S4 Verification, with the final launched (2:50-3:40).</a:t>
            </a:r>
          </a:p>
          <a:p>
            <a:r>
              <a:t>Source: docs/instructor-guide.md (schedule).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64 of 72 | Final results | 2 min</a:t>
            </a:r>
          </a:p>
          <a:p/>
          <a:p>
            <a:r>
              <a:t>The final A/B was launched on slide 51 and ran during S4. No run starts here. This is the class's</a:t>
            </a:r>
          </a:p>
          <a:p>
            <a:r>
              <a:t>measurement lesson: one run per arm cannot show a difference; the pilot ran 3 A/Bs per section per</a:t>
            </a:r>
          </a:p>
          <a:p>
            <a:r>
              <a:t>run and still reports "no measurable difference" where the arms tie.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Makefile `final`; README.md §10, §13; final-project/README.md §5.1.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65 of 72 | Final results | 3 min</a:t>
            </a:r>
          </a:p>
          <a:p/>
          <a:p>
            <a:r>
              <a:t>Both arms, side by side. Show tonight's final live; the picture is the quiet run of `make final</a:t>
            </a:r>
          </a:p>
          <a:p>
            <a:r>
              <a:t>FEATURES=F5` (captured on 2026-10-17, run ab-20261017-120323-c97138; your output will differ): bare</a:t>
            </a:r>
          </a:p>
          <a:p>
            <a:r>
              <a:t>arm completed and claimed done, primary verdict 3:27 and full verdict 6:50 after launch; harness arm</a:t>
            </a:r>
          </a:p>
          <a:p>
            <a:r>
              <a:t>hit the agent time limit without a claim, 9:48 and 12:32; hidden tests 46 of 46 and mutants killed 2</a:t>
            </a:r>
          </a:p>
          <a:p>
            <a:r>
              <a:t>of 3 in both arms; F5 has no primary measure, so read those counts. The harness arm's second turn</a:t>
            </a:r>
          </a:p>
          <a:p>
            <a:r>
              <a:t>read session-handoff.md.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README.md §11; final-project/README.md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66 of 72 | Final results | 2 min</a:t>
            </a:r>
          </a:p>
          <a:p/>
          <a:p>
            <a:r>
              <a:t>The marks come from trusted data- attributes, not from the agent. In the class-profile round every</a:t>
            </a:r>
          </a:p>
          <a:p>
            <a:r>
              <a:t>board showed "✓ only own-org cards, no duplicates", and so did both boards of the quiet final run</a:t>
            </a:r>
          </a:p>
          <a:p>
            <a:r>
              <a:t>(captured on 2026-10-17, run ab-20261017-120323-c97138; your output will differ).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README.md §11 (screen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67 of 72 | Final results | 4 min</a:t>
            </a:r>
          </a:p>
          <a:p/>
          <a:p>
            <a:r>
              <a:t>The fill and stroke lines of the dot plot.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anchor Final:dots; docs/architecture.md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68 of 72 | Final results | 2 min</a:t>
            </a:r>
          </a:p>
          <a:p/>
          <a:p>
            <a:r>
              <a:t>F4: run 3 and the class-profile round (F4 had no run 4). Runs 3 (effort medium) and 4 (effort low),</a:t>
            </a:r>
          </a:p>
          <a:p>
            <a:r>
              <a:t>2026-10-16 to 2026-10-17; class-profile round 2026-10-17 (effort low, Fast tier); 3 A/Bs per section</a:t>
            </a:r>
          </a:p>
          <a:p>
            <a:r>
              <a:t>per run, 1 in the class-profile round; A/B ids in the notes of slides 20, 33, 47, and 62. The</a:t>
            </a:r>
          </a:p>
          <a:p>
            <a:r>
              <a:t>pre-registered gate needed the harness arm ahead in 3 of 4 sections; it was ahead in 0, so the planned</a:t>
            </a:r>
          </a:p>
          <a:p>
            <a:r>
              <a:t>experiment batches (M8: 10 runs per arm and leave-one-layer-out) were not run.</a:t>
            </a:r>
          </a:p>
          <a:p/>
          <a:p>
            <a:r>
              <a:t>Post hoc, descriptive, runs 2-4 and the live console check: the scope layer ran only in F3 and F4</a:t>
            </a:r>
          </a:p>
          <a:p>
            <a:r>
              <a:t>(bare out of scope: F4 6 of 6, F2 3 of 9); tests shipped, median harness 2.5, bare 7.5; arm wall</a:t>
            </a:r>
          </a:p>
          <a:p>
            <a:r>
              <a:t>time, median 302 s against 190 s; agent time limit hit, harness 9 of 34, bare 4 of 34; cost per arm,</a:t>
            </a:r>
          </a:p>
          <a:p>
            <a:r>
              <a:t>median $0.0123 against $0.0103. What to take home: each piece is a bet on what the model cannot do. A1</a:t>
            </a:r>
          </a:p>
          <a:p>
            <a:r>
              <a:t>warns that its own results should "not be assumed to generalize without similar investment"</a:t>
            </a:r>
          </a:p>
          <a:p>
            <a:r>
              <a:t>(F-a-143); the same holds here: one model, one task per section, a few runs per arm.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course pilot runs 2-4 and class-profile round; A1 F-a-143 in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69 of 72 | Wrap-up | 3 min</a:t>
            </a:r>
          </a:p>
          <a:p/>
          <a:p>
            <a:r>
              <a:t>Learner budgets are course design; the figures are the live-step bounds in README.md §12 and each</a:t>
            </a:r>
          </a:p>
          <a:p>
            <a:r>
              <a:t>assignment's "Cost and trace budget".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submodules/01-instructions/assignment/README.md to submodules/04-verification/assignment/README.md; Makefile `check-assignment-N`.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70 of 72 | Wrap-up | 2 min</a:t>
            </a:r>
          </a:p>
          <a:p/>
          <a:p>
            <a:r>
              <a:t>The `skill-template` frontmatter from `name` to `license`. The kit copies the AGENTS.md map, the docs/</a:t>
            </a:r>
          </a:p>
          <a:p>
            <a:r>
              <a:t>layout, the state files, the feature list and its schema, house-rule check templates, a sandbox</a:t>
            </a:r>
          </a:p>
          <a:p>
            <a:r>
              <a:t>policy, a CI workflow, and the four skills into `.claude/skills/` and `.agents/skills/`.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B1 in REFERENCES.md; README.md §14; kit/README.md; anchor Final:skill_template.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71 of 72 | Wrap-up | 1 min</a:t>
            </a:r>
          </a:p>
          <a:p/>
          <a:p>
            <a:r>
              <a:t>Full links in REFERENCES.md.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72 of 72 | Wrap-up | 1 min</a:t>
            </a:r>
          </a:p>
          <a:p/>
          <a:p>
            <a:r>
              <a:t>Full links in REFERENCES.md.</a:t>
            </a:r>
          </a:p>
          <a:p/>
          <a:p>
            <a:r>
              <a:t>Run sheet: docs/instructor-guide.md, Stage 8: Final block and wrap-up (3:40-4:00).</a:t>
            </a:r>
          </a:p>
          <a:p>
            <a:r>
              <a:t>Source: 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164080"/>
            <a:ext cx="11125200" cy="146304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ctr"/>
            <a:r>
              <a:rPr sz="4800" b="1">
                <a:solidFill>
                  <a:srgbClr val="0B1F33"/>
                </a:solidFill>
                <a:latin typeface="Calibri"/>
              </a:rPr>
              <a:t>Harness Engineering for Coding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3703320"/>
            <a:ext cx="9525000" cy="8001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ctr"/>
            <a:r>
              <a:rPr sz="2400" b="0">
                <a:solidFill>
                  <a:srgbClr val="2C3E50"/>
                </a:solidFill>
                <a:latin typeface="Calibri"/>
              </a:rPr>
              <a:t>Instructions, state, scope, and verification: what each piece assumes about the model, and how to measure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4579620"/>
            <a:ext cx="11125200" cy="3810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>
                <a:solidFill>
                  <a:srgbClr val="2C3E50"/>
                </a:solidFill>
                <a:latin typeface="Calibri"/>
              </a:rPr>
              <a:t>Module 1 · course repository </a:t>
            </a:r>
            <a:r>
              <a:rPr sz="2100" b="0">
                <a:solidFill>
                  <a:srgbClr val="2C3E50"/>
                </a:solidFill>
                <a:latin typeface="Consolas"/>
              </a:rPr>
              <a:t>shipharness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The problem: four failures to check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Cross-tenant data: an Acme user sees Globex issues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second session that redoes or breaks the first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Edits outside the ticket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agent's own tests pass while the behaviour is wrong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referee checks every run for all four, in both arms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Why it happens: four causes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Cause 1: "anything it can’t access in-context while running effectively doesn’t exist" (A1, F-a-05)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Cause 2: "each new session begins with no memory of what came before." (A2, F-a-08)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Cause 3, side by side: A1 F-a-20; A4 F-a-18, F-a-19; A5 F-a-86; A6 F-a-21 (supplementary)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Cause 4: "agents reliably skew positive when grading their own work" (A3, F-a-15); B13 F-b-45, F-b-50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A harness encodes assumptions about the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472595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A1 on the work: "design environments, specify intent, and build feedback loops" (F-a-02)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A3: "every component in a harness encodes an assumption about what the model can't do on its own" (F-a-124)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Assumptions change with the model: A3 dropped context resets for Opus 4.5 (F-a-69)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Four parts, S1 to S4, plus a sandbox that is identical for both arms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The course's claim: measure each piece, keep what earns its place</a:t>
            </a:r>
          </a:p>
        </p:txBody>
      </p:sp>
      <p:pic>
        <p:nvPicPr>
          <p:cNvPr id="9" name="Picture 8" descr="b5ffc4b1fcfafe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419" y="3787045"/>
            <a:ext cx="9095162" cy="26137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shipharness, TeamTrack, console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65836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887"/>
              </a:spcAft>
            </a:pPr>
            <a:r>
              <a:rPr sz="1972" b="0">
                <a:solidFill>
                  <a:srgbClr val="111820"/>
                </a:solidFill>
                <a:latin typeface="Calibri"/>
              </a:rPr>
              <a:t>•  </a:t>
            </a:r>
            <a:r>
              <a:rPr sz="1972" b="0">
                <a:solidFill>
                  <a:srgbClr val="111820"/>
                </a:solidFill>
                <a:latin typeface="Consolas"/>
              </a:rPr>
              <a:t>shipharness</a:t>
            </a:r>
            <a:r>
              <a:rPr sz="1972" b="0">
                <a:solidFill>
                  <a:srgbClr val="111820"/>
                </a:solidFill>
                <a:latin typeface="Calibri"/>
              </a:rPr>
              <a:t>: run an agent with or without the harness, A/B it, judge it</a:t>
            </a:r>
          </a:p>
          <a:p>
            <a:pPr algn="l">
              <a:spcAft>
                <a:spcPts val="887"/>
              </a:spcAft>
            </a:pPr>
            <a:r>
              <a:rPr sz="1972" b="0">
                <a:solidFill>
                  <a:srgbClr val="111820"/>
                </a:solidFill>
                <a:latin typeface="Calibri"/>
              </a:rPr>
              <a:t>•  </a:t>
            </a:r>
            <a:r>
              <a:rPr sz="1972" b="0">
                <a:solidFill>
                  <a:srgbClr val="111820"/>
                </a:solidFill>
                <a:latin typeface="Calibri"/>
              </a:rPr>
              <a:t>TeamTrack: multi-tenant issue tracker, orgs Acme and Globex, 25 API operations, 142 visible tests</a:t>
            </a:r>
          </a:p>
          <a:p>
            <a:pPr algn="l">
              <a:spcAft>
                <a:spcPts val="887"/>
              </a:spcAft>
            </a:pPr>
            <a:r>
              <a:rPr sz="1972" b="0">
                <a:solidFill>
                  <a:srgbClr val="111820"/>
                </a:solidFill>
                <a:latin typeface="Calibri"/>
              </a:rPr>
              <a:t>•  </a:t>
            </a:r>
            <a:r>
              <a:rPr sz="1972" b="0">
                <a:solidFill>
                  <a:srgbClr val="111820"/>
                </a:solidFill>
                <a:latin typeface="Calibri"/>
              </a:rPr>
              <a:t>Console: five screens on keys </a:t>
            </a:r>
            <a:r>
              <a:rPr sz="1972" b="0">
                <a:solidFill>
                  <a:srgbClr val="111820"/>
                </a:solidFill>
                <a:latin typeface="Consolas"/>
              </a:rPr>
              <a:t>1</a:t>
            </a:r>
            <a:r>
              <a:rPr sz="1972" b="0">
                <a:solidFill>
                  <a:srgbClr val="111820"/>
                </a:solidFill>
                <a:latin typeface="Calibri"/>
              </a:rPr>
              <a:t> to </a:t>
            </a:r>
            <a:r>
              <a:rPr sz="1972" b="0">
                <a:solidFill>
                  <a:srgbClr val="111820"/>
                </a:solidFill>
                <a:latin typeface="Consolas"/>
              </a:rPr>
              <a:t>5</a:t>
            </a:r>
            <a:r>
              <a:rPr sz="1972" b="0">
                <a:solidFill>
                  <a:srgbClr val="111820"/>
                </a:solidFill>
                <a:latin typeface="Calibri"/>
              </a:rPr>
              <a:t>, </a:t>
            </a:r>
            <a:r>
              <a:rPr sz="1972" b="0">
                <a:solidFill>
                  <a:srgbClr val="111820"/>
                </a:solidFill>
                <a:latin typeface="Consolas"/>
              </a:rPr>
              <a:t>F</a:t>
            </a:r>
            <a:r>
              <a:rPr sz="1972" b="0">
                <a:solidFill>
                  <a:srgbClr val="111820"/>
                </a:solidFill>
                <a:latin typeface="Calibri"/>
              </a:rPr>
              <a:t> for full screen per arm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972810"/>
            <a:ext cx="11125200" cy="3206892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972810"/>
            <a:ext cx="57150" cy="32068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3068060"/>
            <a:ext cx="10858500" cy="305449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def run_and_judge(arm: Arm) -&gt; tuple[AgentRunResult, ScoreRecord]: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result = run_arm(task, specs[arm], deps, bus, run_dir)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baseline.join()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referee.baseline()  # computed by the thread (or now, if the thread failed)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return result, _judge(referee, specs[arm], result, bus, run_dir)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try: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with ThreadPoolExecutor(max_workers=2, thread_name_prefix="arm") as pool: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    futures = {arm: pool.submit(run_and_judge, arm) for arm in arms}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    done = {arm: future.result() for arm, future in futures.items()}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finally: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    ...</a:t>
            </a:r>
          </a:p>
          <a:p>
            <a:pPr algn="l"/>
            <a:r>
              <a:rPr sz="1480" b="0">
                <a:solidFill>
                  <a:srgbClr val="111820"/>
                </a:solidFill>
                <a:latin typeface="Consolas"/>
              </a:rPr>
              <a:t>results = {arm: done[arm][0] for arm in arms}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6198752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src/shipharness/ab/demo.py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How we measure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Same agent, model, effort, task, repository, tools, sandbox, turn limit, cost cap; one deterministic referee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House rules R1-R7: the course label for A1's "golden principles" (F-a-99)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One primary measure per section, registered before any run; results are counts, never percentages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Registered before the runs: no gap is reported as "no measurable difference on this task with this model"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One piece at a time is A3's method: "removing one component at a time" (F-a-125)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Datasets: 60 tasks in six groups, 40 test-generation targets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Opening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Check your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doctor</a:t>
            </a:r>
            <a:r>
              <a:rPr sz="2100" b="0">
                <a:solidFill>
                  <a:srgbClr val="111820"/>
                </a:solidFill>
                <a:latin typeface="Calibri"/>
              </a:rPr>
              <a:t> now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 the </a:t>
            </a:r>
            <a:r>
              <a:rPr sz="2100" b="0">
                <a:solidFill>
                  <a:srgbClr val="111820"/>
                </a:solidFill>
                <a:latin typeface="Consolas"/>
              </a:rPr>
              <a:t>harness-setup</a:t>
            </a:r>
            <a:r>
              <a:rPr sz="2100" b="0">
                <a:solidFill>
                  <a:srgbClr val="111820"/>
                </a:solidFill>
                <a:latin typeface="Calibri"/>
              </a:rPr>
              <a:t> assessment on the bare TeamTrack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Read the gaps it reports: instructions, state, scope, verification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9094851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8866251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</a:t>
            </a:r>
            <a:r>
              <a:rPr sz="1400" b="0">
                <a:solidFill>
                  <a:srgbClr val="1F2A35"/>
                </a:solidFill>
                <a:latin typeface="Consolas"/>
              </a:rPr>
              <a:t>make doctor</a:t>
            </a:r>
            <a:r>
              <a:rPr sz="1400" b="0">
                <a:solidFill>
                  <a:srgbClr val="1F2A35"/>
                </a:solidFill>
                <a:latin typeface="Calibri"/>
              </a:rPr>
              <a:t> output and the </a:t>
            </a:r>
            <a:r>
              <a:rPr sz="1400" b="0">
                <a:solidFill>
                  <a:srgbClr val="1F2A35"/>
                </a:solidFill>
                <a:latin typeface="Consolas"/>
              </a:rPr>
              <a:t>harness-setup</a:t>
            </a:r>
            <a:r>
              <a:rPr sz="1400" b="0">
                <a:solidFill>
                  <a:srgbClr val="1F2A35"/>
                </a:solidFill>
                <a:latin typeface="Calibri"/>
              </a:rPr>
              <a:t> assessment of the bare TeamTrack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F1 org-wide issue search; rule at risk: R1 tenant isolation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pilot's trap ticket: a legacy handler without the tenant filter, next to the right pattern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Of the pilot's 7 bare-arm F1 runs on that ticket, how many shipped at least one new R1 violation?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A) 0-1   B) 2-3   C) 4-5   D) 6-7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Close the poll before the launch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3918966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3690366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the room's poll result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Launching harness in action: F1 org-wide issue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839517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Now: run </a:t>
            </a:r>
            <a:r>
              <a:rPr sz="2039" b="0">
                <a:solidFill>
                  <a:srgbClr val="111820"/>
                </a:solidFill>
                <a:latin typeface="Consolas"/>
              </a:rPr>
              <a:t>make show-1</a:t>
            </a:r>
            <a:r>
              <a:rPr sz="2039" b="0">
                <a:solidFill>
                  <a:srgbClr val="111820"/>
                </a:solidFill>
                <a:latin typeface="Calibri"/>
              </a:rPr>
              <a:t> in terminal B; it runs during slides 10-18, back on slide 19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Harness in action: the harness arm alone on F1, live; not an A/B, so it stays out of the comparison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Watch for: the map is in its context from the first turn; which documents does it open before it writes code?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The referee judges it live: R1 probes first ("primary verdict ready"), then the other checks</a:t>
            </a:r>
          </a:p>
        </p:txBody>
      </p:sp>
      <p:pic>
        <p:nvPicPr>
          <p:cNvPr id="9" name="Picture 8" descr="f0edb3aded035d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936524"/>
            <a:ext cx="11125200" cy="68171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S1: what the agent knows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839517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Explain why an agent does not apply a rule that exists only outside its context (A1)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Structure knowledge as a short AGENTS.md map into </a:t>
            </a:r>
            <a:r>
              <a:rPr sz="2039" b="0">
                <a:solidFill>
                  <a:srgbClr val="111820"/>
                </a:solidFill>
                <a:latin typeface="Consolas"/>
              </a:rPr>
              <a:t>docs/</a:t>
            </a:r>
            <a:r>
              <a:rPr sz="2039" b="0">
                <a:solidFill>
                  <a:srgbClr val="111820"/>
                </a:solidFill>
                <a:latin typeface="Calibri"/>
              </a:rPr>
              <a:t>, plus one skill with progressive disclosure (B1)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Read the S1 result: new R1 violations per run, bare arm against harness arm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The assumption the map encodes: the model will not apply a rule it has not been pointed to</a:t>
            </a:r>
          </a:p>
        </p:txBody>
      </p:sp>
      <p:pic>
        <p:nvPicPr>
          <p:cNvPr id="9" name="Picture 8" descr="ecbc1b3b9b118e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814" y="4153967"/>
            <a:ext cx="7818372" cy="224683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9334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Problem: the rule is written down, the agent does not apply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657350"/>
            <a:ext cx="11125200" cy="47434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F1 builds </a:t>
            </a:r>
            <a:r>
              <a:rPr sz="2100" b="0">
                <a:solidFill>
                  <a:srgbClr val="111820"/>
                </a:solidFill>
                <a:latin typeface="Consolas"/>
              </a:rPr>
              <a:t>GET /issues</a:t>
            </a:r>
            <a:r>
              <a:rPr sz="2100" b="0">
                <a:solidFill>
                  <a:srgbClr val="111820"/>
                </a:solidFill>
                <a:latin typeface="Calibri"/>
              </a:rPr>
              <a:t>, an org-wide issue search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R1: another org's resource is 404, never 403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rule is in </a:t>
            </a:r>
            <a:r>
              <a:rPr sz="2100" b="0">
                <a:solidFill>
                  <a:srgbClr val="111820"/>
                </a:solidFill>
                <a:latin typeface="Consolas"/>
              </a:rPr>
              <a:t>docs/HANDBOOK.md</a:t>
            </a:r>
            <a:r>
              <a:rPr sz="2100" b="0">
                <a:solidFill>
                  <a:srgbClr val="111820"/>
                </a:solidFill>
                <a:latin typeface="Calibri"/>
              </a:rPr>
              <a:t>, and both arms can read it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Nothing is withheld from the bare arm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Cause: what is not in context does not exist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"anything it can’t access in-context while running effectively doesn’t exist" (A1, F-a-05)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"A giant instruction file crowds out the task, the code, and the relevant docs" (A1, F-a-23)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"Too much guidance becomes non-guidance." (A1, F-a-24)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long manual goes stale and cannot be checked mechanically (A1, F-a-25, F-a-26)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Agents copy existing patterns, including uneven ones (A1, F-a-20)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Harness piece: AGENTS.md as a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"roughly 100 lines", "a map", "the table of contents" (A1, F-a-22, F-a-27, F-a-28)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docs/</a:t>
            </a:r>
            <a:r>
              <a:rPr sz="2100" b="0">
                <a:solidFill>
                  <a:srgbClr val="111820"/>
                </a:solidFill>
                <a:latin typeface="Calibri"/>
              </a:rPr>
              <a:t> is the system of record (A1, F-a-29, F-a-30)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A1's layout: ARCHITECTURE.md at the root; SECURITY.md, RELIABILITY.md, QUALITY_SCORE.md, PLANS.md in docs/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Also in docs/: design-docs/, product-specs/, references/ (A1, F-a-30, F-a-31)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Progressive disclosure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Docs: "agents start with a small, stable entry point and are taught where to look next" (A1, F-a-36)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Skills, three tiers: "Metadata (~100 tokens)", "Instructions (&lt; 5000 tokens recommended)", "Resources (as needed)"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Tiers from B1 and B2 (F-b-05, F-b-06)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SKILL.md needs </a:t>
            </a:r>
            <a:r>
              <a:rPr sz="2100" b="0">
                <a:solidFill>
                  <a:srgbClr val="111820"/>
                </a:solidFill>
                <a:latin typeface="Consolas"/>
              </a:rPr>
              <a:t>name</a:t>
            </a:r>
            <a:r>
              <a:rPr sz="2100" b="0">
                <a:solidFill>
                  <a:srgbClr val="111820"/>
                </a:solidFill>
                <a:latin typeface="Calibri"/>
              </a:rPr>
              <a:t> and </a:t>
            </a:r>
            <a:r>
              <a:rPr sz="2100" b="0">
                <a:solidFill>
                  <a:srgbClr val="111820"/>
                </a:solidFill>
                <a:latin typeface="Consolas"/>
              </a:rPr>
              <a:t>description</a:t>
            </a:r>
            <a:r>
              <a:rPr sz="2100" b="0">
                <a:solidFill>
                  <a:srgbClr val="111820"/>
                </a:solidFill>
                <a:latin typeface="Calibri"/>
              </a:rPr>
              <a:t> (F-b-01 to F-b-04)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Keep the map true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Docs are checked mechanically by linters and CI jobs (A1, F-a-37)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Lint messages that teach: the error carries the fix into the agent's context (A1, F-a-97)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Fairness: the bare arm gets every rule in </a:t>
            </a:r>
            <a:r>
              <a:rPr sz="2100" b="0">
                <a:solidFill>
                  <a:srgbClr val="111820"/>
                </a:solidFill>
                <a:latin typeface="Consolas"/>
              </a:rPr>
              <a:t>docs/HANDBOOK.md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unit test checks that both forms carry each rule id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the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"Where to look" table of TeamTrack's AGENTS.md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Each row: what you are about to do, and the document to read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3321558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332155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316915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## Where to look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When you are about to | Read first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|---|---|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add or change an endpoint | `.agents/skills/add-endpoint/SKILL.md` (step by step)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touch a router, service, repository, or model | `ARCHITECTURE.md` (layers, R6)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decide who may see or change data | `docs/SECURITY.md` (R1 tenant isolation, R2 roles)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shape a list, an error, or a status code | `docs/design-docs/api-conventions.md` (R3)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write a create endpoint or any write | `docs/RELIABILITY.md` (R4 idempotency, R5 audit)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change the database schema | `docs/RELIABILITY.md` (R7 migrations)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change issue or project behaviour | `docs/product-specs/teamtrack-base.md`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write or run tests | `docs/QUALITY_SCORE.md` (testing, known gaps) |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| plan a change or check the roadmap | `docs/PLANS.md` |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604510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teamtrack/harness/instructions/AGENTS.md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skills, tier 1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catalogue_block</a:t>
            </a:r>
            <a:r>
              <a:rPr sz="2100" b="0">
                <a:solidFill>
                  <a:srgbClr val="111820"/>
                </a:solidFill>
                <a:latin typeface="Calibri"/>
              </a:rPr>
              <a:t>: one line per skill, name and description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full SKILL.md is never pre-loaded; the agent reads it when the task matches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2435162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243516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228276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def catalogue_block(self) -&gt; str: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skills = self.catalogue()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if not skills: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    return ""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rows = [f"- {s.name}: {s.description} (read {s.path}/SKILL.md to use it)" for s in skills]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return (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    "Available skills (load a skill's SKILL.md only when the task needs it):\n"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    + "\n".join(rows)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4718114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src/shipharness/runner/skills_loader.py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the stable prefix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One stable text block: the map, then tier 1 of every skill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documents the map points to are not injected; the agent opens them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2743200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2743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2590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agents_md = strip_markers((source / MAP_FILE).read_text(encoding="utf-8")).strip()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blocks = [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    "Repository map (AGENTS.md at the workspace root). It points to the documents to read "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    "before you change code; open them with read_file when your task needs them.",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    agents_md,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]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catalogue = SkillsLoader(source / SKILLS_DIR, workspace_prefix=SKILLS_DIR).catalogue_block()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if catalogue: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    blocks.append(catalogue)</a:t>
            </a:r>
          </a:p>
          <a:p>
            <a:pPr algn="l"/>
            <a:r>
              <a:rPr sz="1500" b="0">
                <a:solidFill>
                  <a:srgbClr val="111820"/>
                </a:solidFill>
                <a:latin typeface="Consolas"/>
              </a:rPr>
              <a:t>return "\n\n".join(blocks)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026152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src/shipharness/harness/instructions/router.py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19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what to watch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229707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Screen 1: build turns, test phase, "Agent said done", "primary verdict ready", full verdict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Screen 3: files read and the diff map; screen 2: the board ("✓ only own-org cards"); screen 5: trace links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Console screens 1 and 2 (show-1), captured on 2026-10-17, run ab-20261017-112101-c5d839; your output will differ</a:t>
            </a:r>
          </a:p>
        </p:txBody>
      </p:sp>
      <p:pic>
        <p:nvPicPr>
          <p:cNvPr id="9" name="Picture 8" descr="s1-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1123" y="3544157"/>
            <a:ext cx="6369755" cy="238039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33400" y="6019800"/>
            <a:ext cx="8341995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6067425"/>
            <a:ext cx="8113395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</a:t>
            </a:r>
            <a:r>
              <a:rPr sz="1400" b="0">
                <a:solidFill>
                  <a:srgbClr val="1F2A35"/>
                </a:solidFill>
                <a:latin typeface="Consolas"/>
              </a:rPr>
              <a:t>make show-1</a:t>
            </a:r>
            <a:r>
              <a:rPr sz="1400" b="0">
                <a:solidFill>
                  <a:srgbClr val="1F2A35"/>
                </a:solidFill>
                <a:latin typeface="Calibri"/>
              </a:rPr>
              <a:t>: the primary verdict and the documents the agent opened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reading the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3094387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show-1 in the quiet run: 0 new R1 violations (passes), hidden tests 52 of 52, mutants killed 2 of 4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One harness arm on one run shows the layer ran, not that it helped: that takes the A/B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Pilot, any new R1 violation fails: bare 0 of 7 failing, harness 0 of 7 (poll answer: A)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No measurable difference on this task with this model: the bare arm applied R1 without the map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Console screen 3 (show-1), captured on 2026-10-17, run ab-20261017-112101-c5d839; your output will differ</a:t>
            </a:r>
          </a:p>
        </p:txBody>
      </p:sp>
      <p:pic>
        <p:nvPicPr>
          <p:cNvPr id="9" name="Picture 8" descr="s1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834" y="4408837"/>
            <a:ext cx="7454332" cy="199196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S1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Runbook and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Runbook: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submodules/01-instructions/demo/README.md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Discussion: the map changed nothing on this ticket. What would have to be true of a model or a ticket for it to earn its place?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Next: what happens when a session ends halfway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F2 comments over two sessions; at risk: continuity and R7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In the pilot both arms stopped after 12 turns and restarted with an empty context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In those 7 A/Bs, which arms failed the continuity measure?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A) No arm   B) Only bare arms   C) Only harness arms   D) Some of both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Close the poll before the launch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3918966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3690366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the room's poll result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Launching harness in action: F2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92303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Now: run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show-2 SESSION_BUDGET=12,38</a:t>
            </a:r>
            <a:r>
              <a:rPr sz="2100" b="0">
                <a:solidFill>
                  <a:srgbClr val="111820"/>
                </a:solidFill>
                <a:latin typeface="Calibri"/>
              </a:rPr>
              <a:t> in terminal B; it runs during slides 24-31, back on slide 32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Harness in action: the harness arm alone on F2, first session 12 turns; not an A/B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Watch for: the handoff written at the end of session 1, and session 2 resuming from it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Harness arm layers: instructions, state</a:t>
            </a:r>
          </a:p>
        </p:txBody>
      </p:sp>
      <p:pic>
        <p:nvPicPr>
          <p:cNvPr id="9" name="Picture 8" descr="2c0335426df628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989485"/>
            <a:ext cx="11125200" cy="65931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S2: what the agent remembers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3171139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Describe the initializer and coding agents, </a:t>
            </a:r>
            <a:r>
              <a:rPr sz="2039" b="0">
                <a:solidFill>
                  <a:srgbClr val="111820"/>
                </a:solidFill>
                <a:latin typeface="Consolas"/>
              </a:rPr>
              <a:t>init.sh</a:t>
            </a:r>
            <a:r>
              <a:rPr sz="2039" b="0">
                <a:solidFill>
                  <a:srgbClr val="111820"/>
                </a:solidFill>
                <a:latin typeface="Calibri"/>
              </a:rPr>
              <a:t>, the progress file, and git history (A2)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Design an exec plan (A1, A7) and a structured handoff (A3) that let a session resume after a reset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Read the S2 result: redone or lost work and migration-head conflicts after a forced stop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The assumption the state files encode: a fresh session cannot pick up the work from the repository alone</a:t>
            </a:r>
          </a:p>
        </p:txBody>
      </p:sp>
      <p:pic>
        <p:nvPicPr>
          <p:cNvPr id="9" name="Picture 8" descr="95af242cd901ed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3792" y="4485589"/>
            <a:ext cx="6664416" cy="191521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Cause: every session starts empty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"each new session begins with no memory of what came before." (A2, F-a-08)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"However, compaction isn’t sufficient." (A2, F-a-54, F-a-55)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What the last session knew must be written down somewhere the next one reads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Harness piece: state on disk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An initializer agent and a coding agent (A2, F-a-49, F-a-52)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init.sh</a:t>
            </a:r>
            <a:r>
              <a:rPr sz="2100" b="0">
                <a:solidFill>
                  <a:srgbClr val="111820"/>
                </a:solidFill>
                <a:latin typeface="Calibri"/>
              </a:rPr>
              <a:t> (F-a-50) and a progress file (F-a-50, F-a-53); the course names it </a:t>
            </a:r>
            <a:r>
              <a:rPr sz="2100" b="0">
                <a:solidFill>
                  <a:srgbClr val="111820"/>
                </a:solidFill>
                <a:latin typeface="Consolas"/>
              </a:rPr>
              <a:t>progress.md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Git history as state and as a way back (F-a-53, F-a-57)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Course design: the initializer is a deterministic harness step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Getting up to speed, and ending a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A2's routine: </a:t>
            </a:r>
            <a:r>
              <a:rPr sz="2100" b="0">
                <a:solidFill>
                  <a:srgbClr val="111820"/>
                </a:solidFill>
                <a:latin typeface="Consolas"/>
              </a:rPr>
              <a:t>pwd</a:t>
            </a:r>
            <a:r>
              <a:rPr sz="2100" b="0">
                <a:solidFill>
                  <a:srgbClr val="111820"/>
                </a:solidFill>
                <a:latin typeface="Calibri"/>
              </a:rPr>
              <a:t>, progress and git log, the feature list, </a:t>
            </a:r>
            <a:r>
              <a:rPr sz="2100" b="0">
                <a:solidFill>
                  <a:srgbClr val="111820"/>
                </a:solidFill>
                <a:latin typeface="Consolas"/>
              </a:rPr>
              <a:t>init.sh</a:t>
            </a:r>
            <a:r>
              <a:rPr sz="2100" b="0">
                <a:solidFill>
                  <a:srgbClr val="111820"/>
                </a:solidFill>
                <a:latin typeface="Calibri"/>
              </a:rPr>
              <a:t>, a basic test (F-a-58 to F-a-62)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"End the session by writing a git commit and progress update." (F-a-63)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Both steps are the same every session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Exec plans and the structured handoff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Exec plans move from active to completed (A1, A7; F-a-34, F-a-35, F-a-45 to F-a-48)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A3's context reset: a fresh agent "combined with a structured handoff" (F-a-65)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course mechanism is the session turn budget, the same for both arms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reset has a price: "orchestration complexity, token overhead, and latency" (A3, F-a-68)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"Opus 4.5 largely removed that behavior on its own, so I was able to drop context resets from this harness entirely." (A3, F-a-69)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29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init.sh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Migrations first: house rule R7, exactly one head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Then a basic end-to-end test that stops at the first failure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1661922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166192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150952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echo "== migrations (house rule R7: exactly one head)"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python -m alembic heads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python -m alembic upgrade head</a:t>
            </a:r>
          </a:p>
          <a:p>
            <a:pPr algn="l"/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echo "== basic end-to-end test: issues, stop at the first failure (full suite: run_visible_tests)"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python -m pytest tests/visible/test_issues.py -x -q --no-header -p no:cacheprovider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3944874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src/shipharness/harness/state/assets/init.sh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stop and resume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42417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resume_text</a:t>
            </a:r>
            <a:r>
              <a:rPr sz="2100" b="0">
                <a:solidFill>
                  <a:srgbClr val="111820"/>
                </a:solidFill>
                <a:latin typeface="Calibri"/>
              </a:rPr>
              <a:t>: extra resume text for the harness arm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neutral resume sentence comes first, the same for both arms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test-phase session starts with the feature's tests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38628"/>
            <a:ext cx="11125200" cy="2548318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38628"/>
            <a:ext cx="57150" cy="254831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833878"/>
            <a:ext cx="10858500" cy="239591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def resume_text(summary: str, phase: str = "build") -&gt; str: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"""Extra resume text for the harness arm (the neutral resume sentence comes first)."""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text = (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    "Start with the Getting up to speed steps before you change code. The structured "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    "handoff from the last session is in session-handoff.md."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)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if phase == "test":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    text = f"{text} {TEST_PHASE_FIRST}"</a:t>
            </a:r>
          </a:p>
          <a:p>
            <a:pPr algn="l"/>
            <a:r>
              <a:rPr sz="1537" b="0">
                <a:solidFill>
                  <a:srgbClr val="111820"/>
                </a:solidFill>
                <a:latin typeface="Consolas"/>
              </a:rPr>
              <a:t>    return f"{text} Its machine summary:\n\n{summary[:3000]}" if summary else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305996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src/shipharness/harness/state/lifecycle.py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the session 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session_entry</a:t>
            </a:r>
            <a:r>
              <a:rPr sz="2100" b="0">
                <a:solidFill>
                  <a:srgbClr val="111820"/>
                </a:solidFill>
                <a:latin typeface="Calibri"/>
              </a:rPr>
              <a:t>: one log line per session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Index, start and end commit, how the session ended, and a summary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2925508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292550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277310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def session_entry(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result: SessionResult, files_changed: int, tests: str, claim_summary: str = ""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) -&gt; str: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"""One log line: index, start/end commit, how the session ended, and a summary."""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entry = (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    f"- Session {result.index} ({result.phase}): start {result.start_sha[:7] or 'none'}, 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    f"end {result.end_sha[:7] or 'none'}, ended by {result.ended_by} after 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    f"{result.turns} turns. {files_changed} files changed; visible tests {tests}."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)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summary = " ".join(mask_keys(claim_summary).split())[:200]</a:t>
            </a:r>
          </a:p>
          <a:p>
            <a:pPr algn="l"/>
            <a:r>
              <a:rPr sz="1462" b="0">
                <a:solidFill>
                  <a:srgbClr val="111820"/>
                </a:solidFill>
                <a:latin typeface="Consolas"/>
              </a:rPr>
              <a:t>    return entry + (f' Agent summary: "{summary}"' if summary else "")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208460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src/shipharness/harness/state/progress.py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what to watch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5015023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Screen 1: "■ Session 1 stopped" with the handoff file, then "▶ Session 2 resumed" with an empty context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Session 2's first turn: </a:t>
            </a:r>
            <a:r>
              <a:rPr sz="2039" b="0">
                <a:solidFill>
                  <a:srgbClr val="111820"/>
                </a:solidFill>
                <a:latin typeface="Consolas"/>
              </a:rPr>
              <a:t>pwd; git log; cat progress.md</a:t>
            </a:r>
            <a:r>
              <a:rPr sz="2039" b="0">
                <a:solidFill>
                  <a:srgbClr val="111820"/>
                </a:solidFill>
                <a:latin typeface="Calibri"/>
              </a:rPr>
              <a:t>, A2's getting up to speed routine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Screen 3: "Sessions", the turns and how each session ended; screen 5: the trace links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Console screen 1 (show-2), captured on 2026-10-17, run ab-20261017-113213-fe89a3; your output will differ</a:t>
            </a:r>
          </a:p>
        </p:txBody>
      </p:sp>
      <p:pic>
        <p:nvPicPr>
          <p:cNvPr id="9" name="Picture 8" descr="s2-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1914" y="1219200"/>
            <a:ext cx="5426095" cy="470535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33400" y="6019800"/>
            <a:ext cx="8247888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6067425"/>
            <a:ext cx="8019288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</a:t>
            </a:r>
            <a:r>
              <a:rPr sz="1400" b="0">
                <a:solidFill>
                  <a:srgbClr val="1F2A35"/>
                </a:solidFill>
                <a:latin typeface="Consolas"/>
              </a:rPr>
              <a:t>make show-2</a:t>
            </a:r>
            <a:r>
              <a:rPr sz="1400" b="0">
                <a:solidFill>
                  <a:srgbClr val="1F2A35"/>
                </a:solidFill>
                <a:latin typeface="Calibri"/>
              </a:rPr>
              <a:t>: the primary verdict and the file session 2 read first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reading the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335184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show-2 in the quiet run: no continuity failure (passes), hidden tests 56 of 56; session 2 hit the agent time limit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Screen 5's first wrong turn, a heuristic: turn 2.16 edited </a:t>
            </a:r>
            <a:r>
              <a:rPr sz="1725" b="0">
                <a:solidFill>
                  <a:srgbClr val="111820"/>
                </a:solidFill>
                <a:latin typeface="Consolas"/>
              </a:rPr>
              <a:t>app/api/issues.py</a:t>
            </a:r>
            <a:r>
              <a:rPr sz="1725" b="0">
                <a:solidFill>
                  <a:srgbClr val="111820"/>
                </a:solidFill>
                <a:latin typeface="Calibri"/>
              </a:rPr>
              <a:t>, outside the diff scope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Pilot, continuity failure fails: bare 0 of 7, harness 0 of 7 (poll answer: A); no measurable difference on this task with this model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The measure cannot fail when session 1 leaves nothing to redo: in runs 3 and 4, 6 of 12 arms built nothing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Console screens 3 and 5 (show-2), captured on 2026-10-17, run ab-20261017-113213-fe89a3; your output will differ</a:t>
            </a:r>
          </a:p>
        </p:txBody>
      </p:sp>
      <p:pic>
        <p:nvPicPr>
          <p:cNvPr id="9" name="Picture 8" descr="s2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812" y="4666298"/>
            <a:ext cx="7636375" cy="1734503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S2 State and session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Runbook and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Runbook: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submodules/02-state-lifecycle/demo/README.md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Discussion: the bare arm found its own state with </a:t>
            </a:r>
            <a:r>
              <a:rPr sz="2100" b="0">
                <a:solidFill>
                  <a:srgbClr val="111820"/>
                </a:solidFill>
                <a:latin typeface="Consolas"/>
              </a:rPr>
              <a:t>git status</a:t>
            </a:r>
            <a:r>
              <a:rPr sz="2100" b="0">
                <a:solidFill>
                  <a:srgbClr val="111820"/>
                </a:solidFill>
                <a:latin typeface="Calibri"/>
              </a:rPr>
              <a:t>. Which state file would you keep for this model, and how would you measure it?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Next: a 10-minute break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714625"/>
            <a:ext cx="11125200" cy="685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ctr"/>
            <a:r>
              <a:rPr sz="4500" b="1">
                <a:solidFill>
                  <a:srgbClr val="0B1F33"/>
                </a:solidFill>
                <a:latin typeface="Calibri"/>
              </a:rPr>
              <a:t>Break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76625"/>
            <a:ext cx="11125200" cy="3810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>
                <a:solidFill>
                  <a:srgbClr val="2C3E50"/>
                </a:solidFill>
                <a:latin typeface="Calibri"/>
              </a:rPr>
              <a:t>Back in 10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2883789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2655189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return time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F3 idempotency keys; at risk: scope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ticket: "shared middleware is out of scope"; tests in a separate test phase, no app code changes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Of the pilot's 7 bare-arm F3 runs, how many touched a file outside the allowed paths, or changed source in the test phase?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(a) 0-1   (b) 2-3   (c) 4-5   (d) 6-7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Close the poll before the launch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3918966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3690366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the room's poll result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Launching harness in action: F3 idempotency keys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92303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Now: run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show-3</a:t>
            </a:r>
            <a:r>
              <a:rPr sz="2100" b="0">
                <a:solidFill>
                  <a:srgbClr val="111820"/>
                </a:solidFill>
                <a:latin typeface="Calibri"/>
              </a:rPr>
              <a:t> in terminal B; it runs during slides 38-45, back on slide 46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Harness in action: the harness arm alone on F3; not an A/B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Watch for: a blocked or reverted edit with its reason, if the agent tries one, and the sandbox line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Build, then a test phase; allow lists from the task; shared middleware is off-limits</a:t>
            </a:r>
          </a:p>
        </p:txBody>
      </p:sp>
      <p:pic>
        <p:nvPicPr>
          <p:cNvPr id="9" name="Picture 8" descr="a03430f07b965b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768270"/>
            <a:ext cx="11125200" cy="110174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S3: what the agent may change and 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50789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Enforce one feature at a time, allowed paths per phase, and a </a:t>
            </a:r>
            <a:r>
              <a:rPr sz="2039" b="0">
                <a:solidFill>
                  <a:srgbClr val="111820"/>
                </a:solidFill>
                <a:latin typeface="Consolas"/>
              </a:rPr>
              <a:t>passes</a:t>
            </a:r>
            <a:r>
              <a:rPr sz="2039" b="0">
                <a:solidFill>
                  <a:srgbClr val="111820"/>
                </a:solidFill>
                <a:latin typeface="Calibri"/>
              </a:rPr>
              <a:t> field only the harness sets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Explain the container limits for both arms and read a </a:t>
            </a:r>
            <a:r>
              <a:rPr sz="2039" b="0">
                <a:solidFill>
                  <a:srgbClr val="111820"/>
                </a:solidFill>
                <a:latin typeface="Consolas"/>
              </a:rPr>
              <a:t>sandbox_denied</a:t>
            </a:r>
            <a:r>
              <a:rPr sz="2039" b="0">
                <a:solidFill>
                  <a:srgbClr val="111820"/>
                </a:solidFill>
                <a:latin typeface="Calibri"/>
              </a:rPr>
              <a:t> event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Read the S3 result: out-of-scope files and source edits during the test phase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The assumption the scope layer encodes: the agent will change files outside the ticket unless code stops it</a:t>
            </a:r>
          </a:p>
        </p:txBody>
      </p:sp>
      <p:pic>
        <p:nvPicPr>
          <p:cNvPr id="9" name="Picture 8" descr="b2af23761f1747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836" y="3822344"/>
            <a:ext cx="8972329" cy="257845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39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Cause: copied patterns and hard-to-undo actions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"Codex replicates patterns that already exist in the repository—even uneven or suboptimal ones" (A1, F-a-20)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A4: "(Run this in a container, not your actual machine)"; the agent ran </a:t>
            </a:r>
            <a:r>
              <a:rPr sz="2100" b="0">
                <a:solidFill>
                  <a:srgbClr val="111820"/>
                </a:solidFill>
                <a:latin typeface="Consolas"/>
              </a:rPr>
              <a:t>pkill -9 bash</a:t>
            </a:r>
            <a:r>
              <a:rPr sz="2100" b="0">
                <a:solidFill>
                  <a:srgbClr val="111820"/>
                </a:solidFill>
                <a:latin typeface="Calibri"/>
              </a:rPr>
              <a:t> (F-a-18, F-a-19)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A5: file operations "to the project directory only" (F-a-86)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A6, supplementary: actions "that are difficult to reverse or affect shared systems" (F-a-21)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Harness piece: one feature list, one feature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feature_list.json</a:t>
            </a:r>
            <a:r>
              <a:rPr sz="2100" b="0">
                <a:solidFill>
                  <a:srgbClr val="111820"/>
                </a:solidFill>
                <a:latin typeface="Calibri"/>
              </a:rPr>
              <a:t> as the source of truth; JSON over Markdown (A2, A5; F-a-78, F-a-81, F-a-85)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</a:t>
            </a:r>
            <a:r>
              <a:rPr sz="2100" b="0">
                <a:solidFill>
                  <a:srgbClr val="111820"/>
                </a:solidFill>
                <a:latin typeface="Consolas"/>
              </a:rPr>
              <a:t>passes</a:t>
            </a:r>
            <a:r>
              <a:rPr sz="2100" b="0">
                <a:solidFill>
                  <a:srgbClr val="111820"/>
                </a:solidFill>
                <a:latin typeface="Calibri"/>
              </a:rPr>
              <a:t> field (F-a-79, F-a-82); one feature at a time (F-a-83)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"It is unacceptable to remove or edit tests because this could lead to missing or buggy functionality." (F-a-80)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Course design: only the harness sets </a:t>
            </a:r>
            <a:r>
              <a:rPr sz="2100" b="0">
                <a:solidFill>
                  <a:srgbClr val="111820"/>
                </a:solidFill>
                <a:latin typeface="Consolas"/>
              </a:rPr>
              <a:t>passes</a:t>
            </a:r>
            <a:r>
              <a:rPr sz="2100" b="0">
                <a:solidFill>
                  <a:srgbClr val="111820"/>
                </a:solidFill>
                <a:latin typeface="Calibri"/>
              </a:rPr>
              <a:t>, with </a:t>
            </a:r>
            <a:r>
              <a:rPr sz="2100" b="0">
                <a:solidFill>
                  <a:srgbClr val="111820"/>
                </a:solidFill>
                <a:latin typeface="Consolas"/>
              </a:rPr>
              <a:t>evidence</a:t>
            </a:r>
            <a:r>
              <a:rPr sz="2100" b="0">
                <a:solidFill>
                  <a:srgbClr val="111820"/>
                </a:solidFill>
                <a:latin typeface="Calibri"/>
              </a:rPr>
              <a:t> and </a:t>
            </a:r>
            <a:r>
              <a:rPr sz="2100" b="0">
                <a:solidFill>
                  <a:srgbClr val="111820"/>
                </a:solidFill>
                <a:latin typeface="Consolas"/>
              </a:rPr>
              <a:t>testedAt</a:t>
            </a:r>
            <a:r>
              <a:rPr sz="2100" b="0">
                <a:solidFill>
                  <a:srgbClr val="111820"/>
                </a:solidFill>
                <a:latin typeface="Calibri"/>
              </a:rPr>
              <a:t> (A2 F-a-108, A3 F-a-110)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Allowed paths per 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Build and test phases each have an allow list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patch outside the list is rejected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command's change outside the list is reverted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agent reads the reason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Composite citation: A5 F-a-86, F-a-87; A1 F-a-92, F-a-98; A2 F-a-57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Sandbox 1: why a container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76555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A4: "for each agent, a Docker container is spun up", and no internet access (F-a-88, F-a-90)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A5's three-layer security model (F-a-86, F-a-87)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Codex: "By default, the agent runs with network access turned off." (D21-D23)</a:t>
            </a:r>
          </a:p>
        </p:txBody>
      </p:sp>
      <p:pic>
        <p:nvPicPr>
          <p:cNvPr id="9" name="Picture 8" descr="8cbac8dd33bc95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141830"/>
            <a:ext cx="11125200" cy="319714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Sandbox 2: the same limits for both arms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--network none</a:t>
            </a:r>
            <a:r>
              <a:rPr sz="2100" b="0">
                <a:solidFill>
                  <a:srgbClr val="111820"/>
                </a:solidFill>
                <a:latin typeface="Calibri"/>
              </a:rPr>
              <a:t>, memory without swap, 256 processes, non-root (D24-D30)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Read-only root; only </a:t>
            </a:r>
            <a:r>
              <a:rPr sz="2100" b="0">
                <a:solidFill>
                  <a:srgbClr val="111820"/>
                </a:solidFill>
                <a:latin typeface="Consolas"/>
              </a:rPr>
              <a:t>/work</a:t>
            </a:r>
            <a:r>
              <a:rPr sz="2100" b="0">
                <a:solidFill>
                  <a:srgbClr val="111820"/>
                </a:solidFill>
                <a:latin typeface="Calibri"/>
              </a:rPr>
              <a:t> and </a:t>
            </a:r>
            <a:r>
              <a:rPr sz="2100" b="0">
                <a:solidFill>
                  <a:srgbClr val="111820"/>
                </a:solidFill>
                <a:latin typeface="Consolas"/>
              </a:rPr>
              <a:t>/tmp</a:t>
            </a:r>
            <a:r>
              <a:rPr sz="2100" b="0">
                <a:solidFill>
                  <a:srgbClr val="111820"/>
                </a:solidFill>
                <a:latin typeface="Calibri"/>
              </a:rPr>
              <a:t> writable; all capabilities dropped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sandbox_denied</a:t>
            </a:r>
            <a:r>
              <a:rPr sz="2100" b="0">
                <a:solidFill>
                  <a:srgbClr val="111820"/>
                </a:solidFill>
                <a:latin typeface="Calibri"/>
              </a:rPr>
              <a:t> events carry a reason code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Never an A/B variable, so the pilot cannot tell whether it earns its place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Kept on the sources' advice: a container per agent, no internet (A4, F-a-88, F-a-90); project directory only (A5, F-a-86)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allowed paths and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29082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three </a:t>
            </a:r>
            <a:r>
              <a:rPr sz="2100" b="0">
                <a:solidFill>
                  <a:srgbClr val="111820"/>
                </a:solidFill>
                <a:latin typeface="Consolas"/>
              </a:rPr>
              <a:t>if</a:t>
            </a:r>
            <a:r>
              <a:rPr sz="2100" b="0">
                <a:solidFill>
                  <a:srgbClr val="111820"/>
                </a:solidFill>
                <a:latin typeface="Calibri"/>
              </a:rPr>
              <a:t> checks of </a:t>
            </a:r>
            <a:r>
              <a:rPr sz="2100" b="0">
                <a:solidFill>
                  <a:srgbClr val="111820"/>
                </a:solidFill>
                <a:latin typeface="Consolas"/>
              </a:rPr>
              <a:t>reason()</a:t>
            </a:r>
            <a:r>
              <a:rPr sz="2100" b="0">
                <a:solidFill>
                  <a:srgbClr val="111820"/>
                </a:solidFill>
                <a:latin typeface="Calibri"/>
              </a:rPr>
              <a:t>: harness-only files, state files, the allow list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passes</a:t>
            </a:r>
            <a:r>
              <a:rPr sz="2100" b="0">
                <a:solidFill>
                  <a:srgbClr val="111820"/>
                </a:solidFill>
                <a:latin typeface="Calibri"/>
              </a:rPr>
              <a:t> is set only when the evidence is there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605278"/>
            <a:ext cx="11125200" cy="1812798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605278"/>
            <a:ext cx="57150" cy="181279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700528"/>
            <a:ext cx="10858500" cy="166039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if rel in HARNESS_ONLY: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return HARNESS_ONLY[rel]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if self.state_files and any(glob_matches(rel, p) for p in STATE_FILES):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return None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if self.allowed is None or any(glob_matches(rel, p) for p in self.allowed):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return None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4437126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src/shipharness/harness/scope/guard.py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3400" y="4665726"/>
            <a:ext cx="11125200" cy="1548765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3400" y="4665726"/>
            <a:ext cx="57150" cy="154876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4760976"/>
            <a:ext cx="10858500" cy="1396365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if evidence is None: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message = f"passes stays false for {feature['id']}: {why_not}"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return [HarnessDecision(kind="note", layer="scope", message=message)]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tested_at = now().astimezone(UTC).strftime("%Y-%m-%dT%H:%M:%SZ")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feature.update(passes=True, evidence=evidence, testedAt=tested_at)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6233541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src/shipharness/harness/scope/status.py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the sandbox policy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SandboxPolicy</a:t>
            </a:r>
            <a:r>
              <a:rPr sz="2100" b="0">
                <a:solidFill>
                  <a:srgbClr val="111820"/>
                </a:solidFill>
                <a:latin typeface="Calibri"/>
              </a:rPr>
              <a:t>: identical for both arms in every run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Network, CPU, memory, swap, processes, user, root, tmpfs, capabilities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2868930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286893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271653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network: str = "none"  # only loopback inside the container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cpus: float = 1.0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memory_mb: int = 1024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swap_mb: int = 0  # --memory-swap equal to --memory: no swap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pids_limit: int = 256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user: str = "1000:1000"  # non-root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read_only_root: bool = True  # writes only to /work (workspace) and /tmp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tmpfs: dict[str, str] = {"/tmp": "rw,nosuid,size=256m"}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cap_drop: tuple[str, ...] = ("ALL",)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no_new_privileges: bool = True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151882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src/shipharness/sandbox/policy.py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what to watch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5015023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Screen 1: harness decisions; the scope layer writes </a:t>
            </a:r>
            <a:r>
              <a:rPr sz="2100" b="0">
                <a:solidFill>
                  <a:srgbClr val="111820"/>
                </a:solidFill>
                <a:latin typeface="Consolas"/>
              </a:rPr>
              <a:t>feature_list.json</a:t>
            </a:r>
            <a:r>
              <a:rPr sz="2100" b="0">
                <a:solidFill>
                  <a:srgbClr val="111820"/>
                </a:solidFill>
                <a:latin typeface="Calibri"/>
              </a:rPr>
              <a:t> with F3, </a:t>
            </a:r>
            <a:r>
              <a:rPr sz="2100" b="0">
                <a:solidFill>
                  <a:srgbClr val="111820"/>
                </a:solidFill>
                <a:latin typeface="Consolas"/>
              </a:rPr>
              <a:t>passes: false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⊘ block or ↺ revert appears only if the agent tries an edit outside the allow list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Screen 3: the diff map and "Sandbox denials"; screen 5: the trace links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Console screen 1 (show-3), captured on 2026-10-17, run ab-20261017-114259-b64f54; your output will differ</a:t>
            </a:r>
          </a:p>
        </p:txBody>
      </p:sp>
      <p:pic>
        <p:nvPicPr>
          <p:cNvPr id="9" name="Picture 8" descr="s3-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1665" y="1219200"/>
            <a:ext cx="5326594" cy="470535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33400" y="6019800"/>
            <a:ext cx="8906637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6067425"/>
            <a:ext cx="8678037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</a:t>
            </a:r>
            <a:r>
              <a:rPr sz="1400" b="0">
                <a:solidFill>
                  <a:srgbClr val="1F2A35"/>
                </a:solidFill>
                <a:latin typeface="Consolas"/>
              </a:rPr>
              <a:t>make show-3</a:t>
            </a:r>
            <a:r>
              <a:rPr sz="1400" b="0">
                <a:solidFill>
                  <a:srgbClr val="1F2A35"/>
                </a:solidFill>
                <a:latin typeface="Calibri"/>
              </a:rPr>
              <a:t>: blocked or reverted decisions and any </a:t>
            </a:r>
            <a:r>
              <a:rPr sz="1400" b="0">
                <a:solidFill>
                  <a:srgbClr val="1F2A35"/>
                </a:solidFill>
                <a:latin typeface="Consolas"/>
              </a:rPr>
              <a:t>sandbox_denied</a:t>
            </a:r>
            <a:r>
              <a:rPr sz="1400" b="0">
                <a:solidFill>
                  <a:srgbClr val="1F2A35"/>
                </a:solidFill>
                <a:latin typeface="Calibri"/>
              </a:rPr>
              <a:t> event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reading the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335184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show-3 in the quiet run: out-of-scope files 0, test-phase source edits 0 (passes); hidden tests 49 of 49, mutants killed 4 of 4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The harness arm's zero is expected by construction; the question is whether it still shipped a working feature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Pilot, out-of-scope file or test-phase source edit fails: bare 0 of 7, harness 0 of 7 (poll answer: a); no measurable difference on this task with this model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Scope was registered only for F3; the F4 count (post hoc) is a reason to register it next time, not a result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Console screen 3 (show-3), captured on 2026-10-17, run ab-20261017-114259-b64f54; your output will differ</a:t>
            </a:r>
          </a:p>
        </p:txBody>
      </p:sp>
      <p:pic>
        <p:nvPicPr>
          <p:cNvPr id="9" name="Picture 8" descr="s3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0569" y="4666298"/>
            <a:ext cx="6490862" cy="1734503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S3 Scope and sandbox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Runbook and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Runbook: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submodules/03-scope-sandbox/demo/README.md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Discussion: the clearest post hoc difference showed where scope was not the primary measure. How would you register that before the next run?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Next: who decides that the work is done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49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F4 optimistic concurrency; at stake: hidden tests (69) and referee mutants (4)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run passes only with all 69 hidden tests passing and all 4 mutants killed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In the pilot's 4 F4 A/Bs, which arm passed more often?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A) Harness arm   B) Bare arm   C) Both, equally often   D) Neither arm passed once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final feature poll follows on slide 50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3918966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3690366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the room's poll result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Poll: the final feature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47053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F5 Bulk close: one session of 30 turns; 46 hidden tests, 3 referee mutants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F6 Watchers: two sessions, so a context reset; 54 hidden tests, 3 mutants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F7 Labels: two sessions, so a context reset; 64 hidden tests, 3 mutants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winner runs as tonight's one live A/B, and the runner-up after it if the session figure allows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Close the poll before the launch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6019800"/>
            <a:ext cx="3918966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700" y="6067425"/>
            <a:ext cx="3690366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the room's poll result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Launching harness in action on F4, and the final A/B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326440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Now: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show-4</a:t>
            </a:r>
            <a:r>
              <a:rPr sz="2100" b="0">
                <a:solidFill>
                  <a:srgbClr val="111820"/>
                </a:solidFill>
                <a:latin typeface="Calibri"/>
              </a:rPr>
              <a:t> in terminal B, then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final FEATURES=&lt;poll winner&gt;</a:t>
            </a:r>
            <a:r>
              <a:rPr sz="2100" b="0">
                <a:solidFill>
                  <a:srgbClr val="111820"/>
                </a:solidFill>
                <a:latin typeface="Calibri"/>
              </a:rPr>
              <a:t> in terminal C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show-4 runs during slides 52-60, back on slide 61; the final returns on slides 64-67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show-4: the harness arm alone on F4; watch the gate, the test phase, and the filters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final is tonight's one live A/B: both arms, all four layers, blinded reviewer on both diffs</a:t>
            </a:r>
          </a:p>
        </p:txBody>
      </p:sp>
      <p:pic>
        <p:nvPicPr>
          <p:cNvPr id="9" name="Picture 8" descr="4fd6deeee6fbd5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625109"/>
            <a:ext cx="11125200" cy="1729439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S4: what proves the work is 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250789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Build verification the agent does not control: filters, mutants, house-rule checks, held-out tests, reviewer, gate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Find the first wrong turn in a trace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Read a fair A/B: hidden tests passed and mutants caught, as counts per run</a:t>
            </a:r>
          </a:p>
          <a:p>
            <a:pPr algn="l">
              <a:spcAft>
                <a:spcPts val="918"/>
              </a:spcAft>
            </a:pPr>
            <a:r>
              <a:rPr sz="2039" b="0">
                <a:solidFill>
                  <a:srgbClr val="111820"/>
                </a:solidFill>
                <a:latin typeface="Calibri"/>
              </a:rPr>
              <a:t>•  </a:t>
            </a:r>
            <a:r>
              <a:rPr sz="2039" b="0">
                <a:solidFill>
                  <a:srgbClr val="111820"/>
                </a:solidFill>
                <a:latin typeface="Calibri"/>
              </a:rPr>
              <a:t>The assumption the gate and filters encode: the agent's "done" and its own tests cannot be trusted</a:t>
            </a:r>
          </a:p>
        </p:txBody>
      </p:sp>
      <p:pic>
        <p:nvPicPr>
          <p:cNvPr id="9" name="Picture 8" descr="c0e2d1ba727a8f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836" y="3822344"/>
            <a:ext cx="8972329" cy="257845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Cause: self-grading and visible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"agents reliably skew positive when grading their own work" (A3, F-a-15)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"while every frontier agent saturates the visible suite, reward hacking persists" (B13, F-b-45)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Mostly features that pass alone and fail when combined (B13, F-b-50)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"it is easy to see tests pass and assume the job is done, when this is rarely the case." (A4, F-a-17)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Harness piece: test filters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Filters 1-3 from TestGen-LLM: builds, passes reliably, adds coverage (B11, F-b-16 to F-b-22)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Passes reliably: "every one of five executions" (B11, F-b-19); the referee also re-runs shipped tests five times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Filters 4 and 5 are course filters: real assertions, no source change in the test phase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test is kept only if it passes every filter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Mutants and hidden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ACH: mutants for the fault of concern, then hardening (B12, F-b-29, F-b-32)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49% of tests that uniquely kill a mutant add no line coverage (F-b-40)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Filter-set and referee-set mutants never overlap (course design)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Hidden tests that compose features (B13, B14; F-b-42 to F-b-44)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441 hidden tests across F1-F7 and controls; 69 for F4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A separate evaluator and a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Blinded reviewer with grading criteria (A3, F-a-110 to F-a-112)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Clean-state gate (A2, F-a-84; A4, F-a-127)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House rules R1-R7 (course label)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A3: "It is worth the cost when the task sits beyond what the current model does reliably solo." (F-a-123)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Measure each piece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Read the trace: find the first wrong turn (A3, F-a-126); screen 5 shows it per arm, as a heuristic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Measure one piece: "removing one component at a time and reviewing what impact it had on the final result." (A3, F-a-125)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In shipharness: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demo-N LAYERS=-&lt;layer&gt;</a:t>
            </a:r>
            <a:r>
              <a:rPr sz="2100" b="0">
                <a:solidFill>
                  <a:srgbClr val="111820"/>
                </a:solidFill>
                <a:latin typeface="Calibri"/>
              </a:rPr>
              <a:t> runs one A/B without that layer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section's A/B tests the stack so far; only taking one piece out tests that piece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the filter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Each proposed test goes through the filters in order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first failure discards it, with a reason; later filters never run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3396996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33969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3244596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for flt in filters: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try: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    result = flt.evaluate(cand, ctx)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except Exception as exc:  # noqa: BLE001 - a crashing filter discards, with a reason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...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if not result.reason: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    result = result.model_copy(update={"reason": f"filter {flt.number}: no reason"})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results.append(result)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if bus is not None: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    bus.publish("test_filter_result", result, run_id=run_id, arm=arm)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if not result.passed: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    break  # discarded: later (more expensive) filters never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679948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src/shipharness/filters/pipeline.py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59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a tenant probe and blinding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949452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judge</a:t>
            </a:r>
            <a:r>
              <a:rPr sz="2100" b="0">
                <a:solidFill>
                  <a:srgbClr val="111820"/>
                </a:solidFill>
                <a:latin typeface="Calibri"/>
              </a:rPr>
              <a:t>: compare one response with what tenant isolation requires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 foreign path must return 404; anything else fails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263902"/>
            <a:ext cx="11125200" cy="3095244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263902"/>
            <a:ext cx="57150" cy="30952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359152"/>
            <a:ext cx="10858500" cy="294284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def judge(probe: Probe, response: Any, t: Target, home: str, other: str) -&gt; Finding | None: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"""Compare one response with what tenant isolation requires."""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status, body = response.status_code, json_body(response)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ok = 200 &lt;= status &lt; 300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leaked = ok and (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    t.adapter.is_foreign(body, other)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    or (probe.kind == "anonymous" and t.adapter.is_foreign(body, home))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)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if probe.kind in ("foreign_path",) or probe.kind.startswith("foreign_param:"):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    failed = status != 404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else:  # no_path, foreign_body, anonymous: success itself is the failure (no_path: only leaks)</a:t>
            </a:r>
          </a:p>
          <a:p>
            <a:pPr algn="l"/>
            <a:r>
              <a:rPr sz="1425" b="0">
                <a:solidFill>
                  <a:srgbClr val="111820"/>
                </a:solidFill>
                <a:latin typeface="Consolas"/>
              </a:rPr>
              <a:t>        failed = leaked if probe.kind == "no_path" else 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378196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src/shipharness/checks/r1_tenant.py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Code: the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297019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Verification the agent does not control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Visible tests, the build-phase checks, the clean-state check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The gate passes only if no item fails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611469"/>
            <a:ext cx="11125200" cy="3352110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611469"/>
            <a:ext cx="57150" cy="335211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706719"/>
            <a:ext cx="10858500" cy="319971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names = ["visible tests", *(_ITEM_ORDER if phase == "build" else []), "clean state"]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...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if phase == "build":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    check_items, check_lines = _check_items(sandbox, cfg, root, on_progress)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    items += sorted(check_items, key=_order)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    lines += check_lines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clean = clean_state_check(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...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items.append(clean)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if clean.status == "fail":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    lines.append(f"FAIL clean state: {clean.detail}")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    ...</a:t>
            </a:r>
          </a:p>
          <a:p>
            <a:pPr algn="l"/>
            <a:r>
              <a:rPr sz="1433" b="0">
                <a:solidFill>
                  <a:srgbClr val="111820"/>
                </a:solidFill>
                <a:latin typeface="Consolas"/>
              </a:rPr>
              <a:t>passed = not any(i.status == "fail" for i in items)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982630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src/shipharness/harness/verify/gate.py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what to watch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918811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Screen 1: a ⊘ blocked edit, "done" and the gate pills, then the test phase; screen 2: the conflict panel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Screen 3: the filter table (kept or discarded, with the reason) and the mutant table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Console screens 1 and 2 (show-4), captured on 2026-10-17, run ab-20261017-115138-c45d9d; your output will differ</a:t>
            </a:r>
          </a:p>
        </p:txBody>
      </p:sp>
      <p:pic>
        <p:nvPicPr>
          <p:cNvPr id="9" name="Picture 8" descr="s4-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606" y="3233261"/>
            <a:ext cx="4990789" cy="269128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33400" y="6019800"/>
            <a:ext cx="6553962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6067425"/>
            <a:ext cx="6325362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</a:t>
            </a:r>
            <a:r>
              <a:rPr sz="1400" b="0">
                <a:solidFill>
                  <a:srgbClr val="1F2A35"/>
                </a:solidFill>
                <a:latin typeface="Consolas"/>
              </a:rPr>
              <a:t>make show-4</a:t>
            </a:r>
            <a:r>
              <a:rPr sz="1400" b="0">
                <a:solidFill>
                  <a:srgbClr val="1F2A35"/>
                </a:solidFill>
                <a:latin typeface="Calibri"/>
              </a:rPr>
              <a:t>: the gate pills and the filter table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Demo block: reading the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5015023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show-4 in the quiet run: the gate passed and the agent said done; the referee found hidden tests 68 of 69, mutants killed 0 of 4: fails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The gate checks visible tests and house rules; hidden tests and referee mutants stay out of its reach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Pilot, all 69 hidden tests and all 4 mutants: bare 0 of 4 passing, harness 0 of 4 (poll answer: D); no measurable difference on this task with this model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Class-profile round: the bare arm claimed done with 68 of 69 hidden tests, the first done claim with a failing hidden test in the pilot's records</a:t>
            </a:r>
          </a:p>
          <a:p>
            <a:pPr algn="l">
              <a:spcAft>
                <a:spcPts val="776"/>
              </a:spcAft>
            </a:pPr>
            <a:r>
              <a:rPr sz="1725" b="0">
                <a:solidFill>
                  <a:srgbClr val="111820"/>
                </a:solidFill>
                <a:latin typeface="Calibri"/>
              </a:rPr>
              <a:t>•  </a:t>
            </a:r>
            <a:r>
              <a:rPr sz="1725" b="0">
                <a:solidFill>
                  <a:srgbClr val="111820"/>
                </a:solidFill>
                <a:latin typeface="Calibri"/>
              </a:rPr>
              <a:t>Console screen 3 (show-4), captured on 2026-10-17, run ab-20261017-115138-c45d9d; your output will differ</a:t>
            </a:r>
          </a:p>
        </p:txBody>
      </p:sp>
      <p:pic>
        <p:nvPicPr>
          <p:cNvPr id="9" name="Picture 8" descr="s4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1323" y="2121676"/>
            <a:ext cx="5767277" cy="3376648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S4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63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Runbook and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Runbook: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submodules/04-verification/demo/README.md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Discussion: one false "done" in 4 pilot F4 runs per arm, from the bare arm. What would a gate need to catch to earn its turns on this model?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Next: the final results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Final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64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Final results: the A/B 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89890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The poll winner, and the runner-up if it ran; all four layers; class profile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Run cap $0.25 per arm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No pre-registered primary measure: read hidden tests and mutants per arm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One A/B is one dot: read it against the pilot's dots</a:t>
            </a:r>
          </a:p>
        </p:txBody>
      </p:sp>
      <p:pic>
        <p:nvPicPr>
          <p:cNvPr id="9" name="Picture 8" descr="747a7c8219cfe3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986461"/>
            <a:ext cx="11125200" cy="116498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33400" y="6019800"/>
            <a:ext cx="5706999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6067425"/>
            <a:ext cx="5478399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terminal C's arm lines and session figure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Final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65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Final results: console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918811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Screen 1: the turns, harness decisions, gate pills, "primary verdict ready" per arm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Screen 3: evidence, filters, mutants, reviewer verdict; screen 5: the first wrong turn and the trace links</a:t>
            </a:r>
          </a:p>
          <a:p>
            <a:pPr algn="l">
              <a:spcAft>
                <a:spcPts val="860"/>
              </a:spcAft>
            </a:pPr>
            <a:r>
              <a:rPr sz="1912" b="0">
                <a:solidFill>
                  <a:srgbClr val="111820"/>
                </a:solidFill>
                <a:latin typeface="Calibri"/>
              </a:rPr>
              <a:t>•  </a:t>
            </a:r>
            <a:r>
              <a:rPr sz="1912" b="0">
                <a:solidFill>
                  <a:srgbClr val="111820"/>
                </a:solidFill>
                <a:latin typeface="Calibri"/>
              </a:rPr>
              <a:t>Console screen 1 (final), captured on 2026-10-17, run ab-20261017-120323-c97138; your output will differ</a:t>
            </a:r>
          </a:p>
        </p:txBody>
      </p:sp>
      <p:pic>
        <p:nvPicPr>
          <p:cNvPr id="9" name="Picture 8" descr="final-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146" y="3233261"/>
            <a:ext cx="6307708" cy="269128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33400" y="6019800"/>
            <a:ext cx="7118604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6067425"/>
            <a:ext cx="6890004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screens 1, 3, and 5 of the finished final A/B, both arms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Final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66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Final results: boards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76555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Screen 2: each arm's running board as an Acme user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Look for ⚠ other-org and ⧉ duplicate marks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Console screen 2 (final), captured on 2026-10-17, run ab-20261017-120323-c97138; your output will differ</a:t>
            </a:r>
          </a:p>
        </p:txBody>
      </p:sp>
      <p:pic>
        <p:nvPicPr>
          <p:cNvPr id="9" name="Picture 8" descr="final-bo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622" y="3080004"/>
            <a:ext cx="8088756" cy="284454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33400" y="6019800"/>
            <a:ext cx="4107180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" y="6067425"/>
            <a:ext cx="387858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both boards side by side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Final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67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Final results: screen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142417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Screen 4: one dot per recorded run, wins and ties alike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Tonight's final adds one dot per arm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Filled dot = passed, hollow = failed: never colour alone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738628"/>
            <a:ext cx="11125200" cy="2340864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2738628"/>
            <a:ext cx="57150" cy="2340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2833878"/>
            <a:ext cx="10858500" cy="2188464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fill = f"var(--{arm})" if dot["passed"] else "var(--surface)"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tip = f"{dot['run_id']}: {dot['value']}" + (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f" of {dot['total']}" if dot["total"] else ""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)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parts.append(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f'&lt;circle cx="{x(dot["value"]):.1f}" cy="{y - stack * 10}" r="5" '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f'fill="{fill}" stroke="var(--{arm})" stroke-width="2"&gt;'</a:t>
            </a:r>
          </a:p>
          <a:p>
            <a:pPr algn="l"/>
            <a:r>
              <a:rPr sz="1575" b="0">
                <a:solidFill>
                  <a:srgbClr val="111820"/>
                </a:solidFill>
                <a:latin typeface="Consolas"/>
              </a:rPr>
              <a:t>    f"&lt;title&gt;{html.escape(tip)} ({dot['status']})&lt;/title&gt;&lt;/circle&gt;"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098542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src/shipharness/ab/report.py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3400" y="6019800"/>
            <a:ext cx="4389501" cy="381000"/>
          </a:xfrm>
          <a:prstGeom prst="rect">
            <a:avLst/>
          </a:prstGeom>
          <a:solidFill>
            <a:srgbClr val="EEF1F5"/>
          </a:solidFill>
          <a:ln w="19050">
            <a:solidFill>
              <a:srgbClr val="7D8C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6067425"/>
            <a:ext cx="4160901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0">
                <a:solidFill>
                  <a:srgbClr val="1F2A35"/>
                </a:solidFill>
                <a:latin typeface="Calibri"/>
              </a:rPr>
              <a:t>Filled in live: tonight's final on screen 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Final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68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What the pilot measured: every section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3810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2100" b="0">
                <a:solidFill>
                  <a:srgbClr val="2C3E50"/>
                </a:solidFill>
                <a:latin typeface="Calibri"/>
              </a:rPr>
              <a:t>Primary measure, runs passing per arm: pilot runs 3 and 4 and the class-profile 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657350"/>
            <a:ext cx="11125200" cy="47434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S1, F1, no new R1 violation: bare 7 of 7, harness 7 of 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S2, F2, no continuity failure: bare 7 of 7, harness 7 of 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S3, F3, no out-of-scope file or test-phase source edit: bare 7 of 7, harness 7 of 7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S4, F4, all hidden tests and mutants: bare 0 of 4, harness 0 of 4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All four: no measurable difference on this task with this model; the gate did not pass, so the planned larger experiments were not run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Post hoc (34 runs per arm): outside the allowed paths, harness 0, bare 9; done claimed 10 against 19, none false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69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Assignments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A1 Instructions: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submodules/01-instructions/assignment/</a:t>
            </a:r>
            <a:r>
              <a:rPr sz="2100" b="0">
                <a:solidFill>
                  <a:srgbClr val="111820"/>
                </a:solidFill>
                <a:latin typeface="Calibri"/>
              </a:rPr>
              <a:t>, ≤ $2.50 and 150 traces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A2 State and session lifecycle: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submodules/02-state-lifecycle/assignment/</a:t>
            </a:r>
            <a:r>
              <a:rPr sz="2100" b="0">
                <a:solidFill>
                  <a:srgbClr val="111820"/>
                </a:solidFill>
                <a:latin typeface="Calibri"/>
              </a:rPr>
              <a:t>, ≤ $0.40 and 4 traces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A3 Scope and sandbox: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submodules/03-scope-sandbox/assignment/</a:t>
            </a:r>
            <a:r>
              <a:rPr sz="2100" b="0">
                <a:solidFill>
                  <a:srgbClr val="111820"/>
                </a:solidFill>
                <a:latin typeface="Calibri"/>
              </a:rPr>
              <a:t>, ≤ $0.48 and 4 traces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A4 Verification and portfolio: </a:t>
            </a:r>
            <a:r>
              <a:rPr sz="2100" b="0">
                <a:solidFill>
                  <a:srgbClr val="111820"/>
                </a:solidFill>
                <a:latin typeface="Consolas"/>
              </a:rPr>
              <a:t>submodules/04-verification/assignment/</a:t>
            </a:r>
            <a:r>
              <a:rPr sz="2100" b="0">
                <a:solidFill>
                  <a:srgbClr val="111820"/>
                </a:solidFill>
                <a:latin typeface="Calibri"/>
              </a:rPr>
              <a:t>, ≤ $0.68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Each: a brief with grading criteria, a starter folder, </a:t>
            </a:r>
            <a:r>
              <a:rPr sz="2100" b="0">
                <a:solidFill>
                  <a:srgbClr val="111820"/>
                </a:solidFill>
                <a:latin typeface="Consolas"/>
              </a:rPr>
              <a:t>make check-assignment-N</a:t>
            </a:r>
            <a:r>
              <a:rPr sz="2100" b="0">
                <a:solidFill>
                  <a:srgbClr val="111820"/>
                </a:solidFill>
                <a:latin typeface="Calibri"/>
              </a:rPr>
              <a:t> offline, one live step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Total ≤ $6 and ≤ 400 traces; Thursday review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70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Skills and the starter kit to take home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3264408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harness-setup</a:t>
            </a:r>
            <a:r>
              <a:rPr sz="2100" b="0">
                <a:solidFill>
                  <a:srgbClr val="111820"/>
                </a:solidFill>
                <a:latin typeface="Calibri"/>
              </a:rPr>
              <a:t>, </a:t>
            </a:r>
            <a:r>
              <a:rPr sz="2100" b="0">
                <a:solidFill>
                  <a:srgbClr val="111820"/>
                </a:solidFill>
                <a:latin typeface="Consolas"/>
              </a:rPr>
              <a:t>assured-tests</a:t>
            </a:r>
            <a:r>
              <a:rPr sz="2100" b="0">
                <a:solidFill>
                  <a:srgbClr val="111820"/>
                </a:solidFill>
                <a:latin typeface="Calibri"/>
              </a:rPr>
              <a:t>, </a:t>
            </a:r>
            <a:r>
              <a:rPr sz="2100" b="0">
                <a:solidFill>
                  <a:srgbClr val="111820"/>
                </a:solidFill>
                <a:latin typeface="Consolas"/>
              </a:rPr>
              <a:t>house-rules</a:t>
            </a:r>
            <a:r>
              <a:rPr sz="2100" b="0">
                <a:solidFill>
                  <a:srgbClr val="111820"/>
                </a:solidFill>
                <a:latin typeface="Calibri"/>
              </a:rPr>
              <a:t>, </a:t>
            </a:r>
            <a:r>
              <a:rPr sz="2100" b="0">
                <a:solidFill>
                  <a:srgbClr val="111820"/>
                </a:solidFill>
                <a:latin typeface="Consolas"/>
              </a:rPr>
              <a:t>skill-template</a:t>
            </a:r>
            <a:r>
              <a:rPr sz="2100" b="0">
                <a:solidFill>
                  <a:srgbClr val="111820"/>
                </a:solidFill>
                <a:latin typeface="Calibri"/>
              </a:rPr>
              <a:t>, in the Agent Skills format (B1)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uv run shipharness init --target &lt;repo&gt;</a:t>
            </a:r>
            <a:r>
              <a:rPr sz="2100" b="0">
                <a:solidFill>
                  <a:srgbClr val="111820"/>
                </a:solidFill>
                <a:latin typeface="Calibri"/>
              </a:rPr>
              <a:t>: the kit, with TeamTrack's values and REPLACE markers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onsolas"/>
              </a:rPr>
              <a:t>uv run shipharness init --check &lt;repo&gt;</a:t>
            </a:r>
            <a:r>
              <a:rPr sz="2100" b="0">
                <a:solidFill>
                  <a:srgbClr val="111820"/>
                </a:solidFill>
                <a:latin typeface="Calibri"/>
              </a:rPr>
              <a:t> lists the markers still to fill; no model calls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Guide: </a:t>
            </a:r>
            <a:r>
              <a:rPr sz="2100" b="0">
                <a:solidFill>
                  <a:srgbClr val="111820"/>
                </a:solidFill>
                <a:latin typeface="Consolas"/>
              </a:rPr>
              <a:t>docs/apply-to-your-repo.md</a:t>
            </a:r>
            <a:r>
              <a:rPr sz="2100" b="0">
                <a:solidFill>
                  <a:srgbClr val="111820"/>
                </a:solidFill>
                <a:latin typeface="Calibri"/>
              </a:rPr>
              <a:t>, ending with which layers earn their place in your repository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4578858"/>
            <a:ext cx="11125200" cy="1624203"/>
          </a:xfrm>
          <a:prstGeom prst="rect">
            <a:avLst/>
          </a:prstGeom>
          <a:solidFill>
            <a:srgbClr val="F4F6F8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4578858"/>
            <a:ext cx="57150" cy="1624203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850" y="4674108"/>
            <a:ext cx="10858500" cy="1471803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387" b="0">
                <a:solidFill>
                  <a:srgbClr val="111820"/>
                </a:solidFill>
                <a:latin typeface="Consolas"/>
              </a:rPr>
              <a:t>name: skill-template</a:t>
            </a:r>
          </a:p>
          <a:p>
            <a:pPr algn="l"/>
            <a:r>
              <a:rPr sz="1387" b="0">
                <a:solidFill>
                  <a:srgbClr val="111820"/>
                </a:solidFill>
                <a:latin typeface="Consolas"/>
              </a:rPr>
              <a:t>description: &gt;</a:t>
            </a:r>
          </a:p>
          <a:p>
            <a:pPr algn="l"/>
            <a:r>
              <a:rPr sz="1387" b="0">
                <a:solidFill>
                  <a:srgbClr val="111820"/>
                </a:solidFill>
                <a:latin typeface="Consolas"/>
              </a:rPr>
              <a:t>  Starting point for writing a new Agent Skill: frontmatter with the spec's fields and a guide to</a:t>
            </a:r>
          </a:p>
          <a:p>
            <a:pPr algn="l"/>
            <a:r>
              <a:rPr sz="1387" b="0">
                <a:solidFill>
                  <a:srgbClr val="111820"/>
                </a:solidFill>
                <a:latin typeface="Consolas"/>
              </a:rPr>
              <a:t>  the sections of the body. Use when creating a new skill: copy this folder, rename it, set name to</a:t>
            </a:r>
          </a:p>
          <a:p>
            <a:pPr algn="l"/>
            <a:r>
              <a:rPr sz="1387" b="0">
                <a:solidFill>
                  <a:srgbClr val="111820"/>
                </a:solidFill>
                <a:latin typeface="Consolas"/>
              </a:rPr>
              <a:t>  the new folder name, and replace every placeholder.</a:t>
            </a:r>
          </a:p>
          <a:p>
            <a:pPr algn="l"/>
            <a:r>
              <a:rPr sz="1387" b="0">
                <a:solidFill>
                  <a:srgbClr val="111820"/>
                </a:solidFill>
                <a:latin typeface="Consolas"/>
              </a:rPr>
              <a:t>license: 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6222111"/>
            <a:ext cx="11125200" cy="2095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100" b="0">
                <a:solidFill>
                  <a:srgbClr val="3D4B59"/>
                </a:solidFill>
                <a:latin typeface="Consolas"/>
              </a:rPr>
              <a:t>skills/skill-template/SKILL.md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71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References (1 of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A1 Harness engineering: leveraging Codex in an agent-first world · Ryan Lopopolo, OpenAI · 2026-02-11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A2 Effective harnesses for long-running agents · Justin Young, Anthropic · 2025-11-26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A3 Harness design for long-running application development · Prithvi Rajasekaran, Anthropic · 2026-03-24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A4 Building a C compiler with a team of parallel Claudes · Nicholas Carlini, Anthropic · 2026-02-05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A5 Autonomous Coding Agent Demo (README) · Anthropic · 2025-11-26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A6 Prompting best practices · Anthropic, Claude docs · living page; A7 Using PLANS.md · Aaron Friel, OpenAI · 2025-10-07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133350"/>
            <a:ext cx="778764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Calibr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0" y="133350"/>
            <a:ext cx="3337560" cy="3048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r"/>
            <a:r>
              <a:rPr sz="1400" b="1">
                <a:solidFill>
                  <a:srgbClr val="1F3A5F"/>
                </a:solidFill>
                <a:latin typeface="Calibri"/>
              </a:rPr>
              <a:t>72 / 72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476250"/>
            <a:ext cx="11125200" cy="28575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solidFill>
            <a:srgbClr val="C9D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11125200" cy="24765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1200" b="0">
                <a:solidFill>
                  <a:srgbClr val="3D4B59"/>
                </a:solidFill>
                <a:latin typeface="Calibri"/>
              </a:rPr>
              <a:t>Module 1: Harness Engineering for Coding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628650"/>
            <a:ext cx="11125200" cy="4953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Calibri"/>
              </a:rPr>
              <a:t>References (2 of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19200"/>
            <a:ext cx="11125200" cy="5181600"/>
          </a:xfrm>
          <a:prstGeom prst="rect">
            <a:avLst/>
          </a:prstGeom>
          <a:noFill/>
        </p:spPr>
        <p:txBody>
          <a:bodyPr wrap="square" anchor="t" lIns="19050" rIns="19050" tIns="19050" bIns="19050">
            <a:spAutoFit/>
          </a:bodyPr>
          <a:lstStyle/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B1 Agent Skills Specification; B2 What are skills?; B3 How to add skills support · Agent Skills project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B4-B6 agentskills repo and skills-ref; B7 Claude Code skills; B8 Codex skills; B9-B10 Cursor skills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B11 TestGen-LLM · Alshahwan et al., Meta · 2024; B12 ACH · Foster et al., Meta · 2025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B13 SpecBench · Zhao, Srikanth, Wu, Jiang (Weco AI) · 2026; B14 WecoAI/SpecBench repo</a:t>
            </a:r>
          </a:p>
          <a:p>
            <a:pPr algn="l">
              <a:spcAft>
                <a:spcPts val="945"/>
              </a:spcAft>
            </a:pPr>
            <a:r>
              <a:rPr sz="2100" b="0">
                <a:solidFill>
                  <a:srgbClr val="111820"/>
                </a:solidFill>
                <a:latin typeface="Calibri"/>
              </a:rPr>
              <a:t>•  </a:t>
            </a:r>
            <a:r>
              <a:rPr sz="2100" b="0">
                <a:solidFill>
                  <a:srgbClr val="111820"/>
                </a:solidFill>
                <a:latin typeface="Calibri"/>
              </a:rPr>
              <a:t>B15 (Spec-Bench, speculative decoding) is unrelated and not cited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1: Harness Engineering for Coding Agents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