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of 72 | Opening | 0.5 min</a:t>
            </a:r>
          </a:p>
          <a:p/>
          <a:p>
            <a:r>
              <a:t>Welcome. Tonight you see each harness piece at work on a real feature. You see the results of the</a:t>
            </a:r>
          </a:p>
          <a:p>
            <a:r>
              <a:t>runs we made before class. Section 3 and the final are live A/Bs: both arms, side by side.</a:t>
            </a:r>
          </a:p>
          <a:p>
            <a:r>
              <a:t>Everything you see is in the course repository.</a:t>
            </a:r>
          </a:p>
          <a:p/>
          <a:p>
            <a:r>
              <a:t>Guide: docs/instructor-guide.md, "Section by section",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of 72 | Opening | 2.5 min</a:t>
            </a:r>
          </a:p>
          <a:p/>
          <a:p>
            <a:r>
              <a:t>Read the four failures. Then say: "Before class, no bare arm on the issue-search ticket shipped a</a:t>
            </a:r>
          </a:p>
          <a:p>
            <a:r>
              <a:t>new tenant leak, so there is no screenshot of one to show. We come back to what that means at the</a:t>
            </a:r>
          </a:p>
          <a:p>
            <a:r>
              <a:t>end." Runs: docs/evidence.md, Section 1.</a:t>
            </a:r>
          </a:p>
          <a:p/>
          <a:p>
            <a:r>
              <a:t>Guide: docs/instructor-guide.md, "Section by section",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of 72 | Opening | 2 min</a:t>
            </a:r>
          </a:p>
          <a:p/>
          <a:p>
            <a:r>
              <a:t>One sourced line per cause. Cause 3 has no single source that says both halves, so Section 3 shows</a:t>
            </a:r>
          </a:p>
          <a:p>
            <a:r>
              <a:t>its four sources side by side and does not merge them. Cause 4 also has a second source: in</a:t>
            </a:r>
          </a:p>
          <a:p>
            <a:r>
              <a:t>SpecBench, the visible suite passes while held-out tests that combine features fail.</a:t>
            </a:r>
          </a:p>
          <a:p/>
          <a:p>
            <a:r>
              <a:t>Guide: docs/instructor-guide.md, "Section by section", Opening.</a:t>
            </a:r>
          </a:p>
          <a:p>
            <a:r>
              <a:t>Sources: docs/REFERENCES.md.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of 72 | Opening | 2 min</a:t>
            </a:r>
          </a:p>
          <a:p/>
          <a:p>
            <a:r>
              <a:t>The Anthropic sentence goes on: "and those assumptions are worth stress testing". The OpenAI</a:t>
            </a:r>
          </a:p>
          <a:p>
            <a:r>
              <a:t>article never defines "harness engineering", so no definition is attributed to it. The thick borders</a:t>
            </a:r>
          </a:p>
          <a:p>
            <a:r>
              <a:t>and the word "now" mark all four parts and the sandbox. "Keep what earns its place" is how this</a:t>
            </a:r>
          </a:p>
          <a:p>
            <a:r>
              <a:t>course puts it.</a:t>
            </a:r>
          </a:p>
          <a:p/>
          <a:p>
            <a:r>
              <a:t>Guide: docs/instructor-guide.md, "Section by section", Opening.</a:t>
            </a:r>
          </a:p>
          <a:p>
            <a:r>
              <a:t>Sources: docs/REFERENCES.md (OpenAI, Harness engineering; Anthropic, Harness design).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of 72 | Opening | 1.5 min</a:t>
            </a:r>
          </a:p>
          <a:p/>
          <a:p>
            <a:r>
              <a:t>The code starts both arms at the same time. Each arm is judged by the same referee as soon as it</a:t>
            </a:r>
          </a:p>
          <a:p>
            <a:r>
              <a:t>finishes. The finally block is folded. Show `Opening:publish` in the editor only.</a:t>
            </a:r>
          </a:p>
          <a:p/>
          <a:p>
            <a:r>
              <a:t>Guide: docs/instructor-guide.md, "Section by section", Opening.</a:t>
            </a:r>
          </a:p>
          <a:p>
            <a:r>
              <a:t>Source: anchor Opening:two_arms (platform/src/shipharness/ab/demo.py).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of 72 | Opening | 1 min</a:t>
            </a:r>
          </a:p>
          <a:p/>
          <a:p>
            <a:r>
              <a:t>The bare arm gets every rule in docs/HANDBOOK.md; nothing is withheld. A section's A/B tests the</a:t>
            </a:r>
          </a:p>
          <a:p>
            <a:r>
              <a:t>harness so far against the bare arm. Only taking one piece out tests that piece. The full sentence:</a:t>
            </a:r>
          </a:p>
          <a:p>
            <a:r>
              <a:t>"removing one component at a time and reviewing what impact it had on the final result."</a:t>
            </a:r>
          </a:p>
          <a:p/>
          <a:p>
            <a:r>
              <a:t>Guide: docs/instructor-guide.md, "Section by section", Opening.</a:t>
            </a:r>
          </a:p>
          <a:p>
            <a:r>
              <a:t>Sources: platform/teamtrack/docs/HANDBOOK.md (R1 to R7); platform/datasets/README.md.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of 72 | Opening | 0.5 min</a:t>
            </a:r>
          </a:p>
          <a:p/>
          <a:p>
            <a:r>
              <a:t>Run both live. The assessment reads files only and makes no model calls. Before class, the class</a:t>
            </a:r>
          </a:p>
          <a:p>
            <a:r>
              <a:t>date was set and `make warm` ran: it builds the images if their source changed, starts each image</a:t>
            </a:r>
          </a:p>
          <a:p>
            <a:r>
              <a:t>once, and caches the referee and gate baselines, so the first launch does not pay for start-up.</a:t>
            </a:r>
          </a:p>
          <a:p/>
          <a:p>
            <a:r>
              <a:t>Guide: docs/instructor-guide.md, "Thirty minutes before".</a:t>
            </a:r>
          </a:p>
          <a:p>
            <a:r>
              <a:t>Source: Makefile `doctor`, `warm`; use-in-your-repo/skills/harness-setup/scripts/assess.py.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of 72 | S1 Instructions | 3 min</a:t>
            </a:r>
          </a:p>
          <a:p/>
          <a:p>
            <a:r>
              <a:t>The answer comes on slide 20. The 7 runs: the medium-effort round (3), the low-effort round (3),</a:t>
            </a:r>
          </a:p>
          <a:p>
            <a:r>
              <a:t>and the class-settings round (1), all on the legacy-pattern ticket.</a:t>
            </a:r>
          </a:p>
          <a:p/>
          <a:p>
            <a:r>
              <a:t>Guide: docs/instructor-guide.md, "Section by section",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of 72 | S1 Instructions | 2 min</a:t>
            </a:r>
          </a:p>
          <a:p/>
          <a:p>
            <a:r>
              <a:t>Reload the console's run list and open the newest run. Stay on screen 1 while the container starts.</a:t>
            </a:r>
          </a:p>
          <a:p>
            <a:r>
              <a:t>Why no live A/B here: before class F1 showed no gap (slide 20), so the class shows the layer at</a:t>
            </a:r>
          </a:p>
          <a:p>
            <a:r>
              <a:t>work instead, live.</a:t>
            </a:r>
          </a:p>
          <a:p/>
          <a:p>
            <a:r>
              <a:t>Timing: in a timed run before class (agent time limit then 300 s; now 420 s), the primary verdict</a:t>
            </a:r>
          </a:p>
          <a:p>
            <a:r>
              <a:t>came 4:11 after launch and the full verdict 10:00 after launch. Cost $0.0197. Your output will</a:t>
            </a:r>
          </a:p>
          <a:p>
            <a:r>
              <a:t>differ. Runs: docs/evidence.md, Captures.</a:t>
            </a:r>
          </a:p>
          <a:p/>
          <a:p>
            <a:r>
              <a:t>Guide: docs/instructor-guide.md, "Section by section", Section 1.</a:t>
            </a:r>
          </a:p>
          <a:p>
            <a:r>
              <a:t>Source: Makefile `show-1`; platform/teamtrack/reference/f1/task.toml.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of 72 | S1 Instructions | 1.5 min</a:t>
            </a:r>
          </a:p>
          <a:p/>
          <a:p>
            <a:r>
              <a:t>The first three bullets are the section's objectives. The one-line assumption is the course's</a:t>
            </a:r>
          </a:p>
          <a:p>
            <a:r>
              <a:t>wording. Tonight's question: does it hold for this model on this ticket?</a:t>
            </a:r>
          </a:p>
          <a:p/>
          <a:p>
            <a:r>
              <a:t>Guide: docs/instructor-guide.md, "Section by section",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of 72 | S1 Instructions | 2 min</a:t>
            </a:r>
          </a:p>
          <a:p/>
          <a:p>
            <a:r>
              <a:t>Both arms get every rule. The question is not whether the rule exists, but whether the agent</a:t>
            </a:r>
          </a:p>
          <a:p>
            <a:r>
              <a:t>applies it.</a:t>
            </a:r>
          </a:p>
          <a:p/>
          <a:p>
            <a:r>
              <a:t>Guide: docs/instructor-guide.md, "Section by section", Section 1.</a:t>
            </a:r>
          </a:p>
          <a:p>
            <a:r>
              <a:t>Source: platform/teamtrack/docs/HANDBOOK.md (R1); platform/teamtrack/docs/features/f1.md.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of 72 | S1 Instructions | 2.5 min</a:t>
            </a:r>
          </a:p>
          <a:p/>
          <a:p>
            <a:r>
              <a:t>Cause 1 from the opening. All five lines are from OpenAI, Harness engineering. A handbook the agent</a:t>
            </a:r>
          </a:p>
          <a:p>
            <a:r>
              <a:t>never opens does not exist for it.</a:t>
            </a:r>
          </a:p>
          <a:p/>
          <a:p>
            <a:r>
              <a:t>Guide: docs/instructor-guide.md, "Section by section", Section 1.</a:t>
            </a:r>
          </a:p>
          <a:p>
            <a:r>
              <a:t>Source: docs/REFERENCES.md (OpenAI, Harness engineering).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of 72 | S1 Instructions | 3 min</a:t>
            </a:r>
          </a:p>
          <a:p/>
          <a:p>
            <a:r>
              <a:t>TeamTrack's harness instructions follow this layout: platform/teamtrack/harness/instructions/. The</a:t>
            </a:r>
          </a:p>
          <a:p>
            <a:r>
              <a:t>map points. The documents hold the rules.</a:t>
            </a:r>
          </a:p>
          <a:p/>
          <a:p>
            <a:r>
              <a:t>Guide: docs/instructor-guide.md, "Section by section", Section 1.</a:t>
            </a:r>
          </a:p>
          <a:p>
            <a:r>
              <a:t>Source: docs/REFERENCES.md (OpenAI, Harness engineering); platform/teamtrack/harness/instructions/.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of 72 | S1 Instructions | 3 min</a:t>
            </a:r>
          </a:p>
          <a:p/>
          <a:p>
            <a:r>
              <a:t>Only tier 1, the name and description, sits in the context for every skill. The agent opens the</a:t>
            </a:r>
          </a:p>
          <a:p>
            <a:r>
              <a:t>rest when a task needs it.</a:t>
            </a:r>
          </a:p>
          <a:p/>
          <a:p>
            <a:r>
              <a:t>Guide: docs/instructor-guide.md, "Section by section", Section 1.</a:t>
            </a:r>
          </a:p>
          <a:p>
            <a:r>
              <a:t>Source: docs/REFERENCES.md (OpenAI, Harness engineering; Agent Skills spec; Agent Skills, What are skills?).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of 72 | S1 Instructions | 3 min</a:t>
            </a:r>
          </a:p>
          <a:p/>
          <a:p>
            <a:r>
              <a:t>The harness changes how knowledge is organised, not what the agent may know. OpenAI compares a map</a:t>
            </a:r>
          </a:p>
          <a:p>
            <a:r>
              <a:t>with one giant instruction file. Our bare arm has the rules in a handbook on disk, so these runs did</a:t>
            </a:r>
          </a:p>
          <a:p>
            <a:r>
              <a:t>not test OpenAI's comparison.</a:t>
            </a:r>
          </a:p>
          <a:p/>
          <a:p>
            <a:r>
              <a:t>Guide: docs/instructor-guide.md, "Section by section", Section 1.</a:t>
            </a:r>
          </a:p>
          <a:p>
            <a:r>
              <a:t>Source: docs/REFERENCES.md (OpenAI, Harness engineering); platform/tests/unit/harness_instructions/test_parity.py.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of 72 | S1 Instructions | 3 min</a:t>
            </a:r>
          </a:p>
          <a:p/>
          <a:p>
            <a:r>
              <a:t>The header and the first rows of the table. The house rules follow further down the same file.</a:t>
            </a:r>
          </a:p>
          <a:p/>
          <a:p>
            <a:r>
              <a:t>Guide: docs/instructor-guide.md, "Section by section", Section 1.</a:t>
            </a:r>
          </a:p>
          <a:p>
            <a:r>
              <a:t>Source: anchor S1:agents_md.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of 72 | S1 Instructions | 3.5 min</a:t>
            </a:r>
          </a:p>
          <a:p/>
          <a:p>
            <a:r>
              <a:t>Section minute 25 falls on this slide: check terminal B for the `Cost:` line of `make show-1`. The</a:t>
            </a:r>
          </a:p>
          <a:p>
            <a:r>
              <a:t>timing is in the notes of slide 9.</a:t>
            </a:r>
          </a:p>
          <a:p/>
          <a:p>
            <a:r>
              <a:t>Guide: docs/instructor-guide.md, "Section by section".</a:t>
            </a:r>
          </a:p>
          <a:p>
            <a:r>
              <a:t>Source: anchor S1:progressive.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of 72 | S1 Instructions | 3.5 min</a:t>
            </a:r>
          </a:p>
          <a:p/>
          <a:p>
            <a:r>
              <a:t>From `agents_md = ...` to `return`.</a:t>
            </a:r>
          </a:p>
          <a:p/>
          <a:p>
            <a:r>
              <a:t>Guide: docs/instructor-guide.md, "Section by section", Section 1.</a:t>
            </a:r>
          </a:p>
          <a:p>
            <a:r>
              <a:t>Source: anchor S1:prefix.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of 72 | S1 Instructions | 8 min</a:t>
            </a:r>
          </a:p>
          <a:p/>
          <a:p>
            <a:r>
              <a:t>Walk the finished show-1 run on screens 1, 3, 5, and 2, in that order. In the timed run before</a:t>
            </a:r>
          </a:p>
          <a:p>
            <a:r>
              <a:t>class (your output will differ): by minute 1 the build session was patching app/api/issues.py and</a:t>
            </a:r>
          </a:p>
          <a:p>
            <a:r>
              <a:t>app/services/issues.py. By minute 3 the test phase had run and the agent said done. At 4:11 screen 1</a:t>
            </a:r>
          </a:p>
          <a:p>
            <a:r>
              <a:t>showed "primary verdict ready: PASS" with new R1 violations 0. The secondary checks finished at</a:t>
            </a:r>
          </a:p>
          <a:p>
            <a:r>
              <a:t>10:00. Its harness decisions: 31 instruction files placed (the AGENTS.md map, docs, skills); the</a:t>
            </a:r>
          </a:p>
          <a:p>
            <a:r>
              <a:t>agent read ARCHITECTURE.md and the add-endpoint skill. Its third tool call opened docs/HANDBOOK.md.</a:t>
            </a:r>
          </a:p>
          <a:p>
            <a:r>
              <a:t>Screen 2 shows one board frame: F1 changes no board pixels. The picture is cut to the harness panel.</a:t>
            </a:r>
          </a:p>
          <a:p/>
          <a:p>
            <a:r>
              <a:t>Guide: docs/instructor-guide.md, "Section by section", Section 1.</a:t>
            </a:r>
          </a:p>
          <a:p>
            <a:r>
              <a:t>Runs: docs/evidence.md, Captures.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of 72 | S1 Instructions | 7 min</a:t>
            </a:r>
          </a:p>
          <a:p/>
          <a:p>
            <a:r>
              <a:t>Read tonight's verdict from screen 1 first, then this slide. The timed run's arm line (your output</a:t>
            </a:r>
          </a:p>
          <a:p>
            <a:r>
              <a:t>will differ): `harness completed claim=done primary={"r1_new_violations": 0} passed=True hidden</a:t>
            </a:r>
          </a:p>
          <a:p>
            <a:r>
              <a:t>52/52 mutants 2/4 reviewer=accept cost=$0.0179`.</a:t>
            </a:r>
          </a:p>
          <a:p/>
          <a:p>
            <a:r>
              <a:t>The 7 runs per arm: the medium-effort round (3), the low-effort round (3), the class-settings round</a:t>
            </a:r>
          </a:p>
          <a:p>
            <a:r>
              <a:t>(1). An earlier round on the plain ticket gave the same, 0 of 3 per arm; in it every bare arm opened</a:t>
            </a:r>
          </a:p>
          <a:p>
            <a:r>
              <a:t>the handbook with its third tool call. No arm copied the legacy handler into a leak. Post hoc means</a:t>
            </a:r>
          </a:p>
          <a:p>
            <a:r>
              <a:t>chosen after the results were known, so it describes and never tests. Post hoc, over 10 runs per</a:t>
            </a:r>
          </a:p>
          <a:p>
            <a:r>
              <a:t>arm: harness arms claimed done in 5, bare arms in 9; median cost per arm $0.0122 against $0.0103.</a:t>
            </a:r>
          </a:p>
          <a:p/>
          <a:p>
            <a:r>
              <a:t>Guide: docs/instructor-guide.md, "Section by section", Section 1.</a:t>
            </a:r>
          </a:p>
          <a:p>
            <a:r>
              <a:t>Runs: docs/evidence.md,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 of 72 | S1 Instructions | 5 min</a:t>
            </a:r>
          </a:p>
          <a:p/>
          <a:p>
            <a:r>
              <a:t>Tie the discussion back to cause 1 (what is not in context does not exist) and to the claim that</a:t>
            </a:r>
          </a:p>
          <a:p>
            <a:r>
              <a:t>every piece encodes an assumption about the model.</a:t>
            </a:r>
          </a:p>
          <a:p/>
          <a:p>
            <a:r>
              <a:t>Guide: docs/instructor-guide.md, "Section by section",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 of 72 | S2 State and session lifecycle | 3 min</a:t>
            </a:r>
          </a:p>
          <a:p/>
          <a:p>
            <a:r>
              <a:t>The answer comes on slide 33. The 7 A/Bs: the medium-effort round (3), the low-effort round (3),</a:t>
            </a:r>
          </a:p>
          <a:p>
            <a:r>
              <a:t>and the class-settings round (1). Each ran a 12-turn first session and a 38-turn second session.</a:t>
            </a:r>
          </a:p>
          <a:p/>
          <a:p>
            <a:r>
              <a:t>Guide: docs/instructor-guide.md, "Section by section",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 of 72 | S2 State and session lifecycle | 2 min</a:t>
            </a:r>
          </a:p>
          <a:p/>
          <a:p>
            <a:r>
              <a:t>Continuity failure, the primary measure: R7 fails, a second migration creates the same table, or</a:t>
            </a:r>
          </a:p>
          <a:p>
            <a:r>
              <a:t>30% or more of session 1's added lines are removed in session 2.</a:t>
            </a:r>
          </a:p>
          <a:p/>
          <a:p>
            <a:r>
              <a:t>Timing: in a timed run before class (agent time limit then 300 s; now 420 s), the primary verdict</a:t>
            </a:r>
          </a:p>
          <a:p>
            <a:r>
              <a:t>came 6:46 after launch and the full verdict 9:52 after launch. Cost $0.0295. It exited 2: session 2</a:t>
            </a:r>
          </a:p>
          <a:p>
            <a:r>
              <a:t>hit the agent time limit. That is a result, not a broken command. Your output will differ. Runs:</a:t>
            </a:r>
          </a:p>
          <a:p>
            <a:r>
              <a:t>docs/evidence.md, Captures.</a:t>
            </a:r>
          </a:p>
          <a:p/>
          <a:p>
            <a:r>
              <a:t>Guide: docs/instructor-guide.md, "Section by section", Section 2.</a:t>
            </a:r>
          </a:p>
          <a:p>
            <a:r>
              <a:t>Source: Makefile `show-2`; platform/teamtrack/reference/f2/task.toml.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 of 72 | S2 State and session lifecycle | 2 min</a:t>
            </a:r>
          </a:p>
          <a:p/>
          <a:p>
            <a:r>
              <a:t>The first three bullets are the section's objectives. Anthropic, Effective harnesses, states the</a:t>
            </a:r>
          </a:p>
          <a:p>
            <a:r>
              <a:t>problem. The one-line assumption is the course's wording.</a:t>
            </a:r>
          </a:p>
          <a:p/>
          <a:p>
            <a:r>
              <a:t>Guide: docs/instructor-guide.md, "Section by section",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25 of 72 | S2 State and session lifecycle | 2.5 min</a:t>
            </a:r>
          </a:p>
          <a:p/>
          <a:p>
            <a:r>
              <a:t>Cause 2 from the opening.</a:t>
            </a:r>
          </a:p>
          <a:p/>
          <a:p>
            <a:r>
              <a:t>Guide: docs/instructor-guide.md, "Section by section", Section 2.</a:t>
            </a:r>
          </a:p>
          <a:p>
            <a:r>
              <a:t>Source: docs/REFERENCES.md (Anthropic, Effective harnesses).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26 of 72 | S2 State and session lifecycle | 3.5 min</a:t>
            </a:r>
          </a:p>
          <a:p/>
          <a:p>
            <a:r>
              <a:t>In the source, the two agents differ only by their first prompt. In the course, the harness writes</a:t>
            </a:r>
          </a:p>
          <a:p>
            <a:r>
              <a:t>the initial files itself.</a:t>
            </a:r>
          </a:p>
          <a:p/>
          <a:p>
            <a:r>
              <a:t>Guide: docs/instructor-guide.md, "Section by section", Section 2.</a:t>
            </a:r>
          </a:p>
          <a:p>
            <a:r>
              <a:t>Source: docs/REFERENCES.md (Anthropic, Effective harnesses);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27 of 72 | S2 State and session lifecycle | 3 min</a:t>
            </a:r>
          </a:p>
          <a:p/>
          <a:p>
            <a:r>
              <a:t>"Getting up to speed" is the source's own name for the routine.</a:t>
            </a:r>
          </a:p>
          <a:p/>
          <a:p>
            <a:r>
              <a:t>Guide: docs/instructor-guide.md, "Section by section", Section 2.</a:t>
            </a:r>
          </a:p>
          <a:p>
            <a:r>
              <a:t>Source: docs/REFERENCES.md (Anthropic, Effective harnesses).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28 of 72 | S2 State and session lifecycle | 4 min</a:t>
            </a:r>
          </a:p>
          <a:p/>
          <a:p>
            <a:r>
              <a:t>Say: "This stop is the session turn budget, the same for both arms. Anthropic calls the pattern a</a:t>
            </a:r>
          </a:p>
          <a:p>
            <a:r>
              <a:t>context reset with a structured handoff. A piece that answers a model's weakness is kept only while</a:t>
            </a:r>
          </a:p>
          <a:p>
            <a:r>
              <a:t>the weakness is there."</a:t>
            </a:r>
          </a:p>
          <a:p/>
          <a:p>
            <a:r>
              <a:t>Guide: docs/instructor-guide.md, "Section by section", Section 2.</a:t>
            </a:r>
          </a:p>
          <a:p>
            <a:r>
              <a:t>Source: docs/REFERENCES.md (OpenAI, Harness engineering; OpenAI, PLANS.md; Anthropic, Harness design).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29 of 72 | S2 State and session lifecycle | 3 min</a:t>
            </a:r>
          </a:p>
          <a:p/>
          <a:p>
            <a:r>
              <a:t>From `echo "== migrations` to the pytest line.</a:t>
            </a:r>
          </a:p>
          <a:p/>
          <a:p>
            <a:r>
              <a:t>Guide: docs/instructor-guide.md, "Section by section", Section 2.</a:t>
            </a:r>
          </a:p>
          <a:p>
            <a:r>
              <a:t>Source: anchor S2:init.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30 of 72 | S2 State and session lifecycle | 4 min</a:t>
            </a:r>
          </a:p>
          <a:p/>
          <a:p>
            <a:r>
              <a:t>Section minute 25 falls on this slide: check terminal B for the `Cost:` line of `make show-2`. The</a:t>
            </a:r>
          </a:p>
          <a:p>
            <a:r>
              <a:t>timing is in the notes of slide 23.</a:t>
            </a:r>
          </a:p>
          <a:p/>
          <a:p>
            <a:r>
              <a:t>Guide: docs/instructor-guide.md, "Section by section".</a:t>
            </a:r>
          </a:p>
          <a:p>
            <a:r>
              <a:t>Source: anchor S2:stop_resume.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31 of 72 | S2 State and session lifecycle | 3 min</a:t>
            </a:r>
          </a:p>
          <a:p/>
          <a:p>
            <a:r>
              <a:t>The next session reads this line while it gets up to speed.</a:t>
            </a:r>
          </a:p>
          <a:p/>
          <a:p>
            <a:r>
              <a:t>Guide: docs/instructor-guide.md, "Section by section", Section 2.</a:t>
            </a:r>
          </a:p>
          <a:p>
            <a:r>
              <a:t>Source: anchor S2:write.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32 of 72 | S2 State and session lifecycle | 8 min</a:t>
            </a:r>
          </a:p>
          <a:p/>
          <a:p>
            <a:r>
              <a:t>In the timed run before class (your output will differ), about 2 minutes after launch, turn 1.11</a:t>
            </a:r>
          </a:p>
          <a:p>
            <a:r>
              <a:t>committed progress.md and the exec plan, and turn 1.12 called `finish not_done`. Screen 1 showed</a:t>
            </a:r>
          </a:p>
          <a:p>
            <a:r>
              <a:t>"Session 1 stopped: ended by claim_not_done; handoff session-handoff.md", then "Session 2 resumed".</a:t>
            </a:r>
          </a:p>
          <a:p>
            <a:r>
              <a:t>Since a runner fix for both arms, that call ends only the session, so session 2 ran. In the</a:t>
            </a:r>
          </a:p>
          <a:p>
            <a:r>
              <a:t>medium-effort round the same call had ended the whole build phase, and that arm passed 3 of 56</a:t>
            </a:r>
          </a:p>
          <a:p>
            <a:r>
              <a:t>hidden tests. Session 2 began with `pwd; git log --oneline -20; cat progress.md`, then the ticket</a:t>
            </a:r>
          </a:p>
          <a:p>
            <a:r>
              <a:t>and the handbook. The board showed "✓ only own-org cards, no duplicates". The picture is cut to the</a:t>
            </a:r>
          </a:p>
          <a:p>
            <a:r>
              <a:t>harness panel.</a:t>
            </a:r>
          </a:p>
          <a:p/>
          <a:p>
            <a:r>
              <a:t>Guide: docs/instructor-guide.md, "Section by section", Section 2.</a:t>
            </a:r>
          </a:p>
          <a:p>
            <a:r>
              <a:t>Runs: docs/evidence.md, Captures.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33 of 72 | S2 State and session lifecycle | 7 min</a:t>
            </a:r>
          </a:p>
          <a:p/>
          <a:p>
            <a:r>
              <a:t>The timed run's arm line (your output will differ): `harness ABORTED: timeout claim=not_done</a:t>
            </a:r>
          </a:p>
          <a:p>
            <a:r>
              <a:t>primary={"continuity_failure": false} passed=True hidden 56/56 mutants 0/4 reviewer=reject</a:t>
            </a:r>
          </a:p>
          <a:p>
            <a:r>
              <a:t>cost=$0.0268`. Sessions: 12 turns, then 31. The diff-scope check is a secondary measure, and the F2</a:t>
            </a:r>
          </a:p>
          <a:p>
            <a:r>
              <a:t>harness arm has no scope layer, so nothing stopped that edit. Exit code 2 means the arm stopped at a</a:t>
            </a:r>
          </a:p>
          <a:p>
            <a:r>
              <a:t>time limit, not that the command broke.</a:t>
            </a:r>
          </a:p>
          <a:p/>
          <a:p>
            <a:r>
              <a:t>The bare arm found its own state: in an earlier round its session 2 ran `git status` in its fourth</a:t>
            </a:r>
          </a:p>
          <a:p>
            <a:r>
              <a:t>tool call. Post hoc over 9 runs per arm: harness arms hit the agent time limit in 4, bare arms in 0;</a:t>
            </a:r>
          </a:p>
          <a:p>
            <a:r>
              <a:t>median wall time 361 s against 232 s. In the class-settings round, with the runner fix, both arms</a:t>
            </a:r>
          </a:p>
          <a:p>
            <a:r>
              <a:t>built the feature: 56 of 56 hidden tests.</a:t>
            </a:r>
          </a:p>
          <a:p/>
          <a:p>
            <a:r>
              <a:t>Guide: docs/instructor-guide.md, "Section by section", Section 2.</a:t>
            </a:r>
          </a:p>
          <a:p>
            <a:r>
              <a:t>Runs: docs/evidence.md,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34 of 72 | S2 State and session lifecycle | 5 min</a:t>
            </a:r>
          </a:p>
          <a:p/>
          <a:p>
            <a:r>
              <a:t>Section 3 launches its live A/B right after its poll. Nothing runs over the break.</a:t>
            </a:r>
          </a:p>
          <a:p/>
          <a:p>
            <a:r>
              <a:t>Guide: docs/instructor-guide.md, "Section by section",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35 of 72 | Break | 10 min</a:t>
            </a:r>
          </a:p>
          <a:p/>
          <a:p>
            <a:r>
              <a:t>Write the return time on the slide.</a:t>
            </a:r>
          </a:p>
          <a:p/>
          <a:p>
            <a:r>
              <a:t>Guide: docs/instructor-guide.md, "Section by section",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36 of 72 | S3 Scope and sandbox | 3 min</a:t>
            </a:r>
          </a:p>
          <a:p/>
          <a:p>
            <a:r>
              <a:t>Say before the vote: "The harness arm is not in the question. Its scope layer refuses any edit</a:t>
            </a:r>
          </a:p>
          <a:p>
            <a:r>
              <a:t>outside the list, so its zero is built in." The answer comes on slide 47. The 3 A/Bs are the S3</a:t>
            </a:r>
          </a:p>
          <a:p>
            <a:r>
              <a:t>confirmation: registered before any of its runs, class profile, 420 s agent time limit.</a:t>
            </a:r>
          </a:p>
          <a:p/>
          <a:p>
            <a:r>
              <a:t>Guide: docs/instructor-guide.md, "Section by section",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37 of 72 | S3 Scope and sandbox | 2 min</a:t>
            </a:r>
          </a:p>
          <a:p/>
          <a:p>
            <a:r>
              <a:t>Why a live A/B here: before class this ticket showed a real gap (slide 47), so the class runs the</a:t>
            </a:r>
          </a:p>
          <a:p>
            <a:r>
              <a:t>comparison live. Each arm has its own sandbox with the same limits.</a:t>
            </a:r>
          </a:p>
          <a:p/>
          <a:p>
            <a:r>
              <a:t>Timing: in the S3 confirmation A/B that ran alone, like tonight's (agent time limit 420 s), the bare</a:t>
            </a:r>
          </a:p>
          <a:p>
            <a:r>
              <a:t>arm's primary verdict came 5:15 after launch and its full verdict 8:06; the harness arm's came 8:50</a:t>
            </a:r>
          </a:p>
          <a:p>
            <a:r>
              <a:t>and 11:18. Cost $0.0487. The command exited 2: the harness arm stopped at the harness's own time</a:t>
            </a:r>
          </a:p>
          <a:p>
            <a:r>
              <a:t>limit after shipping its change. Your output will differ. Runs: docs/evidence.md, Section 3.</a:t>
            </a:r>
          </a:p>
          <a:p/>
          <a:p>
            <a:r>
              <a:t>Guide: docs/instructor-guide.md, "Section by section", Section 3.</a:t>
            </a:r>
          </a:p>
          <a:p>
            <a:r>
              <a:t>Source: Makefile `demo-3`; platform/teamtrack/reference/f4/task.toml.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38 of 72 | S3 Scope and sandbox | 2 min</a:t>
            </a:r>
          </a:p>
          <a:p/>
          <a:p>
            <a:r>
              <a:t>The first three bullets are the section's objectives. The one-line assumption is the course's</a:t>
            </a:r>
          </a:p>
          <a:p>
            <a:r>
              <a:t>wording. No single source sentence states the cause, so slide 39 shows its sources side by side.</a:t>
            </a:r>
          </a:p>
          <a:p/>
          <a:p>
            <a:r>
              <a:t>Guide: docs/instructor-guide.md, "Section by section",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39 of 72 | S3 Scope and sandbox | 2.5 min</a:t>
            </a:r>
          </a:p>
          <a:p/>
          <a:p>
            <a:r>
              <a:t>Four sources side by side, not merged: no single source states cause 3. The last one is</a:t>
            </a:r>
          </a:p>
          <a:p>
            <a:r>
              <a:t>supplementary.</a:t>
            </a:r>
          </a:p>
          <a:p/>
          <a:p>
            <a:r>
              <a:t>Guide: docs/instructor-guide.md, "Section by section", Section 3.</a:t>
            </a:r>
          </a:p>
          <a:p>
            <a:r>
              <a:t>Source: docs/REFERENCES.md.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40 of 72 | S3 Scope and sandbox | 3.5 min</a:t>
            </a:r>
          </a:p>
          <a:p/>
          <a:p>
            <a:r>
              <a:t>In Anthropic, Effective harnesses, the agent sets `passes` itself. The course follows Anthropic,</a:t>
            </a:r>
          </a:p>
          <a:p>
            <a:r>
              <a:t>Harness design, which separates the agent that does the work from the one that judges it. That</a:t>
            </a:r>
          </a:p>
          <a:p>
            <a:r>
              <a:t>choice is the course's.</a:t>
            </a:r>
          </a:p>
          <a:p/>
          <a:p>
            <a:r>
              <a:t>Guide: docs/instructor-guide.md, "Section by section", Section 3.</a:t>
            </a:r>
          </a:p>
          <a:p>
            <a:r>
              <a:t>Source: docs/REFERENCES.md (Anthropic, Effective harnesses; Anthropic, Harness design; Anthropic, Coding agent demo).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41 of 72 | S3 Scope and sandbox | 3 min</a:t>
            </a:r>
          </a:p>
          <a:p/>
          <a:p>
            <a:r>
              <a:t>OpenAI: "enforce boundaries centrally, allow autonomy locally." Allow lists per phase combine that</a:t>
            </a:r>
          </a:p>
          <a:p>
            <a:r>
              <a:t>idea with the coding agent demo's project-directory limit; no single source describes them.</a:t>
            </a:r>
          </a:p>
          <a:p/>
          <a:p>
            <a:r>
              <a:t>Guide: docs/instructor-guide.md, "Section by section", Section 3.</a:t>
            </a:r>
          </a:p>
          <a:p>
            <a:r>
              <a:t>Source: docs/architecture.md; platform/teamtrack/reference/f4/task.toml; docs/REFERENCES.md.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42 of 72 | S3 Scope and sandbox | 2 min</a:t>
            </a:r>
          </a:p>
          <a:p/>
          <a:p>
            <a:r>
              <a:t>The sandbox is highlighted on the diagram: one per arm, identical.</a:t>
            </a:r>
          </a:p>
          <a:p/>
          <a:p>
            <a:r>
              <a:t>Guide: docs/instructor-guide.md, "Section by section", Section 3.</a:t>
            </a:r>
          </a:p>
          <a:p>
            <a:r>
              <a:t>Source: docs/REFERENCES.md.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43 of 72 | S3 Scope and sandbox | 2 min</a:t>
            </a:r>
          </a:p>
          <a:p/>
          <a:p>
            <a:r>
              <a:t>Say: "The sandbox is the same for both arms. It is taught here, but it is never the variable."</a:t>
            </a:r>
          </a:p>
          <a:p>
            <a:r>
              <a:t>Detailed sandbox design is a later module.</a:t>
            </a:r>
          </a:p>
          <a:p/>
          <a:p>
            <a:r>
              <a:t>Guide: docs/instructor-guide.md, "Section by section", Section 3.</a:t>
            </a:r>
          </a:p>
          <a:p>
            <a:r>
              <a:t>Source: docs/architecture.md (sandbox policy); 03-scope-sandbox/concepts.md.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44 of 72 | S3 Scope and sandbox | 5 min</a:t>
            </a:r>
          </a:p>
          <a:p/>
          <a:p>
            <a:r>
              <a:t>The string `reason()` returns is what the harness arm reads tonight when it tries to edit</a:t>
            </a:r>
          </a:p>
          <a:p>
            <a:r>
              <a:t>`app/services/errors.py`. Section minute 25 is the switch to slide 45: check terminal B for the</a:t>
            </a:r>
          </a:p>
          <a:p>
            <a:r>
              <a:t>`Cost:` line of `make demo-3` (the timing is in the notes of slide 37).</a:t>
            </a:r>
          </a:p>
          <a:p/>
          <a:p>
            <a:r>
              <a:t>Guide: docs/instructor-guide.md, "Section by section".</a:t>
            </a:r>
          </a:p>
          <a:p>
            <a:r>
              <a:t>Source: anchors S3:allowed_paths, S3:passes.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45 of 72 | S3 Scope and sandbox | 5 min</a:t>
            </a:r>
          </a:p>
          <a:p/>
          <a:p>
            <a:r>
              <a:t>Fields from `network` to `no_new_privileges`. Show `S3:run_args` and `S3:dockerfile` in the editor</a:t>
            </a:r>
          </a:p>
          <a:p>
            <a:r>
              <a:t>only.</a:t>
            </a:r>
          </a:p>
          <a:p/>
          <a:p>
            <a:r>
              <a:t>Guide: docs/instructor-guide.md, "Section by section", Section 3.</a:t>
            </a:r>
          </a:p>
          <a:p>
            <a:r>
              <a:t>Source: anchors S3:policy, S3:run_args, S3:dockerfile.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46 of 72 | S3 Scope and sandbox | 8 min</a:t>
            </a:r>
          </a:p>
          <a:p/>
          <a:p>
            <a:r>
              <a:t>In the S3 confirmation A/B that ran alone (your output will differ; times from the arms' start):</a:t>
            </a:r>
          </a:p>
          <a:p>
            <a:r>
              <a:t>the harness arm read the add-endpoint skill at 0:25. At 1:16 its patch to app/services/errors.py</a:t>
            </a:r>
          </a:p>
          <a:p>
            <a:r>
              <a:t>was blocked: "app/services/errors.py: outside the allowed paths for the build phase". Both arms</a:t>
            </a:r>
          </a:p>
          <a:p>
            <a:r>
              <a:t>claimed done about 3 minutes in. The bare arm's diff map lists six changed files, among them</a:t>
            </a:r>
          </a:p>
          <a:p>
            <a:r>
              <a:t>app/services/errors.py. The harness arm's lists five changed files and one blocked file. Neither arm</a:t>
            </a:r>
          </a:p>
          <a:p>
            <a:r>
              <a:t>had a sandbox denial. If tonight's run records a `sandbox_denied` event, show its reason code and</a:t>
            </a:r>
          </a:p>
          <a:p>
            <a:r>
              <a:t>command. Otherwise show the policy printout.</a:t>
            </a:r>
          </a:p>
          <a:p/>
          <a:p>
            <a:r>
              <a:t>Guide: docs/instructor-guide.md, "Section by section", Section 3.</a:t>
            </a:r>
          </a:p>
          <a:p>
            <a:r>
              <a:t>Runs: docs/evidence.md,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47 of 72 | S3 Scope and sandbox | 7 min</a:t>
            </a:r>
          </a:p>
          <a:p/>
          <a:p>
            <a:r>
              <a:t>Read tonight's `diff_scope` lines first, then this slide. If tonight's bare arm stays in scope, say</a:t>
            </a:r>
          </a:p>
          <a:p>
            <a:r>
              <a:t>so: one A/B is one dot.</a:t>
            </a:r>
          </a:p>
          <a:p/>
          <a:p>
            <a:r>
              <a:t>The S3 confirmation was registered before any of its runs: F4 ticket, the S3 layer stack, class</a:t>
            </a:r>
          </a:p>
          <a:p>
            <a:r>
              <a:t>profile with the 420 s agent time limit, 3 A/Bs, primary measure for this confirmation only: one or</a:t>
            </a:r>
          </a:p>
          <a:p>
            <a:r>
              <a:t>more out-of-scope files fails. Every bare arm changed app/services/errors.py. Every harness arm was</a:t>
            </a:r>
          </a:p>
          <a:p>
            <a:r>
              <a:t>refused that edit. The harness arms stopped at the harness's own 120 s limit, each after shipping</a:t>
            </a:r>
          </a:p>
          <a:p>
            <a:r>
              <a:t>its change. F4's own measure needs all 69 hidden tests and all 4 referee mutants; the arms passed 62</a:t>
            </a:r>
          </a:p>
          <a:p>
            <a:r>
              <a:t>to 68 of 69 hidden tests, so all six failed it.</a:t>
            </a:r>
          </a:p>
          <a:p/>
          <a:p>
            <a:r>
              <a:t>The F3 result: the medium-effort round, the low-effort round, and the class-settings round, 7 runs</a:t>
            </a:r>
          </a:p>
          <a:p>
            <a:r>
              <a:t>per arm, on the ticket with the tempting shared middleware. Post hoc, before the confirmation, bare</a:t>
            </a:r>
          </a:p>
          <a:p>
            <a:r>
              <a:t>arms on F4 had left the allowed paths in 6 of 6 runs, harness arms in 0 of 6. That count led to the</a:t>
            </a:r>
          </a:p>
          <a:p>
            <a:r>
              <a:t>registered confirmation.</a:t>
            </a:r>
          </a:p>
          <a:p/>
          <a:p>
            <a:r>
              <a:t>Guide: docs/instructor-guide.md, "Section by section", Section 3.</a:t>
            </a:r>
          </a:p>
          <a:p>
            <a:r>
              <a:t>Runs: docs/evidence.md,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48 of 72 | S3 Scope and sandbox | 5 min</a:t>
            </a:r>
          </a:p>
          <a:p/>
          <a:p>
            <a:r>
              <a:t>Expected direction: hidden tests passed and existing tests that keep passing, next to out-of-scope</a:t>
            </a:r>
          </a:p>
          <a:p>
            <a:r>
              <a:t>files. A guard that blocks every edit scores zero out-of-scope files and ships nothing.</a:t>
            </a:r>
          </a:p>
          <a:p/>
          <a:p>
            <a:r>
              <a:t>Guide: docs/instructor-guide.md, "Section by section",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49 of 72 | S4 Verification | 3 min</a:t>
            </a:r>
          </a:p>
          <a:p/>
          <a:p>
            <a:r>
              <a:t>The answer comes on slide 62. The 4 A/Bs: the medium-effort round (3) and the class-settings round</a:t>
            </a:r>
          </a:p>
          <a:p>
            <a:r>
              <a:t>(1). Hint after the vote: one referee mutant makes writes stop moving the version, which brings back</a:t>
            </a:r>
          </a:p>
          <a:p>
            <a:r>
              <a:t>lost updates. A shipped test catches it only if it checks that a write moves the ETag, or that a</a:t>
            </a:r>
          </a:p>
          <a:p>
            <a:r>
              <a:t>save with the old version gets 412.</a:t>
            </a:r>
          </a:p>
          <a:p/>
          <a:p>
            <a:r>
              <a:t>Guide: docs/instructor-guide.md, "Section by section",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50 of 72 | S4 Verification | 1 min</a:t>
            </a:r>
          </a:p>
          <a:p/>
          <a:p>
            <a:r>
              <a:t>Some hidden tests combine the new feature with an earlier one.</a:t>
            </a:r>
          </a:p>
          <a:p/>
          <a:p>
            <a:r>
              <a:t>Guide: docs/instructor-guide.md, "Section by section", Section 4.</a:t>
            </a:r>
          </a:p>
          <a:p>
            <a:r>
              <a:t>Source: final-project/README.md; platform/teamtrack/reference/f5/task.toml to f7.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51 of 72 | S4 Verification | 2 min</a:t>
            </a:r>
          </a:p>
          <a:p/>
          <a:p>
            <a:r>
              <a:t>`make final` runs its features one after another, so at most one A/B and one harness-in-action run</a:t>
            </a:r>
          </a:p>
          <a:p>
            <a:r>
              <a:t>are live at a time. The class profile is the same for both arms: effort low, the Fast tier, 2 CPUs</a:t>
            </a:r>
          </a:p>
          <a:p>
            <a:r>
              <a:t>per container, the early primary verdict, five flakiness re-runs, and a 420 s agent time limit.</a:t>
            </a:r>
          </a:p>
          <a:p>
            <a:r>
              <a:t>Final run cap $0.25 per arm.</a:t>
            </a:r>
          </a:p>
          <a:p/>
          <a:p>
            <a:r>
              <a:t>Timing for show-4: in a timed run before class (agent time limit then 300 s; now 420 s), the primary</a:t>
            </a:r>
          </a:p>
          <a:p>
            <a:r>
              <a:t>verdict came 9:19 after launch and the full verdict 10:55. Cost $0.0265. It exited 2: the agent time</a:t>
            </a:r>
          </a:p>
          <a:p>
            <a:r>
              <a:t>limit ended the test phase.</a:t>
            </a:r>
          </a:p>
          <a:p/>
          <a:p>
            <a:r>
              <a:t>Timing for the final: a timed run of `make final FEATURES=F5` before class took 12 min 47 s. The</a:t>
            </a:r>
          </a:p>
          <a:p>
            <a:r>
              <a:t>bare arm's verdicts came at 3:27 and 6:50, the harness arm's at 9:48 and 12:32 (it hit the agent</a:t>
            </a:r>
          </a:p>
          <a:p>
            <a:r>
              <a:t>time limit, exit 2). Cost $0.0456. The final must be finished by 3:40, when slide 64 opens the final</a:t>
            </a:r>
          </a:p>
          <a:p>
            <a:r>
              <a:t>block. Your output will differ. Runs: docs/evidence.md, Captures.</a:t>
            </a:r>
          </a:p>
          <a:p/>
          <a:p>
            <a:r>
              <a:t>Guide: docs/instructor-guide.md, "Section by section", Section 4.</a:t>
            </a:r>
          </a:p>
          <a:p>
            <a:r>
              <a:t>Source: Makefile `show-4`, `final`; platform/teamtrack/reference/f4/task.toml; platform/teamtrack/mutants/features/f4.jsonl.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52 of 72 | S4 Verification | 1 min</a:t>
            </a:r>
          </a:p>
          <a:p/>
          <a:p>
            <a:r>
              <a:t>The first three bullets are the section's objectives. The one-line assumption is the course's</a:t>
            </a:r>
          </a:p>
          <a:p>
            <a:r>
              <a:t>wording, based on Anthropic, Harness design, and Anthropic, C compiler.</a:t>
            </a:r>
          </a:p>
          <a:p/>
          <a:p>
            <a:r>
              <a:t>Guide: docs/instructor-guide.md, "Section by section",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53 of 72 | S4 Verification | 2.5 min</a:t>
            </a:r>
          </a:p>
          <a:p/>
          <a:p>
            <a:r>
              <a:t>Cause 4 from the opening.</a:t>
            </a:r>
          </a:p>
          <a:p/>
          <a:p>
            <a:r>
              <a:t>Guide: docs/instructor-guide.md, "Section by section", Section 4.</a:t>
            </a:r>
          </a:p>
          <a:p>
            <a:r>
              <a:t>Source: docs/REFERENCES.md.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54 of 72 | S4 Verification | 3 min</a:t>
            </a:r>
          </a:p>
          <a:p/>
          <a:p>
            <a:r>
              <a:t>Say at the filter table: "Filters 1 to 3 are TestGen-LLM's. 4 and 5 are this course's." The</a:t>
            </a:r>
          </a:p>
          <a:p>
            <a:r>
              <a:t>referee's flakiness check runs each shipped test five times, for both arms.</a:t>
            </a:r>
          </a:p>
          <a:p/>
          <a:p>
            <a:r>
              <a:t>Guide: docs/instructor-guide.md, "Section by section", Section 4.</a:t>
            </a:r>
          </a:p>
          <a:p>
            <a:r>
              <a:t>Source: 04-verification/concepts.md; docs/REFERENCES.md (TestGen-LLM).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55 of 72 | S4 Verification | 3 min</a:t>
            </a:r>
          </a:p>
          <a:p/>
          <a:p>
            <a:r>
              <a:t>The referee-set mutants were never visible to the filters.</a:t>
            </a:r>
          </a:p>
          <a:p/>
          <a:p>
            <a:r>
              <a:t>Guide: docs/instructor-guide.md, "Section by section", Section 4.</a:t>
            </a:r>
          </a:p>
          <a:p>
            <a:r>
              <a:t>Source: 04-verification/concepts.md; docs/REFERENCES.md (ACH; SpecBench); counts in 04-verification/post-class-reading/04-held-out-tests-specbench.md.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56 of 72 | S4 Verification | 3 min</a:t>
            </a:r>
          </a:p>
          <a:p/>
          <a:p>
            <a:r>
              <a:t>Anthropic, Harness design, calls the separation of doer and judge "a strong lever", but notes that</a:t>
            </a:r>
          </a:p>
          <a:p>
            <a:r>
              <a:t>the evaluator still tends to be generous. The quoted sentence starts: "The practical implication is</a:t>
            </a:r>
          </a:p>
          <a:p>
            <a:r>
              <a:t>that the evaluator is not a fixed yes-or-no decision."</a:t>
            </a:r>
          </a:p>
          <a:p/>
          <a:p>
            <a:r>
              <a:t>Guide: docs/instructor-guide.md, "Section by section", Section 4.</a:t>
            </a:r>
          </a:p>
          <a:p>
            <a:r>
              <a:t>Source: docs/architecture.md; docs/REFERENCES.md.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57 of 72 | S4 Verification | 1.5 min</a:t>
            </a:r>
          </a:p>
          <a:p/>
          <a:p>
            <a:r>
              <a:t>The course planned a batch that leaves out one layer at a time. It was not run, because the gate</a:t>
            </a:r>
          </a:p>
          <a:p>
            <a:r>
              <a:t>registered before the runs did not pass, so the course has no per-layer result to show.</a:t>
            </a:r>
          </a:p>
          <a:p/>
          <a:p>
            <a:r>
              <a:t>Guide: docs/instructor-guide.md, "Section by section", Section 4.</a:t>
            </a:r>
          </a:p>
          <a:p>
            <a:r>
              <a:t>Source: docs/REFERENCES.md (Anthropic, Harness design);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58 of 72 | S4 Verification | 2.5 min</a:t>
            </a:r>
          </a:p>
          <a:p/>
          <a:p>
            <a:r>
              <a:t>The inner `for flt in filters` loop with the exception branch folded.</a:t>
            </a:r>
          </a:p>
          <a:p/>
          <a:p>
            <a:r>
              <a:t>Guide: docs/instructor-guide.md, "Section by section", Section 4.</a:t>
            </a:r>
          </a:p>
          <a:p>
            <a:r>
              <a:t>Source: anchor S4:filters.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59 of 72 | S4 Verification | 4 min</a:t>
            </a:r>
          </a:p>
          <a:p/>
          <a:p>
            <a:r>
              <a:t>Show `S4:blind` in the editor. Section minute 25 falls on this slide: check terminal B for the</a:t>
            </a:r>
          </a:p>
          <a:p>
            <a:r>
              <a:t>show-4 `Cost:` line and terminal C for the final (timings in the notes of slide 51).</a:t>
            </a:r>
          </a:p>
          <a:p/>
          <a:p>
            <a:r>
              <a:t>Guide: docs/instructor-guide.md, "Section by section".</a:t>
            </a:r>
          </a:p>
          <a:p>
            <a:r>
              <a:t>Source: anchors S4:probe, S4:blind.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60 of 72 | S4 Verification | 3.5 min</a:t>
            </a:r>
          </a:p>
          <a:p/>
          <a:p>
            <a:r>
              <a:t>`names = ...`, the build-phase branch, the start of the clean-state check, its failure line, and</a:t>
            </a:r>
          </a:p>
          <a:p>
            <a:r>
              <a:t>`passed = ...`.</a:t>
            </a:r>
          </a:p>
          <a:p/>
          <a:p>
            <a:r>
              <a:t>Guide: docs/instructor-guide.md, "Section by section", Section 4.</a:t>
            </a:r>
          </a:p>
          <a:p>
            <a:r>
              <a:t>Source: anchor S4:gate.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61 of 72 | S4 Verification | 8 min</a:t>
            </a:r>
          </a:p>
          <a:p/>
          <a:p>
            <a:r>
              <a:t>In the timed run before class (your output will differ): minute 1, turn 1.15 tried to patch</a:t>
            </a:r>
          </a:p>
          <a:p>
            <a:r>
              <a:t>app/services/errors.py and the scope layer blocked it, the same edit as in Section 3. Minute 3, turn</a:t>
            </a:r>
          </a:p>
          <a:p>
            <a:r>
              <a:t>1.31 called `finish done` and the gate ran, every pill ✓ (visible tests, existing tests, R1-R7,</a:t>
            </a:r>
          </a:p>
          <a:p>
            <a:r>
              <a:t>board, clean state). The harness then set F4 `passes` with its evidence and moved the exec plan to</a:t>
            </a:r>
          </a:p>
          <a:p>
            <a:r>
              <a:t>completed. Minutes 4-8, the test phase: one new test file and the filters. Minute 9, the agent time</a:t>
            </a:r>
          </a:p>
          <a:p>
            <a:r>
              <a:t>limit ended the run; screen 1 showed "primary verdict ready: FAIL" at 9:19, and the full verdict came</a:t>
            </a:r>
          </a:p>
          <a:p>
            <a:r>
              <a:t>at 10:55. Screen 2's conflict panel: "CONFLICT DETECTED: tab B got HTTP 409", and tab B read "This</a:t>
            </a:r>
          </a:p>
          <a:p>
            <a:r>
              <a:t>issue was changed by someone else". The picture joins the harness panel of screen 1 with the</a:t>
            </a:r>
          </a:p>
          <a:p>
            <a:r>
              <a:t>conflict panel.</a:t>
            </a:r>
          </a:p>
          <a:p/>
          <a:p>
            <a:r>
              <a:t>Guide: docs/instructor-guide.md, "Section by section", Section 4.</a:t>
            </a:r>
          </a:p>
          <a:p>
            <a:r>
              <a:t>Runs: docs/evidence.md, Captures.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62 of 72 | S4 Verification | 7 min</a:t>
            </a:r>
          </a:p>
          <a:p/>
          <a:p>
            <a:r>
              <a:t>The timed run's arm line (your output will differ): `harness ABORTED: timeout claim=done</a:t>
            </a:r>
          </a:p>
          <a:p>
            <a:r>
              <a:t>primary={"hidden_passed": 68, "mutants_killed": 0} passed=False hidden 68/69 mutants 0/4</a:t>
            </a:r>
          </a:p>
          <a:p>
            <a:r>
              <a:t>reviewer=reject cost=$0.0233`. Filter table: 4 proposed tests, 1 kept; two discarded by filter 3 (no</a:t>
            </a:r>
          </a:p>
          <a:p>
            <a:r>
              <a:t>new line coverage) and one by filter 2 ("failed on run 1 of 5: assert 422 == 412"). This is a</a:t>
            </a:r>
          </a:p>
          <a:p>
            <a:r>
              <a:t>harness-in-action run, so it is not part of the counts on the slide.</a:t>
            </a:r>
          </a:p>
          <a:p/>
          <a:p>
            <a:r>
              <a:t>The 4 A/Bs: in the medium-effort round, bare hidden tests 66, 66, and 69 of 69, with mutants killed</a:t>
            </a:r>
          </a:p>
          <a:p>
            <a:r>
              <a:t>4, 0, and 3 of 4. In the class-settings round both arms passed 68 of 69 hidden tests; mutants killed:</a:t>
            </a:r>
          </a:p>
          <a:p>
            <a:r>
              <a:t>bare 4, harness 1. That bare claim was the first done claim with a failing hidden test in the</a:t>
            </a:r>
          </a:p>
          <a:p>
            <a:r>
              <a:t>records. Post hoc over 34 runs per arm: no other done claim came with failing hidden tests (0 of 19</a:t>
            </a:r>
          </a:p>
          <a:p>
            <a:r>
              <a:t>bare, 0 of 10 harness).</a:t>
            </a:r>
          </a:p>
          <a:p/>
          <a:p>
            <a:r>
              <a:t>Guide: docs/instructor-guide.md, "Section by section", Section 4.</a:t>
            </a:r>
          </a:p>
          <a:p>
            <a:r>
              <a:t>Runs: docs/evidence.md,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63 of 72 | S4 Verification | 5 min</a:t>
            </a:r>
          </a:p>
          <a:p/>
          <a:p>
            <a:r>
              <a:t>Tie the discussion to cause 4: tests that pass are not the same as work that is done.</a:t>
            </a:r>
          </a:p>
          <a:p/>
          <a:p>
            <a:r>
              <a:t>Guide: docs/instructor-guide.md, "Section by section",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64 of 72 | Final results | 2 min</a:t>
            </a:r>
          </a:p>
          <a:p/>
          <a:p>
            <a:r>
              <a:t>The final A/B was launched on slide 51 and ran during Section 4. No run starts here. This is the</a:t>
            </a:r>
          </a:p>
          <a:p>
            <a:r>
              <a:t>class's measurement lesson: one run per arm cannot show a difference. Before class we ran 3 A/Bs per</a:t>
            </a:r>
          </a:p>
          <a:p>
            <a:r>
              <a:t>section per round, and still report "no measurable difference" where the arms tie.</a:t>
            </a:r>
          </a:p>
          <a:p/>
          <a:p>
            <a:r>
              <a:t>Guide: docs/instructor-guide.md, "Section by section", Final results and wrap-up.</a:t>
            </a:r>
          </a:p>
          <a:p>
            <a:r>
              <a:t>Source: Makefile `final`; final-project/README.md.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65 of 72 | Final results | 3 min</a:t>
            </a:r>
          </a:p>
          <a:p/>
          <a:p>
            <a:r>
              <a:t>Both arms, side by side. Show tonight's final live. The picture is the timed run before class (your</a:t>
            </a:r>
          </a:p>
          <a:p>
            <a:r>
              <a:t>output will differ): the bare arm completed and claimed done, with its verdicts at 3:27 and 6:50.</a:t>
            </a:r>
          </a:p>
          <a:p>
            <a:r>
              <a:t>The harness arm hit the agent time limit without a claim, at 9:48 and 12:32. Hidden tests 46 of 46</a:t>
            </a:r>
          </a:p>
          <a:p>
            <a:r>
              <a:t>and mutants killed 2 of 3 in both arms. F5 has no primary measure, so read those counts. The harness</a:t>
            </a:r>
          </a:p>
          <a:p>
            <a:r>
              <a:t>arm's second turn read session-handoff.md.</a:t>
            </a:r>
          </a:p>
          <a:p/>
          <a:p>
            <a:r>
              <a:t>Guide: docs/instructor-guide.md, "Section by section", Final results and wrap-up.</a:t>
            </a:r>
          </a:p>
          <a:p>
            <a:r>
              <a:t>Runs: docs/evidence.md, Captures.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66 of 72 | Final results | 2 min</a:t>
            </a:r>
          </a:p>
          <a:p/>
          <a:p>
            <a:r>
              <a:t>The marks come from trusted data attributes, not from the agent. In the class-settings round every</a:t>
            </a:r>
          </a:p>
          <a:p>
            <a:r>
              <a:t>board showed "✓ only own-org cards, no duplicates", and so did both boards of the timed final run.</a:t>
            </a:r>
          </a:p>
          <a:p/>
          <a:p>
            <a:r>
              <a:t>Guide: docs/instructor-guide.md, "Section by section", Final results and wrap-up.</a:t>
            </a:r>
          </a:p>
          <a:p>
            <a:r>
              <a:t>Source: docs/architecture.md (screen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67 of 72 | Final results | 4 min</a:t>
            </a:r>
          </a:p>
          <a:p/>
          <a:p>
            <a:r>
              <a:t>The fill and stroke lines of the dot plot.</a:t>
            </a:r>
          </a:p>
          <a:p/>
          <a:p>
            <a:r>
              <a:t>Guide: docs/instructor-guide.md, "Section by section", Final results and wrap-up.</a:t>
            </a:r>
          </a:p>
          <a:p>
            <a:r>
              <a:t>Source: anchor Final:dots;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68 of 72 | Final results | 2 min</a:t>
            </a:r>
          </a:p>
          <a:p/>
          <a:p>
            <a:r>
              <a:t>S1 to S3 on their own tickets: the medium-effort round, the low-effort round, and the class-settings</a:t>
            </a:r>
          </a:p>
          <a:p>
            <a:r>
              <a:t>round. F4: the medium-effort round and the class-settings round. The S3 confirmation: 3 A/Bs,</a:t>
            </a:r>
          </a:p>
          <a:p>
            <a:r>
              <a:t>registered before its runs. The gate registered before the medium- and low-effort rounds needed the</a:t>
            </a:r>
          </a:p>
          <a:p>
            <a:r>
              <a:t>harness arm ahead in 3 of 4 sections. It was ahead in 0, so the planned larger batches (10 runs per</a:t>
            </a:r>
          </a:p>
          <a:p>
            <a:r>
              <a:t>arm, and one layer left out at a time) were not run.</a:t>
            </a:r>
          </a:p>
          <a:p/>
          <a:p>
            <a:r>
              <a:t>Post hoc, descriptive: tests shipped, median harness 2.5, bare 7.5; arm wall time, median 302 s</a:t>
            </a:r>
          </a:p>
          <a:p>
            <a:r>
              <a:t>against 190 s; agent time limit hit, harness 9 of 34, bare 4 of 34; cost per arm, median $0.0123</a:t>
            </a:r>
          </a:p>
          <a:p>
            <a:r>
              <a:t>against $0.0103. What to take home: each piece is a bet on what the model cannot do. OpenAI warns</a:t>
            </a:r>
          </a:p>
          <a:p>
            <a:r>
              <a:t>that its own results should "not be assumed to generalize without similar investment". The same</a:t>
            </a:r>
          </a:p>
          <a:p>
            <a:r>
              <a:t>holds here: one model, one task per section, a few runs per arm.</a:t>
            </a:r>
          </a:p>
          <a:p/>
          <a:p>
            <a:r>
              <a:t>Guide: docs/instructor-guide.md, "Section by section", Final results and wrap-up.</a:t>
            </a:r>
          </a:p>
          <a:p>
            <a:r>
              <a:t>Runs: docs/evidence.md,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69 of 72 | Wrap-up | 3 min</a:t>
            </a:r>
          </a:p>
          <a:p/>
          <a:p>
            <a:r>
              <a:t>The budgets are the caps of each assignment's live step. Each assignment folder has a solution/</a:t>
            </a:r>
          </a:p>
          <a:p>
            <a:r>
              <a:t>folder with a step-by-step walkthrough. Tell learners to try first.</a:t>
            </a:r>
          </a:p>
          <a:p/>
          <a:p>
            <a:r>
              <a:t>Guide: docs/instructor-guide.md, "Section by section", Final results and wrap-up.</a:t>
            </a:r>
          </a:p>
          <a:p>
            <a:r>
              <a:t>Source: 01-instructions/assignment/README.md to 04-verification/assignment/README.md; Makefile `check-assignment-N`.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70 of 72 | Wrap-up | 2 min</a:t>
            </a:r>
          </a:p>
          <a:p/>
          <a:p>
            <a:r>
              <a:t>The `skill-template` frontmatter from `name` to `license`. The kit copies the AGENTS.md map, the</a:t>
            </a:r>
          </a:p>
          <a:p>
            <a:r>
              <a:t>docs/ layout, the state files, the feature list and its schema, house-rule check templates, a</a:t>
            </a:r>
          </a:p>
          <a:p>
            <a:r>
              <a:t>sandbox policy, a CI workflow, and the four skills into `.claude/skills/` and `.agents/skills/`.</a:t>
            </a:r>
          </a:p>
          <a:p/>
          <a:p>
            <a:r>
              <a:t>Guide: docs/instructor-guide.md, "Section by section", Final results and wrap-up.</a:t>
            </a:r>
          </a:p>
          <a:p>
            <a:r>
              <a:t>Source: use-in-your-repo/kit/README.md; anchor Final:skill_template.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71 of 72 | Wrap-up | 1 min</a:t>
            </a:r>
          </a:p>
          <a:p/>
          <a:p>
            <a:r>
              <a:t>Full links in docs/REFERENCES.md.</a:t>
            </a:r>
          </a:p>
          <a:p/>
          <a:p>
            <a:r>
              <a:t>Guide: docs/instructor-guide.md, "Section by section", Final results and wrap-up.</a:t>
            </a:r>
          </a:p>
          <a:p>
            <a:r>
              <a:t>Source: docs/REFERENCES.md.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72 of 72 | Wrap-up | 1 min</a:t>
            </a:r>
          </a:p>
          <a:p/>
          <a:p>
            <a:r>
              <a:t>Full links in docs/REFERENCES.md.</a:t>
            </a:r>
          </a:p>
          <a:p/>
          <a:p>
            <a:r>
              <a:t>Guide: docs/instructor-guide.md, "Section by section", Final results and wrap-up.</a:t>
            </a:r>
          </a:p>
          <a:p>
            <a:r>
              <a:t>Source: docs/REFERENCES.md.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164080"/>
            <a:ext cx="11125200" cy="146304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ctr"/>
            <a:r>
              <a:rPr sz="4800" b="1">
                <a:solidFill>
                  <a:srgbClr val="0B1F33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703320"/>
            <a:ext cx="9525000" cy="8001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Calibri"/>
              </a:rPr>
              <a:t>Instructions, state, scope, and verification: what each piece assumes about the model, and how to measure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579620"/>
            <a:ext cx="11125200" cy="3810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>
                <a:solidFill>
                  <a:srgbClr val="2C3E50"/>
                </a:solidFill>
                <a:latin typeface="Calibri"/>
              </a:rPr>
              <a:t>Course repository </a:t>
            </a:r>
            <a:r>
              <a:rPr sz="2100" b="0">
                <a:solidFill>
                  <a:srgbClr val="2C3E50"/>
                </a:solidFill>
                <a:latin typeface="Consolas"/>
              </a:rPr>
              <a:t>shipharness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The problem: four failures to check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Cross-tenant data: an Acme user sees Globex issues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second session that redoes or breaks the first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Edits outside the ticket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agent's own tests pass while the behaviour is wrong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referee checks every run for all four, in both arms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Why it happens: four causes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"anything it can’t access in-context while running effectively doesn’t exist" (OpenAI, Harness engineering)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"each new session begins with no memory of what came before." (Anthropic, Effective harnesses)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Agents copy patterns and take hard-to-undo actions: four sources, side by side (Section 3)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"agents reliably skew positive when grading their own work" (Anthropic, Harness design)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A harness encodes assumptions about the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472595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860"/>
              </a:spcAft>
            </a:pPr>
            <a:r>
              <a:rPr sz="1912" b="0">
                <a:solidFill>
                  <a:srgbClr val="111820"/>
                </a:solidFill>
                <a:latin typeface="Calibri"/>
              </a:rPr>
              <a:t>•  </a:t>
            </a:r>
            <a:r>
              <a:rPr sz="1912" b="0">
                <a:solidFill>
                  <a:srgbClr val="111820"/>
                </a:solidFill>
                <a:latin typeface="Calibri"/>
              </a:rPr>
              <a:t>The work: "design environments, specify intent, and build feedback loops" (OpenAI)</a:t>
            </a:r>
          </a:p>
          <a:p>
            <a:pPr algn="l">
              <a:spcAft>
                <a:spcPts val="860"/>
              </a:spcAft>
            </a:pPr>
            <a:r>
              <a:rPr sz="1912" b="0">
                <a:solidFill>
                  <a:srgbClr val="111820"/>
                </a:solidFill>
                <a:latin typeface="Calibri"/>
              </a:rPr>
              <a:t>•  </a:t>
            </a:r>
            <a:r>
              <a:rPr sz="1912" b="0">
                <a:solidFill>
                  <a:srgbClr val="111820"/>
                </a:solidFill>
                <a:latin typeface="Calibri"/>
              </a:rPr>
              <a:t>"every component in a harness encodes an assumption about what the model can't do on its own" (Anthropic, Harness design)</a:t>
            </a:r>
          </a:p>
          <a:p>
            <a:pPr algn="l">
              <a:spcAft>
                <a:spcPts val="860"/>
              </a:spcAft>
            </a:pPr>
            <a:r>
              <a:rPr sz="1912" b="0">
                <a:solidFill>
                  <a:srgbClr val="111820"/>
                </a:solidFill>
                <a:latin typeface="Calibri"/>
              </a:rPr>
              <a:t>•  </a:t>
            </a:r>
            <a:r>
              <a:rPr sz="1912" b="0">
                <a:solidFill>
                  <a:srgbClr val="111820"/>
                </a:solidFill>
                <a:latin typeface="Calibri"/>
              </a:rPr>
              <a:t>Assumptions change with the model: the same author later dropped context resets</a:t>
            </a:r>
          </a:p>
          <a:p>
            <a:pPr algn="l">
              <a:spcAft>
                <a:spcPts val="860"/>
              </a:spcAft>
            </a:pPr>
            <a:r>
              <a:rPr sz="1912" b="0">
                <a:solidFill>
                  <a:srgbClr val="111820"/>
                </a:solidFill>
                <a:latin typeface="Calibri"/>
              </a:rPr>
              <a:t>•  </a:t>
            </a:r>
            <a:r>
              <a:rPr sz="1912" b="0">
                <a:solidFill>
                  <a:srgbClr val="111820"/>
                </a:solidFill>
                <a:latin typeface="Calibri"/>
              </a:rPr>
              <a:t>Four parts, S1 to S4, plus a sandbox that is the same for both arms</a:t>
            </a:r>
          </a:p>
          <a:p>
            <a:pPr algn="l">
              <a:spcAft>
                <a:spcPts val="860"/>
              </a:spcAft>
            </a:pPr>
            <a:r>
              <a:rPr sz="1912" b="0">
                <a:solidFill>
                  <a:srgbClr val="111820"/>
                </a:solidFill>
                <a:latin typeface="Calibri"/>
              </a:rPr>
              <a:t>•  </a:t>
            </a:r>
            <a:r>
              <a:rPr sz="1912" b="0">
                <a:solidFill>
                  <a:srgbClr val="111820"/>
                </a:solidFill>
                <a:latin typeface="Calibri"/>
              </a:rPr>
              <a:t>The course's claim: measure each piece, keep what earns its place</a:t>
            </a:r>
          </a:p>
        </p:txBody>
      </p:sp>
      <p:pic>
        <p:nvPicPr>
          <p:cNvPr id="9" name="Picture 8" descr="b5ffc4b1fcfafe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419" y="3787045"/>
            <a:ext cx="9095162" cy="2613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shipharness, TeamTrack,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1383487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onsolas"/>
              </a:rPr>
              <a:t>shipharness</a:t>
            </a:r>
            <a:r>
              <a:rPr sz="2039" b="0">
                <a:solidFill>
                  <a:srgbClr val="111820"/>
                </a:solidFill>
                <a:latin typeface="Calibri"/>
              </a:rPr>
              <a:t>: run an agent with or without the harness, A/B it, judge it</a:t>
            </a:r>
          </a:p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alibri"/>
              </a:rPr>
              <a:t>TeamTrack: a multi-tenant issue tracker with two orgs, Acme and Globex</a:t>
            </a:r>
          </a:p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alibri"/>
              </a:rPr>
              <a:t>Console: five screens on keys </a:t>
            </a:r>
            <a:r>
              <a:rPr sz="2039" b="0">
                <a:solidFill>
                  <a:srgbClr val="111820"/>
                </a:solidFill>
                <a:latin typeface="Consolas"/>
              </a:rPr>
              <a:t>1</a:t>
            </a:r>
            <a:r>
              <a:rPr sz="2039" b="0">
                <a:solidFill>
                  <a:srgbClr val="111820"/>
                </a:solidFill>
                <a:latin typeface="Calibri"/>
              </a:rPr>
              <a:t> to </a:t>
            </a:r>
            <a:r>
              <a:rPr sz="2039" b="0">
                <a:solidFill>
                  <a:srgbClr val="111820"/>
                </a:solidFill>
                <a:latin typeface="Consolas"/>
              </a:rPr>
              <a:t>5</a:t>
            </a:r>
            <a:r>
              <a:rPr sz="2039" b="0">
                <a:solidFill>
                  <a:srgbClr val="111820"/>
                </a:solidFill>
                <a:latin typeface="Calibri"/>
              </a:rPr>
              <a:t>, </a:t>
            </a:r>
            <a:r>
              <a:rPr sz="2039" b="0">
                <a:solidFill>
                  <a:srgbClr val="111820"/>
                </a:solidFill>
                <a:latin typeface="Consolas"/>
              </a:rPr>
              <a:t>F</a:t>
            </a:r>
            <a:r>
              <a:rPr sz="2039" b="0">
                <a:solidFill>
                  <a:srgbClr val="111820"/>
                </a:solidFill>
                <a:latin typeface="Calibri"/>
              </a:rPr>
              <a:t> for full screen per arm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697937"/>
            <a:ext cx="11125200" cy="3301944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697937"/>
            <a:ext cx="57150" cy="330194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793187"/>
            <a:ext cx="10858500" cy="3149544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def run_and_judge(arm: Arm) -&gt; tuple[AgentRunResult, ScoreRecord]: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    result = run_arm(task, specs[arm], deps, bus, run_dir)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    baseline.join()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    referee.baseline()  # computed by the thread (or now, if the thread failed)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    return result, _judge(referee, specs[arm], result, bus, run_dir)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try: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    with ThreadPoolExecutor(max_workers=2, thread_name_prefix="arm") as pool: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        futures = {arm: pool.submit(run_and_judge, arm) for arm in arms}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        done = {arm: future.result() for arm, future in futures.items()}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finally: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    ...</a:t>
            </a:r>
          </a:p>
          <a:p>
            <a:pPr algn="l"/>
            <a:r>
              <a:rPr sz="1527" b="0">
                <a:solidFill>
                  <a:srgbClr val="111820"/>
                </a:solidFill>
                <a:latin typeface="Consolas"/>
              </a:rPr>
              <a:t>results = {arm: done[arm][0] for arm in arms}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018931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platform/src/shipharness/ab/demo.py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How we measure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Same agent, model, effort, task, repository, tools, sandbox, turn limit, and cost cap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One referee judges what ships, the same way for both arms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House rules R1 to R7: the course's name for OpenAI's "golden principles"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One primary measure per section, registered before any run; results are counts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No gap is reported as "no measurable difference on this task with this model"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One piece at a time: "removing one component at a time" (Anthropic, Harness design)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7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Check your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47053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Run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doctor</a:t>
            </a:r>
            <a:r>
              <a:rPr sz="2100" b="0">
                <a:solidFill>
                  <a:srgbClr val="111820"/>
                </a:solidFill>
                <a:latin typeface="Calibri"/>
              </a:rPr>
              <a:t> now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Run the </a:t>
            </a:r>
            <a:r>
              <a:rPr sz="2100" b="0">
                <a:solidFill>
                  <a:srgbClr val="111820"/>
                </a:solidFill>
                <a:latin typeface="Consolas"/>
              </a:rPr>
              <a:t>harness-setup</a:t>
            </a:r>
            <a:r>
              <a:rPr sz="2100" b="0">
                <a:solidFill>
                  <a:srgbClr val="111820"/>
                </a:solidFill>
                <a:latin typeface="Calibri"/>
              </a:rPr>
              <a:t> assessment on the bare TeamTrack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Read the gaps it reports: instructions, state, scope, verification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6019800"/>
            <a:ext cx="9094851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6067425"/>
            <a:ext cx="8866251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</a:t>
            </a:r>
            <a:r>
              <a:rPr sz="1400" b="0">
                <a:solidFill>
                  <a:srgbClr val="1F2A35"/>
                </a:solidFill>
                <a:latin typeface="Consolas"/>
              </a:rPr>
              <a:t>make doctor</a:t>
            </a:r>
            <a:r>
              <a:rPr sz="1400" b="0">
                <a:solidFill>
                  <a:srgbClr val="1F2A35"/>
                </a:solidFill>
                <a:latin typeface="Calibri"/>
              </a:rPr>
              <a:t> output and the </a:t>
            </a:r>
            <a:r>
              <a:rPr sz="1400" b="0">
                <a:solidFill>
                  <a:srgbClr val="1F2A35"/>
                </a:solidFill>
                <a:latin typeface="Consolas"/>
              </a:rPr>
              <a:t>harness-setup</a:t>
            </a:r>
            <a:r>
              <a:rPr sz="1400" b="0">
                <a:solidFill>
                  <a:srgbClr val="1F2A35"/>
                </a:solidFill>
                <a:latin typeface="Calibri"/>
              </a:rPr>
              <a:t> assessment of the bare TeamTrack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8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Poll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47053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F1 org-wide issue search; rule at risk: R1 tenant isolation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ticket: a legacy handler without the tenant filter sits next to the right pattern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Before class, 7 bare-arm runs took this ticket. How many shipped a new R1 violation?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A) 0-1   B) 2-3   C) 4-5   D) 6-7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Close the poll before the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6019800"/>
            <a:ext cx="3918966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6067425"/>
            <a:ext cx="3690366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the room's poll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9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Launching harness in action: F1 org-wide issue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581656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Now: run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show-1</a:t>
            </a:r>
            <a:r>
              <a:rPr sz="2100" b="0">
                <a:solidFill>
                  <a:srgbClr val="111820"/>
                </a:solidFill>
                <a:latin typeface="Calibri"/>
              </a:rPr>
              <a:t> in terminal B; it runs during slides 10-18, back on slide 19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Harness in action: the harness arm alone on F1, live; not an A/B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Watch for: which documents does it open before it writes code?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referee judges it live: R1 probes first ("primary verdict ready"), then the other checks</a:t>
            </a:r>
          </a:p>
        </p:txBody>
      </p:sp>
      <p:pic>
        <p:nvPicPr>
          <p:cNvPr id="9" name="Picture 8" descr="f0edb3aded035d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807593"/>
            <a:ext cx="11125200" cy="681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10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S1: what the agent knows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581656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Why an agent does not apply a rule that lives only outside its context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Knowledge as a short AGENTS.md map into </a:t>
            </a:r>
            <a:r>
              <a:rPr sz="2100" b="0">
                <a:solidFill>
                  <a:srgbClr val="111820"/>
                </a:solidFill>
                <a:latin typeface="Consolas"/>
              </a:rPr>
              <a:t>docs/</a:t>
            </a:r>
            <a:r>
              <a:rPr sz="2100" b="0">
                <a:solidFill>
                  <a:srgbClr val="111820"/>
                </a:solidFill>
                <a:latin typeface="Calibri"/>
              </a:rPr>
              <a:t>, plus skills that load in tiers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How to read the S1 result: new R1 violations per run, bare arm against harness arm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assumption the map encodes: the model will not apply a rule it has not been pointed to</a:t>
            </a:r>
          </a:p>
        </p:txBody>
      </p:sp>
      <p:pic>
        <p:nvPicPr>
          <p:cNvPr id="9" name="Picture 8" descr="ecbc1b3b9b118e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171" y="3896106"/>
            <a:ext cx="8715658" cy="25046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11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9334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Problem: the rule is written down, the agent does not apply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657350"/>
            <a:ext cx="11125200" cy="47434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F1 builds </a:t>
            </a:r>
            <a:r>
              <a:rPr sz="2100" b="0">
                <a:solidFill>
                  <a:srgbClr val="111820"/>
                </a:solidFill>
                <a:latin typeface="Consolas"/>
              </a:rPr>
              <a:t>GET /issues</a:t>
            </a:r>
            <a:r>
              <a:rPr sz="2100" b="0">
                <a:solidFill>
                  <a:srgbClr val="111820"/>
                </a:solidFill>
                <a:latin typeface="Calibri"/>
              </a:rPr>
              <a:t>, an org-wide issue search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R1: another org's resource is 404, never 403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rule is in </a:t>
            </a:r>
            <a:r>
              <a:rPr sz="2100" b="0">
                <a:solidFill>
                  <a:srgbClr val="111820"/>
                </a:solidFill>
                <a:latin typeface="Consolas"/>
              </a:rPr>
              <a:t>docs/HANDBOOK.md</a:t>
            </a:r>
            <a:r>
              <a:rPr sz="2100" b="0">
                <a:solidFill>
                  <a:srgbClr val="111820"/>
                </a:solidFill>
                <a:latin typeface="Calibri"/>
              </a:rPr>
              <a:t>, and both arms can read it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Nothing is withheld from the bare arm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12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Cause: what is not in context does not exist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"anything it can’t access in-context while running effectively doesn’t exist"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"A giant instruction file crowds out the task, the code, and the relevant docs"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"Too much guidance becomes non-guidance."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long manual goes stale, and no check can keep it true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Agents copy patterns that already exist, even uneven 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13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Harness piece: AGENTS.md as a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"roughly 100 lines", "a map", "the table of contents" (OpenAI)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docs/</a:t>
            </a:r>
            <a:r>
              <a:rPr sz="2100" b="0">
                <a:solidFill>
                  <a:srgbClr val="111820"/>
                </a:solidFill>
                <a:latin typeface="Calibri"/>
              </a:rPr>
              <a:t> is the system of record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OpenAI's layout: ARCHITECTURE.md at the root; SECURITY.md, RELIABILITY.md, QUALITY_SCORE.md, PLANS.md in docs/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Also in docs/: design-docs/, product-specs/, references/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14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Progressive disclosure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Docs: "agents start with a small, stable entry point and are taught where to look next" (OpenAI)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Skills load in three tiers: name and description, then the instructions, then resources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Tier sizes from the Agent Skills spec: "&lt; 5000 tokens recommended" for the instructions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SKILL.md needs </a:t>
            </a:r>
            <a:r>
              <a:rPr sz="2100" b="0">
                <a:solidFill>
                  <a:srgbClr val="111820"/>
                </a:solidFill>
                <a:latin typeface="Consolas"/>
              </a:rPr>
              <a:t>name</a:t>
            </a:r>
            <a:r>
              <a:rPr sz="2100" b="0">
                <a:solidFill>
                  <a:srgbClr val="111820"/>
                </a:solidFill>
                <a:latin typeface="Calibri"/>
              </a:rPr>
              <a:t> and </a:t>
            </a:r>
            <a:r>
              <a:rPr sz="2100" b="0">
                <a:solidFill>
                  <a:srgbClr val="111820"/>
                </a:solidFill>
                <a:latin typeface="Consolas"/>
              </a:rPr>
              <a:t>description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15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Keep the map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Linters and CI jobs check the docs (OpenAI)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Lint messages that teach: the error carries the fix into the agent's context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Fairness: the bare arm gets every rule in </a:t>
            </a:r>
            <a:r>
              <a:rPr sz="2100" b="0">
                <a:solidFill>
                  <a:srgbClr val="111820"/>
                </a:solidFill>
                <a:latin typeface="Consolas"/>
              </a:rPr>
              <a:t>docs/HANDBOOK.md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unit test checks that both forms carry each rule 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16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the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949452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"Where to look" table of TeamTrack's AGENTS.md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Each row: what you are about to do, and the document to read first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263902"/>
            <a:ext cx="11125200" cy="3321558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263902"/>
            <a:ext cx="57150" cy="332155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359152"/>
            <a:ext cx="10858500" cy="3169158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## Where to look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 When you are about to | Read first |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|---|---|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 add or change an endpoint | `.agents/skills/add-endpoint/SKILL.md` (step by step) |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 touch a router, service, repository, or model | `ARCHITECTURE.md` (layers, R6) |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 decide who may see or change data | `docs/SECURITY.md` (R1 tenant isolation, R2 roles) |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 shape a list, an error, or a status code | `docs/design-docs/api-conventions.md` (R3) |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 write a create endpoint or any write | `docs/RELIABILITY.md` (R4 idempotency, R5 audit) |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 change the database schema | `docs/RELIABILITY.md` (R7 migrations) |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 change issue or project behaviour | `docs/product-specs/teamtrack-base.md` |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 write or run tests | `docs/QUALITY_SCORE.md` (testing, known gaps) |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| plan a change or check the roadmap | `docs/PLANS.md` 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604510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platform/teamtrack/harness/instructions/AGENTS.md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17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skills, tier 1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1290828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catalogue_block</a:t>
            </a:r>
            <a:r>
              <a:rPr sz="2100" b="0">
                <a:solidFill>
                  <a:srgbClr val="111820"/>
                </a:solidFill>
                <a:latin typeface="Calibri"/>
              </a:rPr>
              <a:t>: one line per skill, name and description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full SKILL.md is never loaded up front; the agent reads it when the task matches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605278"/>
            <a:ext cx="11125200" cy="2435162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605278"/>
            <a:ext cx="57150" cy="243516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700528"/>
            <a:ext cx="10858500" cy="2282762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def catalogue_block(self) -&gt; str: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skills = self.catalogue()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if not skills: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    return ""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rows = [f"- {s.name}: {s.description} (read {s.path}/SKILL.md to use it)" for s in skills]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return (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    "Available skills (load a skill's SKILL.md only when the task needs it):\n"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    + "\n".join(rows)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059490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platform/src/shipharness/runner/skills_loader.py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18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the stable prefix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949452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One stable text block: the map, then tier 1 of every skill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documents the map points to are not injected; the agent opens them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263902"/>
            <a:ext cx="11125200" cy="27432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263902"/>
            <a:ext cx="57150" cy="2743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359152"/>
            <a:ext cx="10858500" cy="2590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500" b="0">
                <a:solidFill>
                  <a:srgbClr val="111820"/>
                </a:solidFill>
                <a:latin typeface="Consolas"/>
              </a:rPr>
              <a:t>agents_md = strip_markers((source / MAP_FILE).read_text(encoding="utf-8")).strip()</a:t>
            </a:r>
          </a:p>
          <a:p>
            <a:pPr algn="l"/>
            <a:r>
              <a:rPr sz="1500" b="0">
                <a:solidFill>
                  <a:srgbClr val="111820"/>
                </a:solidFill>
                <a:latin typeface="Consolas"/>
              </a:rPr>
              <a:t>blocks = [</a:t>
            </a:r>
          </a:p>
          <a:p>
            <a:pPr algn="l"/>
            <a:r>
              <a:rPr sz="1500" b="0">
                <a:solidFill>
                  <a:srgbClr val="111820"/>
                </a:solidFill>
                <a:latin typeface="Consolas"/>
              </a:rPr>
              <a:t>    "Repository map (AGENTS.md at the workspace root). It points to the documents to read "</a:t>
            </a:r>
          </a:p>
          <a:p>
            <a:pPr algn="l"/>
            <a:r>
              <a:rPr sz="1500" b="0">
                <a:solidFill>
                  <a:srgbClr val="111820"/>
                </a:solidFill>
                <a:latin typeface="Consolas"/>
              </a:rPr>
              <a:t>    "before you change code; open them with read_file when your task needs them.",</a:t>
            </a:r>
          </a:p>
          <a:p>
            <a:pPr algn="l"/>
            <a:r>
              <a:rPr sz="1500" b="0">
                <a:solidFill>
                  <a:srgbClr val="111820"/>
                </a:solidFill>
                <a:latin typeface="Consolas"/>
              </a:rPr>
              <a:t>    agents_md,</a:t>
            </a:r>
          </a:p>
          <a:p>
            <a:pPr algn="l"/>
            <a:r>
              <a:rPr sz="1500" b="0">
                <a:solidFill>
                  <a:srgbClr val="111820"/>
                </a:solidFill>
                <a:latin typeface="Consolas"/>
              </a:rPr>
              <a:t>]</a:t>
            </a:r>
          </a:p>
          <a:p>
            <a:pPr algn="l"/>
            <a:r>
              <a:rPr sz="1500" b="0">
                <a:solidFill>
                  <a:srgbClr val="111820"/>
                </a:solidFill>
                <a:latin typeface="Consolas"/>
              </a:rPr>
              <a:t>catalogue = SkillsLoader(source / SKILLS_DIR, workspace_prefix=SKILLS_DIR).catalogue_block()</a:t>
            </a:r>
          </a:p>
          <a:p>
            <a:pPr algn="l"/>
            <a:r>
              <a:rPr sz="1500" b="0">
                <a:solidFill>
                  <a:srgbClr val="111820"/>
                </a:solidFill>
                <a:latin typeface="Consolas"/>
              </a:rPr>
              <a:t>if catalogue:</a:t>
            </a:r>
          </a:p>
          <a:p>
            <a:pPr algn="l"/>
            <a:r>
              <a:rPr sz="1500" b="0">
                <a:solidFill>
                  <a:srgbClr val="111820"/>
                </a:solidFill>
                <a:latin typeface="Consolas"/>
              </a:rPr>
              <a:t>    blocks.append(catalogue)</a:t>
            </a:r>
          </a:p>
          <a:p>
            <a:pPr algn="l"/>
            <a:r>
              <a:rPr sz="1500" b="0">
                <a:solidFill>
                  <a:srgbClr val="111820"/>
                </a:solidFill>
                <a:latin typeface="Consolas"/>
              </a:rPr>
              <a:t>return "\n\n".join(blocks)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026152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platform/src/shipharness/harness/instructions/router.py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19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Demo block: what to 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1765554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1: build turns, test phase, "Agent said done", "primary verdict ready", full verdict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3: files read and the diff map; screen 2: the board; screen 5: trace links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Picture: screens 1 and 2 of a timed run of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show-1</a:t>
            </a:r>
            <a:r>
              <a:rPr sz="2100" b="0">
                <a:solidFill>
                  <a:srgbClr val="111820"/>
                </a:solidFill>
                <a:latin typeface="Calibri"/>
              </a:rPr>
              <a:t> before class</a:t>
            </a:r>
          </a:p>
        </p:txBody>
      </p:sp>
      <p:pic>
        <p:nvPicPr>
          <p:cNvPr id="9" name="Picture 8" descr="s1-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103" y="3080004"/>
            <a:ext cx="7611794" cy="284454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3400" y="6019800"/>
            <a:ext cx="8341995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6067425"/>
            <a:ext cx="8113395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</a:t>
            </a:r>
            <a:r>
              <a:rPr sz="1400" b="0">
                <a:solidFill>
                  <a:srgbClr val="1F2A35"/>
                </a:solidFill>
                <a:latin typeface="Consolas"/>
              </a:rPr>
              <a:t>make show-1</a:t>
            </a:r>
            <a:r>
              <a:rPr sz="1400" b="0">
                <a:solidFill>
                  <a:srgbClr val="1F2A35"/>
                </a:solidFill>
                <a:latin typeface="Calibri"/>
              </a:rPr>
              <a:t>: the primary verdict and the documents the agent opened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20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Demo block: reading the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37363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timed run: no new R1 violation; hidden tests 52 of 52; mutants 2 of 4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One run shows the layer ran, not that it helped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Before class: bare 0 of 7 failing, harness 0 of 7 (poll answer: A)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No measurable difference: the bare arm applied R1 without the map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Picture: screen 3 of the same run</a:t>
            </a:r>
          </a:p>
        </p:txBody>
      </p:sp>
      <p:pic>
        <p:nvPicPr>
          <p:cNvPr id="9" name="Picture 8" descr="s1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25" y="3688080"/>
            <a:ext cx="10151551" cy="2712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S1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21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Runbook and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Runbook: </a:t>
            </a:r>
            <a:r>
              <a:rPr sz="2100" b="0">
                <a:solidFill>
                  <a:srgbClr val="111820"/>
                </a:solidFill>
                <a:latin typeface="Consolas"/>
              </a:rPr>
              <a:t>01-instructions/demo/README.md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Discussion: the map changed nothing on this ticket. What would have to be true for it to earn its place?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Next: what happens when a session ends halfway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22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Poll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47053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F2 comments over two sessions; at risk: continuity and R7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Before class, both arms stopped after 12 turns and restarted with an empty context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In those 7 A/Bs, which arms failed the continuity measure?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A) No arm   B) Only bare arms   C) Only harness arms   D) Some of both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Close the poll before the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6019800"/>
            <a:ext cx="3918966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6067425"/>
            <a:ext cx="3690366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the room's poll result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23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Launching harness in action: F2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581656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Now: run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show-2 SESSION_BUDGET=12,38</a:t>
            </a:r>
            <a:r>
              <a:rPr sz="2100" b="0">
                <a:solidFill>
                  <a:srgbClr val="111820"/>
                </a:solidFill>
                <a:latin typeface="Calibri"/>
              </a:rPr>
              <a:t> in terminal B; back on slide 32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Harness in action: the harness arm alone on F2, first session 12 turns; not an A/B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Watch for: the handoff written at the end of session 1, and session 2 resuming from it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Harness arm layers: instructions, state</a:t>
            </a:r>
          </a:p>
        </p:txBody>
      </p:sp>
      <p:pic>
        <p:nvPicPr>
          <p:cNvPr id="9" name="Picture 8" descr="2c0335426df628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818797"/>
            <a:ext cx="11125200" cy="6593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24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S2: what the agent remembers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24028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initializer and coding agents, </a:t>
            </a:r>
            <a:r>
              <a:rPr sz="2100" b="0">
                <a:solidFill>
                  <a:srgbClr val="111820"/>
                </a:solidFill>
                <a:latin typeface="Consolas"/>
              </a:rPr>
              <a:t>init.sh</a:t>
            </a:r>
            <a:r>
              <a:rPr sz="2100" b="0">
                <a:solidFill>
                  <a:srgbClr val="111820"/>
                </a:solidFill>
                <a:latin typeface="Calibri"/>
              </a:rPr>
              <a:t>, the progress file, and git history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An exec plan and a structured handoff that let a session resume after a reset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How to read the S2 result: redone or lost work after a forced stop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assumption the state files encode: a fresh session cannot pick up the work from the repository alone</a:t>
            </a:r>
          </a:p>
        </p:txBody>
      </p:sp>
      <p:pic>
        <p:nvPicPr>
          <p:cNvPr id="9" name="Picture 8" descr="95af242cd901ed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223" y="3554730"/>
            <a:ext cx="9903554" cy="28460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25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Cause: every session starts empty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"each new session begins with no memory of what came before." (Anthropic, Effective harnesses)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"However, compaction isn’t sufficient." (same source)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What the last session knew must be written down where the next one reads 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26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Harness piece: state on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An initializer agent and a coding agent (Anthropic, Effective harnesses)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init.sh</a:t>
            </a:r>
            <a:r>
              <a:rPr sz="2100" b="0">
                <a:solidFill>
                  <a:srgbClr val="111820"/>
                </a:solidFill>
                <a:latin typeface="Calibri"/>
              </a:rPr>
              <a:t> and a progress file; the course names it </a:t>
            </a:r>
            <a:r>
              <a:rPr sz="2100" b="0">
                <a:solidFill>
                  <a:srgbClr val="111820"/>
                </a:solidFill>
                <a:latin typeface="Consolas"/>
              </a:rPr>
              <a:t>progress.md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Git history as state, and as a way back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In this course, the initializer is a fixed harness step, not an agent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27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Getting up to speed, and ending a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routine: </a:t>
            </a:r>
            <a:r>
              <a:rPr sz="2100" b="0">
                <a:solidFill>
                  <a:srgbClr val="111820"/>
                </a:solidFill>
                <a:latin typeface="Consolas"/>
              </a:rPr>
              <a:t>pwd</a:t>
            </a:r>
            <a:r>
              <a:rPr sz="2100" b="0">
                <a:solidFill>
                  <a:srgbClr val="111820"/>
                </a:solidFill>
                <a:latin typeface="Calibri"/>
              </a:rPr>
              <a:t>, progress and git log, the feature list, </a:t>
            </a:r>
            <a:r>
              <a:rPr sz="2100" b="0">
                <a:solidFill>
                  <a:srgbClr val="111820"/>
                </a:solidFill>
                <a:latin typeface="Consolas"/>
              </a:rPr>
              <a:t>init.sh</a:t>
            </a:r>
            <a:r>
              <a:rPr sz="2100" b="0">
                <a:solidFill>
                  <a:srgbClr val="111820"/>
                </a:solidFill>
                <a:latin typeface="Calibri"/>
              </a:rPr>
              <a:t>, a basic test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"End the session by writing a git commit and progress update." (Anthropic, Effective harnesses)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Both steps are the same in every session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28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Exec plans and the structured handoff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Exec plans move from active to completed (OpenAI; OpenAI, PLANS.md)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context reset: a fresh agent "combined with a structured handoff" (Anthropic, Harness design)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course's mechanism is the session turn budget, the same for both arms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reset has a price: "orchestration complexity, token overhead, and latency"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Later, a newer model "largely removed that behavior", so the author dropped context resets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29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init.sh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949452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Migrations first: house rule R7, exactly one head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Then a basic end-to-end test that stops at the first failure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263902"/>
            <a:ext cx="11125200" cy="1661922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263902"/>
            <a:ext cx="57150" cy="166192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359152"/>
            <a:ext cx="10858500" cy="1509522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echo "== migrations (house rule R7: exactly one head)"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python -m alembic heads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python -m alembic upgrade head</a:t>
            </a:r>
          </a:p>
          <a:p>
            <a:pPr algn="l"/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echo "== basic end-to-end test: issues, stop at the first failure (full suite: run_visible_tests)"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python -m pytest tests/visible/test_issues.py -x -q --no-header -p no:cacheprovider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944874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platform/src/shipharness/harness/state/assets/init.sh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30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stop and resume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1424178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resume_text</a:t>
            </a:r>
            <a:r>
              <a:rPr sz="2100" b="0">
                <a:solidFill>
                  <a:srgbClr val="111820"/>
                </a:solidFill>
                <a:latin typeface="Calibri"/>
              </a:rPr>
              <a:t>: extra resume text for the harness arm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neutral resume sentence comes first, the same for both arms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test-phase session starts with the feature's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738628"/>
            <a:ext cx="11125200" cy="2548318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738628"/>
            <a:ext cx="57150" cy="254831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833878"/>
            <a:ext cx="10858500" cy="2395918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def resume_text(summary: str, phase: str = "build") -&gt; str: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    """Extra resume text for the harness arm (the neutral resume sentence comes first)."""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    text = (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        "Start with the Getting up to speed steps before you change code. The structured "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        "handoff from the last session is in session-handoff.md."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    )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    if phase == "test":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        text = f"{text} {TEST_PHASE_FIRST}"</a:t>
            </a:r>
          </a:p>
          <a:p>
            <a:pPr algn="l"/>
            <a:r>
              <a:rPr sz="1537" b="0">
                <a:solidFill>
                  <a:srgbClr val="111820"/>
                </a:solidFill>
                <a:latin typeface="Consolas"/>
              </a:rPr>
              <a:t>    return f"{text} Its machine summary:\n\n{summary[:3000]}" if summary else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305996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platform/src/shipharness/harness/state/lifecycle.py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31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the session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949452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session_entry</a:t>
            </a:r>
            <a:r>
              <a:rPr sz="2100" b="0">
                <a:solidFill>
                  <a:srgbClr val="111820"/>
                </a:solidFill>
                <a:latin typeface="Calibri"/>
              </a:rPr>
              <a:t>: one log line per session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Index, start and end commit, how the session ended, and a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263902"/>
            <a:ext cx="11125200" cy="2925508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263902"/>
            <a:ext cx="57150" cy="29255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359152"/>
            <a:ext cx="10858500" cy="2773108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def session_entry(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result: SessionResult, files_changed: int, tests: str, claim_summary: str = ""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) -&gt; str: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"""One log line: index, start/end commit, how the session ended, and a summary."""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entry = (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    f"- Session {result.index} ({result.phase}): start {result.start_sha[:7] or 'none'}, "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    f"end {result.end_sha[:7] or 'none'}, ended by {result.ended_by} after "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    f"{result.turns} turns. {files_changed} files changed; visible tests {tests}."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)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summary = " ".join(mask_keys(claim_summary).split())[:200]</a:t>
            </a:r>
          </a:p>
          <a:p>
            <a:pPr algn="l"/>
            <a:r>
              <a:rPr sz="1462" b="0">
                <a:solidFill>
                  <a:srgbClr val="111820"/>
                </a:solidFill>
                <a:latin typeface="Consolas"/>
              </a:rPr>
              <a:t>    return entry + (f' Agent summary: "{summary}"' if summary else "")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208460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platform/src/shipharness/harness/state/progress.py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32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Demo block: what to 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5015023" cy="47053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1: "■ Session 1 stopped" with the handoff file, then "▶ Session 2 resumed"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Session 2's first turn: </a:t>
            </a:r>
            <a:r>
              <a:rPr sz="2100" b="0">
                <a:solidFill>
                  <a:srgbClr val="111820"/>
                </a:solidFill>
                <a:latin typeface="Consolas"/>
              </a:rPr>
              <a:t>pwd; git log; cat progress.md</a:t>
            </a:r>
            <a:r>
              <a:rPr sz="2100" b="0">
                <a:solidFill>
                  <a:srgbClr val="111820"/>
                </a:solidFill>
                <a:latin typeface="Calibri"/>
              </a:rPr>
              <a:t>, the getting-up-to-speed routine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3: "Sessions", the turns and how each session ended; screen 5: the trace links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Picture: screen 1 of a timed run of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show-2</a:t>
            </a:r>
            <a:r>
              <a:rPr sz="2100" b="0">
                <a:solidFill>
                  <a:srgbClr val="111820"/>
                </a:solidFill>
                <a:latin typeface="Calibri"/>
              </a:rPr>
              <a:t> before class</a:t>
            </a:r>
          </a:p>
        </p:txBody>
      </p:sp>
      <p:pic>
        <p:nvPicPr>
          <p:cNvPr id="9" name="Picture 8" descr="s2-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914" y="1219200"/>
            <a:ext cx="5426095" cy="47053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3400" y="6019800"/>
            <a:ext cx="8247888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6067425"/>
            <a:ext cx="8019288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</a:t>
            </a:r>
            <a:r>
              <a:rPr sz="1400" b="0">
                <a:solidFill>
                  <a:srgbClr val="1F2A35"/>
                </a:solidFill>
                <a:latin typeface="Consolas"/>
              </a:rPr>
              <a:t>make show-2</a:t>
            </a:r>
            <a:r>
              <a:rPr sz="1400" b="0">
                <a:solidFill>
                  <a:srgbClr val="1F2A35"/>
                </a:solidFill>
                <a:latin typeface="Calibri"/>
              </a:rPr>
              <a:t>: the primary verdict and the file session 2 read first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33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Demo block: reading the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37363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timed run: no continuity failure; hidden tests 56 of 56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First wrong turn (screen 5, a heuristic): turn 2.16 edited </a:t>
            </a:r>
            <a:r>
              <a:rPr sz="2100" b="0">
                <a:solidFill>
                  <a:srgbClr val="111820"/>
                </a:solidFill>
                <a:latin typeface="Consolas"/>
              </a:rPr>
              <a:t>app/api/issues.py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Before class: bare 0 of 7 failing, harness 0 of 7 (poll answer: A)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measure cannot fail when session 1 builds nothing: 6 of 12 arms did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Picture: screens 3 and 5 of the same run</a:t>
            </a:r>
          </a:p>
        </p:txBody>
      </p:sp>
      <p:pic>
        <p:nvPicPr>
          <p:cNvPr id="9" name="Picture 8" descr="s2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780968"/>
            <a:ext cx="11125200" cy="252694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S2 State and 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34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Runbook and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Runbook: </a:t>
            </a:r>
            <a:r>
              <a:rPr sz="2100" b="0">
                <a:solidFill>
                  <a:srgbClr val="111820"/>
                </a:solidFill>
                <a:latin typeface="Consolas"/>
              </a:rPr>
              <a:t>02-state-lifecycle/demo/README.md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Discussion: the bare arm found its own state with </a:t>
            </a:r>
            <a:r>
              <a:rPr sz="2100" b="0">
                <a:solidFill>
                  <a:srgbClr val="111820"/>
                </a:solidFill>
                <a:latin typeface="Consolas"/>
              </a:rPr>
              <a:t>git status</a:t>
            </a:r>
            <a:r>
              <a:rPr sz="2100" b="0">
                <a:solidFill>
                  <a:srgbClr val="111820"/>
                </a:solidFill>
                <a:latin typeface="Calibri"/>
              </a:rPr>
              <a:t>. Which state file would you keep, and how would you measure it?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Next: a 10-minute break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35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714625"/>
            <a:ext cx="11125200" cy="685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ctr"/>
            <a:r>
              <a:rPr sz="4500" b="1">
                <a:solidFill>
                  <a:srgbClr val="0B1F33"/>
                </a:solidFill>
                <a:latin typeface="Calibri"/>
              </a:rPr>
              <a:t>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76625"/>
            <a:ext cx="11125200" cy="3810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>
                <a:solidFill>
                  <a:srgbClr val="2C3E50"/>
                </a:solidFill>
                <a:latin typeface="Calibri"/>
              </a:rPr>
              <a:t>Back in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6019800"/>
            <a:ext cx="2883789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6067425"/>
            <a:ext cx="2655189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return time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36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Poll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47053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F4 optimistic concurrency, tonight's live A/B; at risk: scope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build may change the issue, audit, and web files; </a:t>
            </a:r>
            <a:r>
              <a:rPr sz="2100" b="0">
                <a:solidFill>
                  <a:srgbClr val="111820"/>
                </a:solidFill>
                <a:latin typeface="Consolas"/>
              </a:rPr>
              <a:t>app/services/errors.py</a:t>
            </a:r>
            <a:r>
              <a:rPr sz="2100" b="0">
                <a:solidFill>
                  <a:srgbClr val="111820"/>
                </a:solidFill>
                <a:latin typeface="Calibri"/>
              </a:rPr>
              <a:t> is not on the list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Before class, 3 A/Bs ran this ticket. In how many did the bare arm ship a file outside the list?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(a) 0 of 3   (b) 1 of 3   (c) 2 of 3   (d) 3 of 3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Close the poll before the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6019800"/>
            <a:ext cx="3918966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6067425"/>
            <a:ext cx="3690366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the room's poll result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37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Launching a live A/B: F4,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581656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Now: run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demo-3 FEATURE=F4</a:t>
            </a:r>
            <a:r>
              <a:rPr sz="2100" b="0">
                <a:solidFill>
                  <a:srgbClr val="111820"/>
                </a:solidFill>
                <a:latin typeface="Calibri"/>
              </a:rPr>
              <a:t> in terminal B; it runs during slides 38-45, back on slide 46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live A/B: bare arm and harness arm, same ticket, same limits, at the same time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Harness arm layers: instructions, state, scope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Watch for: the bare arm's diff, and the harness arm's blocked edit with its reason</a:t>
            </a:r>
          </a:p>
        </p:txBody>
      </p:sp>
      <p:pic>
        <p:nvPicPr>
          <p:cNvPr id="9" name="Picture 8" descr="996f2d9d8b1156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395146"/>
            <a:ext cx="11125200" cy="15066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38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S3: what the agent may change and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839517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alibri"/>
              </a:rPr>
              <a:t>One feature at a time, allowed paths per phase, and a </a:t>
            </a:r>
            <a:r>
              <a:rPr sz="2039" b="0">
                <a:solidFill>
                  <a:srgbClr val="111820"/>
                </a:solidFill>
                <a:latin typeface="Consolas"/>
              </a:rPr>
              <a:t>passes</a:t>
            </a:r>
            <a:r>
              <a:rPr sz="2039" b="0">
                <a:solidFill>
                  <a:srgbClr val="111820"/>
                </a:solidFill>
                <a:latin typeface="Calibri"/>
              </a:rPr>
              <a:t> field only the harness sets</a:t>
            </a:r>
          </a:p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alibri"/>
              </a:rPr>
              <a:t>The container limits for both arms, and how to read a </a:t>
            </a:r>
            <a:r>
              <a:rPr sz="2039" b="0">
                <a:solidFill>
                  <a:srgbClr val="111820"/>
                </a:solidFill>
                <a:latin typeface="Consolas"/>
              </a:rPr>
              <a:t>sandbox_denied</a:t>
            </a:r>
            <a:r>
              <a:rPr sz="2039" b="0">
                <a:solidFill>
                  <a:srgbClr val="111820"/>
                </a:solidFill>
                <a:latin typeface="Calibri"/>
              </a:rPr>
              <a:t> event</a:t>
            </a:r>
          </a:p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alibri"/>
              </a:rPr>
              <a:t>How to read the S3 result: out-of-scope files in the shipped diff, bare arm against harness arm</a:t>
            </a:r>
          </a:p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alibri"/>
              </a:rPr>
              <a:t>The assumption the scope layer encodes: the agent will change files outside the ticket unless code stops it</a:t>
            </a:r>
          </a:p>
        </p:txBody>
      </p:sp>
      <p:pic>
        <p:nvPicPr>
          <p:cNvPr id="9" name="Picture 8" descr="b2af23761f1747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814" y="4153967"/>
            <a:ext cx="7818372" cy="224683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39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Cause: copied patterns and hard-to-undo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"Codex replicates patterns that already exist in the repository—even uneven or suboptimal ones" (OpenAI)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"(Run this in a container, not your actual machine)"; the agent once ran </a:t>
            </a:r>
            <a:r>
              <a:rPr sz="2100" b="0">
                <a:solidFill>
                  <a:srgbClr val="111820"/>
                </a:solidFill>
                <a:latin typeface="Consolas"/>
              </a:rPr>
              <a:t>pkill -9 bash</a:t>
            </a:r>
            <a:r>
              <a:rPr sz="2100" b="0">
                <a:solidFill>
                  <a:srgbClr val="111820"/>
                </a:solidFill>
                <a:latin typeface="Calibri"/>
              </a:rPr>
              <a:t> (Anthropic, C compiler)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File operations "to the project directory only" (Anthropic, Coding agent demo)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Actions "that are difficult to reverse or affect shared systems" (Anthropic, Prompting best practices)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40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Harness piece: one feature list, one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feature_list.json</a:t>
            </a:r>
            <a:r>
              <a:rPr sz="2100" b="0">
                <a:solidFill>
                  <a:srgbClr val="111820"/>
                </a:solidFill>
                <a:latin typeface="Calibri"/>
              </a:rPr>
              <a:t> as the source of truth; JSON over Markdown (Anthropic)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</a:t>
            </a:r>
            <a:r>
              <a:rPr sz="2100" b="0">
                <a:solidFill>
                  <a:srgbClr val="111820"/>
                </a:solidFill>
                <a:latin typeface="Consolas"/>
              </a:rPr>
              <a:t>passes</a:t>
            </a:r>
            <a:r>
              <a:rPr sz="2100" b="0">
                <a:solidFill>
                  <a:srgbClr val="111820"/>
                </a:solidFill>
                <a:latin typeface="Calibri"/>
              </a:rPr>
              <a:t> field, and one feature at a time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"It is unacceptable to remove or edit tests because this could lead to missing or buggy functionality."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In this course, only the harness sets </a:t>
            </a:r>
            <a:r>
              <a:rPr sz="2100" b="0">
                <a:solidFill>
                  <a:srgbClr val="111820"/>
                </a:solidFill>
                <a:latin typeface="Consolas"/>
              </a:rPr>
              <a:t>passes</a:t>
            </a:r>
            <a:r>
              <a:rPr sz="2100" b="0">
                <a:solidFill>
                  <a:srgbClr val="111820"/>
                </a:solidFill>
                <a:latin typeface="Calibri"/>
              </a:rPr>
              <a:t>, with </a:t>
            </a:r>
            <a:r>
              <a:rPr sz="2100" b="0">
                <a:solidFill>
                  <a:srgbClr val="111820"/>
                </a:solidFill>
                <a:latin typeface="Consolas"/>
              </a:rPr>
              <a:t>evidence</a:t>
            </a:r>
            <a:r>
              <a:rPr sz="2100" b="0">
                <a:solidFill>
                  <a:srgbClr val="111820"/>
                </a:solidFill>
                <a:latin typeface="Calibri"/>
              </a:rPr>
              <a:t> and </a:t>
            </a:r>
            <a:r>
              <a:rPr sz="2100" b="0">
                <a:solidFill>
                  <a:srgbClr val="111820"/>
                </a:solidFill>
                <a:latin typeface="Consolas"/>
              </a:rPr>
              <a:t>testedAt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41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Allowed paths per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Build and test phases each have an allow list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patch outside the list is rejected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command's change outside the list is reverted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agent reads the reason, which names the phase and the list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F4's build list leaves out </a:t>
            </a:r>
            <a:r>
              <a:rPr sz="2100" b="0">
                <a:solidFill>
                  <a:srgbClr val="111820"/>
                </a:solidFill>
                <a:latin typeface="Consolas"/>
              </a:rPr>
              <a:t>app/services/errors.py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42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Sandbox 1: why a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1765554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"for each agent, a Docker container is spun up", with no internet access (Anthropic, C compiler)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three-layer security model (Anthropic, Coding agent demo)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"By default, the agent runs with network access turned off." (Codex docs)</a:t>
            </a:r>
          </a:p>
        </p:txBody>
      </p:sp>
      <p:pic>
        <p:nvPicPr>
          <p:cNvPr id="9" name="Picture 8" descr="8cbac8dd33bc95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141830"/>
            <a:ext cx="11125200" cy="319714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43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Sandbox 2: the same limits for both arms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--network none</a:t>
            </a:r>
            <a:r>
              <a:rPr sz="2100" b="0">
                <a:solidFill>
                  <a:srgbClr val="111820"/>
                </a:solidFill>
                <a:latin typeface="Calibri"/>
              </a:rPr>
              <a:t>, memory without swap, 256 processes, non-root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Read-only root; only </a:t>
            </a:r>
            <a:r>
              <a:rPr sz="2100" b="0">
                <a:solidFill>
                  <a:srgbClr val="111820"/>
                </a:solidFill>
                <a:latin typeface="Consolas"/>
              </a:rPr>
              <a:t>/work</a:t>
            </a:r>
            <a:r>
              <a:rPr sz="2100" b="0">
                <a:solidFill>
                  <a:srgbClr val="111820"/>
                </a:solidFill>
                <a:latin typeface="Calibri"/>
              </a:rPr>
              <a:t> and </a:t>
            </a:r>
            <a:r>
              <a:rPr sz="2100" b="0">
                <a:solidFill>
                  <a:srgbClr val="111820"/>
                </a:solidFill>
                <a:latin typeface="Consolas"/>
              </a:rPr>
              <a:t>/tmp</a:t>
            </a:r>
            <a:r>
              <a:rPr sz="2100" b="0">
                <a:solidFill>
                  <a:srgbClr val="111820"/>
                </a:solidFill>
                <a:latin typeface="Calibri"/>
              </a:rPr>
              <a:t> writable; all capabilities dropped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sandbox_denied</a:t>
            </a:r>
            <a:r>
              <a:rPr sz="2100" b="0">
                <a:solidFill>
                  <a:srgbClr val="111820"/>
                </a:solidFill>
                <a:latin typeface="Calibri"/>
              </a:rPr>
              <a:t> events carry a reason code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Never an A/B variable, so no run can tell whether it earns its place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Kept on the sources' advice: a container per agent, no internet, project directory only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44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allowed paths and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1290828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three </a:t>
            </a:r>
            <a:r>
              <a:rPr sz="2100" b="0">
                <a:solidFill>
                  <a:srgbClr val="111820"/>
                </a:solidFill>
                <a:latin typeface="Consolas"/>
              </a:rPr>
              <a:t>if</a:t>
            </a:r>
            <a:r>
              <a:rPr sz="2100" b="0">
                <a:solidFill>
                  <a:srgbClr val="111820"/>
                </a:solidFill>
                <a:latin typeface="Calibri"/>
              </a:rPr>
              <a:t> checks of </a:t>
            </a:r>
            <a:r>
              <a:rPr sz="2100" b="0">
                <a:solidFill>
                  <a:srgbClr val="111820"/>
                </a:solidFill>
                <a:latin typeface="Consolas"/>
              </a:rPr>
              <a:t>reason()</a:t>
            </a:r>
            <a:r>
              <a:rPr sz="2100" b="0">
                <a:solidFill>
                  <a:srgbClr val="111820"/>
                </a:solidFill>
                <a:latin typeface="Calibri"/>
              </a:rPr>
              <a:t>: harness-only files, state files, the allow list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passes</a:t>
            </a:r>
            <a:r>
              <a:rPr sz="2100" b="0">
                <a:solidFill>
                  <a:srgbClr val="111820"/>
                </a:solidFill>
                <a:latin typeface="Calibri"/>
              </a:rPr>
              <a:t> is set only when the evidence is there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605278"/>
            <a:ext cx="11125200" cy="1812798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605278"/>
            <a:ext cx="57150" cy="181279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700528"/>
            <a:ext cx="10858500" cy="1660398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if rel in HARNESS_ONLY: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return HARNESS_ONLY[rel]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if self.state_files and any(glob_matches(rel, p) for p in STATE_FILES):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return None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if self.allowed is None or any(glob_matches(rel, p) for p in self.allowed):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return 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437126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platform/src/shipharness/harness/scope/guard.py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4665726"/>
            <a:ext cx="11125200" cy="154876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400" y="4665726"/>
            <a:ext cx="57150" cy="154876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" y="4760976"/>
            <a:ext cx="10858500" cy="1396365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if evidence is None: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message = f"passes stays false for {feature['id']}: {why_not}"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return [HarnessDecision(kind="note", layer="scope", message=message)]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tested_at = now().astimezone(UTC).strftime("%Y-%m-%dT%H:%M:%SZ")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feature.update(passes=True, evidence=evidence, testedAt=tested_at)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233541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platform/src/shipharness/harness/scope/status.py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45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the sandbox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949452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SandboxPolicy</a:t>
            </a:r>
            <a:r>
              <a:rPr sz="2100" b="0">
                <a:solidFill>
                  <a:srgbClr val="111820"/>
                </a:solidFill>
                <a:latin typeface="Calibri"/>
              </a:rPr>
              <a:t>: the same for both arms in every run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Network, CPU, memory, swap, processes, user, root, tmpfs, capabilities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263902"/>
            <a:ext cx="11125200" cy="286893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263902"/>
            <a:ext cx="57150" cy="286893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359152"/>
            <a:ext cx="10858500" cy="271653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network: str = "none"  # only loopback inside the container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cpus: float = 1.0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memory_mb: int = 1024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swap_mb: int = 0  # --memory-swap equal to --memory: no swap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pids_limit: int = 256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user: str = "1000:1000"  # non-root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read_only_root: bool = True  # writes only to /work (workspace) and /tmp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tmpfs: dict[str, str] = {"/tmp": "rw,nosuid,size=256m"}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cap_drop: tuple[str, ...] = ("ALL",)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no_new_privileges: bool =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151882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platform/src/shipharness/sandbox/policy.py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46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Demo block: what to 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5015023" cy="47053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3, Scope and sandbox: the bare arm changed </a:t>
            </a:r>
            <a:r>
              <a:rPr sz="2100" b="0">
                <a:solidFill>
                  <a:srgbClr val="111820"/>
                </a:solidFill>
                <a:latin typeface="Consolas"/>
              </a:rPr>
              <a:t>app/services/errors.py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harness arm's diff map shows the same file as ⊘ blocked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1: the harness decision ⊘ block, with the reason the agent read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3, Verification: </a:t>
            </a:r>
            <a:r>
              <a:rPr sz="2100" b="0">
                <a:solidFill>
                  <a:srgbClr val="111820"/>
                </a:solidFill>
                <a:latin typeface="Consolas"/>
              </a:rPr>
              <a:t>diff_scope</a:t>
            </a:r>
            <a:r>
              <a:rPr sz="2100" b="0">
                <a:solidFill>
                  <a:srgbClr val="111820"/>
                </a:solidFill>
                <a:latin typeface="Calibri"/>
              </a:rPr>
              <a:t> per arm; Sandbox denials for both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Picture: screen 3 of an S3 confirmation A/B before class</a:t>
            </a:r>
          </a:p>
        </p:txBody>
      </p:sp>
      <p:pic>
        <p:nvPicPr>
          <p:cNvPr id="9" name="Picture 8" descr="s3-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963" y="1219200"/>
            <a:ext cx="3901998" cy="47053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3400" y="6019800"/>
            <a:ext cx="8530209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6067425"/>
            <a:ext cx="8301609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</a:t>
            </a:r>
            <a:r>
              <a:rPr sz="1400" b="0">
                <a:solidFill>
                  <a:srgbClr val="1F2A35"/>
                </a:solidFill>
                <a:latin typeface="Consolas"/>
              </a:rPr>
              <a:t>make demo-3 FEATURE=F4</a:t>
            </a:r>
            <a:r>
              <a:rPr sz="1400" b="0">
                <a:solidFill>
                  <a:srgbClr val="1F2A35"/>
                </a:solidFill>
                <a:latin typeface="Calibri"/>
              </a:rPr>
              <a:t>: each arm's diff map and its </a:t>
            </a:r>
            <a:r>
              <a:rPr sz="1400" b="0">
                <a:solidFill>
                  <a:srgbClr val="1F2A35"/>
                </a:solidFill>
                <a:latin typeface="Consolas"/>
              </a:rPr>
              <a:t>diff_scope</a:t>
            </a:r>
            <a:r>
              <a:rPr sz="1400" b="0">
                <a:solidFill>
                  <a:srgbClr val="1F2A35"/>
                </a:solidFill>
                <a:latin typeface="Calibri"/>
              </a:rPr>
              <a:t> line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47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Demo block: reading the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502484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830"/>
              </a:spcAft>
            </a:pPr>
            <a:r>
              <a:rPr sz="1845" b="0">
                <a:solidFill>
                  <a:srgbClr val="111820"/>
                </a:solidFill>
                <a:latin typeface="Calibri"/>
              </a:rPr>
              <a:t>•  </a:t>
            </a:r>
            <a:r>
              <a:rPr sz="1845" b="0">
                <a:solidFill>
                  <a:srgbClr val="111820"/>
                </a:solidFill>
                <a:latin typeface="Calibri"/>
              </a:rPr>
              <a:t>Before class: in scope, bare 0 of 3, harness 3 of 3 (poll answer: d)</a:t>
            </a:r>
          </a:p>
          <a:p>
            <a:pPr algn="l">
              <a:spcAft>
                <a:spcPts val="830"/>
              </a:spcAft>
            </a:pPr>
            <a:r>
              <a:rPr sz="1845" b="0">
                <a:solidFill>
                  <a:srgbClr val="111820"/>
                </a:solidFill>
                <a:latin typeface="Calibri"/>
              </a:rPr>
              <a:t>•  </a:t>
            </a:r>
            <a:r>
              <a:rPr sz="1845" b="0">
                <a:solidFill>
                  <a:srgbClr val="111820"/>
                </a:solidFill>
                <a:latin typeface="Calibri"/>
              </a:rPr>
              <a:t>Harness ahead, by construction: the guard enforces what this measures</a:t>
            </a:r>
          </a:p>
          <a:p>
            <a:pPr algn="l">
              <a:spcAft>
                <a:spcPts val="830"/>
              </a:spcAft>
            </a:pPr>
            <a:r>
              <a:rPr sz="1845" b="0">
                <a:solidFill>
                  <a:srgbClr val="111820"/>
                </a:solidFill>
                <a:latin typeface="Calibri"/>
              </a:rPr>
              <a:t>•  </a:t>
            </a:r>
            <a:r>
              <a:rPr sz="1845" b="0">
                <a:solidFill>
                  <a:srgbClr val="111820"/>
                </a:solidFill>
                <a:latin typeface="Calibri"/>
              </a:rPr>
              <a:t>New: on this ticket the bare agent edits a shared file every time</a:t>
            </a:r>
          </a:p>
          <a:p>
            <a:pPr algn="l">
              <a:spcAft>
                <a:spcPts val="830"/>
              </a:spcAft>
            </a:pPr>
            <a:r>
              <a:rPr sz="1845" b="0">
                <a:solidFill>
                  <a:srgbClr val="111820"/>
                </a:solidFill>
                <a:latin typeface="Calibri"/>
              </a:rPr>
              <a:t>•  </a:t>
            </a:r>
            <a:r>
              <a:rPr sz="1845" b="0">
                <a:solidFill>
                  <a:srgbClr val="111820"/>
                </a:solidFill>
                <a:latin typeface="Calibri"/>
              </a:rPr>
              <a:t>The pill on screen 1 is F4's own bar, and every arm failed it</a:t>
            </a:r>
          </a:p>
          <a:p>
            <a:pPr algn="l">
              <a:spcAft>
                <a:spcPts val="830"/>
              </a:spcAft>
            </a:pPr>
            <a:r>
              <a:rPr sz="1845" b="0">
                <a:solidFill>
                  <a:srgbClr val="111820"/>
                </a:solidFill>
                <a:latin typeface="Calibri"/>
              </a:rPr>
              <a:t>•  </a:t>
            </a:r>
            <a:r>
              <a:rPr sz="1845" b="0">
                <a:solidFill>
                  <a:srgbClr val="111820"/>
                </a:solidFill>
                <a:latin typeface="Calibri"/>
              </a:rPr>
              <a:t>S3's own ticket, F3: no measurable difference, 7 of 7 each</a:t>
            </a:r>
          </a:p>
          <a:p>
            <a:pPr algn="l">
              <a:spcAft>
                <a:spcPts val="830"/>
              </a:spcAft>
            </a:pPr>
            <a:r>
              <a:rPr sz="1845" b="0">
                <a:solidFill>
                  <a:srgbClr val="111820"/>
                </a:solidFill>
                <a:latin typeface="Calibri"/>
              </a:rPr>
              <a:t>•  </a:t>
            </a:r>
            <a:r>
              <a:rPr sz="1845" b="0">
                <a:solidFill>
                  <a:srgbClr val="111820"/>
                </a:solidFill>
                <a:latin typeface="Calibri"/>
              </a:rPr>
              <a:t>Picture: screen 1 of the same A/B, the verdict lines</a:t>
            </a:r>
          </a:p>
        </p:txBody>
      </p:sp>
      <p:pic>
        <p:nvPicPr>
          <p:cNvPr id="9" name="Picture 8" descr="s3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651790"/>
            <a:ext cx="11125200" cy="91415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S3 Scope and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48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Runbook and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Runbook: </a:t>
            </a:r>
            <a:r>
              <a:rPr sz="2100" b="0">
                <a:solidFill>
                  <a:srgbClr val="111820"/>
                </a:solidFill>
                <a:latin typeface="Consolas"/>
              </a:rPr>
              <a:t>03-scope-sandbox/demo/README.md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Discussion: the guard won by construction. What would you measure next to it, so a guard that blocks everything cannot look good?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Next: who decides that the work is done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49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Poll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47053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F4 again, now with all four layers; at stake: hidden tests (69) and referee mutants (4)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run passes only with all 69 hidden tests passing and all 4 mutants killed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Before class, 4 A/Bs ran F4 with all four layers in the harness arm. Which arm passed more often?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A) Harness arm   B) Bare arm   C) Both, equally often   D) Neither arm passed once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final feature poll follows on slide 50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6019800"/>
            <a:ext cx="3918966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6067425"/>
            <a:ext cx="3690366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the room's poll result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50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Poll: the final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47053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F5 Bulk close: one session of 30 turns; 46 hidden tests, 3 referee mutants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F6 Watchers: two sessions, so a context reset; 54 hidden tests, 3 mutants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F7 Labels: two sessions, so a context reset; 64 hidden tests, 3 mutants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winner runs as the final live A/B, and the runner-up after it if the session figure allows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Close the poll before the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6019800"/>
            <a:ext cx="3918966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6067425"/>
            <a:ext cx="3690366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the room's poll result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51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Launching harness in action on F4, and the final A/B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923032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Now: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show-4</a:t>
            </a:r>
            <a:r>
              <a:rPr sz="2100" b="0">
                <a:solidFill>
                  <a:srgbClr val="111820"/>
                </a:solidFill>
                <a:latin typeface="Calibri"/>
              </a:rPr>
              <a:t> in terminal B, then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final FEATURES=&lt;poll winner&gt;</a:t>
            </a:r>
            <a:r>
              <a:rPr sz="2100" b="0">
                <a:solidFill>
                  <a:srgbClr val="111820"/>
                </a:solidFill>
                <a:latin typeface="Calibri"/>
              </a:rPr>
              <a:t> in terminal C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show-4 runs during slides 52-60, back on slide 61; the final returns on slides 64-67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show-4: the harness arm alone on F4; watch the gate, the test phase, and the filters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final: both arms, all four layers, the blinded reviewer on both diffs</a:t>
            </a:r>
          </a:p>
        </p:txBody>
      </p:sp>
      <p:pic>
        <p:nvPicPr>
          <p:cNvPr id="9" name="Picture 8" descr="4fd6deeee6fbd5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454421"/>
            <a:ext cx="11125200" cy="172943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52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S4: what proves the work is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507894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alibri"/>
              </a:rPr>
              <a:t>Verification the agent does not control: filters, mutants, house-rule checks, held-out tests, reviewer, gate</a:t>
            </a:r>
          </a:p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alibri"/>
              </a:rPr>
              <a:t>Find the first wrong turn in a trace</a:t>
            </a:r>
          </a:p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alibri"/>
              </a:rPr>
              <a:t>Read a fair A/B: hidden tests passed and mutants caught, as counts per run</a:t>
            </a:r>
          </a:p>
          <a:p>
            <a:pPr algn="l">
              <a:spcAft>
                <a:spcPts val="918"/>
              </a:spcAft>
            </a:pPr>
            <a:r>
              <a:rPr sz="2039" b="0">
                <a:solidFill>
                  <a:srgbClr val="111820"/>
                </a:solidFill>
                <a:latin typeface="Calibri"/>
              </a:rPr>
              <a:t>•  </a:t>
            </a:r>
            <a:r>
              <a:rPr sz="2039" b="0">
                <a:solidFill>
                  <a:srgbClr val="111820"/>
                </a:solidFill>
                <a:latin typeface="Calibri"/>
              </a:rPr>
              <a:t>The assumption the gate and filters encode: the agent's "done" and its own tests cannot be trusted</a:t>
            </a:r>
          </a:p>
        </p:txBody>
      </p:sp>
      <p:pic>
        <p:nvPicPr>
          <p:cNvPr id="9" name="Picture 8" descr="c0e2d1ba727a8f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836" y="3822344"/>
            <a:ext cx="8972329" cy="257845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53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Cause: self-grading and visible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"agents reliably skew positive when grading their own work" (Anthropic, Harness design)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"while every frontier agent saturates the visible suite, reward hacking persists" (SpecBench)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Mostly features that pass alone and fail when combined (SpecBench)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"it is easy to see tests pass and assume the job is done, when this is rarely the case." (Anthropic, C compiler)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54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Harness piece: test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Filters 1-3 from TestGen-LLM (Meta): builds, passes reliably, adds coverage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Passes reliably: "every one of five executions"; the referee also re-runs shipped tests five times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Filters 4 and 5 are the course's own: real assertions, no source change in the test phase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test is kept only if it passes every filter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55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Mutants and hidden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ACH (Meta): mutants for the fault you care about, then tests that catch them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ACH reports that 49% of tests that uniquely kill a mutant add no line coverage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Filter-set and referee-set mutants never overlap (course design)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Hidden tests that combine features (SpecBench)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441 hidden tests across F1-F7 and controls; 69 for F4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56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A separate evaluator and a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blinded reviewer with grading criteria (Anthropic, Harness design)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clean-state gate (Anthropic, Effective harnesses; Anthropic, C compiler)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House rules R1 to R7, checked by code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"It is worth the cost when the task sits beyond what the current model does reliably solo." (Anthropic, Harness design)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57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Measure each piece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Read the trace: find the first wrong turn; screen 5 shows it per arm, as a heuristic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Measure one piece: "removing one component at a time and reviewing what impact it had on the final result."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In shipharness: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demo-N LAYERS=-&lt;layer&gt;</a:t>
            </a:r>
            <a:r>
              <a:rPr sz="2100" b="0">
                <a:solidFill>
                  <a:srgbClr val="111820"/>
                </a:solidFill>
                <a:latin typeface="Calibri"/>
              </a:rPr>
              <a:t> runs one A/B without that layer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section's A/B tests the stack so far; only taking one piece out tests that piece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58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the filter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949452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Each proposed test goes through the filters in order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first failure discards it, with a reason; later filters never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263902"/>
            <a:ext cx="11125200" cy="3396996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263902"/>
            <a:ext cx="57150" cy="33969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359152"/>
            <a:ext cx="10858500" cy="3244596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for flt in filters: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try: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    result = flt.evaluate(cand, ctx)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except Exception as exc:  # noqa: BLE001 - a crashing filter discards, with a reason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...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if not result.reason: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    result = result.model_copy(update={"reason": f"filter {flt.number}: no reason"})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results.append(result)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if bus is not None: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    bus.publish("test_filter_result", result, run_id=run_id, arm=arm)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if not result.passed: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    break  # discarded: later (more expensive) filters never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679948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platform/src/shipharness/filters/pipeline.py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59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a tenant probe and blinding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949452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judge</a:t>
            </a:r>
            <a:r>
              <a:rPr sz="2100" b="0">
                <a:solidFill>
                  <a:srgbClr val="111820"/>
                </a:solidFill>
                <a:latin typeface="Calibri"/>
              </a:rPr>
              <a:t>: compare one response with what tenant isolation requires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 foreign path must return 404; anything else fails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263902"/>
            <a:ext cx="11125200" cy="3095244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263902"/>
            <a:ext cx="57150" cy="309524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359152"/>
            <a:ext cx="10858500" cy="2942844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def judge(probe: Probe, response: Any, t: Target, home: str, other: str) -&gt; Finding | None: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"""Compare one response with what tenant isolation requires."""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status, body = response.status_code, json_body(response)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ok = 200 &lt;= status &lt; 300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leaked = ok and (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    t.adapter.is_foreign(body, other)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    or (probe.kind == "anonymous" and t.adapter.is_foreign(body, home))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)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if probe.kind in ("foreign_path",) or probe.kind.startswith("foreign_param:"):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    failed = status != 404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else:  # no_path, foreign_body, anonymous: success itself is the failure (no_path: only leaks)</a:t>
            </a:r>
          </a:p>
          <a:p>
            <a:pPr algn="l"/>
            <a:r>
              <a:rPr sz="1425" b="0">
                <a:solidFill>
                  <a:srgbClr val="111820"/>
                </a:solidFill>
                <a:latin typeface="Consolas"/>
              </a:rPr>
              <a:t>        failed = leaked if probe.kind == "no_path" else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378196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platform/src/shipharness/checks/r1_tenant.py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60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Code: the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1297019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860"/>
              </a:spcAft>
            </a:pPr>
            <a:r>
              <a:rPr sz="1912" b="0">
                <a:solidFill>
                  <a:srgbClr val="111820"/>
                </a:solidFill>
                <a:latin typeface="Calibri"/>
              </a:rPr>
              <a:t>•  </a:t>
            </a:r>
            <a:r>
              <a:rPr sz="1912" b="0">
                <a:solidFill>
                  <a:srgbClr val="111820"/>
                </a:solidFill>
                <a:latin typeface="Calibri"/>
              </a:rPr>
              <a:t>Verification the agent does not control</a:t>
            </a:r>
          </a:p>
          <a:p>
            <a:pPr algn="l">
              <a:spcAft>
                <a:spcPts val="860"/>
              </a:spcAft>
            </a:pPr>
            <a:r>
              <a:rPr sz="1912" b="0">
                <a:solidFill>
                  <a:srgbClr val="111820"/>
                </a:solidFill>
                <a:latin typeface="Calibri"/>
              </a:rPr>
              <a:t>•  </a:t>
            </a:r>
            <a:r>
              <a:rPr sz="1912" b="0">
                <a:solidFill>
                  <a:srgbClr val="111820"/>
                </a:solidFill>
                <a:latin typeface="Calibri"/>
              </a:rPr>
              <a:t>Visible tests, the build-phase checks, the clean-state check</a:t>
            </a:r>
          </a:p>
          <a:p>
            <a:pPr algn="l">
              <a:spcAft>
                <a:spcPts val="860"/>
              </a:spcAft>
            </a:pPr>
            <a:r>
              <a:rPr sz="1912" b="0">
                <a:solidFill>
                  <a:srgbClr val="111820"/>
                </a:solidFill>
                <a:latin typeface="Calibri"/>
              </a:rPr>
              <a:t>•  </a:t>
            </a:r>
            <a:r>
              <a:rPr sz="1912" b="0">
                <a:solidFill>
                  <a:srgbClr val="111820"/>
                </a:solidFill>
                <a:latin typeface="Calibri"/>
              </a:rPr>
              <a:t>The gate passes only if no item fails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611469"/>
            <a:ext cx="11125200" cy="335211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611469"/>
            <a:ext cx="57150" cy="335211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706719"/>
            <a:ext cx="10858500" cy="319971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names = ["visible tests", *(_ITEM_ORDER if phase == "build" else []), "clean state"]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...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if phase == "build":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    check_items, check_lines = _check_items(sandbox, cfg, root, on_progress)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    items += sorted(check_items, key=_order)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    lines += check_lines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clean = clean_state_check(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...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passed = not any(i.status == "fail" for i in items)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feedback = "" if passed else _feedback(gate_id, items, lines)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result = GateResult(gate_id=gate_id, items=items, passed=passed, feedback=feedback)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...</a:t>
            </a:r>
          </a:p>
          <a:p>
            <a:pPr algn="l"/>
            <a:r>
              <a:rPr sz="1433" b="0">
                <a:solidFill>
                  <a:srgbClr val="111820"/>
                </a:solidFill>
                <a:latin typeface="Consolas"/>
              </a:rPr>
              <a:t>    on_update(result)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982630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platform/src/shipharness/harness/verify/gate.py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61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Demo block: what to 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10693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1: a ⊘ blocked edit, "done" and the gate pills, then the test phase; screen 2: the conflict panel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3: the filter table (kept or discarded, with the reason) and the mutant table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Picture: screens 1 and 2 of a timed run of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show-4</a:t>
            </a:r>
            <a:r>
              <a:rPr sz="2100" b="0">
                <a:solidFill>
                  <a:srgbClr val="111820"/>
                </a:solidFill>
                <a:latin typeface="Calibri"/>
              </a:rPr>
              <a:t> before class</a:t>
            </a:r>
          </a:p>
        </p:txBody>
      </p:sp>
      <p:pic>
        <p:nvPicPr>
          <p:cNvPr id="9" name="Picture 8" descr="s4-w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032" y="3421380"/>
            <a:ext cx="4641937" cy="25031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3400" y="6019800"/>
            <a:ext cx="6553962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6067425"/>
            <a:ext cx="6325362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</a:t>
            </a:r>
            <a:r>
              <a:rPr sz="1400" b="0">
                <a:solidFill>
                  <a:srgbClr val="1F2A35"/>
                </a:solidFill>
                <a:latin typeface="Consolas"/>
              </a:rPr>
              <a:t>make show-4</a:t>
            </a:r>
            <a:r>
              <a:rPr sz="1400" b="0">
                <a:solidFill>
                  <a:srgbClr val="1F2A35"/>
                </a:solidFill>
                <a:latin typeface="Calibri"/>
              </a:rPr>
              <a:t>: the gate pills and the filter table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62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Demo block: reading the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5015023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timed run: the gate passed; hidden tests 68 of 69, mutants 0 of 4: fail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gate never sees the hidden tests or the referee's mutants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Before class: bare 0 of 4 passing, harness 0 of 4 (poll answer: D)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One bare arm claimed done with 68 of 69 hidden tests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Picture: screen 3 of the same run</a:t>
            </a:r>
          </a:p>
        </p:txBody>
      </p:sp>
      <p:pic>
        <p:nvPicPr>
          <p:cNvPr id="9" name="Picture 8" descr="s4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323" y="2121676"/>
            <a:ext cx="5767277" cy="337664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63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Runbook and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Runbook: </a:t>
            </a:r>
            <a:r>
              <a:rPr sz="2100" b="0">
                <a:solidFill>
                  <a:srgbClr val="111820"/>
                </a:solidFill>
                <a:latin typeface="Consolas"/>
              </a:rPr>
              <a:t>04-verification/demo/README.md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Discussion: one false "done" in 4 F4 runs per arm, from the bare arm. What would a gate need to catch to earn its turns on this model?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Next: the final results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64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Final results: the A/B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1898904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poll winner, and the runner-up if it ran; all four layers; class profile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Run cap $0.25 per arm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No primary measure registered: read hidden tests and mutants per arm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One A/B is one dot: read it next to the dots from before class</a:t>
            </a:r>
          </a:p>
        </p:txBody>
      </p:sp>
      <p:pic>
        <p:nvPicPr>
          <p:cNvPr id="9" name="Picture 8" descr="747a7c8219cfe3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986461"/>
            <a:ext cx="11125200" cy="116498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3400" y="6019800"/>
            <a:ext cx="5706999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6067425"/>
            <a:ext cx="5478399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terminal C's arm lines and session figure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65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Final results: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210693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1: the turns, harness decisions, gate pills, "primary verdict ready" per arm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3: evidence, filters, mutants, reviewer verdict; screen 5: the first wrong turn and the trace links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Picture: screen 1 of a timed run of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final FEATURES=F5</a:t>
            </a:r>
            <a:r>
              <a:rPr sz="2100" b="0">
                <a:solidFill>
                  <a:srgbClr val="111820"/>
                </a:solidFill>
                <a:latin typeface="Calibri"/>
              </a:rPr>
              <a:t> before class</a:t>
            </a:r>
          </a:p>
        </p:txBody>
      </p:sp>
      <p:pic>
        <p:nvPicPr>
          <p:cNvPr id="9" name="Picture 8" descr="final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598" y="3421380"/>
            <a:ext cx="5866805" cy="25031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3400" y="6019800"/>
            <a:ext cx="7118604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6067425"/>
            <a:ext cx="6890004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screens 1, 3, and 5 of the finished final A/B, both arms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66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Final results: 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1424178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2: each arm's running board as an Acme user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Look for ⚠ other-org and ⧉ duplicate marks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Picture: screen 2 of the same timed run</a:t>
            </a:r>
          </a:p>
        </p:txBody>
      </p:sp>
      <p:pic>
        <p:nvPicPr>
          <p:cNvPr id="9" name="Picture 8" descr="final-bo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53" y="2738628"/>
            <a:ext cx="9059494" cy="318592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3400" y="6019800"/>
            <a:ext cx="4107180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6067425"/>
            <a:ext cx="387858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both boards side by side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67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Final results: screen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1424178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Screen 4: one dot per recorded run, wins and ties alike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Tonight's final adds one dot per arm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Filled dot = passed, hollow = failed: never colour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738628"/>
            <a:ext cx="11125200" cy="2340864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2738628"/>
            <a:ext cx="57150" cy="2340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2833878"/>
            <a:ext cx="10858500" cy="2188464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fill = f"var(--{arm})" if dot["passed"] else "var(--surface)"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tip = f"{dot['run_id']}: {dot['value']}" + (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f" of {dot['total']}" if dot["total"] else ""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)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parts.append(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f'&lt;circle cx="{x(dot["value"]):.1f}" cy="{y - stack * 10}" r="5" '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f'fill="{fill}" stroke="var(--{arm})" stroke-width="2"&gt;'</a:t>
            </a:r>
          </a:p>
          <a:p>
            <a:pPr algn="l"/>
            <a:r>
              <a:rPr sz="1575" b="0">
                <a:solidFill>
                  <a:srgbClr val="111820"/>
                </a:solidFill>
                <a:latin typeface="Consolas"/>
              </a:rPr>
              <a:t>    f"&lt;title&gt;{html.escape(tip)} ({dot['status']})&lt;/title&gt;&lt;/circle&gt;"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098542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platform/src/shipharness/ab/report.py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6019800"/>
            <a:ext cx="4389501" cy="381000"/>
          </a:xfrm>
          <a:prstGeom prst="rect">
            <a:avLst/>
          </a:prstGeom>
          <a:solidFill>
            <a:srgbClr val="EEF1F5"/>
          </a:solidFill>
          <a:ln w="19050">
            <a:solidFill>
              <a:srgbClr val="7D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6067425"/>
            <a:ext cx="4160901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0">
                <a:solidFill>
                  <a:srgbClr val="1F2A35"/>
                </a:solidFill>
                <a:latin typeface="Calibri"/>
              </a:rPr>
              <a:t>Filled in live: tonight's final on screen 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68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What we measured: every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3810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2100" b="0">
                <a:solidFill>
                  <a:srgbClr val="2C3E50"/>
                </a:solidFill>
                <a:latin typeface="Calibri"/>
              </a:rPr>
              <a:t>Primary measure, runs passing per arm, before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657350"/>
            <a:ext cx="11125200" cy="47434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S1, F1, no new R1 violation: bare 7 of 7, harness 7 of 7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S2, F2, no continuity failure: bare 7 of 7, harness 7 of 7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S3, F3, scope: 7 of 7 each; S3 confirmation on F4, no out-of-scope file: bare 0 of 3, harness 3 of 3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S4, F4, all hidden tests and mutants: bare 0 of 4, harness 0 of 4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One harness lead, on scope, by construction; elsewhere no measurable difference on this task with this model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Post hoc, 34 runs per arm: outside the allowed paths, harness 0, bare 9; done claimed 10 against 19, none false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69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Assignments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A1 Instructions: </a:t>
            </a:r>
            <a:r>
              <a:rPr sz="2100" b="0">
                <a:solidFill>
                  <a:srgbClr val="111820"/>
                </a:solidFill>
                <a:latin typeface="Consolas"/>
              </a:rPr>
              <a:t>01-instructions/assignment/</a:t>
            </a:r>
            <a:r>
              <a:rPr sz="2100" b="0">
                <a:solidFill>
                  <a:srgbClr val="111820"/>
                </a:solidFill>
                <a:latin typeface="Calibri"/>
              </a:rPr>
              <a:t>, at most $2.50 and 150 traces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A2 State and session lifecycle: </a:t>
            </a:r>
            <a:r>
              <a:rPr sz="2100" b="0">
                <a:solidFill>
                  <a:srgbClr val="111820"/>
                </a:solidFill>
                <a:latin typeface="Consolas"/>
              </a:rPr>
              <a:t>02-state-lifecycle/assignment/</a:t>
            </a:r>
            <a:r>
              <a:rPr sz="2100" b="0">
                <a:solidFill>
                  <a:srgbClr val="111820"/>
                </a:solidFill>
                <a:latin typeface="Calibri"/>
              </a:rPr>
              <a:t>, at most $0.40 and 4 traces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A3 Scope and sandbox: </a:t>
            </a:r>
            <a:r>
              <a:rPr sz="2100" b="0">
                <a:solidFill>
                  <a:srgbClr val="111820"/>
                </a:solidFill>
                <a:latin typeface="Consolas"/>
              </a:rPr>
              <a:t>03-scope-sandbox/assignment/</a:t>
            </a:r>
            <a:r>
              <a:rPr sz="2100" b="0">
                <a:solidFill>
                  <a:srgbClr val="111820"/>
                </a:solidFill>
                <a:latin typeface="Calibri"/>
              </a:rPr>
              <a:t>, at most $0.48 and 4 traces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A4 Verification and portfolio: </a:t>
            </a:r>
            <a:r>
              <a:rPr sz="2100" b="0">
                <a:solidFill>
                  <a:srgbClr val="111820"/>
                </a:solidFill>
                <a:latin typeface="Consolas"/>
              </a:rPr>
              <a:t>04-verification/assignment/</a:t>
            </a:r>
            <a:r>
              <a:rPr sz="2100" b="0">
                <a:solidFill>
                  <a:srgbClr val="111820"/>
                </a:solidFill>
                <a:latin typeface="Calibri"/>
              </a:rPr>
              <a:t>, at most $0.68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Each: grading criteria, a starter folder, </a:t>
            </a:r>
            <a:r>
              <a:rPr sz="2100" b="0">
                <a:solidFill>
                  <a:srgbClr val="111820"/>
                </a:solidFill>
                <a:latin typeface="Consolas"/>
              </a:rPr>
              <a:t>make check-assignment-N</a:t>
            </a:r>
            <a:r>
              <a:rPr sz="2100" b="0">
                <a:solidFill>
                  <a:srgbClr val="111820"/>
                </a:solidFill>
                <a:latin typeface="Calibri"/>
              </a:rPr>
              <a:t> offline, one live step, and a full solution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Total at most $6 and 400 traces; Thursday review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70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Skills and the starter kit to take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3264408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harness-setup</a:t>
            </a:r>
            <a:r>
              <a:rPr sz="2100" b="0">
                <a:solidFill>
                  <a:srgbClr val="111820"/>
                </a:solidFill>
                <a:latin typeface="Calibri"/>
              </a:rPr>
              <a:t>, </a:t>
            </a:r>
            <a:r>
              <a:rPr sz="2100" b="0">
                <a:solidFill>
                  <a:srgbClr val="111820"/>
                </a:solidFill>
                <a:latin typeface="Consolas"/>
              </a:rPr>
              <a:t>assured-tests</a:t>
            </a:r>
            <a:r>
              <a:rPr sz="2100" b="0">
                <a:solidFill>
                  <a:srgbClr val="111820"/>
                </a:solidFill>
                <a:latin typeface="Calibri"/>
              </a:rPr>
              <a:t>, </a:t>
            </a:r>
            <a:r>
              <a:rPr sz="2100" b="0">
                <a:solidFill>
                  <a:srgbClr val="111820"/>
                </a:solidFill>
                <a:latin typeface="Consolas"/>
              </a:rPr>
              <a:t>house-rules</a:t>
            </a:r>
            <a:r>
              <a:rPr sz="2100" b="0">
                <a:solidFill>
                  <a:srgbClr val="111820"/>
                </a:solidFill>
                <a:latin typeface="Calibri"/>
              </a:rPr>
              <a:t>, </a:t>
            </a:r>
            <a:r>
              <a:rPr sz="2100" b="0">
                <a:solidFill>
                  <a:srgbClr val="111820"/>
                </a:solidFill>
                <a:latin typeface="Consolas"/>
              </a:rPr>
              <a:t>skill-template</a:t>
            </a:r>
            <a:r>
              <a:rPr sz="2100" b="0">
                <a:solidFill>
                  <a:srgbClr val="111820"/>
                </a:solidFill>
                <a:latin typeface="Calibri"/>
              </a:rPr>
              <a:t>, in the Agent Skills format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uv run shipharness init --target &lt;repo&gt;</a:t>
            </a:r>
            <a:r>
              <a:rPr sz="2100" b="0">
                <a:solidFill>
                  <a:srgbClr val="111820"/>
                </a:solidFill>
                <a:latin typeface="Calibri"/>
              </a:rPr>
              <a:t>: the kit, with TeamTrack's values and REPLACE markers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onsolas"/>
              </a:rPr>
              <a:t>uv run shipharness init --check &lt;repo&gt;</a:t>
            </a:r>
            <a:r>
              <a:rPr sz="2100" b="0">
                <a:solidFill>
                  <a:srgbClr val="111820"/>
                </a:solidFill>
                <a:latin typeface="Calibri"/>
              </a:rPr>
              <a:t> lists the markers still to fill; no model calls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Guide: </a:t>
            </a:r>
            <a:r>
              <a:rPr sz="2100" b="0">
                <a:solidFill>
                  <a:srgbClr val="111820"/>
                </a:solidFill>
                <a:latin typeface="Consolas"/>
              </a:rPr>
              <a:t>use-in-your-repo/apply-to-your-repo.md</a:t>
            </a:r>
            <a:r>
              <a:rPr sz="2100" b="0">
                <a:solidFill>
                  <a:srgbClr val="111820"/>
                </a:solidFill>
                <a:latin typeface="Calibri"/>
              </a:rPr>
              <a:t>, ending with which layers earn their place in your 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4578858"/>
            <a:ext cx="11125200" cy="1624203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4578858"/>
            <a:ext cx="57150" cy="1624203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4674108"/>
            <a:ext cx="10858500" cy="1471803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387" b="0">
                <a:solidFill>
                  <a:srgbClr val="111820"/>
                </a:solidFill>
                <a:latin typeface="Consolas"/>
              </a:rPr>
              <a:t>name: skill-template</a:t>
            </a:r>
          </a:p>
          <a:p>
            <a:pPr algn="l"/>
            <a:r>
              <a:rPr sz="1387" b="0">
                <a:solidFill>
                  <a:srgbClr val="111820"/>
                </a:solidFill>
                <a:latin typeface="Consolas"/>
              </a:rPr>
              <a:t>description: &gt;</a:t>
            </a:r>
          </a:p>
          <a:p>
            <a:pPr algn="l"/>
            <a:r>
              <a:rPr sz="1387" b="0">
                <a:solidFill>
                  <a:srgbClr val="111820"/>
                </a:solidFill>
                <a:latin typeface="Consolas"/>
              </a:rPr>
              <a:t>  Starting point for writing a new Agent Skill: frontmatter with the spec's fields and a guide to</a:t>
            </a:r>
          </a:p>
          <a:p>
            <a:pPr algn="l"/>
            <a:r>
              <a:rPr sz="1387" b="0">
                <a:solidFill>
                  <a:srgbClr val="111820"/>
                </a:solidFill>
                <a:latin typeface="Consolas"/>
              </a:rPr>
              <a:t>  the sections of the body. Use when creating a new skill: copy this folder, rename it, set name to</a:t>
            </a:r>
          </a:p>
          <a:p>
            <a:pPr algn="l"/>
            <a:r>
              <a:rPr sz="1387" b="0">
                <a:solidFill>
                  <a:srgbClr val="111820"/>
                </a:solidFill>
                <a:latin typeface="Consolas"/>
              </a:rPr>
              <a:t>  the new folder name, and replace every placeholder.</a:t>
            </a:r>
          </a:p>
          <a:p>
            <a:pPr algn="l"/>
            <a:r>
              <a:rPr sz="1387" b="0">
                <a:solidFill>
                  <a:srgbClr val="111820"/>
                </a:solidFill>
                <a:latin typeface="Consolas"/>
              </a:rPr>
              <a:t>license: 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222111"/>
            <a:ext cx="11125200" cy="2095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100" b="0">
                <a:solidFill>
                  <a:srgbClr val="3D4B59"/>
                </a:solidFill>
                <a:latin typeface="Consolas"/>
              </a:rPr>
              <a:t>use-in-your-repo/skills/skill-template/SKILL.md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71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References (1 of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OpenAI, Harness engineering: leveraging Codex in an agent-first world · Ryan Lopopolo · 2026-02-11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Anthropic, Effective harnesses for long-running agents · Justin Young · 2025-11-26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Anthropic, Harness design for long-running application development · Prithvi Rajasekaran · 2026-03-24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Anthropic, Building a C compiler with a team of parallel Claudes · Nicholas Carlini · 2026-02-05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Anthropic, Autonomous Coding Agent Demo (README) · 2025-11-26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Anthropic, Prompting best practices (living page); OpenAI, Using PLANS.md · Aaron Friel · 2025-10-07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133350"/>
            <a:ext cx="778764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133350"/>
            <a:ext cx="3337560" cy="3048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r"/>
            <a:r>
              <a:rPr sz="1400" b="1">
                <a:solidFill>
                  <a:srgbClr val="1F3A5F"/>
                </a:solidFill>
                <a:latin typeface="Calibri"/>
              </a:rPr>
              <a:t>72 /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76250"/>
            <a:ext cx="11125200" cy="285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6496050"/>
            <a:ext cx="11125200" cy="9525"/>
          </a:xfrm>
          <a:prstGeom prst="rect">
            <a:avLst/>
          </a:prstGeom>
          <a:solidFill>
            <a:srgbClr val="C9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1125200" cy="24765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1200" b="0">
                <a:solidFill>
                  <a:srgbClr val="3D4B59"/>
                </a:solidFill>
                <a:latin typeface="Calibri"/>
              </a:rPr>
              <a:t>Module 1: Harness Engineering for Coding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28650"/>
            <a:ext cx="11125200" cy="4953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References (2 of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219200"/>
            <a:ext cx="11125200" cy="5181600"/>
          </a:xfrm>
          <a:prstGeom prst="rect">
            <a:avLst/>
          </a:prstGeom>
          <a:noFill/>
        </p:spPr>
        <p:txBody>
          <a:bodyPr wrap="square" anchor="t" lIns="19050" rIns="19050" tIns="19050" bIns="19050">
            <a:spAutoFit/>
          </a:bodyPr>
          <a:lstStyle/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Agent Skills: Specification; What are skills?; How to add skills support · agentskills.io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The skills-ref validator; Claude Code, Codex, and Cursor skills docs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TestGen-LLM · Alshahwan et al., Meta · 2024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ACH, mutation-guided test generation · Foster et al., Meta · 2025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SpecBench · Zhao, Srikanth, Wu, Jiang (Weco AI) · 2026, and its repository</a:t>
            </a:r>
          </a:p>
          <a:p>
            <a:pPr algn="l">
              <a:spcAft>
                <a:spcPts val="945"/>
              </a:spcAft>
            </a:pPr>
            <a:r>
              <a:rPr sz="2100" b="0">
                <a:solidFill>
                  <a:srgbClr val="111820"/>
                </a:solidFill>
                <a:latin typeface="Calibri"/>
              </a:rPr>
              <a:t>•  </a:t>
            </a:r>
            <a:r>
              <a:rPr sz="2100" b="0">
                <a:solidFill>
                  <a:srgbClr val="111820"/>
                </a:solidFill>
                <a:latin typeface="Calibri"/>
              </a:rPr>
              <a:t>Codex docs on sandboxing and network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Harness Engineering for Coding Agents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